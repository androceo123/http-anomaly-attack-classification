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6858000" cx="12192000"/>
  <p:notesSz cx="6858000" cy="9144000"/>
  <p:embeddedFontLst>
    <p:embeddedFont>
      <p:font typeface="Arial Narrow"/>
      <p:regular r:id="rId78"/>
      <p:bold r:id="rId79"/>
      <p:italic r:id="rId80"/>
      <p:boldItalic r:id="rId81"/>
    </p:embeddedFont>
    <p:embeddedFont>
      <p:font typeface="Quattrocento Sans"/>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ndres Moises Roman Medi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B291AF-9CB1-4793-AFE8-E70834C1BA4F}">
  <a:tblStyle styleId="{F1B291AF-9CB1-4793-AFE8-E70834C1BA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9FC4E21-8C64-4725-8E31-BC7DC537305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QuattrocentoSans-italic.fntdata"/><Relationship Id="rId83" Type="http://schemas.openxmlformats.org/officeDocument/2006/relationships/font" Target="fonts/QuattrocentoSans-bold.fntdata"/><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QuattrocentoSans-bold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ArialNarrow-italic.fntdata"/><Relationship Id="rId82" Type="http://schemas.openxmlformats.org/officeDocument/2006/relationships/font" Target="fonts/QuattrocentoSans-regular.fntdata"/><Relationship Id="rId81" Type="http://schemas.openxmlformats.org/officeDocument/2006/relationships/font" Target="fonts/ArialNarrow-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ArialNarrow-bold.fntdata"/><Relationship Id="rId34" Type="http://schemas.openxmlformats.org/officeDocument/2006/relationships/slide" Target="slides/slide28.xml"/><Relationship Id="rId78" Type="http://schemas.openxmlformats.org/officeDocument/2006/relationships/font" Target="fonts/ArialNarrow-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10T12:53:05.690">
    <p:pos x="6000" y="0"/>
    <p:text>hablar del modelo de multietiqueta como lo hacen las otras diapositivas de los modelos</p:text>
  </p:cm>
  <p:cm authorId="0" idx="2" dt="2026-10-10T12:53:05.690">
    <p:pos x="6000" y="0"/>
    <p:text>como funciona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Fuentes de los identificadores CAPEC:</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SQL Injection: https://capec.mitre.org/data/definitions/66.html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Cross-Site Scripting: https://capec.mitre.org/data/definitions/63.html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Path Traversal: https://capec.mitre.org/data/definitions/126.html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 Response Splitting: https://capec.mitre.org/data/definitions/34.html</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Fuente del caso: CISA y FBI, aviso conjunto del 7 de junio de 2023.</a:t>
            </a:r>
            <a:endParaRPr/>
          </a:p>
          <a:p>
            <a:pPr indent="0" lvl="0" marL="0" rtl="0" algn="l">
              <a:spcBef>
                <a:spcPts val="0"/>
              </a:spcBef>
              <a:spcAft>
                <a:spcPts val="0"/>
              </a:spcAft>
              <a:buNone/>
            </a:pPr>
            <a:r>
              <a:rPr lang="en-US"/>
              <a:t>https://content.govdelivery.com/accounts/USDHSCISA/bulletins/35ecb08</a:t>
            </a:r>
            <a:endParaRPr/>
          </a:p>
          <a:p>
            <a:pPr indent="0" lvl="0" marL="0" rtl="0" algn="l">
              <a:spcBef>
                <a:spcPts val="0"/>
              </a:spcBef>
              <a:spcAft>
                <a:spcPts val="0"/>
              </a:spcAft>
              <a:buNone/>
            </a:pPr>
            <a:r>
              <a:rPr lang="en-US"/>
              <a:t>Desde el 27 de mayo, los atacantes explotaron CVE-2023-34362 (inyección SQL) en MOVEit Transfer e instalaron LEMURLOOT para robar datos.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Definición de CVE: CVE Program, Frequently Asked Questions.</a:t>
            </a:r>
            <a:endParaRPr/>
          </a:p>
          <a:p>
            <a:pPr indent="0" lvl="0" marL="0" rtl="0" algn="l">
              <a:spcBef>
                <a:spcPts val="0"/>
              </a:spcBef>
              <a:spcAft>
                <a:spcPts val="0"/>
              </a:spcAft>
              <a:buNone/>
            </a:pPr>
            <a:r>
              <a:rPr lang="en-US"/>
              <a:t>https://www.cve.org/ResourcesSupport/FAQs</a:t>
            </a:r>
            <a:endParaRPr/>
          </a:p>
        </p:txBody>
      </p:sp>
      <p:sp>
        <p:nvSpPr>
          <p:cNvPr id="359" name="Google Shape;3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Fuentes: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OWASP Web Application Firewall: https://owasp.org/www-community/Web_Application_Firewall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OWASP ModSecurity Reference Manual v3.x (SecResponseBodyAccess): https://github.com/owasp-modsecurity/ModSecurity/wiki/Reference-Manual-%28v3.x%29#secresponsebodyaccess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El recorrido representa un WAF en línea: las respuestas del servidor pueden regresar por el WAF. La inspección de la respuesta depende de la configuración. ModSecurity contempla los encabezados en fase 3 y el cuerpo en fase 4; la inspección del cuerpo requiere habilitar SecResponseBodyAccess y los tipos MIME correspondientes.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Alcance: este trabajo analiza peticiones HTTP. El retorno de respuestas por el WAF se muestra como contexto, pero no se evalúan algoritmos sobre las respuestas.</a:t>
            </a:r>
            <a:endParaRPr/>
          </a:p>
        </p:txBody>
      </p:sp>
      <p:sp>
        <p:nvSpPr>
          <p:cNvPr id="432" name="Google Shape;4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bacf0148d_1_2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g3fbacf0148d_1_2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el enfoque basado en firmas, como vimos con ModSecurity, la evidencia surge de reglas definidas previamente. Podemos conocer la regla, la variable y el fragmento que produjo la coincidencia. En la detección de anomalías, el sistema aprende una referencia del tráfico esperado y señala las peticiones que se apartan de ella. Esto puede ayudar ante variantes sin una firma específica, pero también puede marcar tráfico legítimo poco frecuente. Ambos enfoques pueden complementarse.</a:t>
            </a:r>
            <a:endParaRPr/>
          </a:p>
        </p:txBody>
      </p:sp>
      <p:sp>
        <p:nvSpPr>
          <p:cNvPr id="532" name="Google Shape;532;g3fbacf0148d_1_2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bacf0148d_1_4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g3fbacf0148d_1_4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ara comprender el enfoque basado en reglas montamos un laboratorio con ModSecurity y OWASP CRS. Enviamos una petición controlada con un indicador de SQL Injection y otro de XSS. Cuatro reglas de XSS sumaron veinte puntos y una regla de SQL Injection agregó cinco. La regla de evaluación comparó el total de veinticinco con el umbral de cinco y ModSecurity respondió con un 403. Esto demuestra que una petición puede activar varias familias de reglas, aunque esas familias fueron definidas previamente por los autores de CRS.</a:t>
            </a:r>
            <a:endParaRPr/>
          </a:p>
          <a:p>
            <a:pPr indent="0" lvl="0" marL="0" rtl="0" algn="l">
              <a:lnSpc>
                <a:spcPct val="115000"/>
              </a:lnSpc>
              <a:spcBef>
                <a:spcPts val="1200"/>
              </a:spcBef>
              <a:spcAft>
                <a:spcPts val="0"/>
              </a:spcAft>
              <a:buClr>
                <a:schemeClr val="dk1"/>
              </a:buClr>
              <a:buSzPts val="1100"/>
              <a:buFont typeface="Arial"/>
              <a:buNone/>
            </a:pPr>
            <a:r>
              <a:rPr lang="en-US"/>
              <a:t>Después agrega:</a:t>
            </a:r>
            <a:endParaRPr/>
          </a:p>
          <a:p>
            <a:pPr indent="0" lvl="0" marL="381000" marR="381000" rtl="0" algn="l">
              <a:lnSpc>
                <a:spcPct val="115000"/>
              </a:lnSpc>
              <a:spcBef>
                <a:spcPts val="1200"/>
              </a:spcBef>
              <a:spcAft>
                <a:spcPts val="0"/>
              </a:spcAft>
              <a:buClr>
                <a:schemeClr val="dk1"/>
              </a:buClr>
              <a:buSzPts val="1100"/>
              <a:buFont typeface="Arial"/>
              <a:buNone/>
            </a:pPr>
            <a:r>
              <a:rPr lang="en-US"/>
              <a:t>Algunas reglas utilizan expresiones regulares y otras utilizan mecanismos como libinjection. Por eso, un WAF basado en firmas no se limita a buscar una cadena exacta.</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FIRMA Y TAMAÑO DEL CONJUNTO</a:t>
            </a:r>
            <a:endParaRPr/>
          </a:p>
          <a:p>
            <a:pPr indent="0" lvl="0" marL="0" rtl="0" algn="l">
              <a:spcBef>
                <a:spcPts val="0"/>
              </a:spcBef>
              <a:spcAft>
                <a:spcPts val="0"/>
              </a:spcAft>
              <a:buNone/>
            </a:pPr>
            <a:r>
              <a:rPr lang="en-US"/>
              <a:t>La expresión mostrada es el operador y el patrón exactos de la regla 941110 en CRS 4.25.1; se muestra la condición, no la regla completa. ARGS incluye el parámetro comentario del ejemplo. La regla también examina nombres de parámetros, cookies, ruta, encabezados (con la exclusión de Cookie) y XML. Antes de evaluar aplica transformaciones de decodificación. (?i) ignora mayúsculas/minúsculas; &lt;script[^&gt;]*&gt; busca una apertura de etiqueta script. Coincidir con el patrón no demuestra que el código se haya ejecutado. La regla tiene la etiqueta attack-xss; las reglas 941100 y 942100 emplean libinjection.</a:t>
            </a:r>
            <a:endParaRPr/>
          </a:p>
          <a:p>
            <a:pPr indent="0" lvl="0" marL="0" rtl="0" algn="l">
              <a:spcBef>
                <a:spcPts val="0"/>
              </a:spcBef>
              <a:spcAft>
                <a:spcPts val="0"/>
              </a:spcAft>
              <a:buNone/>
            </a:pPr>
            <a:r>
              <a:rPr lang="en-US"/>
              <a:t>Fuente de la firma: https://github.com/coreruleset/coreruleset/blob/v4.25.1/rules/REQUEST-941-APPLICATION-ATTACK-XSS.conf#L103-L123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tamaño se expresa como cantidad de reglas principales, contando las directivas SecRule no comentadas que tienen ID propio en los 27 archivos rules/*.conf de la distribución oficial v4.25.1: 620. Incluye reglas de detección, inicialización, control y evaluación de bloqueo de peticiones y respuestas, y todos los niveles de paranoia. Hay además 73 condiciones SecRule encadenadas sin ID propio (693 directivas SecRule en total) y 7 SecAction con ID; esas 7 acciones no forman parte de las 620. Se excluyen archivos .example, crs-setup.conf.example y plugins. No es la cantidad de reglas activas ni ejecutadas por petición en el laboratorio. La longitud del patrón mostrado, sin @rx y sin comillas, es 25 caracteres; no representa el tamaño del conjunto ni el costo de ejecución.</a:t>
            </a:r>
            <a:endParaRPr/>
          </a:p>
          <a:p>
            <a:pPr indent="0" lvl="0" marL="0" rtl="0" algn="l">
              <a:spcBef>
                <a:spcPts val="0"/>
              </a:spcBef>
              <a:spcAft>
                <a:spcPts val="0"/>
              </a:spcAft>
              <a:buNone/>
            </a:pPr>
            <a:r>
              <a:rPr lang="en-US"/>
              <a:t>Fuente del conteo propio: https://github.com/coreruleset/coreruleset/tree/v4.25.1/rules</a:t>
            </a:r>
            <a:endParaRPr/>
          </a:p>
          <a:p>
            <a:pPr indent="0" lvl="0" marL="0" rtl="0" algn="l">
              <a:spcBef>
                <a:spcPts val="0"/>
              </a:spcBef>
              <a:spcAft>
                <a:spcPts val="0"/>
              </a:spcAft>
              <a:buNone/>
            </a:pPr>
            <a:r>
              <a:rPr lang="en-US"/>
              <a:t>Distribución: https://github.com/coreruleset/coreruleset/releases/tag/v4.25.1</a:t>
            </a:r>
            <a:endParaRPr/>
          </a:p>
          <a:p>
            <a:pPr indent="0" lvl="0" marL="0" rtl="0" algn="l">
              <a:spcBef>
                <a:spcPts val="0"/>
              </a:spcBef>
              <a:spcAft>
                <a:spcPts val="0"/>
              </a:spcAft>
              <a:buNone/>
            </a:pPr>
            <a:r>
              <a:t/>
            </a:r>
            <a:endParaRPr/>
          </a:p>
        </p:txBody>
      </p:sp>
      <p:sp>
        <p:nvSpPr>
          <p:cNvPr id="559" name="Google Shape;559;g3fbacf0148d_1_4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ca_anomalias: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Esquema didáctico de One-Class SVM. Los puntos representan combinaciones de características, no peticiones reales del corpus. El entrenamiento usa tráfico normal como referencia. La decisión considera varias características juntas. Una petición legítima puede quedar fuera del perfil y un ataque puede parecer normal. La puntuación no equivale por sí misma a probabilidad de ataque. Fuentes: 08282026v4.pdf, PDF 28-29 y 38-39; scikit-learn, https://scikit-learn.org/stable/modules/generated/sklearn.svm.OneClassSVM.html.</a:t>
            </a:r>
            <a:endParaRPr/>
          </a:p>
        </p:txBody>
      </p:sp>
      <p:sp>
        <p:nvSpPr>
          <p:cNvPr id="577" name="Google Shape;577;ca_anomalia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ca_feature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7" name="Google Shape;647;ca_features: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a:t>Ejemplo didáctico creado para mostrar el origen de las variables; no pertenece a los corpus y no representa una predicción ni una prueba ejecutada del extractor. Se agrupan las señales por función explicativa (indicadores, longitud, estructura, composición/distribución, entropía, codificación y señales léxicas). No es una partición única ni excluyente de todos los catálogos: la tesis distingue propiedades generales y señales expertas, y cada prueba usa su propia lista.</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Petición ilustrativa completa, con CRLF entre líneas y sin salto final en el cuerpo:</a:t>
            </a:r>
            <a:endParaRPr/>
          </a:p>
          <a:p>
            <a:pPr indent="0" lvl="0" marL="0" marR="0" rtl="0" algn="l">
              <a:lnSpc>
                <a:spcPct val="100000"/>
              </a:lnSpc>
              <a:spcBef>
                <a:spcPts val="0"/>
              </a:spcBef>
              <a:spcAft>
                <a:spcPts val="0"/>
              </a:spcAft>
              <a:buNone/>
            </a:pPr>
            <a:r>
              <a:rPr lang="en-US"/>
              <a:t>POST /index.php?id=1%20OR%201=1 HTTP/1.1</a:t>
            </a:r>
            <a:endParaRPr/>
          </a:p>
          <a:p>
            <a:pPr indent="0" lvl="0" marL="0" marR="0" rtl="0" algn="l">
              <a:lnSpc>
                <a:spcPct val="100000"/>
              </a:lnSpc>
              <a:spcBef>
                <a:spcPts val="0"/>
              </a:spcBef>
              <a:spcAft>
                <a:spcPts val="0"/>
              </a:spcAft>
              <a:buNone/>
            </a:pPr>
            <a:r>
              <a:rPr lang="en-US"/>
              <a:t>Host: ejemplo.test</a:t>
            </a:r>
            <a:endParaRPr/>
          </a:p>
          <a:p>
            <a:pPr indent="0" lvl="0" marL="0" marR="0" rtl="0" algn="l">
              <a:lnSpc>
                <a:spcPct val="100000"/>
              </a:lnSpc>
              <a:spcBef>
                <a:spcPts val="0"/>
              </a:spcBef>
              <a:spcAft>
                <a:spcPts val="0"/>
              </a:spcAft>
              <a:buNone/>
            </a:pPr>
            <a:r>
              <a:rPr lang="en-US"/>
              <a:t>User-Agent: curl/8.5</a:t>
            </a:r>
            <a:endParaRPr/>
          </a:p>
          <a:p>
            <a:pPr indent="0" lvl="0" marL="0" marR="0" rtl="0" algn="l">
              <a:lnSpc>
                <a:spcPct val="100000"/>
              </a:lnSpc>
              <a:spcBef>
                <a:spcPts val="0"/>
              </a:spcBef>
              <a:spcAft>
                <a:spcPts val="0"/>
              </a:spcAft>
              <a:buNone/>
            </a:pPr>
            <a:r>
              <a:rPr lang="en-US"/>
              <a:t>Cookie: sid=abc; tema=claro</a:t>
            </a:r>
            <a:endParaRPr/>
          </a:p>
          <a:p>
            <a:pPr indent="0" lvl="0" marL="0" marR="0" rtl="0" algn="l">
              <a:lnSpc>
                <a:spcPct val="100000"/>
              </a:lnSpc>
              <a:spcBef>
                <a:spcPts val="0"/>
              </a:spcBef>
              <a:spcAft>
                <a:spcPts val="0"/>
              </a:spcAft>
              <a:buNone/>
            </a:pPr>
            <a:r>
              <a:rPr lang="en-US"/>
              <a:t>Content-Type: application/json</a:t>
            </a:r>
            <a:endParaRPr/>
          </a:p>
          <a:p>
            <a:pPr indent="0" lvl="0" marL="0" marR="0" rtl="0" algn="l">
              <a:lnSpc>
                <a:spcPct val="100000"/>
              </a:lnSpc>
              <a:spcBef>
                <a:spcPts val="0"/>
              </a:spcBef>
              <a:spcAft>
                <a:spcPts val="0"/>
              </a:spcAft>
              <a:buNone/>
            </a:pPr>
            <a:r>
              <a:rPr lang="en-US"/>
              <a:t>Content-Length: 13</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{"q":"libro"}</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method_is_post: indicador del método de la línea de petición, vale 1. body_len: longitud del cuerpo mostrado, 13 caracteres ASCII, equivalentes a 13 bytes en UTF-8; por eso Content-Length es 13. cookie_pair_count: el encabezado contiene sid=abc y tema=claro, dos pares nombre-valor.</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quote_count ilustra la composición mediante un conteo de símbolos. En el cuerpo se ven cuatro comillas dobles. No se presenta quote_count=4 como salida ejecutada: según la característica y la prueba, el extractor analiza texto original o decodificado y puede abarcar varios campos. La composición también comprende razones de caracteres y distribución de bytes; por ejemplo body_non_alnum_ratio, presente en los catálogos de 30 y 90 variables, se calcula sobre el cuerpo.</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user_agent_entropy: Shannon con logaritmo base 2 sobre el valor curl/8.5. Tiene ocho caracteres distintos, todos con frecuencia 1/8; H=-8(1/8)log2(1/8)=3 bits por carácter. Es un cálculo ilustrativo conforme a la definición. Una entropía mayor indica diversidad de caracteres, no ataque.</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percent_count: la URI original contiene dos signos %, ambos en secuencias %20. Es una observación del texto mostrado, no una ejecución del extractor. Al decodificar, la consulta pasa a id=1 OR 1=1; OR es una señal que afecta sql_token_count. Se evita asignar un valor numérico a ese contador sin ejecutar su catálogo exacto. Estas señales no son reglas que determinen por sí solas la etiqueta final.</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La estructura también incluye profundidad de ruta, cantidad de parámetros de consulta/cuerpo y, cuando se reconoce JSON/XML/multipart, sus claves/etiquetas/partes. En el ejemplo n_query_params=1 y el JSON tiene una clave q. method_is_post, cookie_pair_count y user_agent_entropy están en las variables añadidas del catálogo multietiqueta de 90 características; body_len, quote_count, percent_count y sql_token_count aparecen en el catálogo de 30 características y se conservan en el de 90. No se afirma que todas estén presentes en cada prueba binaria o multiclase.</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Fuentes: 08282026v4.pdf, §2.5 (página impresa 14 / PDF 30), §6.4 (impresas 48–50 / PDF 64–66), tabla 6.3 (impresa 50 / PDF 66), Apéndice A, tablas A.1–A.2 (impresas 82–84 / PDF 98–100). La petición adapta la consulta del ejemplo de §6.4.4 e incorpora cuerpo y Cookie para ilustrar más componentes.</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p:txBody>
      </p:sp>
      <p:sp>
        <p:nvSpPr>
          <p:cNvPr id="648" name="Google Shape;648;ca_features: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f8ea753ef3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f8ea753ef3_1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El problema incluye detectar ataques, representar el tipo o los tipos presentes y evaluar el desempeño del modelo. Se estudian aciertos, errores y costo de extracción y predicción. La elección de modelos se justifica dentro de cada tarea, sin una comparación controlada exhaustiva entre todas las familias. Fuente: 08282026v4.pdf, páginas impresas 37-38 y 78 (PDF 53-54 y 94).</a:t>
            </a:r>
            <a:endParaRPr/>
          </a:p>
        </p:txBody>
      </p:sp>
      <p:sp>
        <p:nvSpPr>
          <p:cNvPr id="680" name="Google Shape;680;g3f8ea753ef3_1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Objetivo general de la versión final de la defensa, adaptado de la propuesta de mesa de entrada, §1.5.1, página 3. Se mantiene el foco en detectar anomalías y tipificar ataques HTTP, comparar enfoques y discutir su posible uso tipo WAF. La redacción se ajusta a lo realizado y no declara cumplidos todos los compromisos operativos de la propuesta.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proceso documentado describe datos, representación, configuraciones y protocolos de las pruebas. La comparación debe leerse por tarea, corpus y protocolo; no constituye un ranking bajo un experimento común ni demuestra generalización a cualquier tráfico de producción.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Evolución metodológica: la propuesta contemplaba SGDOneClassSVM con aproximación de kernel, modelos supervisados lineales y One-vs-Rest (pp. 4–5). La versión final incorpora los modelos evaluados, incluidos Random Forest, HistGradientBoosting y XGBoost, y el corpus DS-Augmented-v2, no nombrado en la propuesta. La clasificación binaria supervisada ya figuraba en la metodología original; no se presenta como una incorporación posterior.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Alcance operativo: se caracterizan las mediciones disponibles y sus límites. La latencia o tasa de una fase no representa automáticamente todo el flujo HTTP ni un WAF desplegado. La estabilidad bajo carga estaba prevista, pero no se presenta como evaluada; queda como limitación y trabajo futuro.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92" name="Google Shape;6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28963fb50115921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6" name="Google Shape;706;h28963fb50115921e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Objetivos específicos de la versión final, adaptados de la propuesta de mesa de entrada, §1.5.2, página 3. Se conservan sus siete ejes y su orden: representación común, tareas según etiquetas, modelos, protocolo experimental, métricas, costo operativo y contraste con antecedentes/características. Son objetivos ajustados al trabajo documentado, no una transcripción literal ni una declaración de cumplimiento íntegro de la propuesta.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Objetivo 1: un esquema común no implica idéntico catálogo de características en todas las pruebas. Deben mantenerse visibles las diferencias de representación.</a:t>
            </a:r>
            <a:endParaRPr/>
          </a:p>
          <a:p>
            <a:pPr indent="0" lvl="0" marL="0" rtl="0" algn="l">
              <a:spcBef>
                <a:spcPts val="0"/>
              </a:spcBef>
              <a:spcAft>
                <a:spcPts val="0"/>
              </a:spcAft>
              <a:buNone/>
            </a:pPr>
            <a:r>
              <a:rPr lang="en-US"/>
              <a:t>Objetivo 2: la detección binaria incluye el enfoque one-class y los modelos binarios supervisados evaluados, conforme a las etiquetas disponibles. La binaria supervisada ya figuraba en la propuesta (pp. 4–5).</a:t>
            </a:r>
            <a:endParaRPr/>
          </a:p>
          <a:p>
            <a:pPr indent="0" lvl="0" marL="0" rtl="0" algn="l">
              <a:spcBef>
                <a:spcPts val="0"/>
              </a:spcBef>
              <a:spcAft>
                <a:spcPts val="0"/>
              </a:spcAft>
              <a:buNone/>
            </a:pPr>
            <a:r>
              <a:rPr lang="en-US"/>
              <a:t>Objetivo 3: se contrastan los modelos efectivamente evaluados por tarea. No se afirma una búsqueda exhaustiva de algoritmos ni una comparación controlada entre todos los modelos finales.</a:t>
            </a:r>
            <a:endParaRPr/>
          </a:p>
          <a:p>
            <a:pPr indent="0" lvl="0" marL="0" rtl="0" algn="l">
              <a:spcBef>
                <a:spcPts val="0"/>
              </a:spcBef>
              <a:spcAft>
                <a:spcPts val="0"/>
              </a:spcAft>
              <a:buNone/>
            </a:pPr>
            <a:r>
              <a:rPr lang="en-US"/>
              <a:t>Objetivo 4: se documentan y auditan particiones, coincidencias y uso previo del conjunto de prueba. La partición por grupos corresponde expresamente a la evaluación multietiqueta con peticiones agrupadas; no se atribuye separación estricta entre entrenamiento, validación y prueba a todas las pruebas anteriores.</a:t>
            </a:r>
            <a:endParaRPr/>
          </a:p>
          <a:p>
            <a:pPr indent="0" lvl="0" marL="0" rtl="0" algn="l">
              <a:spcBef>
                <a:spcPts val="0"/>
              </a:spcBef>
              <a:spcAft>
                <a:spcPts val="0"/>
              </a:spcAft>
              <a:buNone/>
            </a:pPr>
            <a:r>
              <a:rPr lang="en-US"/>
              <a:t>Objetivo 5: se emplean métricas adecuadas a cada formulación; sus valores no se equiparan entre tareas o protocolos distintos.</a:t>
            </a:r>
            <a:endParaRPr/>
          </a:p>
          <a:p>
            <a:pPr indent="0" lvl="0" marL="0" rtl="0" algn="l">
              <a:spcBef>
                <a:spcPts val="0"/>
              </a:spcBef>
              <a:spcAft>
                <a:spcPts val="0"/>
              </a:spcAft>
              <a:buNone/>
            </a:pPr>
            <a:r>
              <a:rPr lang="en-US"/>
              <a:t>Objetivo 6: se caracterizan tiempos, tasa de procesamiento, CPU, memoria y tamaño del modelo cuando existen mediciones atribuibles. La disponibilidad y las fases medidas varían entre pruebas. No se afirma que todas las magnitudes se midieran para todos los modelos. No se evaluó estabilidad bajo carga ni un WAF completo; son límites y trabajo futuro.</a:t>
            </a:r>
            <a:endParaRPr/>
          </a:p>
          <a:p>
            <a:pPr indent="0" lvl="0" marL="0" rtl="0" algn="l">
              <a:spcBef>
                <a:spcPts val="0"/>
              </a:spcBef>
              <a:spcAft>
                <a:spcPts val="0"/>
              </a:spcAft>
              <a:buNone/>
            </a:pPr>
            <a:r>
              <a:rPr lang="en-US"/>
              <a:t>Objetivo 7: el contraste con literatura considera diferencias de datos, tareas, protocolos y mediciones. El aporte de características se interpreta según los análisis disponibles y no como una prueba causal común a todas las pruebas.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cambios de modelos y la incorporación posterior de DS-Augmented-v2 se explican como evolución del trabajo, sin atribuirlos al texto original de la propuesta. El cumplimiento y las limitaciones de estos objetivos deben leerse junto con los resultados, no inferirse únicamente de esta diapositiva.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07" name="Google Shape;707;h28963fb50115921e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fbacf0148d_1_8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1" name="Google Shape;751;g3fbacf0148d_1_8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Motivación derivada del objetivo del estudio: comparar diferentes salidas para el detector y analizar el papel de las características, etiquetas y particiones. No se implementó un WAF ni se midió tráfico en vivo.</a:t>
            </a:r>
            <a:endParaRPr/>
          </a:p>
        </p:txBody>
      </p:sp>
      <p:sp>
        <p:nvSpPr>
          <p:cNvPr id="752" name="Google Shape;752;g3fbacf0148d_1_8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h28963fb50115921e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67" name="Google Shape;767;h28963fb50115921e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h28963fb50115921e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fbacf0148d_1_5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4" name="Google Shape;774;g3fbacf0148d_1_5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el ejemplo one-class, la tarea es señalar desviaciones del tráfico normal. La experiencia son características de normales de entrenamiento. Las etiquetas de un conjunto de prueba permiten contar detecciones, omisiones y falsas alarmas. Esas etiquetas no convierten el ajuste del detector en aprendizaje supervisado. Los clasificadores posteriores sí aprenden con etiquetas. Referencia conceptual: Mitchell (1997), Machine Learning, p. 2. Aplicación: 08282026v4.pdf, páginas impresas 12-13 y 22-23 (PDF 28-29 y 38-39).</a:t>
            </a:r>
            <a:endParaRPr/>
          </a:p>
        </p:txBody>
      </p:sp>
      <p:sp>
        <p:nvSpPr>
          <p:cNvPr id="775" name="Google Shape;775;g3fbacf0148d_1_5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f8ea753ef3_1_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4" name="Google Shape;804;g3f8ea753ef3_1_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One-class describe aquí el aprendizaje a partir de una clase normal. Binaria, multiclase y multietiqueta describen la forma de salida. La tabla nombra los enfoques concretos del trabajo. En multiclase, una combinación CAPEC puede definirse previamente como una sola clase. En multietiqueta, cada clasificador decide la presencia de una CAPEC y puede coexistir con otras. Una salida sin CAPEC activa se interpreta como NORMAL. Fuente: 08282026v4.pdf, PDF 28-29, 38-39, 68-69 y 75.</a:t>
            </a:r>
            <a:endParaRPr/>
          </a:p>
        </p:txBody>
      </p:sp>
      <p:sp>
        <p:nvSpPr>
          <p:cNvPr id="805" name="Google Shape;805;g3f8ea753ef3_1_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CSIC contiene peticiones de una tienda en línea simulada, identificadas como normales o anómalas. Se utilizó en las pruebas iniciales one-class, para la clasificación binaria y para comparar qué ocurre al cambiar el conjunto de características calculadas. TorpEda identifica familias de ataque y se usó en clasificación binaria y multiclase; sus pruebas multiclase procesaron 74.133 registros. SR-BH procede de un sitio WordPress preparado para atraer y registrar ataques durante doce días. Esta técnica se conoce como honeypot. El archivo utilizado tiene 907.815 filas; 907.813 son válidas para el análisis por huella. En la evaluación multietiqueta se reunieron en 542.990 grupos. Algunos informes llaman Harvard a SR-BH por el repositorio donde se publicó; se trata de la misma fuente. DS-Augmented-v2 amplía la evaluación multiclase y procesa 704.665 registros. Estos conteos no se suman para formar un único entrenamiento: cada conjunto se procesa por separado y el número de casos depende de la prueba. Se distingue la organización de campos HTTP del vector de características. Método, URI, versión, encabezados y cuerpo sirven como esquema base, con campos ausentes o reconstruidos según la fuente. Las características, las etiquetas y la unidad evaluada cambian por enfoque y prueba. La evaluación binaria con Random Forest comparte una función de 57 características entre sus tres conjuntos, aunque no todos aportan los mismos campos. La evaluación multiclase final registra 72 características y etiquetas de una clase; la primera evaluación multietiqueta usa 30 características por fila y la evaluación agrupada usa 90 por grupo. La agrupación por huella corresponde a la evaluación multietiqueta agrupada y no debe trasladarse a los experimentos históricos multiclase. Los archivos de código posteriores no se toman como evidencia de nuevas ejecuciones sin sus resultados guardados.</a:t>
            </a:r>
            <a:endParaRPr/>
          </a:p>
          <a:p>
            <a:pPr indent="0" lvl="0" marL="0" rtl="0" algn="l">
              <a:spcBef>
                <a:spcPts val="0"/>
              </a:spcBef>
              <a:spcAft>
                <a:spcPts val="0"/>
              </a:spcAft>
              <a:buNone/>
            </a:pPr>
            <a:r>
              <a:t/>
            </a:r>
            <a:endParaRPr/>
          </a:p>
        </p:txBody>
      </p:sp>
      <p:sp>
        <p:nvSpPr>
          <p:cNvPr id="818" name="Google Shape;81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El estudio comparó resultados numéricos de pruebas experimentales. La clasificación binaria comenzó con One-Class SVM e Isolation Forest, entrenados para reconocer lo habitual, y luego examinó regresión logística y Random Forest con ejemplos normales y ataques. Este cambio también modifica la información usada para aprender. Los modelos finales fueron Random Forest para clasificación binaria, HistGradientBoosting para multiclase y XGBoost con un clasificador por etiqueta CAPEC para multietiqueta. Al comparar dos pruebas se revisa qué datos se usaron, qué características se calcularon, qué etiquetas se predijeron, qué modelo se entrenó, dónde se fijaron los puntos de corte y cómo se separaron entrenamiento y prueba. Un umbral es el punto de corte que transforma una puntuación en una decisión. Para atribuir una diferencia a las características hay que mantener iguales los demás componentes relevantes. No se repitieron las pruebas con varias divisiones aleatorias ni se midió si las diferencias se mantendrían al repetir el experimento.</a:t>
            </a:r>
            <a:endParaRPr/>
          </a:p>
        </p:txBody>
      </p:sp>
      <p:sp>
        <p:nvSpPr>
          <p:cNvPr id="837" name="Google Shape;83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 name="Google Shape;91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diapositiva resume las métricas de calidad que se muestran en los resultados propios de la presentación.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One-class: F1, recall (ataques detectados) y FPR (falsas alarmas), diapositiva de resultados con ID p34.</a:t>
            </a:r>
            <a:endParaRPr/>
          </a:p>
          <a:p>
            <a:pPr indent="0" lvl="0" marL="0" rtl="0" algn="l">
              <a:spcBef>
                <a:spcPts val="0"/>
              </a:spcBef>
              <a:spcAft>
                <a:spcPts val="0"/>
              </a:spcAft>
              <a:buNone/>
            </a:pPr>
            <a:r>
              <a:rPr lang="en-US"/>
              <a:t>Binario: F1 y FPR, diapositivas h57f31f40725a5983_0_39 y h57f31f40725a5983_0_13. No se presenta recall como resultado binario propio en estas tablas.</a:t>
            </a:r>
            <a:endParaRPr/>
          </a:p>
          <a:p>
            <a:pPr indent="0" lvl="0" marL="0" rtl="0" algn="l">
              <a:spcBef>
                <a:spcPts val="0"/>
              </a:spcBef>
              <a:spcAft>
                <a:spcPts val="0"/>
              </a:spcAft>
              <a:buNone/>
            </a:pPr>
            <a:r>
              <a:rPr lang="en-US"/>
              <a:t>Multiclase: exactitud, F1 macro y F1 por clase, diapositiva p37.</a:t>
            </a:r>
            <a:endParaRPr/>
          </a:p>
          <a:p>
            <a:pPr indent="0" lvl="0" marL="0" rtl="0" algn="l">
              <a:spcBef>
                <a:spcPts val="0"/>
              </a:spcBef>
              <a:spcAft>
                <a:spcPts val="0"/>
              </a:spcAft>
              <a:buNone/>
            </a:pPr>
            <a:r>
              <a:rPr lang="en-US"/>
              <a:t>Multietiqueta: F1 micro, F1 macro, F1 por etiqueta, coincidencia exacta, pérdida de Hamming y grupos normales reconocidos, diapositiva p38. La unidad de evaluación son grupos de peticiones.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Para una clase o etiqueta: TP = aciertos al predecir esa clase; FP = asignaciones incorrectas a ella; FN = casos de esa clase no detectados; TN = casos que no pertenecen a esa clase y no se asignaron a ella. Precisión = TP/(TP+FP); recall = TP/(TP+FN); F1 = 2TP/(2TP+FP+FN), media armónica de precisión y recall. Precisión se menciona solo como componente explicativo de F1, sin presentarla como resultado independiente.</a:t>
            </a:r>
            <a:endParaRPr/>
          </a:p>
          <a:p>
            <a:pPr indent="0" lvl="0" marL="0" rtl="0" algn="l">
              <a:spcBef>
                <a:spcPts val="0"/>
              </a:spcBef>
              <a:spcAft>
                <a:spcPts val="0"/>
              </a:spcAft>
              <a:buNone/>
            </a:pPr>
            <a:r>
              <a:rPr lang="en-US"/>
              <a:t>En one-class/binario, ataque es el positivo: FPR = FP/(FP+TN). Exactitud multiclase = predicciones correctas/total.</a:t>
            </a:r>
            <a:endParaRPr/>
          </a:p>
          <a:p>
            <a:pPr indent="0" lvl="0" marL="0" rtl="0" algn="l">
              <a:spcBef>
                <a:spcPts val="0"/>
              </a:spcBef>
              <a:spcAft>
                <a:spcPts val="0"/>
              </a:spcAft>
              <a:buNone/>
            </a:pPr>
            <a:r>
              <a:rPr lang="en-US"/>
              <a:t>Coincidencia exacta multietiqueta = grupos cuyo conjunto completo de etiquetas coincide con el real/total de grupos. Hamming = decisiones presencia/ausencia incorrectas/(grupos × etiquetas).</a:t>
            </a:r>
            <a:endParaRPr/>
          </a:p>
          <a:p>
            <a:pPr indent="0" lvl="0" marL="0" rtl="0" algn="l">
              <a:spcBef>
                <a:spcPts val="0"/>
              </a:spcBef>
              <a:spcAft>
                <a:spcPts val="0"/>
              </a:spcAft>
              <a:buNone/>
            </a:pPr>
            <a:r>
              <a:rPr lang="en-US"/>
              <a:t>Grupos normales reconocidos = grupos realmente normales para los que no se predijo ninguna etiqueta CAPEC de ataque/total de grupos realmente normales; no es la proporción de todos los grupos ni la exactitud global.</a:t>
            </a:r>
            <a:endParaRPr/>
          </a:p>
          <a:p>
            <a:pPr indent="0" lvl="0" marL="0" rtl="0" algn="l">
              <a:spcBef>
                <a:spcPts val="0"/>
              </a:spcBef>
              <a:spcAft>
                <a:spcPts val="0"/>
              </a:spcAft>
              <a:buNone/>
            </a:pPr>
            <a:r>
              <a:rPr lang="en-US"/>
              <a:t>F1 por clase o etiqueta mantiene la definición anterior. Macro y micro se explican en la siguiente diapositiva.</a:t>
            </a:r>
            <a:endParaRPr/>
          </a:p>
          <a:p>
            <a:pPr indent="0" lvl="0" marL="0" rtl="0" algn="l">
              <a:spcBef>
                <a:spcPts val="0"/>
              </a:spcBef>
              <a:spcAft>
                <a:spcPts val="0"/>
              </a:spcAft>
              <a:buNone/>
            </a:pPr>
            <a:r>
              <a:rPr lang="en-US"/>
              <a:t>La precisión media (AP) se usa para elegir la configuración en validación, no como resultado final mostrado. F1 ponderado aparece en los informes de respaldo, pero no en las diapositivas de resultados actuales. Tiempo y recursos se explican por separado.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Fuentes de las definiciones:</a:t>
            </a:r>
            <a:endParaRPr/>
          </a:p>
          <a:p>
            <a:pPr indent="0" lvl="0" marL="0" rtl="0" algn="l">
              <a:spcBef>
                <a:spcPts val="0"/>
              </a:spcBef>
              <a:spcAft>
                <a:spcPts val="0"/>
              </a:spcAft>
              <a:buNone/>
            </a:pPr>
            <a:r>
              <a:rPr lang="en-US"/>
              <a:t>https://scikit-learn.org/stable/modules/generated/sklearn.metrics.f1_score.html</a:t>
            </a:r>
            <a:endParaRPr/>
          </a:p>
          <a:p>
            <a:pPr indent="0" lvl="0" marL="0" rtl="0" algn="l">
              <a:spcBef>
                <a:spcPts val="0"/>
              </a:spcBef>
              <a:spcAft>
                <a:spcPts val="0"/>
              </a:spcAft>
              <a:buNone/>
            </a:pPr>
            <a:r>
              <a:rPr lang="en-US"/>
              <a:t>https://scikit-learn.org/stable/modules/generated/sklearn.metrics.precision_score.html</a:t>
            </a:r>
            <a:endParaRPr/>
          </a:p>
          <a:p>
            <a:pPr indent="0" lvl="0" marL="0" rtl="0" algn="l">
              <a:spcBef>
                <a:spcPts val="0"/>
              </a:spcBef>
              <a:spcAft>
                <a:spcPts val="0"/>
              </a:spcAft>
              <a:buNone/>
            </a:pPr>
            <a:r>
              <a:rPr lang="en-US"/>
              <a:t>https://scikit-learn.org/stable/modules/generated/sklearn.metrics.recall_score.html</a:t>
            </a:r>
            <a:endParaRPr/>
          </a:p>
          <a:p>
            <a:pPr indent="0" lvl="0" marL="0" rtl="0" algn="l">
              <a:spcBef>
                <a:spcPts val="0"/>
              </a:spcBef>
              <a:spcAft>
                <a:spcPts val="0"/>
              </a:spcAft>
              <a:buNone/>
            </a:pPr>
            <a:r>
              <a:rPr lang="en-US"/>
              <a:t>https://scikit-learn.org/stable/modules/generated/sklearn.metrics.accuracy_score.html</a:t>
            </a:r>
            <a:endParaRPr/>
          </a:p>
          <a:p>
            <a:pPr indent="0" lvl="0" marL="0" rtl="0" algn="l">
              <a:spcBef>
                <a:spcPts val="0"/>
              </a:spcBef>
              <a:spcAft>
                <a:spcPts val="0"/>
              </a:spcAft>
              <a:buNone/>
            </a:pPr>
            <a:r>
              <a:rPr lang="en-US"/>
              <a:t>https://scikit-learn.org/stable/modules/generated/sklearn.metrics.hamming_loss.html</a:t>
            </a:r>
            <a:endParaRPr/>
          </a:p>
          <a:p>
            <a:pPr indent="0" lvl="0" marL="0" rtl="0" algn="l">
              <a:spcBef>
                <a:spcPts val="0"/>
              </a:spcBef>
              <a:spcAft>
                <a:spcPts val="0"/>
              </a:spcAft>
              <a:buNone/>
            </a:pPr>
            <a:r>
              <a:rPr lang="en-US"/>
              <a:t>Evidencia del estudio: 08282026v4.pdf, sección 5.7, e informes de resultados conservados.</a:t>
            </a:r>
            <a:endParaRPr/>
          </a:p>
        </p:txBody>
      </p:sp>
      <p:sp>
        <p:nvSpPr>
          <p:cNvPr id="912" name="Google Shape;91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ca_metrics_averages_o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8" name="Google Shape;938;ca_metrics_averages_o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Macro da igual peso a cada clase o etiqueta. F1 macro es el promedio de los F1 individuales, no el F1 de precisión macro y recall macro. Micro reúne TP, FP y FN de todas las categorías antes de calcular la métrica. Ponderado promedia las métricas individuales según su soporte: el número de casos reales de cada clase. En multietiqueta, soporte es la cantidad de casos donde una etiqueta está presente y un mismo caso puede contribuir a varias etiquetas. Los pesos del promedio describen la evaluación y son distintos de los pesos usados durante el entrenamiento.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Ejemplo didáctico de una clase por caso: 90 normales y 10 ataques, con todas las predicciones normales. F1 normal = 180/190 = 94,7368 %. F1 ataque = 0 %. Macro = 47,3684 %. Ponderado = 0,9*94,7368 + 0,1*0 = 85,2632 %. Micro = 90 %. Cuando hay una única clase por caso y se incluyen todas las clases, F1 micro coincide con exactitud. Este ejemplo no corresponde a una corrida del trabajo.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Uso real: el estudio prioriza F1 macro en multiclase y F1 micro/macro en multietiqueta. También reporta F1 ponderado como complemento. Evidencia: 08282026v4.pdf, sección 5.7, página impresa 42, y tabla comparativa L1-L2 en página impresa 66. El informe Multiclase_Tres_datasets_72_features_WAMM_like, página 4, informa F1 ponderado para los tres conjuntos de M8. Esos valores se reservan para los resultados.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Fuentes: https://scikit-learn.org/stable/modules/generated/sklearn.metrics.f1_score.html ; https://scikit-learn.org/stable/modules/generated/sklearn.metrics.precision_recall_fscore_support.html ; 08282026v4.pdf, sección 5.7.</a:t>
            </a:r>
            <a:endParaRPr/>
          </a:p>
          <a:p>
            <a:pPr indent="0" lvl="0" marL="0" rtl="0" algn="l">
              <a:spcBef>
                <a:spcPts val="0"/>
              </a:spcBef>
              <a:spcAft>
                <a:spcPts val="0"/>
              </a:spcAft>
              <a:buNone/>
            </a:pPr>
            <a:r>
              <a:t/>
            </a:r>
            <a:endParaRPr/>
          </a:p>
        </p:txBody>
      </p:sp>
      <p:sp>
        <p:nvSpPr>
          <p:cNvPr id="939" name="Google Shape;939;ca_metrics_averages_o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ca_metrics_time_o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ca_metrics_time_o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mediana es p50. p95 y p99 son percentiles que indican los tiempos bajo los que se encuentra aproximadamente el 95 % y el 99 % de los casos medidos, según la convención de cálculo. No representan el máximo. El ejemplo p95 = 8 ms es didáctico, no un resultado del trabajo.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Casos por segundo = casos procesados / duración de la fase medida. Se distingue procesar una petición o grupo a la vez de procesar un lote. La tasa de un lote y sus tiempos amortizados no representan la latencia individual. También se separa preparación de características, predicción y trabajo completo. Tiempo de ajuste caracteriza el entrenamiento; tiempo por caso caracteriza el uso del modelo.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CPU puede indicar núcleos/hilos asignados. Si un registro informa CPU-s, expresa tiempo de cálculo acumulado y se distingue de la duración del trabajo. Memoria se refiere a RAM de ejecución. MaxRSS es la mayor memoria residente observada para un paso de Slurm. MiB = 1.048.576 bytes. Tamaño del modelo se refiere al archivo guardado. Para comparar, revisar equipo, recursos asignados, caso y etapa.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el estudio, las mediciones de M8 y L2 describen fases específicas; Isolation Forest incluye un benchmark por lotes con características preparadas. Los registros históricos OCSVM/RF describen trabajos completos de Slurm. El alcance se especifica junto a cada resultado. El uso operativo incluye comparar demora, capacidad y recursos.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Fuentes: informes de ejecución de la tesis y registros conservados de Slurm. Documentación de campos: https://slurm.schedmd.com/sacct.html . Percentiles: https://numpy.org/doc/stable/reference/generated/numpy.percentile.html .</a:t>
            </a:r>
            <a:endParaRPr/>
          </a:p>
          <a:p>
            <a:pPr indent="0" lvl="0" marL="0" rtl="0" algn="l">
              <a:spcBef>
                <a:spcPts val="0"/>
              </a:spcBef>
              <a:spcAft>
                <a:spcPts val="0"/>
              </a:spcAft>
              <a:buNone/>
            </a:pPr>
            <a:r>
              <a:t/>
            </a:r>
            <a:endParaRPr/>
          </a:p>
        </p:txBody>
      </p:sp>
      <p:sp>
        <p:nvSpPr>
          <p:cNvPr id="952" name="Google Shape;952;ca_metrics_time_o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Los programas leen cada fuente y organizan los campos HTTP disponibles: método, URI, versión, encabezados y cuerpo. Cada enfoque y corrida define las características y etiquetas. Los campos ausentes se tratan según la fuente y el programa. Después se calculan medidas numéricas de la petición, como longitudes y contadores, que son las características que recibe el modelo. La huella sirve para agrupar peticiones y comprobar cómo se separaron los datos; no es una característica usada para predecir. En L2 se agrupa antes de dividir los datos y se conservan todas las etiquetas presentes en cada grupo. scikit-learn se utilizó para Random Forest e HistGradientBoosting. XGBoost entrenó un clasificador por etiqueta CAPEC: cada uno decide si su etiqueta está presente o ausente. Los programas Bash fijan archivos, opciones y recursos; Slurm organiza la ejecución de los trabajos de mayor tamaño y registra los recursos usados. Según cada prueba se guardaron configuraciones, filas o huellas de cada parte, predicciones, métricas, importancia de características y tiempos. En L2 se mantuvieron separadas la elección de configuración, la elección de puntos de corte y la prueba final. El modelo no se volvió a entrenar después de fijar esos puntos de corte.</a:t>
            </a:r>
            <a:endParaRPr/>
          </a:p>
        </p:txBody>
      </p:sp>
      <p:sp>
        <p:nvSpPr>
          <p:cNvPr id="1036" name="Google Shape;103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f8ea753ef3_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7" name="Google Shape;1107;g3f8ea753ef3_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 añadió el ensayo OCSVM documentado en el método y en resultados: gamma fija 0,1 y nu 0,01/0,05/0,10. No se afirma una validación cruzada ni selección independiente de nu. IF fue exploración adicional con 25 y 15 variables; los registros recuperados se explican en el anexo operativo. En L2 la búsqueda maximiza el promedio entre AP y el mejor F1 de validación por etiqueta; el ajuste conjunto de umbrales usa otro bloque reservado. No se utilizó la prueba para elegir los umbrales de L2.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Notas previas conservadas:</a:t>
            </a:r>
            <a:endParaRPr/>
          </a:p>
          <a:p>
            <a:pPr indent="0" lvl="0" marL="0" rtl="0" algn="l">
              <a:spcBef>
                <a:spcPts val="0"/>
              </a:spcBef>
              <a:spcAft>
                <a:spcPts val="0"/>
              </a:spcAft>
              <a:buNone/>
            </a:pPr>
            <a:r>
              <a:rPr lang="en-US" sz="1200"/>
              <a:t>Los hiperparámetros controlan cómo aprende el modelo. El punto de corte transforma una puntuación o probabilidad en una decisión. La selección de hiperparámetros y el ajuste del punto de corte cumplen funciones distintas.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Binario B2: usamos Random Forest con 500 árboles y pesos balanceados. Mantuvimos la configuración del bosque para los tres conjuntos. Probamos puntos de corte desde 0,05 hasta 0,95, en pasos de 0,01, y elegimos el mayor F1 sobre la prueba. Por ese uso de la prueba, el ajuste del umbral tiene carácter exploratorio. En Harvard elegimos 0,44. No atribuimos las mejoras de otras etapas a una búsqueda de hiperparámetros del bosque.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Multiclase M8: entrenamos un HistGradientBoosting por conjunto con una configuración fija, denominada max: máximo de 750 iteraciones, tasa de aprendizaje 0,035, hasta 63 hojas y regularización L2 0,05. Activamos parada anticipada con validación interna. Harvard completó 263 iteraciones, TorpEda 167 y DS-Augmented-v2 163. En M8 no realizamos una búsqueda automática entre configuraciones de estos hiperparámetros. Los pesos de entrenamiento se adaptaron por conjunto: sin ponderación en TorpEda y raíz de los pesos balanceados en Harvard y DS. F1 macro también sirvió para calcular importancia por permutación, pero no fue el objetivo de una búsqueda de configuraciones en M8.</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Multietiqueta L2: ajustamos un clasificador XGBoost por cada una de las 12 etiquetas CAPEC. Probamos configuraciones de pesos de clase y luego candidatos aleatorios para los hiperparámetros. Ejecutamos 192 ensayos en total: 12 para cada una de nueve etiquetas y 28 para cada una de CAPEC-153, CAPEC-272 y CAPEC-274. Son cantidades totales de ensayos que incluyen las configuraciones iniciales y las aleatorias. La selección por etiqueta maximiza (AP + mejor F1 en validación) / 2. AP es la precisión media obtenida al resumir la curva precisión–recall. El mejor F1 se calcula explorando puntos de corte en la validación usada para elegir configuraciones.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Los candidatos ajustan profundidad, tasa de aprendizaje, submuestreo, regularización y pesos de clase. Las profundidades finalmente elegidas van de 5 a 8 y las tasas de aprendizaje elegidas de aproximadamente 0,022 a 0,0835. Estos intervalos describen los valores seleccionados para las distintas etiquetas, no todos los valores explorados. Se permite un máximo de 2.600 árboles por etiqueta, con parada tras 100 rondas sin mejora de aucpr.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En L2 separamos grupos equivalentes de peticiones antes de dividir los datos. El 64 % sirve para entrenamiento, un 8 % para selección de configuración, otro 8 % para ajustar los puntos de corte finales y el 20 % para la evaluación final. La búsqueda usa una única partición de validación por etiqueta. No es validación cruzada, ni una cuadrícula exhaustiva. La comparación entre ensayos evalúa configuraciones del modelo y no demuestra, por sí sola, una mejora causal respecto de las otras corridas.</a:t>
            </a:r>
            <a:endParaRPr/>
          </a:p>
        </p:txBody>
      </p:sp>
      <p:sp>
        <p:nvSpPr>
          <p:cNvPr id="1108" name="Google Shape;1108;g3f8ea753ef3_2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f8ea753ef3_2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9" name="Google Shape;1199;g3f8ea753ef3_2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Comparación de métodos de normalidad. Kruegel y Vigna (2003) combina seis modelos estadísticos: longitud, distribución de caracteres, estructura, valores enumerados, presencia y orden de parámetros. Son seis modelos, no seis dimensiones fijas. Se agrupan por programa/ruta; usa GET exitosos (2xx) con parámetros, no encabezados ni POST. Aprende con las primeras 1.000 consultas por programa. Fuente: https://sites.cs.ucsb.edu/~vigna/publications/2003_kruegel_vigna_ccs03.pdf §§ 3–5, tablas 4–5. Detectó 11 exploits y Code Red en su ensayo. FPR Google 0,0419 %, UCSB 0,0650 %, TU Vienna 0,0212 %. No hay medición de latencia ni peticiones/s en el artículo revisado.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Epp, Funk y Cappo: se usa explícitamente la edición de congreso de 2017, cuyo texto completo se pudo comprobar, en lugar de trasladar detalles no verificados de la edición extendida 2018. Fuente primaria depositada por Cappo: https://www.researchgate.net/publication/319490376_Anomaly-based_Web_Application_Firewall_using_HTTP-specific_features_and_One-Class_SVM ; repositorio: https://github.com/nico-ralf-ii-fpuna/paper . Diez medidas por cadena: longitud, dígitos, letras, caracteres no alfanuméricos, cinco intervalos de distribución de caracteres y entropía. Se calculan para petición completa y para cada parámetro: 10×(1 + n), n = número de parámetros. Diseño experto; extracción automática. Entrenamiento solo normales; un OCSVM por URL + método. 18 grupos, CSIC 2010 + CSIC TORPEDA 2012, 40.130 normales/42.444 anomalías. Con parámetros, medias F1 0,93±0,07, recall 0,95±0,05, FPR 0,09±0,11. Incremento de respuesta +4 ms con detección y +2 ms sin detección, frente al acceso directo (§ 4.2). No convertir esa latencia adicional en solicitudes/s. La edición extendida 2018 informa F1 medio 0,95 en su resumen: https://zenodo.org/records/1336812 ; https://revistas.setrem.com.br/index.php/reabtic/article/view/266 . Su texto completo no se pudo verificar; sus cifras no se mezclaron con 2017.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Riverol et al. (2024): https://arxiv.org/html/2407.18445v1 §§ 3.1–3.4 y tablas 1–2. DOI de edición LADC: https://doi.org/10.1145/3697090.3699797 . 100 tokens BoW seleccionados por información mutua. Para seleccionar combina normales Drupal + ataques SR-BH y normales SR-BH + ataques PKDD. La selección necesita etiquetas; el OCSVM posterior usa normales. «Por aplicación» resume el algoritmo 3; no describe modelos por URL. Drupal: recall 91,76 %, FPR 2,29 %, exactitud 97,8 %. SR-BH: recall 78,87 %, FPR 5,18 %, exactitud 88,1 %. No informa latencia/reqs en el preprint.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trabajo: OCSVM global con 57 variables, CSIC 2010; F1 0,787, recall 0,689 y FPR 0,099. Tesis 08282026v4, tabla 8.1, PDF 77 (impresa 61), e Informe metodológico del enfoque binario. La ampliación de ≈26 a 57 variables no cambió los resultados al redondeo informado. No hay medición temporal de esta corrida. No se usaron tiempos de L2 para completarla. Aislar registro.jsp es otra prueba (F1 ≈ 0,457), no equivale a desplegar un modelo por cada URL.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cifras de distintos artículos no son una comparación controlada: cambian corpus, particiones, unidades y umbrales. FPR es la proporción de normales marcados como ataque. El objetivo es distinguir decisiones y límites, no declarar un ganador por la cifra mayor.</a:t>
            </a:r>
            <a:endParaRPr/>
          </a:p>
          <a:p>
            <a:pPr indent="0" lvl="0" marL="0" rtl="0" algn="l">
              <a:spcBef>
                <a:spcPts val="0"/>
              </a:spcBef>
              <a:spcAft>
                <a:spcPts val="0"/>
              </a:spcAft>
              <a:buNone/>
            </a:pPr>
            <a:r>
              <a:t/>
            </a:r>
            <a:endParaRPr/>
          </a:p>
        </p:txBody>
      </p:sp>
      <p:sp>
        <p:nvSpPr>
          <p:cNvPr id="1200" name="Google Shape;1200;g3f8ea753ef3_2_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Benchmark recuperado en slurm-csic-iforest-2440.out: 25 variables, F1 0,55881, TPR 0,55915 y FPR 0,15389 coinciden al redondear con esta fila. Ajuste final 72,56 s; 19.413 vectores, lotes de hasta 4096; 42,442587 s y 457,394358 vectores/s. Incluye escalado y puntajes; excluye extracción HTTP. No extrapolar a OCSVM, IF15 ni latencia individual. IF15, trabajo2460, tiene ajuste final 0,52 s y métricas coherentes con su fila, sin benchmark numérico. Fuente y detalle en anexo operativo.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Notas previas conservadas:</a:t>
            </a:r>
            <a:endParaRPr/>
          </a:p>
          <a:p>
            <a:pPr indent="0" lvl="0" marL="0" rtl="0" algn="l">
              <a:spcBef>
                <a:spcPts val="0"/>
              </a:spcBef>
              <a:spcAft>
                <a:spcPts val="0"/>
              </a:spcAft>
              <a:buNone/>
            </a:pPr>
            <a:r>
              <a:t/>
            </a:r>
            <a:endParaRPr/>
          </a:p>
        </p:txBody>
      </p:sp>
      <p:sp>
        <p:nvSpPr>
          <p:cNvPr id="1213" name="Google Shape;121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h57f31f40725a5983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5" name="Google Shape;1235;h57f31f40725a5983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Comparación de métodos de normalidad. Kruegel y Vigna (2003) combina seis modelos estadísticos: longitud, distribución de caracteres, estructura, valores enumerados, presencia y orden de parámetros. Son seis modelos, no seis dimensiones fijas. Se agrupan por programa/ruta; usa GET exitosos (2xx) con parámetros, no encabezados ni POST. Aprende con las primeras 1.000 consultas por programa. Fuente: https://sites.cs.ucsb.edu/~vigna/publications/2003_kruegel_vigna_ccs03.pdf §§ 3–5, tablas 4–5. Detectó 11 exploits y Code Red en su ensayo. FPR Google 0,0419 %, UCSB 0,0650 %, TU Vienna 0,0212 %. No hay medición de latencia ni peticiones/s en el artículo revisado.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Epp, Funk y Cappo: se usa explícitamente la edición de congreso de 2017, cuyo texto completo se pudo comprobar, en lugar de trasladar detalles no verificados de la edición extendida 2018. Fuente primaria depositada por Cappo: https://www.researchgate.net/publication/319490376_Anomaly-based_Web_Application_Firewall_using_HTTP-specific_features_and_One-Class_SVM ; repositorio: https://github.com/nico-ralf-ii-fpuna/paper . Diez medidas por cadena: longitud, dígitos, letras, caracteres no alfanuméricos, cinco intervalos de distribución de caracteres y entropía. Se calculan para petición completa y para cada parámetro: 10×(1 + n), n = número de parámetros. Diseño experto; extracción automática. Entrenamiento solo normales; un OCSVM por URL + método. 18 grupos, CSIC 2010 + CSIC TORPEDA 2012, 40.130 normales/42.444 anomalías. Con parámetros, medias F1 0,93±0,07, recall 0,95±0,05, FPR 0,09±0,11. Incremento de respuesta +4 ms con detección y +2 ms sin detección, frente al acceso directo (§ 4.2). No convertir esa latencia adicional en solicitudes/s. La edición extendida 2018 informa F1 medio 0,95 en su resumen: https://zenodo.org/records/1336812 ; https://revistas.setrem.com.br/index.php/reabtic/article/view/266 . Su texto completo no se pudo verificar; sus cifras no se mezclaron con 2017.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Riverol et al. (2024): https://arxiv.org/html/2407.18445v1 §§ 3.1–3.4 y tablas 1–2. DOI de edición LADC: https://doi.org/10.1145/3697090.3699797 . 100 tokens BoW seleccionados por información mutua. Para seleccionar combina normales Drupal + ataques SR-BH y normales SR-BH + ataques PKDD. La selección necesita etiquetas; el OCSVM posterior usa normales. «Por aplicación» resume el algoritmo 3; no describe modelos por URL. Drupal: recall 91,76 %, FPR 2,29 %, exactitud 97,8 %. SR-BH: recall 78,87 %, FPR 5,18 %, exactitud 88,1 %. No informa latencia/reqs en el preprint.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trabajo: OCSVM global con 57 variables, CSIC 2010; F1 0,787, recall 0,689 y FPR 0,099. Tesis 08282026v4, tabla 8.1, PDF 77 (impresa 61), e Informe metodológico del enfoque binario. La ampliación de ≈26 a 57 variables no cambió los resultados al redondeo informado. No hay medición temporal de esta corrida. No se usaron tiempos de L2 para completarla. Aislar registro.jsp es otra prueba (F1 ≈ 0,457), no equivale a desplegar un modelo por cada URL.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cifras de distintos artículos no son una comparación controlada: cambian corpus, particiones, unidades y umbrales. FPR es la proporción de normales marcados como ataque. El objetivo es distinguir decisiones y límites, no declarar un ganador por la cifra mayor.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Registro operativo histórico mostrado directamente en la tabla:</a:t>
            </a:r>
            <a:endParaRPr/>
          </a:p>
          <a:p>
            <a:pPr indent="0" lvl="0" marL="0" rtl="0" algn="l">
              <a:spcBef>
                <a:spcPts val="0"/>
              </a:spcBef>
              <a:spcAft>
                <a:spcPts val="0"/>
              </a:spcAft>
              <a:buNone/>
            </a:pPr>
            <a:r>
              <a:rPr lang="en-US"/>
              <a:t>Slurm 2434, duración total 864 s. Memoria máxima: 1.618.736 K / 1.024 = 1.580,80 MiB. Se utiliza el máximo RSS observado en el paso 2434.4, no la suma de máximos de pasos. El script compatible de OCSVM incluye cuatro variantes y operaciones de explicación, evaluación y guardado; la duración de Slurm abarca el trabajo completo. La copia del script ayuda a interpretar su alcance, pero no certifica la versión histórica exacta.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correspondencia exacta de este registro con la configuración de la columna Detección no está verificada. Por eso se identifica con su trabajo histórico y se aclara el alcance en la diapositiva. Las cifras no son latencia por petición, tiempo de entrenamiento aislado ni capacidad de procesamiento por segundo, y no se comparan directamente con los +4 ms de respuesta de Epp ni con tiempos de predicción de otros estudios.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primaria: evidencia_tesis_slurm_20260803T142006/sacct/sacct_jobs_y_steps.psv, líneas 123 y 129; trabajo 2434 y paso 2434.4. MiB calculados a partir del campo MaxRSS en K usando 1.024. Auditoría de apoyo: outputs/revision_rendimiento_binario_oneclass.md y work/audit_performance/slurm-metrics.csv.</a:t>
            </a:r>
            <a:endParaRPr/>
          </a:p>
          <a:p>
            <a:pPr indent="0" lvl="0" marL="0" rtl="0" algn="l">
              <a:spcBef>
                <a:spcPts val="0"/>
              </a:spcBef>
              <a:spcAft>
                <a:spcPts val="0"/>
              </a:spcAft>
              <a:buNone/>
            </a:pPr>
            <a:r>
              <a:t/>
            </a:r>
            <a:endParaRPr/>
          </a:p>
        </p:txBody>
      </p:sp>
      <p:sp>
        <p:nvSpPr>
          <p:cNvPr id="1236" name="Google Shape;1236;h57f31f40725a5983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3f8ea753ef3_2_1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6" name="Google Shape;1336;g3f8ea753ef3_2_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Chakir y colaboradores representan las peticiones mediante conteos de términos y comparan Random Forest con otros clasificadores. Usan ECML/PKDD 2007 y CSIC HTTP 2010, con salida legítima o maliciosa. B2 coincide en el uso de Random Forest y la tarea binaria, pero utiliza 57 características HTTP calculadas.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Chakir, O., Rehaimi, A., Sadqi, Y., Abdellaoui Alaoui, E. A., Krichen, M., Gaba, G. S. y Gurtov, A. (2023). An empirical assessment of ensemble methods and traditional machine learning techniques for web-based attack detection in industry 5.0. Journal of King Saud University – Computer and Information Sciences, 35, 103–119. https://doi.org/10.1016/j.jksuci.2023.02.009</a:t>
            </a:r>
            <a:endParaRPr/>
          </a:p>
          <a:p>
            <a:pPr indent="0" lvl="0" marL="0" rtl="0" algn="l">
              <a:spcBef>
                <a:spcPts val="0"/>
              </a:spcBef>
              <a:spcAft>
                <a:spcPts val="0"/>
              </a:spcAft>
              <a:buNone/>
            </a:pPr>
            <a:r>
              <a:rPr lang="en-US"/>
              <a:t>Texto editorial: https://link.springer.com/article/10.1016/j.jksuci.2023.02.009</a:t>
            </a:r>
            <a:endParaRPr/>
          </a:p>
          <a:p>
            <a:pPr indent="0" lvl="0" marL="0" rtl="0" algn="l">
              <a:spcBef>
                <a:spcPts val="0"/>
              </a:spcBef>
              <a:spcAft>
                <a:spcPts val="0"/>
              </a:spcAft>
              <a:buNone/>
            </a:pPr>
            <a:r>
              <a:rPr lang="en-US"/>
              <a:t>La sección 3.3 describe la tarea binaria, la tokenización y CountVectorizer.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Yang y colaboradores emplean un autoencoder para aprender una representación y un perceptrón multicapa para clasificar. El título del artículo incluye LLM, pero la comparación se centra en el mecanismo de autoencoder y MLP que describe el texto.</a:t>
            </a:r>
            <a:endParaRPr/>
          </a:p>
          <a:p>
            <a:pPr indent="0" lvl="0" marL="0" rtl="0" algn="l">
              <a:spcBef>
                <a:spcPts val="0"/>
              </a:spcBef>
              <a:spcAft>
                <a:spcPts val="0"/>
              </a:spcAft>
              <a:buNone/>
            </a:pPr>
            <a:r>
              <a:rPr lang="en-US"/>
              <a:t>Yang, J., Wu, Y., Yuan, Y., Xue, H., Bourouis, S., Abdel-Salam, M., Prajapat, S. y Por, L. Y. (2025). LLM-AE-MP: Web Attack Detection Using a Large Language Model with Autoencoder and Multilayer Perceptron. Expert Systems with Applications, 274, 126982. https://doi.org/10.1016/j.eswa.2025.126982</a:t>
            </a:r>
            <a:endParaRPr/>
          </a:p>
          <a:p>
            <a:pPr indent="0" lvl="0" marL="0" rtl="0" algn="l">
              <a:spcBef>
                <a:spcPts val="0"/>
              </a:spcBef>
              <a:spcAft>
                <a:spcPts val="0"/>
              </a:spcAft>
              <a:buNone/>
            </a:pPr>
            <a:r>
              <a:rPr lang="en-US"/>
              <a:t>Texto editorial: https://www.sciencedirect.com/science/article/pii/S0957417425006049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WADBERT usa URLBERT para la URL y SecBERT para los parámetros. Combina sus representaciones mediante atención y produce una decisión benigna o maliciosa.</a:t>
            </a:r>
            <a:endParaRPr/>
          </a:p>
          <a:p>
            <a:pPr indent="0" lvl="0" marL="0" rtl="0" algn="l">
              <a:spcBef>
                <a:spcPts val="0"/>
              </a:spcBef>
              <a:spcAft>
                <a:spcPts val="0"/>
              </a:spcAft>
              <a:buNone/>
            </a:pPr>
            <a:r>
              <a:rPr lang="en-US"/>
              <a:t>Luo, K., Xie, Y., Zhao, S. y Pan, J. (2026). WADBERT: Dual-channel Web Attack Detection Based on BERT Models. Prepublicación arXiv: 2601.21893v1. https://arxiv.org/html/2601.21893v1</a:t>
            </a:r>
            <a:endParaRPr/>
          </a:p>
          <a:p>
            <a:pPr indent="0" lvl="0" marL="0" rtl="0" algn="l">
              <a:spcBef>
                <a:spcPts val="0"/>
              </a:spcBef>
              <a:spcAft>
                <a:spcPts val="0"/>
              </a:spcAft>
              <a:buNone/>
            </a:pPr>
            <a:r>
              <a:rPr lang="en-US"/>
              <a:t>Las secciones III-B a III-D describen los canales y la salida binaria.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relación con B2 es metodológica. Los datos y protocolos de cada estudio impiden una comparación controlada entre algoritmos.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Detalles verificados para la nueva tabla: Chakir tabla de Random Forest, CSIC 2010 F1 = 99,867 %, FPR = 0,267 %; ECML F1 = 99,129 %, FPR = 0,523 %. Representación CountVectorizer con tokenizador adaptado; dimensión no verificada. Figura 6 grafica tiempos de entrenamiento/predicción, pero no se verificó una cifra exacta ni solicitudes/s; por ello no se afirma que no midió tiempos. Su preparación incorpora ataques del conjunto publicado de prueba al entrenamiento, por lo que no se equipara con la partición propia.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Yang, página editorial accesible: CSIC 2010 Fmeasure = 89,755 %, exactitud 90,937 %, AUC 0,838. TLSTM autoencoder + GAN + MLP; representación aprendida y clasificación supervisada. Dimensión y cifra operacional no verificadas en la fuente accesible. NV significa no verificado, no que el artículo omita el dato.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Luo, WADBERT arXiv 2601.21893v1: dimensión 1536 = 768×2, URLBERT para URL + método y SecBERT para parámetros, atención. CSIC F1 = 99,63 %, exactitud 99,70 %; SR-BH F1 = 99,50 %, exactitud 99,32 %. No se encontró medición operacional de latencia/solicitudes por segundo. El hardware A100 no es una medida de velocidad.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trabajo B2: documento_cross_dataset_waf, tabla 3. RF 57 características manuales. CSIC F1 = 94,67 %, FPR = 0,73 %; TorpEda F1 = 99,89 %, FPR = 0,12 %; SR-BH F1 = 95,07 %, FPR = 3,42 %. La tabla visible usa solo CSIC para identificar el corpus de cada cifra. El umbral se exploró sobre el test, limitación que impide presentar estos resultados como estimación independiente o ranking controlado. No se informa tiempo de esta corrida en los informes binarios revisados. Las cifras de M8/L2 no se trasladan a B2.</a:t>
            </a:r>
            <a:endParaRPr/>
          </a:p>
          <a:p>
            <a:pPr indent="0" lvl="0" marL="0" rtl="0" algn="l">
              <a:spcBef>
                <a:spcPts val="0"/>
              </a:spcBef>
              <a:spcAft>
                <a:spcPts val="0"/>
              </a:spcAft>
              <a:buNone/>
            </a:pPr>
            <a:r>
              <a:t/>
            </a:r>
            <a:endParaRPr/>
          </a:p>
        </p:txBody>
      </p:sp>
      <p:sp>
        <p:nvSpPr>
          <p:cNvPr id="1337" name="Google Shape;1337;g3f8ea753ef3_2_17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h57f31f40725a5983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0" name="Google Shape;1350;h57f31f40725a5983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 usó Random Forest con cuatro conjuntos de características calculadas a partir de las peticiones. El modelo con 57 características obtuvo F1 de 94,7 %, detección de ataques de 91,9 %, precisión de 97,5 % y ROC-AUC de 0,9971. Con 33 características, F1 quedó 1,2 puntos porcentuales por debajo; con 25, quedó 4,3 puntos por debajo. Con las diez seleccionadas, quedó 3,3 puntos por debajo. La selección se hizo con la importancia Gini, una puntuación que Random Forest calcula a partir del uso de las características en sus árboles. Entre las diez elegidas hay medidas de estructura, entropía y distribución de caracteres. Esta puntuación no prueba que una característica cause un ataque ni que añadirla mejore siempre el resultado. B1 se realizó durante el desarrollo, con consulta previa de la prueba; no se repitió de forma independiente ni se calcularon intervalos de confianza. El informe antiguo llama RF-34 al conjunto de 25 características iniciales y ocho añadidas; el informe metodológico corrige el nombre a RF-33. Aquí se conserva 33. No se atribuyen a B1 los parámetros documentados para B2. Informes: informe_ablacion_features_csic_randomforest.pdf e Informe_Metodologico_Enfoque_Binario_Random_Forest_TFG.pdf. Modelo: Breiman (2001), Random Forests, https://doi.org/10.1023/A:1010933404324. Las cifras son resultados propios.</a:t>
            </a:r>
            <a:endParaRPr/>
          </a:p>
        </p:txBody>
      </p:sp>
      <p:sp>
        <p:nvSpPr>
          <p:cNvPr id="1351" name="Google Shape;1351;h57f31f40725a5983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h57f31f40725a598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1" name="Google Shape;1371;h57f31f40725a5983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 recuperó contabilidad de trabajos históricos RF para CSIC2476, TorpEda2528 y Harvard2529. Son tiempos completos de trabajos y memoria máxima de steps. No se ha probado identidad exacta entre esos trabajos y las tres filas B2 aquí mostradas; faltan sus métricas/logs/modelos finales. Por ello no se inserta una columna que asocie directamente esas cifras a F1 de B2. El anexo conserva IDs, valores y alcance.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Notas previas conservadas: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Cada conjunto de datos se dividió, entrenó y evaluó por separado. No se entrenó un modelo con un conjunto para probarlo en otro. F1 combina la precisión de las alertas con la proporción de ataques detectados. La tasa de falsas alarmas cuenta qué proporción de las peticiones normales se marcó como ataque. El límite de decisión, también llamado umbral, se eligió buscando el mejor F1 en la misma prueba que se usó para informar los resultados. Por eso estas cifras sirven para describir el desarrollo, pero requieren una nueva prueba independiente. En SR-BH, pasar el límite de 0,50 a 0,44 elevó F1 de 95,04 % a 95,07 % y la detección de ataques de 94,29 % a 94,86 %. También elevó las falsas alarmas de 3,01 % a 3,42 %. La diferencia de F1 fue de 0,03 puntos porcentuales: detectar más ataques tuvo el costo de generar más falsas alarmas. La separación sin huellas compartidas se verificó en L2, no en B2. Estas mediciones no demuestran el rendimiento de un WAF en uso real. Informe de resultados: documento_cross_dataset_waf.pdf, pp. 1–3. Referencia del modelo: Breiman (2001), Random Forests, https://doi.org/10.1023/A:1010933404324. Las cifras proceden de experimentos propios; no son resultados del artículo citado.</a:t>
            </a:r>
            <a:endParaRPr/>
          </a:p>
        </p:txBody>
      </p:sp>
      <p:sp>
        <p:nvSpPr>
          <p:cNvPr id="1372" name="Google Shape;1372;h57f31f40725a5983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h57f31f40725a5983_0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8" name="Google Shape;1398;h57f31f40725a5983_0_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"Corregir el criterio de calibración de OCSVM y ajustar nu/gamma",</a:t>
            </a:r>
            <a:endParaRPr/>
          </a:p>
          <a:p>
            <a:pPr indent="0" lvl="0" marL="0" rtl="0" algn="l">
              <a:spcBef>
                <a:spcPts val="0"/>
              </a:spcBef>
              <a:spcAft>
                <a:spcPts val="0"/>
              </a:spcAft>
              <a:buNone/>
            </a:pPr>
            <a:r>
              <a:rPr lang="en-US" sz="1200"/>
              <a:t>    "before": "OCSVM baseline, nu=0.001 y auto-tuning orientado a aceptación normal",</a:t>
            </a:r>
            <a:endParaRPr/>
          </a:p>
          <a:p>
            <a:pPr indent="0" lvl="0" marL="0" rtl="0" algn="l">
              <a:spcBef>
                <a:spcPts val="0"/>
              </a:spcBef>
              <a:spcAft>
                <a:spcPts val="0"/>
              </a:spcAft>
              <a:buNone/>
            </a:pPr>
            <a:r>
              <a:rPr lang="en-US" sz="1200"/>
              <a:t>    "after": "OCSVM recalibrado, nu=0.05, gamma=0.1",</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0.518,</a:t>
            </a:r>
            <a:endParaRPr/>
          </a:p>
          <a:p>
            <a:pPr indent="0" lvl="0" marL="0" rtl="0" algn="l">
              <a:spcBef>
                <a:spcPts val="0"/>
              </a:spcBef>
              <a:spcAft>
                <a:spcPts val="0"/>
              </a:spcAft>
              <a:buNone/>
            </a:pPr>
            <a:r>
              <a:rPr lang="en-US" sz="1200"/>
              <a:t>      "recall": 0.35,</a:t>
            </a:r>
            <a:endParaRPr/>
          </a:p>
          <a:p>
            <a:pPr indent="0" lvl="0" marL="0" rtl="0" algn="l">
              <a:spcBef>
                <a:spcPts val="0"/>
              </a:spcBef>
              <a:spcAft>
                <a:spcPts val="0"/>
              </a:spcAft>
              <a:buNone/>
            </a:pPr>
            <a:r>
              <a:rPr lang="en-US" sz="1200"/>
              <a:t>      "FPR": 0.0002</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0.787,</a:t>
            </a:r>
            <a:endParaRPr/>
          </a:p>
          <a:p>
            <a:pPr indent="0" lvl="0" marL="0" rtl="0" algn="l">
              <a:spcBef>
                <a:spcPts val="0"/>
              </a:spcBef>
              <a:spcAft>
                <a:spcPts val="0"/>
              </a:spcAft>
              <a:buNone/>
            </a:pPr>
            <a:r>
              <a:rPr lang="en-US" sz="1200"/>
              <a:t>      "recall": 0.689,</a:t>
            </a:r>
            <a:endParaRPr/>
          </a:p>
          <a:p>
            <a:pPr indent="0" lvl="0" marL="0" rtl="0" algn="l">
              <a:spcBef>
                <a:spcPts val="0"/>
              </a:spcBef>
              <a:spcAft>
                <a:spcPts val="0"/>
              </a:spcAft>
              <a:buNone/>
            </a:pPr>
            <a:r>
              <a:rPr lang="en-US" sz="1200"/>
              <a:t>      "FPR": 0.099</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26.9,</a:t>
            </a:r>
            <a:endParaRPr/>
          </a:p>
          <a:p>
            <a:pPr indent="0" lvl="0" marL="0" rtl="0" algn="l">
              <a:spcBef>
                <a:spcPts val="0"/>
              </a:spcBef>
              <a:spcAft>
                <a:spcPts val="0"/>
              </a:spcAft>
              <a:buNone/>
            </a:pPr>
            <a:r>
              <a:rPr lang="en-US" sz="1200"/>
              <a:t>    "interpretation": "Gran recuperación de detección, a costa de más falsas alarmas. No soluciona completamente el problema.",</a:t>
            </a:r>
            <a:endParaRPr/>
          </a:p>
          <a:p>
            <a:pPr indent="0" lvl="0" marL="0" rtl="0" algn="l">
              <a:spcBef>
                <a:spcPts val="0"/>
              </a:spcBef>
              <a:spcAft>
                <a:spcPts val="0"/>
              </a:spcAft>
              <a:buNone/>
            </a:pPr>
            <a:r>
              <a:rPr lang="en-US" sz="1200"/>
              <a:t>    "source": "Informe_Metodologico_Enfoque_Binario_Random_Forest_TFG.pdf",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"Valores redondeados; comparación secuencial sin intervalos de confianza publicados. Baseline preciso en p.3 es F1=0.5187."</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"Adoptar Random Forest supervisado para aprovechar ambas clases y relaciones no lineales",</a:t>
            </a:r>
            <a:endParaRPr/>
          </a:p>
          <a:p>
            <a:pPr indent="0" lvl="0" marL="0" rtl="0" algn="l">
              <a:spcBef>
                <a:spcPts val="0"/>
              </a:spcBef>
              <a:spcAft>
                <a:spcPts val="0"/>
              </a:spcAft>
              <a:buNone/>
            </a:pPr>
            <a:r>
              <a:rPr lang="en-US" sz="1200"/>
              <a:t>    "before": "OCSVM global recalibrado/ampliado a 57 features",</a:t>
            </a:r>
            <a:endParaRPr/>
          </a:p>
          <a:p>
            <a:pPr indent="0" lvl="0" marL="0" rtl="0" algn="l">
              <a:spcBef>
                <a:spcPts val="0"/>
              </a:spcBef>
              <a:spcAft>
                <a:spcPts val="0"/>
              </a:spcAft>
              <a:buNone/>
            </a:pPr>
            <a:r>
              <a:rPr lang="en-US" sz="1200"/>
              <a:t>    "after": "Random Forest binario con 57 features",</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0.787,</a:t>
            </a:r>
            <a:endParaRPr/>
          </a:p>
          <a:p>
            <a:pPr indent="0" lvl="0" marL="0" rtl="0" algn="l">
              <a:spcBef>
                <a:spcPts val="0"/>
              </a:spcBef>
              <a:spcAft>
                <a:spcPts val="0"/>
              </a:spcAft>
              <a:buNone/>
            </a:pPr>
            <a:r>
              <a:rPr lang="en-US" sz="1200"/>
              <a:t>      "recall": 0.689,</a:t>
            </a:r>
            <a:endParaRPr/>
          </a:p>
          <a:p>
            <a:pPr indent="0" lvl="0" marL="0" rtl="0" algn="l">
              <a:spcBef>
                <a:spcPts val="0"/>
              </a:spcBef>
              <a:spcAft>
                <a:spcPts val="0"/>
              </a:spcAft>
              <a:buNone/>
            </a:pPr>
            <a:r>
              <a:rPr lang="en-US" sz="1200"/>
              <a:t>      "FPR": 0.099</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0.947,</a:t>
            </a:r>
            <a:endParaRPr/>
          </a:p>
          <a:p>
            <a:pPr indent="0" lvl="0" marL="0" rtl="0" algn="l">
              <a:spcBef>
                <a:spcPts val="0"/>
              </a:spcBef>
              <a:spcAft>
                <a:spcPts val="0"/>
              </a:spcAft>
              <a:buNone/>
            </a:pPr>
            <a:r>
              <a:rPr lang="en-US" sz="1200"/>
              <a:t>      "recall": 0.919,</a:t>
            </a:r>
            <a:endParaRPr/>
          </a:p>
          <a:p>
            <a:pPr indent="0" lvl="0" marL="0" rtl="0" algn="l">
              <a:spcBef>
                <a:spcPts val="0"/>
              </a:spcBef>
              <a:spcAft>
                <a:spcPts val="0"/>
              </a:spcAft>
              <a:buNone/>
            </a:pPr>
            <a:r>
              <a:rPr lang="en-US" sz="1200"/>
              <a:t>      "FPR": 0.007</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16,</a:t>
            </a:r>
            <a:endParaRPr/>
          </a:p>
          <a:p>
            <a:pPr indent="0" lvl="0" marL="0" rtl="0" algn="l">
              <a:spcBef>
                <a:spcPts val="0"/>
              </a:spcBef>
              <a:spcAft>
                <a:spcPts val="0"/>
              </a:spcAft>
              <a:buNone/>
            </a:pPr>
            <a:r>
              <a:rPr lang="en-US" sz="1200"/>
              <a:t>    "delta_FPR_pp": -9.2,</a:t>
            </a:r>
            <a:endParaRPr/>
          </a:p>
          <a:p>
            <a:pPr indent="0" lvl="0" marL="0" rtl="0" algn="l">
              <a:spcBef>
                <a:spcPts val="0"/>
              </a:spcBef>
              <a:spcAft>
                <a:spcPts val="0"/>
              </a:spcAft>
              <a:buNone/>
            </a:pPr>
            <a:r>
              <a:rPr lang="en-US" sz="1200"/>
              <a:t>    "interpretation": "Salto observado al pasar a una frontera discriminativa supervisada no lineal. Logistic Regression con 57 features quedó en F1=0.665; la supervisión por sí sola no basta.",</a:t>
            </a:r>
            <a:endParaRPr/>
          </a:p>
          <a:p>
            <a:pPr indent="0" lvl="0" marL="0" rtl="0" algn="l">
              <a:spcBef>
                <a:spcPts val="0"/>
              </a:spcBef>
              <a:spcAft>
                <a:spcPts val="0"/>
              </a:spcAft>
              <a:buNone/>
            </a:pPr>
            <a:r>
              <a:rPr lang="en-US" sz="1200"/>
              <a:t>    "source": "Informe_Metodologico_Enfoque_Binario_Random_Forest_TFG.pdf",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6,</a:t>
            </a:r>
            <a:endParaRPr/>
          </a:p>
          <a:p>
            <a:pPr indent="0" lvl="0" marL="0" rtl="0" algn="l">
              <a:spcBef>
                <a:spcPts val="0"/>
              </a:spcBef>
              <a:spcAft>
                <a:spcPts val="0"/>
              </a:spcAft>
              <a:buNone/>
            </a:pPr>
            <a:r>
              <a:rPr lang="en-US" sz="1200"/>
              <a:t>      7</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"Cambian algoritmo y formulación; no atribuir causalmente toda la mejora solo a RF ni afirmar superioridad universal. Protocolos difieren entre etapas."</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"Mantener Random Forest fijo e incorporar entropía/composición",</a:t>
            </a:r>
            <a:endParaRPr/>
          </a:p>
          <a:p>
            <a:pPr indent="0" lvl="0" marL="0" rtl="0" algn="l">
              <a:spcBef>
                <a:spcPts val="0"/>
              </a:spcBef>
              <a:spcAft>
                <a:spcPts val="0"/>
              </a:spcAft>
              <a:buNone/>
            </a:pPr>
            <a:r>
              <a:rPr lang="en-US" sz="1200"/>
              <a:t>    "before": "25 features originales",</a:t>
            </a:r>
            <a:endParaRPr/>
          </a:p>
          <a:p>
            <a:pPr indent="0" lvl="0" marL="0" rtl="0" algn="l">
              <a:spcBef>
                <a:spcPts val="0"/>
              </a:spcBef>
              <a:spcAft>
                <a:spcPts val="0"/>
              </a:spcAft>
              <a:buNone/>
            </a:pPr>
            <a:r>
              <a:rPr lang="en-US" sz="1200"/>
              <a:t>    "after": "Features originales + bloque entropía/composición (33/34 según documento)",</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0.904,</a:t>
            </a:r>
            <a:endParaRPr/>
          </a:p>
          <a:p>
            <a:pPr indent="0" lvl="0" marL="0" rtl="0" algn="l">
              <a:spcBef>
                <a:spcPts val="0"/>
              </a:spcBef>
              <a:spcAft>
                <a:spcPts val="0"/>
              </a:spcAft>
              <a:buNone/>
            </a:pPr>
            <a:r>
              <a:rPr lang="en-US" sz="1200"/>
              <a:t>      "recall": 0.861,</a:t>
            </a:r>
            <a:endParaRPr/>
          </a:p>
          <a:p>
            <a:pPr indent="0" lvl="0" marL="0" rtl="0" algn="l">
              <a:spcBef>
                <a:spcPts val="0"/>
              </a:spcBef>
              <a:spcAft>
                <a:spcPts val="0"/>
              </a:spcAft>
              <a:buNone/>
            </a:pPr>
            <a:r>
              <a:rPr lang="en-US" sz="1200"/>
              <a:t>      "FPR": 0.014,</a:t>
            </a:r>
            <a:endParaRPr/>
          </a:p>
          <a:p>
            <a:pPr indent="0" lvl="0" marL="0" rtl="0" algn="l">
              <a:spcBef>
                <a:spcPts val="0"/>
              </a:spcBef>
              <a:spcAft>
                <a:spcPts val="0"/>
              </a:spcAft>
              <a:buNone/>
            </a:pPr>
            <a:r>
              <a:rPr lang="en-US" sz="1200"/>
              <a:t>      "ROC_AUC": 0.9816</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0.935,</a:t>
            </a:r>
            <a:endParaRPr/>
          </a:p>
          <a:p>
            <a:pPr indent="0" lvl="0" marL="0" rtl="0" algn="l">
              <a:spcBef>
                <a:spcPts val="0"/>
              </a:spcBef>
              <a:spcAft>
                <a:spcPts val="0"/>
              </a:spcAft>
              <a:buNone/>
            </a:pPr>
            <a:r>
              <a:rPr lang="en-US" sz="1200"/>
              <a:t>      "recall": 0.905,</a:t>
            </a:r>
            <a:endParaRPr/>
          </a:p>
          <a:p>
            <a:pPr indent="0" lvl="0" marL="0" rtl="0" algn="l">
              <a:spcBef>
                <a:spcPts val="0"/>
              </a:spcBef>
              <a:spcAft>
                <a:spcPts val="0"/>
              </a:spcAft>
              <a:buNone/>
            </a:pPr>
            <a:r>
              <a:rPr lang="en-US" sz="1200"/>
              <a:t>      "FPR": 0.01,</a:t>
            </a:r>
            <a:endParaRPr/>
          </a:p>
          <a:p>
            <a:pPr indent="0" lvl="0" marL="0" rtl="0" algn="l">
              <a:spcBef>
                <a:spcPts val="0"/>
              </a:spcBef>
              <a:spcAft>
                <a:spcPts val="0"/>
              </a:spcAft>
              <a:buNone/>
            </a:pPr>
            <a:r>
              <a:rPr lang="en-US" sz="1200"/>
              <a:t>      "ROC_AUC": 0.9958</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3.1,</a:t>
            </a:r>
            <a:endParaRPr/>
          </a:p>
          <a:p>
            <a:pPr indent="0" lvl="0" marL="0" rtl="0" algn="l">
              <a:spcBef>
                <a:spcPts val="0"/>
              </a:spcBef>
              <a:spcAft>
                <a:spcPts val="0"/>
              </a:spcAft>
              <a:buNone/>
            </a:pPr>
            <a:r>
              <a:rPr lang="en-US" sz="1200"/>
              <a:t>    "delta_FPR_pp": -0.4,</a:t>
            </a:r>
            <a:endParaRPr/>
          </a:p>
          <a:p>
            <a:pPr indent="0" lvl="0" marL="0" rtl="0" algn="l">
              <a:spcBef>
                <a:spcPts val="0"/>
              </a:spcBef>
              <a:spcAft>
                <a:spcPts val="0"/>
              </a:spcAft>
              <a:buNone/>
            </a:pPr>
            <a:r>
              <a:rPr lang="en-US" sz="1200"/>
              <a:t>    "interpretation": "Principal mejora de representación demostrada por la ablación con algoritmo fijo.",</a:t>
            </a:r>
            <a:endParaRPr/>
          </a:p>
          <a:p>
            <a:pPr indent="0" lvl="0" marL="0" rtl="0" algn="l">
              <a:spcBef>
                <a:spcPts val="0"/>
              </a:spcBef>
              <a:spcAft>
                <a:spcPts val="0"/>
              </a:spcAft>
              <a:buNone/>
            </a:pPr>
            <a:r>
              <a:rPr lang="en-US" sz="1200"/>
              <a:t>    "source": "informe_ablacion_features_csic_randomforest.pdf",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2,</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"El informe de ablación llama 34 a 25+8; el metodológico p.6 usa RF-33. No hay incertidumbre estadística ni múltiples semillas. No se debe corregir silenciosamente el nombre."</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"Agregar distribución de caracteres para maximizar rendimiento",</a:t>
            </a:r>
            <a:endParaRPr/>
          </a:p>
          <a:p>
            <a:pPr indent="0" lvl="0" marL="0" rtl="0" algn="l">
              <a:spcBef>
                <a:spcPts val="0"/>
              </a:spcBef>
              <a:spcAft>
                <a:spcPts val="0"/>
              </a:spcAft>
              <a:buNone/>
            </a:pPr>
            <a:r>
              <a:rPr lang="en-US" sz="1200"/>
              <a:t>    "before": "Bloque estructural + entropía/composición",</a:t>
            </a:r>
            <a:endParaRPr/>
          </a:p>
          <a:p>
            <a:pPr indent="0" lvl="0" marL="0" rtl="0" algn="l">
              <a:spcBef>
                <a:spcPts val="0"/>
              </a:spcBef>
              <a:spcAft>
                <a:spcPts val="0"/>
              </a:spcAft>
              <a:buNone/>
            </a:pPr>
            <a:r>
              <a:rPr lang="en-US" sz="1200"/>
              <a:t>    "after": "57 features",</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0.935,</a:t>
            </a:r>
            <a:endParaRPr/>
          </a:p>
          <a:p>
            <a:pPr indent="0" lvl="0" marL="0" rtl="0" algn="l">
              <a:spcBef>
                <a:spcPts val="0"/>
              </a:spcBef>
              <a:spcAft>
                <a:spcPts val="0"/>
              </a:spcAft>
              <a:buNone/>
            </a:pPr>
            <a:r>
              <a:rPr lang="en-US" sz="1200"/>
              <a:t>      "FPR": 0.01,</a:t>
            </a:r>
            <a:endParaRPr/>
          </a:p>
          <a:p>
            <a:pPr indent="0" lvl="0" marL="0" rtl="0" algn="l">
              <a:spcBef>
                <a:spcPts val="0"/>
              </a:spcBef>
              <a:spcAft>
                <a:spcPts val="0"/>
              </a:spcAft>
              <a:buNone/>
            </a:pPr>
            <a:r>
              <a:rPr lang="en-US" sz="1200"/>
              <a:t>      "ROC_AUC": 0.9958</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0.947,</a:t>
            </a:r>
            <a:endParaRPr/>
          </a:p>
          <a:p>
            <a:pPr indent="0" lvl="0" marL="0" rtl="0" algn="l">
              <a:spcBef>
                <a:spcPts val="0"/>
              </a:spcBef>
              <a:spcAft>
                <a:spcPts val="0"/>
              </a:spcAft>
              <a:buNone/>
            </a:pPr>
            <a:r>
              <a:rPr lang="en-US" sz="1200"/>
              <a:t>      "FPR": 0.007,</a:t>
            </a:r>
            <a:endParaRPr/>
          </a:p>
          <a:p>
            <a:pPr indent="0" lvl="0" marL="0" rtl="0" algn="l">
              <a:spcBef>
                <a:spcPts val="0"/>
              </a:spcBef>
              <a:spcAft>
                <a:spcPts val="0"/>
              </a:spcAft>
              <a:buNone/>
            </a:pPr>
            <a:r>
              <a:rPr lang="en-US" sz="1200"/>
              <a:t>      "ROC_AUC": 0.9971</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1.2,</a:t>
            </a:r>
            <a:endParaRPr/>
          </a:p>
          <a:p>
            <a:pPr indent="0" lvl="0" marL="0" rtl="0" algn="l">
              <a:spcBef>
                <a:spcPts val="0"/>
              </a:spcBef>
              <a:spcAft>
                <a:spcPts val="0"/>
              </a:spcAft>
              <a:buNone/>
            </a:pPr>
            <a:r>
              <a:rPr lang="en-US" sz="1200"/>
              <a:t>    "delta_FPR_pp": -0.3,</a:t>
            </a:r>
            <a:endParaRPr/>
          </a:p>
          <a:p>
            <a:pPr indent="0" lvl="0" marL="0" rtl="0" algn="l">
              <a:spcBef>
                <a:spcPts val="0"/>
              </a:spcBef>
              <a:spcAft>
                <a:spcPts val="0"/>
              </a:spcAft>
              <a:buNone/>
            </a:pPr>
            <a:r>
              <a:rPr lang="en-US" sz="1200"/>
              <a:t>    "interpretation": "Ganancia incremental menor que la entropía; aumenta la dimensión de la representación.",</a:t>
            </a:r>
            <a:endParaRPr/>
          </a:p>
          <a:p>
            <a:pPr indent="0" lvl="0" marL="0" rtl="0" algn="l">
              <a:spcBef>
                <a:spcPts val="0"/>
              </a:spcBef>
              <a:spcAft>
                <a:spcPts val="0"/>
              </a:spcAft>
              <a:buNone/>
            </a:pPr>
            <a:r>
              <a:rPr lang="en-US" sz="1200"/>
              <a:t>    "source": "informe_ablacion_features_csic_randomforest.pdf",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2,</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"El PDF dice +23 features, consistente con 34-&gt;57, pero no con RF-33 del otro informe. Evitar afirmar costo temporal medido: no se reportan tiempos."</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"Seleccionar top 10 y reentrenar para comprobar un modelo más compacto",</a:t>
            </a:r>
            <a:endParaRPr/>
          </a:p>
          <a:p>
            <a:pPr indent="0" lvl="0" marL="0" rtl="0" algn="l">
              <a:spcBef>
                <a:spcPts val="0"/>
              </a:spcBef>
              <a:spcAft>
                <a:spcPts val="0"/>
              </a:spcAft>
              <a:buNone/>
            </a:pPr>
            <a:r>
              <a:rPr lang="en-US" sz="1200"/>
              <a:t>    "before": "RF-57",</a:t>
            </a:r>
            <a:endParaRPr/>
          </a:p>
          <a:p>
            <a:pPr indent="0" lvl="0" marL="0" rtl="0" algn="l">
              <a:spcBef>
                <a:spcPts val="0"/>
              </a:spcBef>
              <a:spcAft>
                <a:spcPts val="0"/>
              </a:spcAft>
              <a:buNone/>
            </a:pPr>
            <a:r>
              <a:rPr lang="en-US" sz="1200"/>
              <a:t>    "after": "RF-10-Gini",</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0.947,</a:t>
            </a:r>
            <a:endParaRPr/>
          </a:p>
          <a:p>
            <a:pPr indent="0" lvl="0" marL="0" rtl="0" algn="l">
              <a:spcBef>
                <a:spcPts val="0"/>
              </a:spcBef>
              <a:spcAft>
                <a:spcPts val="0"/>
              </a:spcAft>
              <a:buNone/>
            </a:pPr>
            <a:r>
              <a:rPr lang="en-US" sz="1200"/>
              <a:t>      "FPR": 0.007</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0.914,</a:t>
            </a:r>
            <a:endParaRPr/>
          </a:p>
          <a:p>
            <a:pPr indent="0" lvl="0" marL="0" rtl="0" algn="l">
              <a:spcBef>
                <a:spcPts val="0"/>
              </a:spcBef>
              <a:spcAft>
                <a:spcPts val="0"/>
              </a:spcAft>
              <a:buNone/>
            </a:pPr>
            <a:r>
              <a:rPr lang="en-US" sz="1200"/>
              <a:t>      "FPR": 0.008</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-3.3,</a:t>
            </a:r>
            <a:endParaRPr/>
          </a:p>
          <a:p>
            <a:pPr indent="0" lvl="0" marL="0" rtl="0" algn="l">
              <a:spcBef>
                <a:spcPts val="0"/>
              </a:spcBef>
              <a:spcAft>
                <a:spcPts val="0"/>
              </a:spcAft>
              <a:buNone/>
            </a:pPr>
            <a:r>
              <a:rPr lang="en-US" sz="1200"/>
              <a:t>    "interpretation": "Compromiso de complejidad: 47 variables menos, perdiendo 3.3 puntos de F1. Frente a RF-25 sube de 0.904 a 0.914 con 15 variables menos. No es mejora sobre el mejor resultado.",</a:t>
            </a:r>
            <a:endParaRPr/>
          </a:p>
          <a:p>
            <a:pPr indent="0" lvl="0" marL="0" rtl="0" algn="l">
              <a:spcBef>
                <a:spcPts val="0"/>
              </a:spcBef>
              <a:spcAft>
                <a:spcPts val="0"/>
              </a:spcAft>
              <a:buNone/>
            </a:pPr>
            <a:r>
              <a:rPr lang="en-US" sz="1200"/>
              <a:t>    "source": "informe_ablacion_features_csic_randomforest.pdf",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2,</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"La importancia Gini orienta selección, no explica causalidad; no hay benchmark de latencia."</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"decision": "Ajustar el umbral de Harvard de 0.50 a 0.44 (exploratorio)",</a:t>
            </a:r>
            <a:endParaRPr/>
          </a:p>
          <a:p>
            <a:pPr indent="0" lvl="0" marL="0" rtl="0" algn="l">
              <a:spcBef>
                <a:spcPts val="0"/>
              </a:spcBef>
              <a:spcAft>
                <a:spcPts val="0"/>
              </a:spcAft>
              <a:buNone/>
            </a:pPr>
            <a:r>
              <a:rPr lang="en-US" sz="1200"/>
              <a:t>    "before": "Harvard SR-BH, threshold 0.50",</a:t>
            </a:r>
            <a:endParaRPr/>
          </a:p>
          <a:p>
            <a:pPr indent="0" lvl="0" marL="0" rtl="0" algn="l">
              <a:spcBef>
                <a:spcPts val="0"/>
              </a:spcBef>
              <a:spcAft>
                <a:spcPts val="0"/>
              </a:spcAft>
              <a:buNone/>
            </a:pPr>
            <a:r>
              <a:rPr lang="en-US" sz="1200"/>
              <a:t>    "after": "Harvard SR-BH, threshold 0.44",</a:t>
            </a:r>
            <a:endParaRPr/>
          </a:p>
          <a:p>
            <a:pPr indent="0" lvl="0" marL="0" rtl="0" algn="l">
              <a:spcBef>
                <a:spcPts val="0"/>
              </a:spcBef>
              <a:spcAft>
                <a:spcPts val="0"/>
              </a:spcAft>
              <a:buNone/>
            </a:pPr>
            <a:r>
              <a:rPr lang="en-US" sz="1200"/>
              <a:t>    "before_metrics": {</a:t>
            </a:r>
            <a:endParaRPr/>
          </a:p>
          <a:p>
            <a:pPr indent="0" lvl="0" marL="0" rtl="0" algn="l">
              <a:spcBef>
                <a:spcPts val="0"/>
              </a:spcBef>
              <a:spcAft>
                <a:spcPts val="0"/>
              </a:spcAft>
              <a:buNone/>
            </a:pPr>
            <a:r>
              <a:rPr lang="en-US" sz="1200"/>
              <a:t>      "F1": 0.9504,</a:t>
            </a:r>
            <a:endParaRPr/>
          </a:p>
          <a:p>
            <a:pPr indent="0" lvl="0" marL="0" rtl="0" algn="l">
              <a:spcBef>
                <a:spcPts val="0"/>
              </a:spcBef>
              <a:spcAft>
                <a:spcPts val="0"/>
              </a:spcAft>
              <a:buNone/>
            </a:pPr>
            <a:r>
              <a:rPr lang="en-US" sz="1200"/>
              <a:t>      "recall": 0.9429,</a:t>
            </a:r>
            <a:endParaRPr/>
          </a:p>
          <a:p>
            <a:pPr indent="0" lvl="0" marL="0" rtl="0" algn="l">
              <a:spcBef>
                <a:spcPts val="0"/>
              </a:spcBef>
              <a:spcAft>
                <a:spcPts val="0"/>
              </a:spcAft>
              <a:buNone/>
            </a:pPr>
            <a:r>
              <a:rPr lang="en-US" sz="1200"/>
              <a:t>      "FPR": 0.0301</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"after_metrics": {</a:t>
            </a:r>
            <a:endParaRPr/>
          </a:p>
          <a:p>
            <a:pPr indent="0" lvl="0" marL="0" rtl="0" algn="l">
              <a:spcBef>
                <a:spcPts val="0"/>
              </a:spcBef>
              <a:spcAft>
                <a:spcPts val="0"/>
              </a:spcAft>
              <a:buNone/>
            </a:pPr>
            <a:r>
              <a:rPr lang="en-US" sz="1200"/>
              <a:t>      "F1": 0.9507,</a:t>
            </a:r>
            <a:endParaRPr/>
          </a:p>
          <a:p>
            <a:pPr indent="0" lvl="0" marL="0" rtl="0" algn="l">
              <a:spcBef>
                <a:spcPts val="0"/>
              </a:spcBef>
              <a:spcAft>
                <a:spcPts val="0"/>
              </a:spcAft>
              <a:buNone/>
            </a:pPr>
            <a:r>
              <a:rPr lang="en-US" sz="1200"/>
              <a:t>      "recall": 0.9486,</a:t>
            </a:r>
            <a:endParaRPr/>
          </a:p>
          <a:p>
            <a:pPr indent="0" lvl="0" marL="0" rtl="0" algn="l">
              <a:spcBef>
                <a:spcPts val="0"/>
              </a:spcBef>
              <a:spcAft>
                <a:spcPts val="0"/>
              </a:spcAft>
              <a:buNone/>
            </a:pPr>
            <a:r>
              <a:rPr lang="en-US" sz="1200"/>
              <a:t>      "FPR": 0.0342</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"delta_F1_pp": 0.03,</a:t>
            </a:r>
            <a:endParaRPr/>
          </a:p>
          <a:p>
            <a:pPr indent="0" lvl="0" marL="0" rtl="0" algn="l">
              <a:spcBef>
                <a:spcPts val="0"/>
              </a:spcBef>
              <a:spcAft>
                <a:spcPts val="0"/>
              </a:spcAft>
              <a:buNone/>
            </a:pPr>
            <a:r>
              <a:rPr lang="en-US" sz="1200"/>
              <a:t>    "delta_FPR_pp": 0.41,</a:t>
            </a:r>
            <a:endParaRPr/>
          </a:p>
          <a:p>
            <a:pPr indent="0" lvl="0" marL="0" rtl="0" algn="l">
              <a:spcBef>
                <a:spcPts val="0"/>
              </a:spcBef>
              <a:spcAft>
                <a:spcPts val="0"/>
              </a:spcAft>
              <a:buNone/>
            </a:pPr>
            <a:r>
              <a:rPr lang="en-US" sz="1200"/>
              <a:t>    "interpretation": "Ganancia de F1 marginal y aumento de falsas alarmas; no presentarla como una de las mejoras principales.",</a:t>
            </a:r>
            <a:endParaRPr/>
          </a:p>
          <a:p>
            <a:pPr indent="0" lvl="0" marL="0" rtl="0" algn="l">
              <a:spcBef>
                <a:spcPts val="0"/>
              </a:spcBef>
              <a:spcAft>
                <a:spcPts val="0"/>
              </a:spcAft>
              <a:buNone/>
            </a:pPr>
            <a:r>
              <a:rPr lang="en-US" sz="1200"/>
              <a:t>    "source": "documento_cross_dataset_waf.pdf",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2,</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"evidence_limit": "El informe metodológico p.8 advierte que B2 seleccionó el umbral observando test. Se trata de evaluación exploratoria, no de rendimiento final independiente."</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a:t>
            </a:r>
            <a:endParaRPr/>
          </a:p>
          <a:p>
            <a:pPr indent="0" lvl="0" marL="0" rtl="0" algn="l">
              <a:spcBef>
                <a:spcPts val="0"/>
              </a:spcBef>
              <a:spcAft>
                <a:spcPts val="0"/>
              </a:spcAft>
              <a:buNone/>
            </a:pPr>
            <a:r>
              <a:rPr lang="en-US" sz="1200"/>
              <a:t>Se conserva RF-33 del informe metodológico. El reporte antiguo de ablación lo llama RF-34, aunque describe 25 + 8 variables. Las comparaciones entre etapas no constituyen una ablación controlada del algoritmo.</a:t>
            </a:r>
            <a:endParaRPr/>
          </a:p>
          <a:p>
            <a:pPr indent="0" lvl="0" marL="0" rtl="0" algn="l">
              <a:spcBef>
                <a:spcPts val="0"/>
              </a:spcBef>
              <a:spcAft>
                <a:spcPts val="0"/>
              </a:spcAft>
              <a:buNone/>
            </a:pPr>
            <a:r>
              <a:rPr lang="en-US" sz="1200"/>
              <a:t>El top 5 solicitado es una selección para presentar las primeras cinco posiciones del ranking documentado. No se reentrenó ni se evaluó un modelo con solo cinco variables.</a:t>
            </a:r>
            <a:endParaRPr/>
          </a:p>
        </p:txBody>
      </p:sp>
      <p:sp>
        <p:nvSpPr>
          <p:cNvPr id="1399" name="Google Shape;1399;h57f31f40725a5983_0_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h57f31f40725a5983_0_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1" name="Google Shape;1411;h57f31f40725a5983_0_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Chakir y colaboradores representan las peticiones mediante conteos de términos y comparan Random Forest con otros clasificadores. Usan ECML/PKDD 2007 y CSIC HTTP 2010, con salida legítima o maliciosa. B2 coincide en el uso de Random Forest y la tarea binaria, pero utiliza 57 características HTTP calculadas.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Chakir, O., Rehaimi, A., Sadqi, Y., Abdellaoui Alaoui, E. A., Krichen, M., Gaba, G. S. y Gurtov, A. (2023). An empirical assessment of ensemble methods and traditional machine learning techniques for web-based attack detection in industry 5.0. Journal of King Saud University – Computer and Information Sciences, 35, 103–119. https://doi.org/10.1016/j.jksuci.2023.02.009</a:t>
            </a:r>
            <a:endParaRPr/>
          </a:p>
          <a:p>
            <a:pPr indent="0" lvl="0" marL="0" rtl="0" algn="l">
              <a:spcBef>
                <a:spcPts val="0"/>
              </a:spcBef>
              <a:spcAft>
                <a:spcPts val="0"/>
              </a:spcAft>
              <a:buNone/>
            </a:pPr>
            <a:r>
              <a:rPr lang="en-US"/>
              <a:t>Texto editorial: https://link.springer.com/article/10.1016/j.jksuci.2023.02.009</a:t>
            </a:r>
            <a:endParaRPr/>
          </a:p>
          <a:p>
            <a:pPr indent="0" lvl="0" marL="0" rtl="0" algn="l">
              <a:spcBef>
                <a:spcPts val="0"/>
              </a:spcBef>
              <a:spcAft>
                <a:spcPts val="0"/>
              </a:spcAft>
              <a:buNone/>
            </a:pPr>
            <a:r>
              <a:rPr lang="en-US"/>
              <a:t>La sección 3.3 describe la tarea binaria, la tokenización y CountVectorizer.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Yang y colaboradores emplean un autoencoder para aprender una representación y un perceptrón multicapa para clasificar. El título del artículo incluye LLM, pero la comparación se centra en el mecanismo de autoencoder y MLP que describe el texto.</a:t>
            </a:r>
            <a:endParaRPr/>
          </a:p>
          <a:p>
            <a:pPr indent="0" lvl="0" marL="0" rtl="0" algn="l">
              <a:spcBef>
                <a:spcPts val="0"/>
              </a:spcBef>
              <a:spcAft>
                <a:spcPts val="0"/>
              </a:spcAft>
              <a:buNone/>
            </a:pPr>
            <a:r>
              <a:rPr lang="en-US"/>
              <a:t>Yang, J., Wu, Y., Yuan, Y., Xue, H., Bourouis, S., Abdel-Salam, M., Prajapat, S. y Por, L. Y. (2025). LLM-AE-MP: Web Attack Detection Using a Large Language Model with Autoencoder and Multilayer Perceptron. Expert Systems with Applications, 274, 126982. https://doi.org/10.1016/j.eswa.2025.126982</a:t>
            </a:r>
            <a:endParaRPr/>
          </a:p>
          <a:p>
            <a:pPr indent="0" lvl="0" marL="0" rtl="0" algn="l">
              <a:spcBef>
                <a:spcPts val="0"/>
              </a:spcBef>
              <a:spcAft>
                <a:spcPts val="0"/>
              </a:spcAft>
              <a:buNone/>
            </a:pPr>
            <a:r>
              <a:rPr lang="en-US"/>
              <a:t>Texto editorial: https://www.sciencedirect.com/science/article/pii/S0957417425006049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WADBERT usa URLBERT para la URL y SecBERT para los parámetros. Combina sus representaciones mediante atención y produce una decisión benigna o maliciosa.</a:t>
            </a:r>
            <a:endParaRPr/>
          </a:p>
          <a:p>
            <a:pPr indent="0" lvl="0" marL="0" rtl="0" algn="l">
              <a:spcBef>
                <a:spcPts val="0"/>
              </a:spcBef>
              <a:spcAft>
                <a:spcPts val="0"/>
              </a:spcAft>
              <a:buNone/>
            </a:pPr>
            <a:r>
              <a:rPr lang="en-US"/>
              <a:t>Luo, K., Xie, Y., Zhao, S. y Pan, J. (2026). WADBERT: Dual-channel Web Attack Detection Based on BERT Models. Prepublicación arXiv: 2601.21893v1. https://arxiv.org/html/2601.21893v1</a:t>
            </a:r>
            <a:endParaRPr/>
          </a:p>
          <a:p>
            <a:pPr indent="0" lvl="0" marL="0" rtl="0" algn="l">
              <a:spcBef>
                <a:spcPts val="0"/>
              </a:spcBef>
              <a:spcAft>
                <a:spcPts val="0"/>
              </a:spcAft>
              <a:buNone/>
            </a:pPr>
            <a:r>
              <a:rPr lang="en-US"/>
              <a:t>Las secciones III-B a III-D describen los canales y la salida binaria.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relación con B2 es metodológica. Los datos y protocolos de cada estudio impiden una comparación controlada entre algoritmos.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Detalles verificados para la nueva tabla: Chakir tabla de Random Forest, CSIC 2010 F1 = 99,867 %, FPR = 0,267 %; ECML F1 = 99,129 %, FPR = 0,523 %. Representación CountVectorizer con tokenizador adaptado; dimensión no verificada. Figura 6 grafica tiempos de entrenamiento/predicción, pero no se verificó una cifra exacta ni solicitudes/s; por ello no se afirma que no midió tiempos. Su preparación incorpora ataques del conjunto publicado de prueba al entrenamiento, por lo que no se equipara con la partición propia.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Yang, página editorial accesible: CSIC 2010 Fmeasure = 89,755 %, exactitud 90,937 %, AUC 0,838. TLSTM autoencoder + GAN + MLP; representación aprendida y clasificación supervisada. Dimensión y cifra operacional no verificadas en la fuente accesible. NV significa no verificado, no que el artículo omita el dato.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Luo, WADBERT arXiv 2601.21893v1: dimensión 1536 = 768×2, URLBERT para URL + método y SecBERT para parámetros, atención. CSIC F1 = 99,63 %, exactitud 99,70 %; SR-BH F1 = 99,50 %, exactitud 99,32 %. No se encontró medición operacional de latencia/solicitudes por segundo. El hardware A100 no es una medida de velocidad.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Este trabajo B2: documento_cross_dataset_waf, tabla 3. RF 57 características manuales. CSIC F1 = 94,67 %, FPR = 0,73 %; TorpEda F1 = 99,89 %, FPR = 0,12 %; SR-BH F1 = 95,07 %, FPR = 3,42 %. La tabla visible usa solo CSIC para identificar el corpus de cada cifra. El umbral se exploró sobre el test, limitación que impide presentar estos resultados como estimación independiente o ranking controlado. No se informa tiempo de esta corrida en los informes binarios revisados. Las cifras de M8/L2 no se trasladan a B2.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Precisión conservada de la anterior diapositiva de síntesis: Luo/WADBERT usa una partición 70/30 y B2 80/20. El umbral de B2 se exploró sobre prueba. Compartir CSIC no iguala protocolos ni permite un ranking controlado. Fuente: Luo et al., tabla III; informe binario B2.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Registro operativo histórico mostrado directamente en la tabla:</a:t>
            </a:r>
            <a:endParaRPr/>
          </a:p>
          <a:p>
            <a:pPr indent="0" lvl="0" marL="0" rtl="0" algn="l">
              <a:spcBef>
                <a:spcPts val="0"/>
              </a:spcBef>
              <a:spcAft>
                <a:spcPts val="0"/>
              </a:spcAft>
              <a:buNone/>
            </a:pPr>
            <a:r>
              <a:rPr lang="en-US"/>
              <a:t>Slurm 2476, duración total 15 s. Memoria máxima: 964.744 K / 1.024 = 942,13 MiB. Se utiliza el máximo RSS observado en el paso 2476.1, no la suma de máximos de pasos. El trabajo rf_supervised corresponde a la rama Random Forest sobre CSIC. El tiempo de Slurm incluye el trabajo completo; no es el cronómetro de ajuste ni de predicción de B2. La versión compatible del script ejecuta preparación, entrenamiento, evaluación y guardado.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correspondencia exacta de este registro con la configuración de la columna Detección no está verificada. Por eso se identifica con su trabajo histórico y se aclara el alcance en la diapositiva. Las cifras no son latencia por petición, tiempo de entrenamiento aislado ni capacidad de procesamiento por segundo, y no se comparan directamente con los +4 ms de respuesta de Epp ni con tiempos de predicción de otros estudios.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primaria: evidencia_tesis_slurm_20260803T142006/sacct/sacct_jobs_y_steps.psv, líneas 207 y 210; trabajo 2476 y paso 2476.1. MiB calculados a partir del campo MaxRSS en K usando 1.024. Auditoría de apoyo: outputs/revision_rendimiento_binario_oneclass.md y work/audit_performance/slurm-metrics.csv.</a:t>
            </a:r>
            <a:endParaRPr/>
          </a:p>
          <a:p>
            <a:pPr indent="0" lvl="0" marL="0" rtl="0" algn="l">
              <a:spcBef>
                <a:spcPts val="0"/>
              </a:spcBef>
              <a:spcAft>
                <a:spcPts val="0"/>
              </a:spcAft>
              <a:buNone/>
            </a:pPr>
            <a:r>
              <a:t/>
            </a:r>
            <a:endParaRPr/>
          </a:p>
        </p:txBody>
      </p:sp>
      <p:sp>
        <p:nvSpPr>
          <p:cNvPr id="1412" name="Google Shape;1412;h57f31f40725a5983_0_7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Aclaración terminológica: «penalización cuadrática» es la regularización matemática habitualmente llamada L2. No identifica la segunda corrida multietiqueta, cuyo código también es L2.</a:t>
            </a:r>
            <a:endParaRPr/>
          </a:p>
          <a:p>
            <a:pPr indent="0" lvl="0" marL="0" rtl="0" algn="l">
              <a:spcBef>
                <a:spcPts val="0"/>
              </a:spcBef>
              <a:spcAft>
                <a:spcPts val="0"/>
              </a:spcAft>
              <a:buNone/>
            </a:pPr>
            <a:r>
              <a:t/>
            </a:r>
            <a:endParaRPr/>
          </a:p>
        </p:txBody>
      </p:sp>
      <p:sp>
        <p:nvSpPr>
          <p:cNvPr id="1425" name="Google Shape;142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ca_taxonomia_m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8" name="Google Shape;1478;ca_taxonomia_m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Fuente: tesis 08282026v4.pdf, §6.5.2 (p.51 impresa/PDF67), §7.5.2–3 (pp.58–59/PDF74–75), informes multiclase 08 y 09.</a:t>
            </a:r>
            <a:endParaRPr/>
          </a:p>
          <a:p>
            <a:pPr indent="0" lvl="0" marL="0" rtl="0" algn="l">
              <a:spcBef>
                <a:spcPts val="0"/>
              </a:spcBef>
              <a:spcAft>
                <a:spcPts val="0"/>
              </a:spcAft>
              <a:buNone/>
            </a:pPr>
            <a:r>
              <a:rPr lang="en-US"/>
              <a:t>TorpEda mantiene diez clases nativas: NORMAL, ANOMALOUS, SQLi, XSS, SSI, BufferOverflow, CRLFi, XPath, LDAPi y FormatString. En binario las categorías no normales se reúnen en ATAQUE; esta reducción binaria no implica fusionar familias en M8.</a:t>
            </a:r>
            <a:endParaRPr/>
          </a:p>
          <a:p>
            <a:pPr indent="0" lvl="0" marL="0" rtl="0" algn="l">
              <a:spcBef>
                <a:spcPts val="0"/>
              </a:spcBef>
              <a:spcAft>
                <a:spcPts val="0"/>
              </a:spcAft>
              <a:buNone/>
            </a:pPr>
            <a:r>
              <a:rPr lang="en-US"/>
              <a:t>Harvard es SR-BH 2020. M5 fusionó CAPEC-153 y CAPEC-194 en Data Manipulation; CAPEC-272, CAPEC-274 y la combinación 272+274 en HTTP Protocol Manipulation. M6/M7/M8 reúnen esas cinco clases de origen en Request Manipulation: top-14 pasa a top-10. CAPEC-88+126 permanece como una clase compuesta. La preparación top-14 excluyó 5.404 filas con combinaciones no admitidas y retuvo 902.411 filas; no equivale a eliminar duplicados.</a:t>
            </a:r>
            <a:endParaRPr/>
          </a:p>
          <a:p>
            <a:pPr indent="0" lvl="0" marL="0" rtl="0" algn="l">
              <a:spcBef>
                <a:spcPts val="0"/>
              </a:spcBef>
              <a:spcAft>
                <a:spcPts val="0"/>
              </a:spcAft>
              <a:buNone/>
            </a:pPr>
            <a:r>
              <a:rPr lang="en-US"/>
              <a:t>DS-Augmented-v2: M7/M8 fusionan Command Injection y OS Command Injection en CommandInjection, dejando ocho clases incluido NORMAL.</a:t>
            </a:r>
            <a:endParaRPr/>
          </a:p>
          <a:p>
            <a:pPr indent="0" lvl="0" marL="0" rtl="0" algn="l">
              <a:spcBef>
                <a:spcPts val="0"/>
              </a:spcBef>
              <a:spcAft>
                <a:spcPts val="0"/>
              </a:spcAft>
              <a:buNone/>
            </a:pPr>
            <a:r>
              <a:rPr lang="en-US"/>
              <a:t>B2 se entrenó por separado en CSIC 2010, TorpEda y Harvard. M8 se entrenó por separado en TorpEda, Harvard y DS-Augmented-v2. Multietiqueta L1/L2 sólo usa Harvard, con doce CAPEC y NORMAL derivado de ninguna etiqueta activa.</a:t>
            </a:r>
            <a:endParaRPr/>
          </a:p>
          <a:p>
            <a:pPr indent="0" lvl="0" marL="0" rtl="0" algn="l">
              <a:spcBef>
                <a:spcPts val="0"/>
              </a:spcBef>
              <a:spcAft>
                <a:spcPts val="0"/>
              </a:spcAft>
              <a:buNone/>
            </a:pPr>
            <a:r>
              <a:rPr lang="en-US"/>
              <a:t>La agrupación por huella en L2 reúne peticiones equivalentes por quince campos y une sus etiquetas. No fusiona las doce categorías CAPEC en una taxonomía de diez clases.</a:t>
            </a:r>
            <a:endParaRPr/>
          </a:p>
        </p:txBody>
      </p:sp>
      <p:sp>
        <p:nvSpPr>
          <p:cNvPr id="1479" name="Google Shape;1479;ca_taxonomia_m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3f8ea753ef3_2_2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1" name="Google Shape;1491;g3f8ea753ef3_2_2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Nguyen y colaboradores representan método, ruta y parámetros mediante SecBERT y clasifican con una red MLP. En su preparación de CAPEC eliminan ejemplos con etiquetas simultáneas y agrupan categorías. Las siete clases incluyen NORMAL y seis tipos de ataque. La sección IV.A y la tabla II explican esta transformación.</a:t>
            </a:r>
            <a:endParaRPr/>
          </a:p>
          <a:p>
            <a:pPr indent="0" lvl="0" marL="0" rtl="0" algn="l">
              <a:spcBef>
                <a:spcPts val="0"/>
              </a:spcBef>
              <a:spcAft>
                <a:spcPts val="0"/>
              </a:spcAft>
              <a:buNone/>
            </a:pPr>
            <a:r>
              <a:rPr lang="en-US"/>
              <a:t>Nguyen, M. T. A., Tong, V., Souihi, S. B. y Souihi, S. (2023). Deep Learning in NLP for Anomalous HTTP Requests Detection. 19th International Conference on Network and Service Management (CNSM). https://doi.org/10.23919/CNSM59352.2023.10327888</a:t>
            </a:r>
            <a:endParaRPr/>
          </a:p>
          <a:p>
            <a:pPr indent="0" lvl="0" marL="0" rtl="0" algn="l">
              <a:spcBef>
                <a:spcPts val="0"/>
              </a:spcBef>
              <a:spcAft>
                <a:spcPts val="0"/>
              </a:spcAft>
              <a:buNone/>
            </a:pPr>
            <a:r>
              <a:rPr lang="en-US"/>
              <a:t>Texto del congreso: https://opendl.ifip-tc6.org/db/conf/cnsm/cnsm2023/1570932667.pdf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E-WebGuard compara Char-SVM, Char-LSTM, CNN-SVM y CNN-Bi-LSTM con representación por caracteres. Declara una tarea multiclase sobre SR-BH 2020 con trece clases: NORMAL y doce categorías de ataque. La comparación no presupone que el tratamiento de etiquetas simultáneas sea el mismo que en esta tesis.</a:t>
            </a:r>
            <a:endParaRPr/>
          </a:p>
          <a:p>
            <a:pPr indent="0" lvl="0" marL="0" rtl="0" algn="l">
              <a:spcBef>
                <a:spcPts val="0"/>
              </a:spcBef>
              <a:spcAft>
                <a:spcPts val="0"/>
              </a:spcAft>
              <a:buNone/>
            </a:pPr>
            <a:r>
              <a:rPr lang="en-US"/>
              <a:t>Zhou, L., Yau, W.-C., Gan, Y. S. y Liong, S.-T. (2025). E-WebGuard: Enhanced neural architectures for precision web attack detection. Computers &amp; Security, 148, 104127. https://doi.org/10.1016/j.cose.2024.104127</a:t>
            </a:r>
            <a:endParaRPr/>
          </a:p>
          <a:p>
            <a:pPr indent="0" lvl="0" marL="0" rtl="0" algn="l">
              <a:spcBef>
                <a:spcPts val="0"/>
              </a:spcBef>
              <a:spcAft>
                <a:spcPts val="0"/>
              </a:spcAft>
              <a:buNone/>
            </a:pPr>
            <a:r>
              <a:rPr lang="en-US"/>
              <a:t>Página editorial: https://www.sciencedirect.com/science/article/abs/pii/S0167404824004322</a:t>
            </a:r>
            <a:endParaRPr/>
          </a:p>
          <a:p>
            <a:pPr indent="0" lvl="0" marL="0" rtl="0" algn="l">
              <a:spcBef>
                <a:spcPts val="0"/>
              </a:spcBef>
              <a:spcAft>
                <a:spcPts val="0"/>
              </a:spcAft>
              <a:buNone/>
            </a:pPr>
            <a:r>
              <a:rPr lang="en-US"/>
              <a:t>El año 2025 corresponde al volumen. El DOI refleja la publicación anticipada en 2024.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WAMM incluye limpieza y corrección de etiquetas, ampliación y filtrado de datos, y modelos con representaciones textuales y numéricas. Presenta DS-Augmented-v2, utilizado también en M7 y M8. Las ocho clases de la diapositiva corresponden a esas corridas de la tesis, no a todas las variantes evaluadas por WAMM.</a:t>
            </a:r>
            <a:endParaRPr/>
          </a:p>
          <a:p>
            <a:pPr indent="0" lvl="0" marL="0" rtl="0" algn="l">
              <a:spcBef>
                <a:spcPts val="0"/>
              </a:spcBef>
              <a:spcAft>
                <a:spcPts val="0"/>
              </a:spcAft>
              <a:buNone/>
            </a:pPr>
            <a:r>
              <a:rPr lang="en-US"/>
              <a:t>Osama, H., Elebiary, O., Qassim, Y., Amgad, M., Maghawry, A., Saafan, A. y Ghalwash, H. (2026). Enhanced Web Payload Classification Using WAMM: An AI-Based Framework for Dataset Refinement and Model Evaluation. IEEE Access, 14, 61512–61527. https://doi.org/10.1109/ACCESS.2026.3685450</a:t>
            </a:r>
            <a:endParaRPr/>
          </a:p>
          <a:p>
            <a:pPr indent="0" lvl="0" marL="0" rtl="0" algn="l">
              <a:spcBef>
                <a:spcPts val="0"/>
              </a:spcBef>
              <a:spcAft>
                <a:spcPts val="0"/>
              </a:spcAft>
              <a:buNone/>
            </a:pPr>
            <a:r>
              <a:rPr lang="en-US"/>
              <a:t>Manuscrito de los autores: https://arxiv.org/html/2512.23610v2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M8 utiliza HistGradientBoosting y 72 características calculadas. Esta relación es una comparación metodológica, no una prueba de superioridad frente a los otros modelos.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Cifras y límites de la tabla nueva: Nguyen, resultados principales sobre corpus de origen: F1 reportado 98,90 % (no se etiqueta macro porque no se verificó ese promedio); precisión 99,04 %, recall 98,78 %. En transferencia al destino F1 = 61,50 %. Las 24 columnas originales no son la dimensión del embedding; se deja esa dimensión como no verificada. No se atribuyen 5,1 ms: esa cifra corresponde a otro trabajo citado por ellos.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E-WebGuard: resumen editorial primario informa exactitud 99,63 % de CNN-Bi-LSTM sobre SR-BH 2020 (13 clases). No es F1. No se pudo verificar F1 multiclase, dimensión ni cifra de latencia/solicitudes por segundo.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WAMM: arXiv 2512.23610v2, modelo XGBoost con TF-IDF de n-gramas de caracteres (1,2), máximo 2000 términos, más variables manuales. 2000 no es la dimensión total, porque se añaden variables. DS-Augmented-v2: F1 macro 86,07 %, exactitud 99,59 %, inferencia 0,049 ms/muestra, entrenamiento 11 min; partición 80/20. El tiempo de inferencia no equivale a preparación + predicción.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M8: informe 09_Multiclase_Tres_datasets_72_features_WAMM_like, y tesis § 8.5. HistGradientBoosting, 72 variables manuales. DS (Egipcios): F1 macro 84,49 %, exactitud 99,425 %. Prueba operacional individual: 55,11 solicitudes/s, p50 = 13,68 ms, p95 = 48,95 ms, p99 = 96,51 ms. Incluye preparación + predicción. No es capacidad bajo tráfico web concurrente. El throughput por lotes del modelo es otra medida, no se mezcló. M8 usa 8 clases en DS, 10 en TorpEda/SR-BH. Mismo corpus no garantiza mismas particiones ni equipo.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NV = no verificado en la fuente accesible. Esta comparación contextual no establece superioridad.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Cobertura completa y tratamiento de clases:</a:t>
            </a:r>
            <a:endParaRPr/>
          </a:p>
          <a:p>
            <a:pPr indent="0" lvl="0" marL="0" rtl="0" algn="l">
              <a:spcBef>
                <a:spcPts val="0"/>
              </a:spcBef>
              <a:spcAft>
                <a:spcPts val="0"/>
              </a:spcAft>
              <a:buNone/>
            </a:pPr>
            <a:r>
              <a:rPr lang="en-US"/>
              <a:t>Fuente: tesis 08282026v4.pdf, §6.5.2 (p.51 impresa/PDF67), §7.5.2–3 (pp.58–59/PDF74–75), informes multiclase 08 y 09.</a:t>
            </a:r>
            <a:endParaRPr/>
          </a:p>
          <a:p>
            <a:pPr indent="0" lvl="0" marL="0" rtl="0" algn="l">
              <a:spcBef>
                <a:spcPts val="0"/>
              </a:spcBef>
              <a:spcAft>
                <a:spcPts val="0"/>
              </a:spcAft>
              <a:buNone/>
            </a:pPr>
            <a:r>
              <a:rPr lang="en-US"/>
              <a:t>TorpEda mantiene diez clases nativas: NORMAL, ANOMALOUS, SQLi, XSS, SSI, BufferOverflow, CRLFi, XPath, LDAPi y FormatString. En binario las categorías no normales se reúnen en ATAQUE; esta reducción binaria no implica fusionar familias en M8.</a:t>
            </a:r>
            <a:endParaRPr/>
          </a:p>
          <a:p>
            <a:pPr indent="0" lvl="0" marL="0" rtl="0" algn="l">
              <a:spcBef>
                <a:spcPts val="0"/>
              </a:spcBef>
              <a:spcAft>
                <a:spcPts val="0"/>
              </a:spcAft>
              <a:buNone/>
            </a:pPr>
            <a:r>
              <a:rPr lang="en-US"/>
              <a:t>Harvard es SR-BH 2020. M5 fusionó CAPEC-153 y CAPEC-194 en Data Manipulation; CAPEC-272, CAPEC-274 y la combinación 272+274 en HTTP Protocol Manipulation. M6/M7/M8 reúnen esas cinco clases de origen en Request Manipulation: top-14 pasa a top-10. CAPEC-88+126 permanece como una clase compuesta. La preparación top-14 excluyó 5.404 filas con combinaciones no admitidas y retuvo 902.411 filas; no equivale a eliminar duplicados.</a:t>
            </a:r>
            <a:endParaRPr/>
          </a:p>
          <a:p>
            <a:pPr indent="0" lvl="0" marL="0" rtl="0" algn="l">
              <a:spcBef>
                <a:spcPts val="0"/>
              </a:spcBef>
              <a:spcAft>
                <a:spcPts val="0"/>
              </a:spcAft>
              <a:buNone/>
            </a:pPr>
            <a:r>
              <a:rPr lang="en-US"/>
              <a:t>DS-Augmented-v2: M7/M8 fusionan Command Injection y OS Command Injection en CommandInjection, dejando ocho clases incluido NORMAL.</a:t>
            </a:r>
            <a:endParaRPr/>
          </a:p>
          <a:p>
            <a:pPr indent="0" lvl="0" marL="0" rtl="0" algn="l">
              <a:spcBef>
                <a:spcPts val="0"/>
              </a:spcBef>
              <a:spcAft>
                <a:spcPts val="0"/>
              </a:spcAft>
              <a:buNone/>
            </a:pPr>
            <a:r>
              <a:rPr lang="en-US"/>
              <a:t>B2 se entrenó por separado en CSIC 2010, TorpEda y Harvard. M8 se entrenó por separado en TorpEda, Harvard y DS-Augmented-v2. Multietiqueta L1/L2 sólo usa Harvard, con doce CAPEC y NORMAL derivado de ninguna etiqueta activa.</a:t>
            </a:r>
            <a:endParaRPr/>
          </a:p>
          <a:p>
            <a:pPr indent="0" lvl="0" marL="0" rtl="0" algn="l">
              <a:spcBef>
                <a:spcPts val="0"/>
              </a:spcBef>
              <a:spcAft>
                <a:spcPts val="0"/>
              </a:spcAft>
              <a:buNone/>
            </a:pPr>
            <a:r>
              <a:rPr lang="en-US"/>
              <a:t>La agrupación por huella en L2 reúne peticiones equivalentes por quince campos y une sus etiquetas. No fusiona las doce categorías CAPEC en una taxonomía de diez clases.</a:t>
            </a:r>
            <a:endParaRPr/>
          </a:p>
          <a:p>
            <a:pPr indent="0" lvl="0" marL="0" rtl="0" algn="l">
              <a:spcBef>
                <a:spcPts val="0"/>
              </a:spcBef>
              <a:spcAft>
                <a:spcPts val="0"/>
              </a:spcAft>
              <a:buNone/>
            </a:pPr>
            <a:r>
              <a:rPr lang="en-US"/>
              <a:t>Nguyen agrupa SQL Injection y OS Command Injection en Injection. Sus siete clases no equivalen al top-10 de M8. DS-v2 abrevia DS-Augmented-v2.</a:t>
            </a:r>
            <a:endParaRPr/>
          </a:p>
        </p:txBody>
      </p:sp>
      <p:sp>
        <p:nvSpPr>
          <p:cNvPr id="1492" name="Google Shape;1492;g3f8ea753ef3_2_2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5" name="Google Shape;150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Exactitud cuenta qué porcentaje de casos recibió la clase correcta. F1 macro calcula F1 para cada clase y después las promedia con el mismo peso. Por eso una exactitud alta puede convivir con dificultades en clases menos frecuentes. En DS-Augmented-v2, SSTI obtuvo 39,65 % de F1 y XSS 64,32 %. SSTI significa inyección en plantillas del servidor; XSS es inyección de código que se ejecuta en el navegador. La configuración SR-BH llamada top-10 en los informes usa diez categorías totales y agrupa patrones relacionados; ofrece menos detalle que la configuración de catorce categorías. SR-BH también figura como Harvard por el repositorio del que se obtuvo. En M1–M8 los datos se separaron por filas y algunas decisiones de desarrollo se tomaron después de mirar resultados de prueba. En la revisión de Harvard, aproximadamente el 42 % de las filas de prueba compartía huella con datos usados durante el desarrollo. Esto impide presentar esas cifras como una confirmación del rendimiento ante tráfico nuevo. Se tomaron los valores de las tablas generales del informe 09; sus curvas muestran otra tasa de error y no se usan como una verificación adicional. Informe: 09_Multiclase_Tres_datasets_72_features_WAMM_like.pdf, pp. 4 y 14. Datos y antecedente: Osama et al. (2026), https://doi.org/10.1109/ACCESS.2026.3685450. Las cifras de esta diapositiva son resultados propios y no se atribuyen al artículo.</a:t>
            </a:r>
            <a:endParaRPr/>
          </a:p>
        </p:txBody>
      </p:sp>
      <p:sp>
        <p:nvSpPr>
          <p:cNvPr id="1506" name="Google Shape;150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3fbacf0148d_1_12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0" name="Google Shape;1540;g3fbacf0148d_1_12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"priority": 1,</a:t>
            </a:r>
            <a:endParaRPr/>
          </a:p>
          <a:p>
            <a:pPr indent="0" lvl="0" marL="0" rtl="0" algn="l">
              <a:spcBef>
                <a:spcPts val="0"/>
              </a:spcBef>
              <a:spcAft>
                <a:spcPts val="0"/>
              </a:spcAft>
              <a:buNone/>
            </a:pPr>
            <a:r>
              <a:rPr lang="en-US" sz="1200"/>
              <a:t>    "title": "Ampliar la representación intra-request: 30 → 84 features",</a:t>
            </a:r>
            <a:endParaRPr/>
          </a:p>
          <a:p>
            <a:pPr indent="0" lvl="0" marL="0" rtl="0" algn="l">
              <a:spcBef>
                <a:spcPts val="0"/>
              </a:spcBef>
              <a:spcAft>
                <a:spcPts val="0"/>
              </a:spcAft>
              <a:buNone/>
            </a:pPr>
            <a:r>
              <a:rPr lang="en-US" sz="1200"/>
              <a:t>    "action": "Añadir método HTTP, cabeceras/protocolo, estructura de parámetros, XPath/XML y señales de rutas/scanning.",</a:t>
            </a:r>
            <a:endParaRPr/>
          </a:p>
          <a:p>
            <a:pPr indent="0" lvl="0" marL="0" rtl="0" algn="l">
              <a:spcBef>
                <a:spcPts val="0"/>
              </a:spcBef>
              <a:spcAft>
                <a:spcPts val="0"/>
              </a:spcAft>
              <a:buNone/>
            </a:pPr>
            <a:r>
              <a:rPr lang="en-US" sz="1200"/>
              <a:t>    "before_run": "03",</a:t>
            </a:r>
            <a:endParaRPr/>
          </a:p>
          <a:p>
            <a:pPr indent="0" lvl="0" marL="0" rtl="0" algn="l">
              <a:spcBef>
                <a:spcPts val="0"/>
              </a:spcBef>
              <a:spcAft>
                <a:spcPts val="0"/>
              </a:spcAft>
              <a:buNone/>
            </a:pPr>
            <a:r>
              <a:rPr lang="en-US" sz="1200"/>
              <a:t>    "after_run": "04",</a:t>
            </a:r>
            <a:endParaRPr/>
          </a:p>
          <a:p>
            <a:pPr indent="0" lvl="0" marL="0" rtl="0" algn="l">
              <a:spcBef>
                <a:spcPts val="0"/>
              </a:spcBef>
              <a:spcAft>
                <a:spcPts val="0"/>
              </a:spcAft>
              <a:buNone/>
            </a:pPr>
            <a:r>
              <a:rPr lang="en-US" sz="1200"/>
              <a:t>    "deltas":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 top14",</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80.81,</a:t>
            </a:r>
            <a:endParaRPr/>
          </a:p>
          <a:p>
            <a:pPr indent="0" lvl="0" marL="0" rtl="0" algn="l">
              <a:spcBef>
                <a:spcPts val="0"/>
              </a:spcBef>
              <a:spcAft>
                <a:spcPts val="0"/>
              </a:spcAft>
              <a:buNone/>
            </a:pPr>
            <a:r>
              <a:rPr lang="en-US" sz="1200"/>
              <a:t>        "after_pct": 88.83,</a:t>
            </a:r>
            <a:endParaRPr/>
          </a:p>
          <a:p>
            <a:pPr indent="0" lvl="0" marL="0" rtl="0" algn="l">
              <a:spcBef>
                <a:spcPts val="0"/>
              </a:spcBef>
              <a:spcAft>
                <a:spcPts val="0"/>
              </a:spcAft>
              <a:buNone/>
            </a:pPr>
            <a:r>
              <a:rPr lang="en-US" sz="1200"/>
              <a:t>        "delta_pp": 8.02</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"TorpEda",</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94.23,</a:t>
            </a:r>
            <a:endParaRPr/>
          </a:p>
          <a:p>
            <a:pPr indent="0" lvl="0" marL="0" rtl="0" algn="l">
              <a:spcBef>
                <a:spcPts val="0"/>
              </a:spcBef>
              <a:spcAft>
                <a:spcPts val="0"/>
              </a:spcAft>
              <a:buNone/>
            </a:pPr>
            <a:r>
              <a:rPr lang="en-US" sz="1200"/>
              <a:t>        "after_pct": 99.37,</a:t>
            </a:r>
            <a:endParaRPr/>
          </a:p>
          <a:p>
            <a:pPr indent="0" lvl="0" marL="0" rtl="0" algn="l">
              <a:spcBef>
                <a:spcPts val="0"/>
              </a:spcBef>
              <a:spcAft>
                <a:spcPts val="0"/>
              </a:spcAft>
              <a:buNone/>
            </a:pPr>
            <a:r>
              <a:rPr lang="en-US" sz="1200"/>
              <a:t>        "delta_pp": 5.14</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"caveat": "Mayor salto observado con la misma taxonomía y los mismos tamaños de train/test. No es ablación de cada feature; el informe 04 no detalla el preset, por lo que no permite atribuir el salto exclusivamente a las variables nuevas.",</a:t>
            </a:r>
            <a:endParaRPr/>
          </a:p>
          <a:p>
            <a:pPr indent="0" lvl="0" marL="0" rtl="0" algn="l">
              <a:spcBef>
                <a:spcPts val="0"/>
              </a:spcBef>
              <a:spcAft>
                <a:spcPts val="0"/>
              </a:spcAft>
              <a:buNone/>
            </a:pPr>
            <a:r>
              <a:rPr lang="en-US" sz="1200"/>
              <a:t>    "sources":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"03_Multiclase_Top14_CAPEC_exacto_30_features.pdf",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6</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"04_Multiclase_Expansion_optimized84_Top14.pdf",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"priority": 2,</a:t>
            </a:r>
            <a:endParaRPr/>
          </a:p>
          <a:p>
            <a:pPr indent="0" lvl="0" marL="0" rtl="0" algn="l">
              <a:spcBef>
                <a:spcPts val="0"/>
              </a:spcBef>
              <a:spcAft>
                <a:spcPts val="0"/>
              </a:spcAft>
              <a:buNone/>
            </a:pPr>
            <a:r>
              <a:rPr lang="en-US" sz="1200"/>
              <a:t>    "title": "Agrupar etiquetas ambiguas de Harvard en clases operativas",</a:t>
            </a:r>
            <a:endParaRPr/>
          </a:p>
          <a:p>
            <a:pPr indent="0" lvl="0" marL="0" rtl="0" algn="l">
              <a:spcBef>
                <a:spcPts val="0"/>
              </a:spcBef>
              <a:spcAft>
                <a:spcPts val="0"/>
              </a:spcAft>
              <a:buNone/>
            </a:pPr>
            <a:r>
              <a:rPr lang="en-US" sz="1200"/>
              <a:t>    "action": "14 → 11: unir CAPEC-153/194 en DataManipulation y CAPEC-272/274/272+274 en HTTPProtocolManipulation. 11 → 10: unir ambas familias en RequestManipulation.",</a:t>
            </a:r>
            <a:endParaRPr/>
          </a:p>
          <a:p>
            <a:pPr indent="0" lvl="0" marL="0" rtl="0" algn="l">
              <a:spcBef>
                <a:spcPts val="0"/>
              </a:spcBef>
              <a:spcAft>
                <a:spcPts val="0"/>
              </a:spcAft>
              <a:buNone/>
            </a:pPr>
            <a:r>
              <a:rPr lang="en-US" sz="1200"/>
              <a:t>    "before_run": "05",</a:t>
            </a:r>
            <a:endParaRPr/>
          </a:p>
          <a:p>
            <a:pPr indent="0" lvl="0" marL="0" rtl="0" algn="l">
              <a:spcBef>
                <a:spcPts val="0"/>
              </a:spcBef>
              <a:spcAft>
                <a:spcPts val="0"/>
              </a:spcAft>
              <a:buNone/>
            </a:pPr>
            <a:r>
              <a:rPr lang="en-US" sz="1200"/>
              <a:t>    "after_run": "07",</a:t>
            </a:r>
            <a:endParaRPr/>
          </a:p>
          <a:p>
            <a:pPr indent="0" lvl="0" marL="0" rtl="0" algn="l">
              <a:spcBef>
                <a:spcPts val="0"/>
              </a:spcBef>
              <a:spcAft>
                <a:spcPts val="0"/>
              </a:spcAft>
              <a:buNone/>
            </a:pPr>
            <a:r>
              <a:rPr lang="en-US" sz="1200"/>
              <a:t>    "deltas":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 14→11",</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88.81,</a:t>
            </a:r>
            <a:endParaRPr/>
          </a:p>
          <a:p>
            <a:pPr indent="0" lvl="0" marL="0" rtl="0" algn="l">
              <a:spcBef>
                <a:spcPts val="0"/>
              </a:spcBef>
              <a:spcAft>
                <a:spcPts val="0"/>
              </a:spcAft>
              <a:buNone/>
            </a:pPr>
            <a:r>
              <a:rPr lang="en-US" sz="1200"/>
              <a:t>        "after_pct": 94.4,</a:t>
            </a:r>
            <a:endParaRPr/>
          </a:p>
          <a:p>
            <a:pPr indent="0" lvl="0" marL="0" rtl="0" algn="l">
              <a:spcBef>
                <a:spcPts val="0"/>
              </a:spcBef>
              <a:spcAft>
                <a:spcPts val="0"/>
              </a:spcAft>
              <a:buNone/>
            </a:pPr>
            <a:r>
              <a:rPr lang="en-US" sz="1200"/>
              <a:t>        "delta_pp": 5.59</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 11→10",</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94.4,</a:t>
            </a:r>
            <a:endParaRPr/>
          </a:p>
          <a:p>
            <a:pPr indent="0" lvl="0" marL="0" rtl="0" algn="l">
              <a:spcBef>
                <a:spcPts val="0"/>
              </a:spcBef>
              <a:spcAft>
                <a:spcPts val="0"/>
              </a:spcAft>
              <a:buNone/>
            </a:pPr>
            <a:r>
              <a:rPr lang="en-US" sz="1200"/>
              <a:t>        "after_pct": 97.1,</a:t>
            </a:r>
            <a:endParaRPr/>
          </a:p>
          <a:p>
            <a:pPr indent="0" lvl="0" marL="0" rtl="0" algn="l">
              <a:spcBef>
                <a:spcPts val="0"/>
              </a:spcBef>
              <a:spcAft>
                <a:spcPts val="0"/>
              </a:spcAft>
              <a:buNone/>
            </a:pPr>
            <a:r>
              <a:rPr lang="en-US" sz="1200"/>
              <a:t>        "delta_pp": 2.7</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 14→10",</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88.81,</a:t>
            </a:r>
            <a:endParaRPr/>
          </a:p>
          <a:p>
            <a:pPr indent="0" lvl="0" marL="0" rtl="0" algn="l">
              <a:spcBef>
                <a:spcPts val="0"/>
              </a:spcBef>
              <a:spcAft>
                <a:spcPts val="0"/>
              </a:spcAft>
              <a:buNone/>
            </a:pPr>
            <a:r>
              <a:rPr lang="en-US" sz="1200"/>
              <a:t>        "after_pct": 97.1,</a:t>
            </a:r>
            <a:endParaRPr/>
          </a:p>
          <a:p>
            <a:pPr indent="0" lvl="0" marL="0" rtl="0" algn="l">
              <a:spcBef>
                <a:spcPts val="0"/>
              </a:spcBef>
              <a:spcAft>
                <a:spcPts val="0"/>
              </a:spcAft>
              <a:buNone/>
            </a:pPr>
            <a:r>
              <a:rPr lang="en-US" sz="1200"/>
              <a:t>        "delta_pp": 8.29</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"tradeoff": "11→10 reduce FPR NORMAL 1,80%→1,08%, pero sube FNR ataque 3,45%→3,87%.",</a:t>
            </a:r>
            <a:endParaRPr/>
          </a:p>
          <a:p>
            <a:pPr indent="0" lvl="0" marL="0" rtl="0" algn="l">
              <a:spcBef>
                <a:spcPts val="0"/>
              </a:spcBef>
              <a:spcAft>
                <a:spcPts val="0"/>
              </a:spcAft>
              <a:buNone/>
            </a:pPr>
            <a:r>
              <a:rPr lang="en-US" sz="1200"/>
              <a:t>    "caveat": "Cambia la tarea: reduce la granularidad y cambia el promedio macro. No presentar +8,29 pp como mejora comparable del mismo problema. Las mismas cantidades de filas no acreditan los mismos índices de split al cambiar la estratificación.",</a:t>
            </a:r>
            <a:endParaRPr/>
          </a:p>
          <a:p>
            <a:pPr indent="0" lvl="0" marL="0" rtl="0" algn="l">
              <a:spcBef>
                <a:spcPts val="0"/>
              </a:spcBef>
              <a:spcAft>
                <a:spcPts val="0"/>
              </a:spcAft>
              <a:buNone/>
            </a:pPr>
            <a:r>
              <a:rPr lang="en-US" sz="1200"/>
              <a:t>    "sources":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"05_Multiclase_Poda_useful58_Top14.pdf",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"06_Multiclase_Harvard_Top11_operativo_58_features.pdf",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"07_Multiclase_Harvard_Top10_RequestManipulation_58_features.pdf",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"priority": 3,</a:t>
            </a:r>
            <a:endParaRPr/>
          </a:p>
          <a:p>
            <a:pPr indent="0" lvl="0" marL="0" rtl="0" algn="l">
              <a:spcBef>
                <a:spcPts val="0"/>
              </a:spcBef>
              <a:spcAft>
                <a:spcPts val="0"/>
              </a:spcAft>
              <a:buNone/>
            </a:pPr>
            <a:r>
              <a:rPr lang="en-US" sz="1200"/>
              <a:t>    "title": "Añadir 14 señales globales y de ejecución: 58 → 72",</a:t>
            </a:r>
            <a:endParaRPr/>
          </a:p>
          <a:p>
            <a:pPr indent="0" lvl="0" marL="0" rtl="0" algn="l">
              <a:spcBef>
                <a:spcPts val="0"/>
              </a:spcBef>
              <a:spcAft>
                <a:spcPts val="0"/>
              </a:spcAft>
              <a:buNone/>
            </a:pPr>
            <a:r>
              <a:rPr lang="en-US" sz="1200"/>
              <a:t>    "action": "Estadísticas de la petición completa más señales WAMM-like de comandos/SSTI/SSRF/XSS.",</a:t>
            </a:r>
            <a:endParaRPr/>
          </a:p>
          <a:p>
            <a:pPr indent="0" lvl="0" marL="0" rtl="0" algn="l">
              <a:spcBef>
                <a:spcPts val="0"/>
              </a:spcBef>
              <a:spcAft>
                <a:spcPts val="0"/>
              </a:spcAft>
              <a:buNone/>
            </a:pPr>
            <a:r>
              <a:rPr lang="en-US" sz="1200"/>
              <a:t>    "before_run": "08",</a:t>
            </a:r>
            <a:endParaRPr/>
          </a:p>
          <a:p>
            <a:pPr indent="0" lvl="0" marL="0" rtl="0" algn="l">
              <a:spcBef>
                <a:spcPts val="0"/>
              </a:spcBef>
              <a:spcAft>
                <a:spcPts val="0"/>
              </a:spcAft>
              <a:buNone/>
            </a:pPr>
            <a:r>
              <a:rPr lang="en-US" sz="1200"/>
              <a:t>    "after_run": "09",</a:t>
            </a:r>
            <a:endParaRPr/>
          </a:p>
          <a:p>
            <a:pPr indent="0" lvl="0" marL="0" rtl="0" algn="l">
              <a:spcBef>
                <a:spcPts val="0"/>
              </a:spcBef>
              <a:spcAft>
                <a:spcPts val="0"/>
              </a:spcAft>
              <a:buNone/>
            </a:pPr>
            <a:r>
              <a:rPr lang="en-US" sz="1200"/>
              <a:t>    "deltas":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"Egipcios",</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81.17,</a:t>
            </a:r>
            <a:endParaRPr/>
          </a:p>
          <a:p>
            <a:pPr indent="0" lvl="0" marL="0" rtl="0" algn="l">
              <a:spcBef>
                <a:spcPts val="0"/>
              </a:spcBef>
              <a:spcAft>
                <a:spcPts val="0"/>
              </a:spcAft>
              <a:buNone/>
            </a:pPr>
            <a:r>
              <a:rPr lang="en-US" sz="1200"/>
              <a:t>        "after_pct": 84.49,</a:t>
            </a:r>
            <a:endParaRPr/>
          </a:p>
          <a:p>
            <a:pPr indent="0" lvl="0" marL="0" rtl="0" algn="l">
              <a:spcBef>
                <a:spcPts val="0"/>
              </a:spcBef>
              <a:spcAft>
                <a:spcPts val="0"/>
              </a:spcAft>
              <a:buNone/>
            </a:pPr>
            <a:r>
              <a:rPr lang="en-US" sz="1200"/>
              <a:t>        "delta_pp": 3.32</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"Harvard/SR-BH",</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97.1,</a:t>
            </a:r>
            <a:endParaRPr/>
          </a:p>
          <a:p>
            <a:pPr indent="0" lvl="0" marL="0" rtl="0" algn="l">
              <a:spcBef>
                <a:spcPts val="0"/>
              </a:spcBef>
              <a:spcAft>
                <a:spcPts val="0"/>
              </a:spcAft>
              <a:buNone/>
            </a:pPr>
            <a:r>
              <a:rPr lang="en-US" sz="1200"/>
              <a:t>        "after_pct": 97.23,</a:t>
            </a:r>
            <a:endParaRPr/>
          </a:p>
          <a:p>
            <a:pPr indent="0" lvl="0" marL="0" rtl="0" algn="l">
              <a:spcBef>
                <a:spcPts val="0"/>
              </a:spcBef>
              <a:spcAft>
                <a:spcPts val="0"/>
              </a:spcAft>
              <a:buNone/>
            </a:pPr>
            <a:r>
              <a:rPr lang="en-US" sz="1200"/>
              <a:t>        "delta_pp": 0.13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"TorpEda",</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99.37,</a:t>
            </a:r>
            <a:endParaRPr/>
          </a:p>
          <a:p>
            <a:pPr indent="0" lvl="0" marL="0" rtl="0" algn="l">
              <a:spcBef>
                <a:spcPts val="0"/>
              </a:spcBef>
              <a:spcAft>
                <a:spcPts val="0"/>
              </a:spcAft>
              <a:buNone/>
            </a:pPr>
            <a:r>
              <a:rPr lang="en-US" sz="1200"/>
              <a:t>        "after_pct": 98.68,</a:t>
            </a:r>
            <a:endParaRPr/>
          </a:p>
          <a:p>
            <a:pPr indent="0" lvl="0" marL="0" rtl="0" algn="l">
              <a:spcBef>
                <a:spcPts val="0"/>
              </a:spcBef>
              <a:spcAft>
                <a:spcPts val="0"/>
              </a:spcAft>
              <a:buNone/>
            </a:pPr>
            <a:r>
              <a:rPr lang="en-US" sz="1200"/>
              <a:t>        "delta_pp": -0.69</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"evidence": "Egipcios reduce errores 1.389→811 (−578; −41,61%). F1 XSS 53,15%→64,32% (+11,17 pp), SSRF 79,85%→87,96% (+8,11 pp).",</a:t>
            </a:r>
            <a:endParaRPr/>
          </a:p>
          <a:p>
            <a:pPr indent="0" lvl="0" marL="0" rtl="0" algn="l">
              <a:spcBef>
                <a:spcPts val="0"/>
              </a:spcBef>
              <a:spcAft>
                <a:spcPts val="0"/>
              </a:spcAft>
              <a:buNone/>
            </a:pPr>
            <a:r>
              <a:rPr lang="en-US" sz="1200"/>
              <a:t>    "feature_evidence": "Las nuevas full_request_digit_ratio, full_request_unique_char_count y full_request_len aparecen 4ª, 6ª y 8ª en Egipcios. command_keyword_count es 6ª en Harvard.",</a:t>
            </a:r>
            <a:endParaRPr/>
          </a:p>
          <a:p>
            <a:pPr indent="0" lvl="0" marL="0" rtl="0" algn="l">
              <a:spcBef>
                <a:spcPts val="0"/>
              </a:spcBef>
              <a:spcAft>
                <a:spcPts val="0"/>
              </a:spcAft>
              <a:buNone/>
            </a:pPr>
            <a:r>
              <a:rPr lang="en-US" sz="1200"/>
              <a:t>    "tradeoff": "En Egipcios p95 pipeline 39,54→48,95 ms; throughput batch pipeline −27,9%. SSTI todavía tiene F1 39,65%. TorpEda reduce errores 52→33 pero pierde F1 macro por una equivocación FormatString (soporte 8).",</a:t>
            </a:r>
            <a:endParaRPr/>
          </a:p>
          <a:p>
            <a:pPr indent="0" lvl="0" marL="0" rtl="0" algn="l">
              <a:spcBef>
                <a:spcPts val="0"/>
              </a:spcBef>
              <a:spcAft>
                <a:spcPts val="0"/>
              </a:spcAft>
              <a:buNone/>
            </a:pPr>
            <a:r>
              <a:rPr lang="en-US" sz="1200"/>
              <a:t>    "caveat": "Misma familia de modelo, política de pesos, número de clases, tamaño y política de split, seed 42. Asociación entre corridas; no hay ablación individual ni intervalo entre semillas. Los contadores dirigidos a SSTI/SSRF/XSS no explican automáticamente las mejoras: varios tienen importancia nula o negativa.",</a:t>
            </a:r>
            <a:endParaRPr/>
          </a:p>
          <a:p>
            <a:pPr indent="0" lvl="0" marL="0" rtl="0" algn="l">
              <a:spcBef>
                <a:spcPts val="0"/>
              </a:spcBef>
              <a:spcAft>
                <a:spcPts val="0"/>
              </a:spcAft>
              <a:buNone/>
            </a:pPr>
            <a:r>
              <a:rPr lang="en-US" sz="1200"/>
              <a:t>    "sources":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"08_Multiclase_Tres_datasets_58_features.pdf",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"09_Multiclase_Tres_datasets_72_features_WAMM_like.pdf",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5,</a:t>
            </a:r>
            <a:endParaRPr/>
          </a:p>
          <a:p>
            <a:pPr indent="0" lvl="0" marL="0" rtl="0" algn="l">
              <a:spcBef>
                <a:spcPts val="0"/>
              </a:spcBef>
              <a:spcAft>
                <a:spcPts val="0"/>
              </a:spcAft>
              <a:buNone/>
            </a:pPr>
            <a:r>
              <a:rPr lang="en-US" sz="1200"/>
              <a:t>          14,</a:t>
            </a:r>
            <a:endParaRPr/>
          </a:p>
          <a:p>
            <a:pPr indent="0" lvl="0" marL="0" rtl="0" algn="l">
              <a:spcBef>
                <a:spcPts val="0"/>
              </a:spcBef>
              <a:spcAft>
                <a:spcPts val="0"/>
              </a:spcAft>
              <a:buNone/>
            </a:pPr>
            <a:r>
              <a:rPr lang="en-US" sz="1200"/>
              <a:t>          17,</a:t>
            </a:r>
            <a:endParaRPr/>
          </a:p>
          <a:p>
            <a:pPr indent="0" lvl="0" marL="0" rtl="0" algn="l">
              <a:spcBef>
                <a:spcPts val="0"/>
              </a:spcBef>
              <a:spcAft>
                <a:spcPts val="0"/>
              </a:spcAft>
              <a:buNone/>
            </a:pPr>
            <a:r>
              <a:rPr lang="en-US" sz="1200"/>
              <a:t>          18,</a:t>
            </a:r>
            <a:endParaRPr/>
          </a:p>
          <a:p>
            <a:pPr indent="0" lvl="0" marL="0" rtl="0" algn="l">
              <a:spcBef>
                <a:spcPts val="0"/>
              </a:spcBef>
              <a:spcAft>
                <a:spcPts val="0"/>
              </a:spcAft>
              <a:buNone/>
            </a:pPr>
            <a:r>
              <a:rPr lang="en-US" sz="1200"/>
              <a:t>          19,</a:t>
            </a:r>
            <a:endParaRPr/>
          </a:p>
          <a:p>
            <a:pPr indent="0" lvl="0" marL="0" rtl="0" algn="l">
              <a:spcBef>
                <a:spcPts val="0"/>
              </a:spcBef>
              <a:spcAft>
                <a:spcPts val="0"/>
              </a:spcAft>
              <a:buNone/>
            </a:pPr>
            <a:r>
              <a:rPr lang="en-US" sz="1200"/>
              <a:t>          21</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"priority": 4,</a:t>
            </a:r>
            <a:endParaRPr/>
          </a:p>
          <a:p>
            <a:pPr indent="0" lvl="0" marL="0" rtl="0" algn="l">
              <a:spcBef>
                <a:spcPts val="0"/>
              </a:spcBef>
              <a:spcAft>
                <a:spcPts val="0"/>
              </a:spcAft>
              <a:buNone/>
            </a:pPr>
            <a:r>
              <a:rPr lang="en-US" sz="1200"/>
              <a:t>    "title": "Podar variables sin aporte por clase: 84 → 58",</a:t>
            </a:r>
            <a:endParaRPr/>
          </a:p>
          <a:p>
            <a:pPr indent="0" lvl="0" marL="0" rtl="0" algn="l">
              <a:spcBef>
                <a:spcPts val="0"/>
              </a:spcBef>
              <a:spcAft>
                <a:spcPts val="0"/>
              </a:spcAft>
              <a:buNone/>
            </a:pPr>
            <a:r>
              <a:rPr lang="en-US" sz="1200"/>
              <a:t>    "action": "Conservar feature si su permutation_importance_mean previa fue &gt; 0 en al menos una clase de TorpEda o Harvard. Se eliminan 26 variables (30,95%).",</a:t>
            </a:r>
            <a:endParaRPr/>
          </a:p>
          <a:p>
            <a:pPr indent="0" lvl="0" marL="0" rtl="0" algn="l">
              <a:spcBef>
                <a:spcPts val="0"/>
              </a:spcBef>
              <a:spcAft>
                <a:spcPts val="0"/>
              </a:spcAft>
              <a:buNone/>
            </a:pPr>
            <a:r>
              <a:rPr lang="en-US" sz="1200"/>
              <a:t>    "before_run": "04",</a:t>
            </a:r>
            <a:endParaRPr/>
          </a:p>
          <a:p>
            <a:pPr indent="0" lvl="0" marL="0" rtl="0" algn="l">
              <a:spcBef>
                <a:spcPts val="0"/>
              </a:spcBef>
              <a:spcAft>
                <a:spcPts val="0"/>
              </a:spcAft>
              <a:buNone/>
            </a:pPr>
            <a:r>
              <a:rPr lang="en-US" sz="1200"/>
              <a:t>    "after_run": "05",</a:t>
            </a:r>
            <a:endParaRPr/>
          </a:p>
          <a:p>
            <a:pPr indent="0" lvl="0" marL="0" rtl="0" algn="l">
              <a:spcBef>
                <a:spcPts val="0"/>
              </a:spcBef>
              <a:spcAft>
                <a:spcPts val="0"/>
              </a:spcAft>
              <a:buNone/>
            </a:pPr>
            <a:r>
              <a:rPr lang="en-US" sz="1200"/>
              <a:t>    "deltas":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"TorpEda",</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99.37,</a:t>
            </a:r>
            <a:endParaRPr/>
          </a:p>
          <a:p>
            <a:pPr indent="0" lvl="0" marL="0" rtl="0" algn="l">
              <a:spcBef>
                <a:spcPts val="0"/>
              </a:spcBef>
              <a:spcAft>
                <a:spcPts val="0"/>
              </a:spcAft>
              <a:buNone/>
            </a:pPr>
            <a:r>
              <a:rPr lang="en-US" sz="1200"/>
              <a:t>        "after_pct": 99.37,</a:t>
            </a:r>
            <a:endParaRPr/>
          </a:p>
          <a:p>
            <a:pPr indent="0" lvl="0" marL="0" rtl="0" algn="l">
              <a:spcBef>
                <a:spcPts val="0"/>
              </a:spcBef>
              <a:spcAft>
                <a:spcPts val="0"/>
              </a:spcAft>
              <a:buNone/>
            </a:pPr>
            <a:r>
              <a:rPr lang="en-US" sz="1200"/>
              <a:t>        "delta_pp": 0</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"dataset": "Harvard top14",</a:t>
            </a:r>
            <a:endParaRPr/>
          </a:p>
          <a:p>
            <a:pPr indent="0" lvl="0" marL="0" rtl="0" algn="l">
              <a:spcBef>
                <a:spcPts val="0"/>
              </a:spcBef>
              <a:spcAft>
                <a:spcPts val="0"/>
              </a:spcAft>
              <a:buNone/>
            </a:pPr>
            <a:r>
              <a:rPr lang="en-US" sz="1200"/>
              <a:t>        "metric": "F1 macro",</a:t>
            </a:r>
            <a:endParaRPr/>
          </a:p>
          <a:p>
            <a:pPr indent="0" lvl="0" marL="0" rtl="0" algn="l">
              <a:spcBef>
                <a:spcPts val="0"/>
              </a:spcBef>
              <a:spcAft>
                <a:spcPts val="0"/>
              </a:spcAft>
              <a:buNone/>
            </a:pPr>
            <a:r>
              <a:rPr lang="en-US" sz="1200"/>
              <a:t>        "before_pct": 88.83,</a:t>
            </a:r>
            <a:endParaRPr/>
          </a:p>
          <a:p>
            <a:pPr indent="0" lvl="0" marL="0" rtl="0" algn="l">
              <a:spcBef>
                <a:spcPts val="0"/>
              </a:spcBef>
              <a:spcAft>
                <a:spcPts val="0"/>
              </a:spcAft>
              <a:buNone/>
            </a:pPr>
            <a:r>
              <a:rPr lang="en-US" sz="1200"/>
              <a:t>        "after_pct": 88.81,</a:t>
            </a:r>
            <a:endParaRPr/>
          </a:p>
          <a:p>
            <a:pPr indent="0" lvl="0" marL="0" rtl="0" algn="l">
              <a:spcBef>
                <a:spcPts val="0"/>
              </a:spcBef>
              <a:spcAft>
                <a:spcPts val="0"/>
              </a:spcAft>
              <a:buNone/>
            </a:pPr>
            <a:r>
              <a:rPr lang="en-US" sz="1200"/>
              <a:t>        "delta_pp": -0.02</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"caveat": "Es simplificación sin pérdida apreciable, no mejora de exactitud. Cero por permutación puede significar redundancia. El proceso reutiliza evidencia de test de corridas previas; no demuestra validación externa independiente.",</a:t>
            </a:r>
            <a:endParaRPr/>
          </a:p>
          <a:p>
            <a:pPr indent="0" lvl="0" marL="0" rtl="0" algn="l">
              <a:spcBef>
                <a:spcPts val="0"/>
              </a:spcBef>
              <a:spcAft>
                <a:spcPts val="0"/>
              </a:spcAft>
              <a:buNone/>
            </a:pPr>
            <a:r>
              <a:rPr lang="en-US" sz="1200"/>
              <a:t>    "sources":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"04_Multiclase_Expansion_optimized84_Top14.pdf",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"file": "05_Multiclase_Poda_useful58_Top14.pdf",</a:t>
            </a:r>
            <a:endParaRPr/>
          </a:p>
          <a:p>
            <a:pPr indent="0" lvl="0" marL="0" rtl="0" algn="l">
              <a:spcBef>
                <a:spcPts val="0"/>
              </a:spcBef>
              <a:spcAft>
                <a:spcPts val="0"/>
              </a:spcAft>
              <a:buNone/>
            </a:pPr>
            <a:r>
              <a:rPr lang="en-US" sz="1200"/>
              <a:t>        "pages": [</a:t>
            </a:r>
            <a:endParaRPr/>
          </a:p>
          <a:p>
            <a:pPr indent="0" lvl="0" marL="0" rtl="0" algn="l">
              <a:spcBef>
                <a:spcPts val="0"/>
              </a:spcBef>
              <a:spcAft>
                <a:spcPts val="0"/>
              </a:spcAft>
              <a:buNone/>
            </a:pPr>
            <a:r>
              <a:rPr lang="en-US" sz="1200"/>
              <a:t>          2,</a:t>
            </a:r>
            <a:endParaRPr/>
          </a:p>
          <a:p>
            <a:pPr indent="0" lvl="0" marL="0" rtl="0" algn="l">
              <a:spcBef>
                <a:spcPts val="0"/>
              </a:spcBef>
              <a:spcAft>
                <a:spcPts val="0"/>
              </a:spcAft>
              <a:buNone/>
            </a:pPr>
            <a:r>
              <a:rPr lang="en-US" sz="1200"/>
              <a:t>          3,</a:t>
            </a:r>
            <a:endParaRPr/>
          </a:p>
          <a:p>
            <a:pPr indent="0" lvl="0" marL="0" rtl="0" algn="l">
              <a:spcBef>
                <a:spcPts val="0"/>
              </a:spcBef>
              <a:spcAft>
                <a:spcPts val="0"/>
              </a:spcAft>
              <a:buNone/>
            </a:pPr>
            <a:r>
              <a:rPr lang="en-US" sz="1200"/>
              <a:t>          4,</a:t>
            </a:r>
            <a:endParaRPr/>
          </a:p>
          <a:p>
            <a:pPr indent="0" lvl="0" marL="0" rtl="0" algn="l">
              <a:spcBef>
                <a:spcPts val="0"/>
              </a:spcBef>
              <a:spcAft>
                <a:spcPts val="0"/>
              </a:spcAft>
              <a:buNone/>
            </a:pPr>
            <a:r>
              <a:rPr lang="en-US" sz="1200"/>
              <a:t>          6</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  }</a:t>
            </a:r>
            <a:endParaRPr/>
          </a:p>
          <a:p>
            <a:pPr indent="0" lvl="0" marL="0" rtl="0" algn="l">
              <a:spcBef>
                <a:spcPts val="0"/>
              </a:spcBef>
              <a:spcAft>
                <a:spcPts val="0"/>
              </a:spcAft>
              <a:buNone/>
            </a:pPr>
            <a:r>
              <a:rPr lang="en-US" sz="1200"/>
              <a:t>]</a:t>
            </a:r>
            <a:endParaRPr/>
          </a:p>
          <a:p>
            <a:pPr indent="0" lvl="0" marL="0" rtl="0" algn="l">
              <a:spcBef>
                <a:spcPts val="0"/>
              </a:spcBef>
              <a:spcAft>
                <a:spcPts val="0"/>
              </a:spcAft>
              <a:buNone/>
            </a:pPr>
            <a:r>
              <a:rPr lang="en-US" sz="1200"/>
              <a:t>El top 5 solicitado es una selección para presentar las primeras cinco posiciones del ranking documentado. No se reentrenó ni se evaluó un modelo con solo cinco variables.</a:t>
            </a:r>
            <a:endParaRPr/>
          </a:p>
        </p:txBody>
      </p:sp>
      <p:sp>
        <p:nvSpPr>
          <p:cNvPr id="1541" name="Google Shape;1541;g3fbacf0148d_1_12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ca_rel_mc_result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3" name="Google Shape;1553;ca_rel_mc_result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Nguyen et al. (2023), Deep Learning in NLP for Anomalous HTTP Requests Detection. https://doi.org/10.23919/CNSM59352.2023.10327888</a:t>
            </a:r>
            <a:endParaRPr/>
          </a:p>
          <a:p>
            <a:pPr indent="0" lvl="0" marL="0" rtl="0" algn="l">
              <a:spcBef>
                <a:spcPts val="0"/>
              </a:spcBef>
              <a:spcAft>
                <a:spcPts val="0"/>
              </a:spcAft>
              <a:buNone/>
            </a:pPr>
            <a:r>
              <a:rPr lang="en-US"/>
              <a:t>Texto primario: https://opendl.ifip-tc6.org/db/conf/cnsm/cnsm2023/1570932667.pdf</a:t>
            </a:r>
            <a:endParaRPr/>
          </a:p>
          <a:p>
            <a:pPr indent="0" lvl="0" marL="0" rtl="0" algn="l">
              <a:spcBef>
                <a:spcPts val="0"/>
              </a:spcBef>
              <a:spcAft>
                <a:spcPts val="0"/>
              </a:spcAft>
              <a:buNone/>
            </a:pPr>
            <a:r>
              <a:rPr lang="en-US"/>
              <a:t>Sección IV-A, p.5 PDF: elimina muestras multietiqueta y duplicados y agrupa ataques similares. Ejemplo explícito: SQL Injection y OS Command Injection en Injection. Tabla II, p.6: Normal, Injection, Fake the source of Data, HTTP splitting, Path traversal, Manipulation y Scanning software. Siete clases incluido NORMAL. No se publica aquí un mapeo exhaustivo CAPEC-familia. F1 origen98,90%; transferencia destino61,50%. El promedio de F1 no se identifica como macro. No se atribuye latencia de otro trabajo citado.</a:t>
            </a:r>
            <a:endParaRPr/>
          </a:p>
          <a:p>
            <a:pPr indent="0" lvl="0" marL="0" rtl="0" algn="l">
              <a:spcBef>
                <a:spcPts val="0"/>
              </a:spcBef>
              <a:spcAft>
                <a:spcPts val="0"/>
              </a:spcAft>
              <a:buNone/>
            </a:pPr>
            <a:r>
              <a:rPr lang="en-US"/>
              <a:t>Zhou et al. (2025), E-WebGuard. https://doi.org/10.1016/j.cose.2024.104127</a:t>
            </a:r>
            <a:endParaRPr/>
          </a:p>
          <a:p>
            <a:pPr indent="0" lvl="0" marL="0" rtl="0" algn="l">
              <a:spcBef>
                <a:spcPts val="0"/>
              </a:spcBef>
              <a:spcAft>
                <a:spcPts val="0"/>
              </a:spcAft>
              <a:buNone/>
            </a:pPr>
            <a:r>
              <a:rPr lang="en-US"/>
              <a:t>Resumen editorial: https://www.sciencedirect.com/science/article/abs/pii/S0167404824004322</a:t>
            </a:r>
            <a:endParaRPr/>
          </a:p>
          <a:p>
            <a:pPr indent="0" lvl="0" marL="0" rtl="0" algn="l">
              <a:spcBef>
                <a:spcPts val="0"/>
              </a:spcBef>
              <a:spcAft>
                <a:spcPts val="0"/>
              </a:spcAft>
              <a:buNone/>
            </a:pPr>
            <a:r>
              <a:rPr lang="en-US"/>
              <a:t>CNN-Bi-LSTM con SR-BH y13clases alcanza exactitud99,63%. No se verificó F1 multiclase ni cifra operacional en el texto accesible; NV no significa que el trabajo omita necesariamente el dato.</a:t>
            </a:r>
            <a:endParaRPr/>
          </a:p>
          <a:p>
            <a:pPr indent="0" lvl="0" marL="0" rtl="0" algn="l">
              <a:spcBef>
                <a:spcPts val="0"/>
              </a:spcBef>
              <a:spcAft>
                <a:spcPts val="0"/>
              </a:spcAft>
              <a:buNone/>
            </a:pPr>
            <a:r>
              <a:rPr lang="en-US"/>
              <a:t>Este trabajo: M8, HistGradientBoosting,72características, SR-BH2020(Harvard), top-10. F1macro97,23%, exactitud97,745%. Referencias: informe09_Multiclase_Tres_datasets_72_features_WAMM_like, p.4 y p.20; tesis§8.4–8.5.</a:t>
            </a:r>
            <a:endParaRPr/>
          </a:p>
          <a:p>
            <a:pPr indent="0" lvl="0" marL="0" rtl="0" algn="l">
              <a:spcBef>
                <a:spcPts val="0"/>
              </a:spcBef>
              <a:spcAft>
                <a:spcPts val="0"/>
              </a:spcAft>
              <a:buNone/>
            </a:pPr>
            <a:r>
              <a:rPr lang="en-US"/>
              <a:t>Tiempos M8 Harvard: p50=25,19ms, p95=25,95ms,39,63peticiones/s en procesamiento individual. Incluyen preparación y predicción, no red,TLS,concurrencia ni motorreglas. El informe no declara cuántas filas se usaron en el benchmark.</a:t>
            </a:r>
            <a:endParaRPr/>
          </a:p>
          <a:p>
            <a:pPr indent="0" lvl="0" marL="0" rtl="0" algn="l">
              <a:spcBef>
                <a:spcPts val="0"/>
              </a:spcBef>
              <a:spcAft>
                <a:spcPts val="0"/>
              </a:spcAft>
              <a:buNone/>
            </a:pPr>
            <a:r>
              <a:rPr lang="en-US"/>
              <a:t>M8 divide filas80/20 y semilla42; la prueba se consultó durante desarrollo. No atribuir la separación de huellas de L2 a M8.</a:t>
            </a:r>
            <a:endParaRPr/>
          </a:p>
          <a:p>
            <a:pPr indent="0" lvl="0" marL="0" rtl="0" algn="l">
              <a:spcBef>
                <a:spcPts val="0"/>
              </a:spcBef>
              <a:spcAft>
                <a:spcPts val="0"/>
              </a:spcAft>
              <a:buNone/>
            </a:pPr>
            <a:r>
              <a:rPr lang="en-US"/>
              <a:t>Compartir SR-BH no implica tareas equivalentes: Nguyen7clases, Zhou13, M8 10. Las métricas y los protocolos también difieren.</a:t>
            </a:r>
            <a:endParaRPr/>
          </a:p>
        </p:txBody>
      </p:sp>
      <p:sp>
        <p:nvSpPr>
          <p:cNvPr id="1554" name="Google Shape;1554;ca_rel_mc_result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ca_rel_mc_ds_torp: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7" name="Google Shape;1567;ca_rel_mc_ds_torp: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Osama et al. (2026), Enhanced Web Payload Classification Using WAMM: An AI-Based Framework for Dataset Refinement and Model Evaluation. https://doi.org/10.1109/ACCESS.2026.3685450</a:t>
            </a:r>
            <a:endParaRPr/>
          </a:p>
          <a:p>
            <a:pPr indent="0" lvl="0" marL="0" rtl="0" algn="l">
              <a:spcBef>
                <a:spcPts val="0"/>
              </a:spcBef>
              <a:spcAft>
                <a:spcPts val="0"/>
              </a:spcAft>
              <a:buNone/>
            </a:pPr>
            <a:r>
              <a:rPr lang="en-US"/>
              <a:t>Manuscrito: https://arxiv.org/html/2512.23610v2</a:t>
            </a:r>
            <a:endParaRPr/>
          </a:p>
          <a:p>
            <a:pPr indent="0" lvl="0" marL="0" rtl="0" algn="l">
              <a:spcBef>
                <a:spcPts val="0"/>
              </a:spcBef>
              <a:spcAft>
                <a:spcPts val="0"/>
              </a:spcAft>
              <a:buNone/>
            </a:pPr>
            <a:r>
              <a:rPr lang="en-US"/>
              <a:t>XGBoost con TF-IDF y variables manuales. DS-Augmented-v2: F1macro86,07%, exactitud99,59%, inferencia0,049ms/muestra. Command Injection y OS Command Injection son categorías separadas en la fuente. Nuestro M8 las fusiona en CommandInjection.</a:t>
            </a:r>
            <a:endParaRPr/>
          </a:p>
          <a:p>
            <a:pPr indent="0" lvl="0" marL="0" rtl="0" algn="l">
              <a:spcBef>
                <a:spcPts val="0"/>
              </a:spcBef>
              <a:spcAft>
                <a:spcPts val="0"/>
              </a:spcAft>
              <a:buNone/>
            </a:pPr>
            <a:r>
              <a:rPr lang="en-US"/>
              <a:t>M8: informe09_Multiclase_Tres_datasets_72_features_WAMM_like, p.4 y p.20; tesis§7.5.3,8.4–8.5. HGB72características y un modelo por corpus, división por filas80/20semilla42. Resultados exploratorios.</a:t>
            </a:r>
            <a:endParaRPr/>
          </a:p>
          <a:p>
            <a:pPr indent="0" lvl="0" marL="0" rtl="0" algn="l">
              <a:spcBef>
                <a:spcPts val="0"/>
              </a:spcBef>
              <a:spcAft>
                <a:spcPts val="0"/>
              </a:spcAft>
              <a:buNone/>
            </a:pPr>
            <a:r>
              <a:rPr lang="en-US"/>
              <a:t>DS-Augmented-v2 propio:8clases, F1macro84,49%, exactitud99,425%, p50=13,68ms, p95=48,95ms,55,11peticiones/s.</a:t>
            </a:r>
            <a:endParaRPr/>
          </a:p>
          <a:p>
            <a:pPr indent="0" lvl="0" marL="0" rtl="0" algn="l">
              <a:spcBef>
                <a:spcPts val="0"/>
              </a:spcBef>
              <a:spcAft>
                <a:spcPts val="0"/>
              </a:spcAft>
              <a:buNone/>
            </a:pPr>
            <a:r>
              <a:rPr lang="en-US"/>
              <a:t>TorpEda propio:10clases nativas, F1macro98,68%, exactitud99,777%, p50=20,14ms,p95=21,33ms,49,68peticiones/s.</a:t>
            </a:r>
            <a:endParaRPr/>
          </a:p>
          <a:p>
            <a:pPr indent="0" lvl="0" marL="0" rtl="0" algn="l">
              <a:spcBef>
                <a:spcPts val="0"/>
              </a:spcBef>
              <a:spcAft>
                <a:spcPts val="0"/>
              </a:spcAft>
              <a:buNone/>
            </a:pPr>
            <a:r>
              <a:rPr lang="en-US"/>
              <a:t>Los tiempos propios incluyen parsing,decodificación,expresiones regulares,cálculo de72características y predicción individual. No incluyen red,TLS,concurrencia ni motorreglas. No se declara tamaño de muestra del benchmark. No comparar directamente estos tiempos con inferencia sola.</a:t>
            </a:r>
            <a:endParaRPr/>
          </a:p>
          <a:p>
            <a:pPr indent="0" lvl="0" marL="0" rtl="0" algn="l">
              <a:spcBef>
                <a:spcPts val="0"/>
              </a:spcBef>
              <a:spcAft>
                <a:spcPts val="0"/>
              </a:spcAft>
              <a:buNone/>
            </a:pPr>
            <a:r>
              <a:rPr lang="en-US"/>
              <a:t>En esta selección no hay antecedente multiclase de TorpEda con protocolo equivalente. Epp usa TorpEda en detección one-class, por lo que no se traslada a la comparación multiclase.</a:t>
            </a:r>
            <a:endParaRPr/>
          </a:p>
          <a:p>
            <a:pPr indent="0" lvl="0" marL="0" rtl="0" algn="l">
              <a:spcBef>
                <a:spcPts val="0"/>
              </a:spcBef>
              <a:spcAft>
                <a:spcPts val="0"/>
              </a:spcAft>
              <a:buNone/>
            </a:pPr>
            <a:r>
              <a:rPr lang="en-US"/>
              <a:t>Las ocho clases propias frente a las nueve originales en DS cambian la salida evaluada; las cifras no establecen superioridad experimental entre WAMM y M8.</a:t>
            </a:r>
            <a:endParaRPr/>
          </a:p>
        </p:txBody>
      </p:sp>
      <p:sp>
        <p:nvSpPr>
          <p:cNvPr id="1568" name="Google Shape;1568;ca_rel_mc_ds_torp: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1" name="Google Shape;15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Fusión de las antiguas diapositivas 43 y 44: método completo L2. Cada modelo XGBoost añade árboles por etapas. La huella usa 15 campos y se agrupan peticiones equivalentes antes de dividir; se toma la unión de sus etiquetas. Se calculan 90 variables y se entrenan 12 clasificadores independientes. Los umbrales son propios de cada CAPEC y se ajustan conjuntamente con el 8 % reservado. Las cuatro particiones no comparten huellas bajo esta definición, comprobado con sus seis comparaciones. En cinco corridas históricas, 42,39–42,73 % de filas de prueba compartían huella con desarrollo. Estos antecedentes explican el cambio. La agrupación no acredita simultaneidad física de los ataques en cada fila original.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Contenido técnico de la antigua diapositiva XGBoost, conservado como respaldo: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XGBoost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Clasificación multietiqueta • Configuración de L2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Cómo funciona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Cada clasificador añade árboles para reducir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errores anteriores.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 entrenó un clasificador por etiqueta CAPEC: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12 en total.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Cada etiqueta tiene su propio punto de corte.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Una petición puede recibir varias.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90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CAPEC-63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CAPEC-66</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Configuración utilizada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90 características • datos SR-BH agrupados por huella.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192 pruebas de configuración entre las 12 etiquetas.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Profundidad elegida: entre 5 y 8.</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Tasa de aprendizaje elegida: entre 0,022 y 0,0835.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Máximo 2600 árboles por etiqueta; parada tras 100 rondas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sin mejorar.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Entrenamiento en CPU: 16 hilos. Características: 8 procesos.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Semilla base: 42.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Corte propio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Corte propio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Corte propio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CAPEC-63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CAPEC-66</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CAPEC-173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Varias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etiquetas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posibles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características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no se activa ninguna etiqueta, la salida es NORMAL.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Configuración por etiqueta; ajuste conjunto de umbrales con datos reservados.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XGBoost developers. (s. f.). Introduction to Boosted Trees. https://xgboost.readthedocs.io/en/stable/tutorials/model.html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XGBoost developers. (s. f.). XGBoost Parameters. https://xgboost.readthedocs.io/en/stable/parameter.html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12 clasificadores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PROPUESTA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Notas y fuentes de esa diapositiva: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Notas previas conservadas: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Las primeras pruebas no separaron los datos de la misma forma que L2. B2 y las pruebas multiclase dividieron las filas en 80 % para desarrollo y 20 % para prueba, procurando conservar la proporción de categorías. En B2 se eligió el punto de corte usando la misma prueba con la que se informaron las métricas. Algunas decisiones multiclase también se tomaron después de observar resultados anteriores. L1 fue la primera evaluación multietiqueta y usó filas individuales. En L2 se calculó una huella o identificador a partir de quince campos HTTP: método, URI, versión, once encabezados y cuerpo. La URI identifica el recurso solicitado e incluye su ruta y, cuando existen, sus parámetros. La huella no incluye la IP ni la fecha de captura y no se usa como entrada del modelo. Las peticiones con la misma huella se reúnen en un grupo. Si una etiqueta aparece en cualquiera de ellas, se conserva para el grupo. Los grupos se distribuyen en entrenamiento, validación, ajuste de umbrales y prueba con proporciones 64/8/8/20. Las seis comparaciones posibles entre estas cuatro partes no encontraron huellas compartidas. Esto verifica coincidencias bajo la regla de quince campos; no demuestra que no existan otras semejanzas entre peticiones. En L2 cada grupo cuenta como un caso, por lo que sus resultados no son una comparación de un único cambio frente a L1.</a:t>
            </a:r>
            <a:endParaRPr/>
          </a:p>
        </p:txBody>
      </p:sp>
      <p:sp>
        <p:nvSpPr>
          <p:cNvPr id="1582" name="Google Shape;158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3f8ea753ef3_2_3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8" name="Google Shape;1628;g3f8ea753ef3_2_3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Sureda Riera y colaboradores presentan SR-BH 2020 y estudian clasificación multietiqueta con LightGBM y CatBoost. Codifican campos mediante valores ASCII y comparan una o dos fases. Sus trece salidas incluyen doce CAPEC y NORMAL. L2 conserva las doce etiquetas CAPEC, emplea un XGBoost por etiqueta y representa NORMAL como ausencia de las doce etiquetas de ataque. Además, L2 agrupa peticiones equivalentes antes de dividir los datos.</a:t>
            </a:r>
            <a:endParaRPr/>
          </a:p>
          <a:p>
            <a:pPr indent="0" lvl="0" marL="0" rtl="0" algn="l">
              <a:spcBef>
                <a:spcPts val="0"/>
              </a:spcBef>
              <a:spcAft>
                <a:spcPts val="0"/>
              </a:spcAft>
              <a:buNone/>
            </a:pPr>
            <a:r>
              <a:rPr lang="en-US"/>
              <a:t>Sureda Riera, T., Bermejo Higuera, J.-R., Bermejo Higuera, J., Martínez Herraiz, J.-J. y Sicilia Montalvo, J.-A. (2022). A new multi-label dataset for Web attacks CAPEC classification using machine learning techniques. Computers &amp; Security, 120, 102788. https://doi.org/10.1016/j.cose.2022.102788</a:t>
            </a:r>
            <a:endParaRPr/>
          </a:p>
          <a:p>
            <a:pPr indent="0" lvl="0" marL="0" rtl="0" algn="l">
              <a:spcBef>
                <a:spcPts val="0"/>
              </a:spcBef>
              <a:spcAft>
                <a:spcPts val="0"/>
              </a:spcAft>
              <a:buNone/>
            </a:pPr>
            <a:r>
              <a:rPr lang="en-US"/>
              <a:t>Texto abierto: https://reunir.unir.net/bitstream/handle/123456789/14058/new_multi-label_dataset.pdf?isAllowed=y&amp;sequence=2</a:t>
            </a:r>
            <a:endParaRPr/>
          </a:p>
          <a:p>
            <a:pPr indent="0" lvl="0" marL="0" rtl="0" algn="l">
              <a:spcBef>
                <a:spcPts val="0"/>
              </a:spcBef>
              <a:spcAft>
                <a:spcPts val="0"/>
              </a:spcAft>
              <a:buNone/>
            </a:pPr>
            <a:r>
              <a:rPr lang="en-US"/>
              <a:t>En la tabla 6, CatBoost en dos fases obtiene coincidencia exacta de 88,445 % y pérdida de Hamming de 1,703 %. Esas cifras describen su protocolo y no una evaluación equivalente a L2.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Chindrus y Caruntu comparan Random Forest, SVM, Gradient Boosting, NN, RNN, GRU y LSTM sobre ECML/PKDD 2007. Representan las etiquetas mediante un vector binario y conservan ataques simultáneos. Los modelos clásicos utilizan la estrategia de un clasificador por etiqueta, mientras que las redes producen múltiples salidas sigmoid.</a:t>
            </a:r>
            <a:endParaRPr/>
          </a:p>
          <a:p>
            <a:pPr indent="0" lvl="0" marL="0" rtl="0" algn="l">
              <a:spcBef>
                <a:spcPts val="0"/>
              </a:spcBef>
              <a:spcAft>
                <a:spcPts val="0"/>
              </a:spcAft>
              <a:buNone/>
            </a:pPr>
            <a:r>
              <a:rPr lang="en-US"/>
              <a:t>Chindrus, C. y Caruntu, C.-F. (2025). Machine Learning-Based Multilabel Classification for Web Application Firewalls: A Comparative Study. Electronics, 14(21), 4172. https://doi.org/10.3390/electronics14214172</a:t>
            </a:r>
            <a:endParaRPr/>
          </a:p>
          <a:p>
            <a:pPr indent="0" lvl="0" marL="0" rtl="0" algn="l">
              <a:spcBef>
                <a:spcPts val="0"/>
              </a:spcBef>
              <a:spcAft>
                <a:spcPts val="0"/>
              </a:spcAft>
              <a:buNone/>
            </a:pPr>
            <a:r>
              <a:rPr lang="en-US"/>
              <a:t>Texto editorial: https://www.mdpi.com/2079-9292/14/21/4172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Surendran y Ramasubramanian proponen TIPNN–ML–CAPEC sobre SR-BH 2020. TIPNN significa Temporal Inductive Path Neural Networks. La propuesta incluye selección de características y optimización de parámetros. Conserva salidas multietiqueta. La enumeración de categorías incluye doce CAPEC y NORMAL.</a:t>
            </a:r>
            <a:endParaRPr/>
          </a:p>
          <a:p>
            <a:pPr indent="0" lvl="0" marL="0" rtl="0" algn="l">
              <a:spcBef>
                <a:spcPts val="0"/>
              </a:spcBef>
              <a:spcAft>
                <a:spcPts val="0"/>
              </a:spcAft>
              <a:buNone/>
            </a:pPr>
            <a:r>
              <a:rPr lang="en-US"/>
              <a:t>Surendran, S. y Ramasubramanian, S. (2026). Multi-label common attack pattern enumeration and classification for enhanced web attack detection using optimized temporal inductive path neural networks. Scientific Reports. https://doi.org/10.1038/s41598-026-66074-3</a:t>
            </a:r>
            <a:endParaRPr/>
          </a:p>
          <a:p>
            <a:pPr indent="0" lvl="0" marL="0" rtl="0" algn="l">
              <a:spcBef>
                <a:spcPts val="0"/>
              </a:spcBef>
              <a:spcAft>
                <a:spcPts val="0"/>
              </a:spcAft>
              <a:buNone/>
            </a:pPr>
            <a:r>
              <a:rPr lang="en-US"/>
              <a:t>Texto editorial: https://www.nature.com/articles/s41598-026-66074-3</a:t>
            </a:r>
            <a:endParaRPr/>
          </a:p>
          <a:p>
            <a:pPr indent="0" lvl="0" marL="0" rtl="0" algn="l">
              <a:spcBef>
                <a:spcPts val="0"/>
              </a:spcBef>
              <a:spcAft>
                <a:spcPts val="0"/>
              </a:spcAft>
              <a:buNone/>
            </a:pPr>
            <a:r>
              <a:rPr lang="en-US"/>
              <a:t>Publicación anticipada de la versión aceptada el 2 de septiembre de 2026, anterior a la versión final de registro.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estudios difieren en representación, unidades, particiones y categorías. La tabla compara decisiones metodológicas y no establece superioridad de un algoritmo.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Detalles incorporados: Sureda Riera, tablas 5–6: 9 campos seleccionados de 19 candidatos mediante filtrado/RFECV con RF y medias ASCII. Campos: method, http_request, referer, agent, cookie, accept, body, response_http_status_message, response_content_length. Los últimos dos describen la respuesta HTTP. CatBoost dos fases: coincidencia exacta 88,445 %, Hamming 1,703 %. No se informa latencia ni peticiones/s. Su Fmeasure publicado es ponderado; no se presentó como F1 macro.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Chindrus/Caruntu 2025, tabla 3: aproximadamente 45 variables (longitudes, caracteres, entropía, flags y encabezados codificados). Tabla 8: GRU F1 micro 91,1 %, F1 macro 84,2 %, Hamming 4,9 %, coincidencia exacta 75,4 %. Se ensayan 7 algoritmos. Tabla 13 informa entrenamiento GRU 48 min, pero no cuantifica inferencia en línea/solicitudes por segundo. Ese tiempo de entrenamiento no se usó como latencia.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TIPNN, versión aceptada 2026: https://www.nature.com/articles/s41598-026-66074-3_reference.pdf . Selección APO de 9 campos entre 19; incluye campos de respuesta como Sureda. Se construyen agrupaciones temporales/sesiones mediante timestamp/IP/ID; esos identificadores no se usan como predictores. Tabla 6 reporta F1 por categoría 98,30–99,17 %, no F1 macro. Reporta 5 fold y tiempos por lotes; § 4.4 aclara que no se evaluó latencia en línea. No presentar el tiempo por lotes como capacidad de WAF.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L2: XGBoost uno contra el resto para 12 CAPEC, 90 variables manuales de la petición. NORMAL es ausencia de CAPEC. Antes del split se agrupan peticiones equivalentes mediante huella de 15 campos: 542.990 grupos; test 108.598. F1 micro 97,604 %, F1 macro 93,940 %, coincidencia exacta 96,920 %, Hamming 0,276 %. Prueba CPU local individual de 10.000 grupos: 138,929 grupos/s, p50 = 7,125 ms. Incluye preparación + predicción; excluye red, TLS y concurrencia. No sustituir grupos/s por solicitudes/s, ni confundir con inferencia por lotes.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tabla contrasta alcance, representación, etiquetas, partición y costo. Coincidir en SR-BH no hace equivalentes los experimentos.</a:t>
            </a:r>
            <a:endParaRPr/>
          </a:p>
          <a:p>
            <a:pPr indent="0" lvl="0" marL="0" rtl="0" algn="l">
              <a:spcBef>
                <a:spcPts val="0"/>
              </a:spcBef>
              <a:spcAft>
                <a:spcPts val="0"/>
              </a:spcAft>
              <a:buNone/>
            </a:pPr>
            <a:r>
              <a:t/>
            </a:r>
            <a:endParaRPr/>
          </a:p>
        </p:txBody>
      </p:sp>
      <p:sp>
        <p:nvSpPr>
          <p:cNvPr id="1629" name="Google Shape;1629;g3f8ea753ef3_2_3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2" name="Google Shape;164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L2 es la evaluación multietiqueta principal: 542.990 grupos, 90 características y 12 clasificadores XGBoost, uno por etiqueta. Cada grupo reúne peticiones que coinciden según una huella calculada con quince campos HTTP normalizados. Si una etiqueta aparecía en alguna petición del grupo, se conservaba en el grupo. Se separaron entrenamiento, validación, ajuste del límite de decisión y prueba. No hubo huellas compartidas en las seis comparaciones entre esas partes. Esto comprueba la separación con esta regla de quince campos; no demuestra que todas las peticiones parecidas sean diferentes. F1 micro combina las decisiones de presencia o ausencia de etiquetas antes de calcular F1. F1 macro calcula F1 por etiqueta y luego obtiene un promedio que pesa todas por igual. Coincidencia exacta exige acertar todas las etiquetas del grupo, también cuando es normal. Hamming es la proporción de decisiones de presencia o ausencia de etiqueta que fueron incorrectas. El modelo reconoció como normales 33.925 de 34.270 grupos normales, es decir, 98,9933 %. La meta de al menos 99 % no se alcanzó: faltaron tres aciertos. L1 obtuvo F1 micro de 95,329 % y macro de 83,498 %, pero esa diferencia no mide el efecto de una sola mejora: cambiaron los datos, la agrupación, las características y la forma de evaluar. Datos: Sureda Riera et al. (2022), https://doi.org/10.7910/DVN/OGOIXX y https://doi.org/10.1016/j.cose.2022.102788. Modelo: Chen y Guestrin (2016), https://doi.org/10.1145/2939672.2939785. Métricas: Tsoumakas y Katakis (2007), https://doi.org/10.4018/jdwm.2007070101. Las métricas mostradas son resultados propios.</a:t>
            </a:r>
            <a:endParaRPr/>
          </a:p>
        </p:txBody>
      </p:sp>
      <p:sp>
        <p:nvSpPr>
          <p:cNvPr id="1643" name="Google Shape;164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fbacf0148d_1_13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8" name="Google Shape;1688;g3fbacf0148d_1_13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 mantienen los resultados de L2 solicitados por el usuario. Fuente: presentacionEditable.pptx, diapositivas 26, 33, 38, 39 y 41 y sus notas. L2: 90 características, cuatro particiones 64/8/8/20, agrupación por 15 campos HTTP, 12 CAPEC, 192 trials, semilla42. No se cuantifica una mejora causal por decisión: no hay ablación de L2 en archivos suministrados. Los informes TEX utilizan 30 features y 181563 filas test, con otra unidad de evaluación. No hay evidencia para afirmar que agrupar o ampliar por sí solos producen los puntos de diferencia.</a:t>
            </a:r>
            <a:endParaRPr/>
          </a:p>
          <a:p>
            <a:pPr indent="0" lvl="0" marL="0" rtl="0" algn="l">
              <a:spcBef>
                <a:spcPts val="0"/>
              </a:spcBef>
              <a:spcAft>
                <a:spcPts val="0"/>
              </a:spcAft>
              <a:buNone/>
            </a:pPr>
            <a:r>
              <a:rPr lang="en-US" sz="1200"/>
              <a:t>El top 5 solicitado es una selección para presentar las primeras cinco posiciones del ranking documentado. No se reentrenó ni se evaluó un modelo con solo cinco variables.</a:t>
            </a:r>
            <a:endParaRPr/>
          </a:p>
        </p:txBody>
      </p:sp>
      <p:sp>
        <p:nvSpPr>
          <p:cNvPr id="1689" name="Google Shape;1689;g3fbacf0148d_1_13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1" name="Google Shape;170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Cada caso medido en L2 es un grupo de peticiones. El procesamiento completo prepara el texto HTTP, calcula las características y hace la predicción. Se midió uno por vez y también por lotes, es decir, varios casos procesados juntos. Procesar por lotes no significa recibir peticiones simultáneas por la red. La fila de solo predicción parte de características ya calculadas; no incluye el trabajo previo y por eso no representa la capacidad completa del sistema. La mediana de 7,125 ms divide los tiempos en dos mitades; p95 de 7,627 ms significa que aproximadamente el 95 % de los casos tardó hasta ese valor. El p99 fue de 8,083 ms. El modelo ocupó 12,933 MiB. L2 tuvo 16 CPU asignadas. La memoria máxima registrada por el programa fue de 4.098,6 MiB de RSS, una medida de memoria del proceso. El uso registrado fue 49,862 % de los 32 núcleos lógicos visibles: aproximadamente 99,72 % de los 16 asignados. Slurm informó 4,870 GiB de MaxRSS; es otra medición y no se intercambia con el valor del programa. En M8 se registraron p95 de 21,33 ms en TorpEda, 25,95 ms en SR-BH (llamado Harvard en los informes) y 48,95 ms en DS-Augmented-v2; no se indicó cuántas filas se usaron para medir esos tiempos. Las pruebas fueron locales. No incluyeron la red, el cifrado TLS, peticiones simultáneas ni un motor de reglas. Tampoco midieron un WAF desplegado.</a:t>
            </a:r>
            <a:endParaRPr/>
          </a:p>
        </p:txBody>
      </p:sp>
      <p:sp>
        <p:nvSpPr>
          <p:cNvPr id="1702" name="Google Shape;170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ca_rel_ml_result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7" name="Google Shape;1737;ca_rel_ml_results: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Sureda Riera y colaboradores presentan SR-BH 2020 y estudian clasificación multietiqueta con LightGBM y CatBoost. Codifican campos mediante valores ASCII y comparan una o dos fases. Sus trece salidas incluyen doce CAPEC y NORMAL. L2 conserva las doce etiquetas CAPEC, emplea un XGBoost por etiqueta y representa NORMAL como ausencia de las doce etiquetas de ataque. Además, L2 agrupa peticiones equivalentes antes de dividir los datos.</a:t>
            </a:r>
            <a:endParaRPr/>
          </a:p>
          <a:p>
            <a:pPr indent="0" lvl="0" marL="0" rtl="0" algn="l">
              <a:spcBef>
                <a:spcPts val="0"/>
              </a:spcBef>
              <a:spcAft>
                <a:spcPts val="0"/>
              </a:spcAft>
              <a:buNone/>
            </a:pPr>
            <a:r>
              <a:rPr lang="en-US"/>
              <a:t>Sureda Riera, T., Bermejo Higuera, J.-R., Bermejo Higuera, J., Martínez Herraiz, J.-J. y Sicilia Montalvo, J.-A. (2022). A new multi-label dataset for Web attacks CAPEC classification using machine learning techniques. Computers &amp; Security, 120, 102788. https://doi.org/10.1016/j.cose.2022.102788</a:t>
            </a:r>
            <a:endParaRPr/>
          </a:p>
          <a:p>
            <a:pPr indent="0" lvl="0" marL="0" rtl="0" algn="l">
              <a:spcBef>
                <a:spcPts val="0"/>
              </a:spcBef>
              <a:spcAft>
                <a:spcPts val="0"/>
              </a:spcAft>
              <a:buNone/>
            </a:pPr>
            <a:r>
              <a:rPr lang="en-US"/>
              <a:t>Texto abierto: https://reunir.unir.net/bitstream/handle/123456789/14058/new_multi-label_dataset.pdf?isAllowed=y&amp;sequence=2</a:t>
            </a:r>
            <a:endParaRPr/>
          </a:p>
          <a:p>
            <a:pPr indent="0" lvl="0" marL="0" rtl="0" algn="l">
              <a:spcBef>
                <a:spcPts val="0"/>
              </a:spcBef>
              <a:spcAft>
                <a:spcPts val="0"/>
              </a:spcAft>
              <a:buNone/>
            </a:pPr>
            <a:r>
              <a:rPr lang="en-US"/>
              <a:t>En la tabla 6, CatBoost en dos fases obtiene coincidencia exacta de 88,445 % y pérdida de Hamming de 1,703 %. Esas cifras describen su protocolo y no una evaluación equivalente a L2.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Chindrus y Caruntu comparan Random Forest, SVM, Gradient Boosting, NN, RNN, GRU y LSTM sobre ECML/PKDD 2007. Representan las etiquetas mediante un vector binario y conservan ataques simultáneos. Los modelos clásicos utilizan la estrategia de un clasificador por etiqueta, mientras que las redes producen múltiples salidas sigmoid.</a:t>
            </a:r>
            <a:endParaRPr/>
          </a:p>
          <a:p>
            <a:pPr indent="0" lvl="0" marL="0" rtl="0" algn="l">
              <a:spcBef>
                <a:spcPts val="0"/>
              </a:spcBef>
              <a:spcAft>
                <a:spcPts val="0"/>
              </a:spcAft>
              <a:buNone/>
            </a:pPr>
            <a:r>
              <a:rPr lang="en-US"/>
              <a:t>Chindrus, C. y Caruntu, C.-F. (2025). Machine Learning-Based Multilabel Classification for Web Application Firewalls: A Comparative Study. Electronics, 14(21), 4172. https://doi.org/10.3390/electronics14214172</a:t>
            </a:r>
            <a:endParaRPr/>
          </a:p>
          <a:p>
            <a:pPr indent="0" lvl="0" marL="0" rtl="0" algn="l">
              <a:spcBef>
                <a:spcPts val="0"/>
              </a:spcBef>
              <a:spcAft>
                <a:spcPts val="0"/>
              </a:spcAft>
              <a:buNone/>
            </a:pPr>
            <a:r>
              <a:rPr lang="en-US"/>
              <a:t>Texto editorial: https://www.mdpi.com/2079-9292/14/21/4172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Surendran y Ramasubramanian proponen TIPNN–ML–CAPEC sobre SR-BH 2020. TIPNN significa Temporal Inductive Path Neural Networks. La propuesta incluye selección de características y optimización de parámetros. Conserva salidas multietiqueta. La enumeración de categorías incluye doce CAPEC y NORMAL.</a:t>
            </a:r>
            <a:endParaRPr/>
          </a:p>
          <a:p>
            <a:pPr indent="0" lvl="0" marL="0" rtl="0" algn="l">
              <a:spcBef>
                <a:spcPts val="0"/>
              </a:spcBef>
              <a:spcAft>
                <a:spcPts val="0"/>
              </a:spcAft>
              <a:buNone/>
            </a:pPr>
            <a:r>
              <a:rPr lang="en-US"/>
              <a:t>Surendran, S. y Ramasubramanian, S. (2026). Multi-label common attack pattern enumeration and classification for enhanced web attack detection using optimized temporal inductive path neural networks. Scientific Reports. https://doi.org/10.1038/s41598-026-66074-3</a:t>
            </a:r>
            <a:endParaRPr/>
          </a:p>
          <a:p>
            <a:pPr indent="0" lvl="0" marL="0" rtl="0" algn="l">
              <a:spcBef>
                <a:spcPts val="0"/>
              </a:spcBef>
              <a:spcAft>
                <a:spcPts val="0"/>
              </a:spcAft>
              <a:buNone/>
            </a:pPr>
            <a:r>
              <a:rPr lang="en-US"/>
              <a:t>Texto editorial: https://www.nature.com/articles/s41598-026-66074-3</a:t>
            </a:r>
            <a:endParaRPr/>
          </a:p>
          <a:p>
            <a:pPr indent="0" lvl="0" marL="0" rtl="0" algn="l">
              <a:spcBef>
                <a:spcPts val="0"/>
              </a:spcBef>
              <a:spcAft>
                <a:spcPts val="0"/>
              </a:spcAft>
              <a:buNone/>
            </a:pPr>
            <a:r>
              <a:rPr lang="en-US"/>
              <a:t>Publicación anticipada de la versión aceptada el 2 de septiembre de 2026, anterior a la versión final de registro.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estudios difieren en representación, unidades, particiones y categorías. La tabla compara decisiones metodológicas y no establece superioridad de un algoritmo.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Detalles incorporados: Sureda Riera, tablas 5–6: 9 campos seleccionados de 19 candidatos mediante filtrado/RFECV con RF y medias ASCII. Campos: method, http_request, referer, agent, cookie, accept, body, response_http_status_message, response_content_length. Los últimos dos describen la respuesta HTTP. CatBoost dos fases: coincidencia exacta 88,445 %, Hamming 1,703 %. No se informa latencia ni peticiones/s. Su Fmeasure publicado es ponderado; no se presentó como F1 macro.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Chindrus/Caruntu 2025, tabla 3: aproximadamente 45 variables (longitudes, caracteres, entropía, flags y encabezados codificados). Tabla 8: GRU F1 micro 91,1 %, F1 macro 84,2 %, Hamming 4,9 %, coincidencia exacta 75,4 %. Se ensayan 7 algoritmos. Tabla 13 informa entrenamiento GRU 48 min, pero no cuantifica inferencia en línea/solicitudes por segundo. Ese tiempo de entrenamiento no se usó como latencia.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TIPNN, versión aceptada 2026: https://www.nature.com/articles/s41598-026-66074-3_reference.pdf . Selección APO de 9 campos entre 19; incluye campos de respuesta como Sureda. Se construyen agrupaciones temporales/sesiones mediante timestamp/IP/ID; esos identificadores no se usan como predictores. Tabla 6 reporta F1 por categoría 98,30–99,17 %, no F1 macro. Reporta 5 fold y tiempos por lotes; § 4.4 aclara que no se evaluó latencia en línea. No presentar el tiempo por lotes como capacidad de WAF.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L2: XGBoost uno contra el resto para 12 CAPEC, 90 variables manuales de la petición. NORMAL es ausencia de CAPEC. Antes del split se agrupan peticiones equivalentes mediante huella de 15 campos: 542.990 grupos; test 108.598. F1 micro 97,604 %, F1 macro 93,940 %, coincidencia exacta 96,920 %, Hamming 0,276 %. Prueba CPU local individual de 10.000 grupos: 138,929 grupos/s, p50 = 7,125 ms. Incluye preparación + predicción; excluye red, TLS y concurrencia. No sustituir grupos/s por solicitudes/s, ni confundir con inferencia por lotes.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tabla contrasta alcance, representación, etiquetas, partición y costo. Coincidir en SR-BH no hace equivalentes los experimentos.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Precisión conservada de la anterior diapositiva de síntesis: Sureda Riera et al., CatBoost en dos fases, informa F1 ponderado de 88,912 % (tabla 6; promedio definido en §2.1.3). Ese promedio no es directamente comparable con F1 micro o macro de L2. Las unidades de evaluación y particiones también difieren.</a:t>
            </a:r>
            <a:endParaRPr/>
          </a:p>
          <a:p>
            <a:pPr indent="0" lvl="0" marL="0" rtl="0" algn="l">
              <a:spcBef>
                <a:spcPts val="0"/>
              </a:spcBef>
              <a:spcAft>
                <a:spcPts val="0"/>
              </a:spcAft>
              <a:buNone/>
            </a:pPr>
            <a:r>
              <a:t/>
            </a:r>
            <a:endParaRPr/>
          </a:p>
        </p:txBody>
      </p:sp>
      <p:sp>
        <p:nvSpPr>
          <p:cNvPr id="1738" name="Google Shape;1738;ca_rel_ml_results: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3fbacf0148d_1_10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1" name="Google Shape;1751;g3fbacf0148d_1_10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aporte del trabajo es reunir la preparación de datos, los modelos y las pruebas en un proceso que se pueda revisar. Se usaron algoritmos y conjuntos de datos que ya existían. Se adaptaron las características HTTP, se estudiaron peticiones repetidas y se midieron resultados y tiempos. Los siete objetivos específicos se revisaron con los resultados obtenidos. Esto no significa que se haya alcanzado cada meta numérica: en L2 no se llegó al 99 % de reconocimiento de grupos normales. La organización de campos HTTP es una base compartida. Las características y las etiquetas se adaptan al enfoque y la corrida; no se afirma que exista un único vector numérico en todos los experimentos.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08282026v4.pdf, PDF91–92/imp75–76 y PDF95–96/imp79–80. En L2 la huella usa15 campos y la unión de etiquetas ocurre antes de la separación. Se conservan configuraciones, particiones, predicciones, métricas y modelos. No se afirma que se haya implementado un WAF de producción.</a:t>
            </a:r>
            <a:endParaRPr/>
          </a:p>
        </p:txBody>
      </p:sp>
      <p:sp>
        <p:nvSpPr>
          <p:cNvPr id="1752" name="Google Shape;1752;g3fbacf0148d_1_10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4" name="Google Shape;176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La separación de filas de entrenamiento y prueba se realizó. Esto no implica que todas las peticiones representadas por esas filas fueran distintas: las repeticiones ya presentes en SR-BH, denominado Harvard en los informes, podían aparecer en ambas partes. L2 agrupó por una huella de quince campos antes de separar los datos y verificó que no hubiera huellas compartidas entre entrenamiento, validación, ajuste de límites y prueba. Es una corrección metodológica de las coincidencias bajo esa regla. Otra cuestión distinta es que algunas decisiones de desarrollo anteriores se tomaron tras observar resultados de prueba, como el límite de decisión de B2. Esto no afirma que las mismas filas se usaran para ajustar los árboles y para evaluarlos. Las cifras históricas requieren confirmación con una prueba independiente. En L2 se encontraron 288 grupos con diferencias de etiquetas; 284 incluían registros marcados como normales y como ataques. No se cuantificó cuánto cambiaron los porcentajes debido a cada problema. Tampoco se midieron red, cifrado ni muchas peticiones simultáneas durante un tiempo prolongado.</a:t>
            </a:r>
            <a:endParaRPr/>
          </a:p>
        </p:txBody>
      </p:sp>
      <p:sp>
        <p:nvSpPr>
          <p:cNvPr id="1765" name="Google Shape;176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fbacf0148d_1_8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0" name="Google Shape;1800;g3fbacf0148d_1_8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Conclusiones interpretativas, sin repetir las cifras de resultados.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Detección: la comparación CSIC entre OCSVM y RF cambia tanto algoritmo como información de aprendizaje; no aislar causalmente uno de los factores. B2 conserva la limitación de umbral explorado sobre prueba.</a:t>
            </a:r>
            <a:endParaRPr/>
          </a:p>
          <a:p>
            <a:pPr indent="0" lvl="0" marL="0" rtl="0" algn="l">
              <a:spcBef>
                <a:spcPts val="0"/>
              </a:spcBef>
              <a:spcAft>
                <a:spcPts val="0"/>
              </a:spcAft>
              <a:buNone/>
            </a:pPr>
            <a:r>
              <a:rPr lang="en-US"/>
              <a:t>Características y clases: las ablaciones y taxonomías modificadas muestran efectos condicionados por el corpus. No concluir que más variables siempre ayudan ni que agrupar clases mejora el detalle de clasificación.</a:t>
            </a:r>
            <a:endParaRPr/>
          </a:p>
          <a:p>
            <a:pPr indent="0" lvl="0" marL="0" rtl="0" algn="l">
              <a:spcBef>
                <a:spcPts val="0"/>
              </a:spcBef>
              <a:spcAft>
                <a:spcPts val="0"/>
              </a:spcAft>
              <a:buNone/>
            </a:pPr>
            <a:r>
              <a:rPr lang="en-US"/>
              <a:t>L2: cero huellas compartidas entre las cuatro particiones evita que la misma unidad agrupada aparezca en conjuntos distintos. Los cambios de representación, agrupación, ajuste y protocolo se aplican juntos: falta ablación para atribuir una ganancia a cada uno.</a:t>
            </a:r>
            <a:endParaRPr/>
          </a:p>
          <a:p>
            <a:pPr indent="0" lvl="0" marL="0" rtl="0" algn="l">
              <a:spcBef>
                <a:spcPts val="0"/>
              </a:spcBef>
              <a:spcAft>
                <a:spcPts val="0"/>
              </a:spcAft>
              <a:buNone/>
            </a:pPr>
            <a:r>
              <a:rPr lang="en-US"/>
              <a:t>Costo: las mediciones locales no incluyen red, TLS, concurrencia ni un WAF integrado. No demuestran competitividad con un WAF por firmas en producción.</a:t>
            </a:r>
            <a:endParaRPr/>
          </a:p>
          <a:p>
            <a:pPr indent="0" lvl="0" marL="0" rtl="0" algn="l">
              <a:spcBef>
                <a:spcPts val="0"/>
              </a:spcBef>
              <a:spcAft>
                <a:spcPts val="0"/>
              </a:spcAft>
              <a:buNone/>
            </a:pPr>
            <a:r>
              <a:rPr lang="en-US"/>
              <a:t>Las cifras y fuentes permanecen en sus diapositivas de resultados y notas.</a:t>
            </a:r>
            <a:endParaRPr/>
          </a:p>
          <a:p>
            <a:pPr indent="0" lvl="0" marL="0" rtl="0" algn="l">
              <a:spcBef>
                <a:spcPts val="0"/>
              </a:spcBef>
              <a:spcAft>
                <a:spcPts val="0"/>
              </a:spcAft>
              <a:buNone/>
            </a:pPr>
            <a:r>
              <a:t/>
            </a:r>
            <a:endParaRPr/>
          </a:p>
        </p:txBody>
      </p:sp>
      <p:sp>
        <p:nvSpPr>
          <p:cNvPr id="1801" name="Google Shape;1801;g3fbacf0148d_1_8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3" name="Google Shape;181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En nuevas pruebas conviene cambiar una decisión a la vez, por ejemplo la forma de separar los datos, y repetir el entrenamiento y la evaluación con distintas divisiones. L2 ya agrupa las peticiones por huella antes de dividir los datos; esa precaución puede aplicarse a las repeticiones futuras de las pruebas anteriores. La prueba entre conjuntos propuesta consiste en entrenar con un conjunto de datos y evaluar ese mismo modelo con otro, sin volver a entrenarlo. Requiere características y etiquetas compatibles. No significa usar las mismas filas para entrenar y evaluar, ni ampliar obligatoriamente el dataset original. Para funcionar con tráfico en vivo también habría que medir red, cifrado y registro de actividad. La primera integración debería guardar decisiones para revisarlas antes de bloquear peticiones.</a:t>
            </a:r>
            <a:endParaRPr/>
          </a:p>
        </p:txBody>
      </p:sp>
      <p:sp>
        <p:nvSpPr>
          <p:cNvPr id="1814" name="Google Shape;181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SLIDES_API212685893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9" name="Google Shape;1849;SLIDES_API212685893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0" name="Google Shape;1850;SLIDES_API212685893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8" name="Shape 1868"/>
        <p:cNvGrpSpPr/>
        <p:nvPr/>
      </p:nvGrpSpPr>
      <p:grpSpPr>
        <a:xfrm>
          <a:off x="0" y="0"/>
          <a:ext cx="0" cy="0"/>
          <a:chOff x="0" y="0"/>
          <a:chExt cx="0" cy="0"/>
        </a:xfrm>
      </p:grpSpPr>
      <p:sp>
        <p:nvSpPr>
          <p:cNvPr id="1869" name="Google Shape;1869;g3f8ea753ef3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0" name="Google Shape;1870;g3f8ea753ef3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contenido compara el detalle de las salidas de un detector, no algoritmos exclusivos de aprendizaje automático. La salida puede ser binaria, una clase o varias etiquetas. En multietiqueta, cero etiquetas de ataque representa la ausencia de etiquetas activadas, según la convención de la tarea. Las categorías de reglas también pueden combinarse para producir diferentes salidas.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Las señales de la petición constituyen la evidencia utilizada para construir la salida. Su interpretación y la política determinan qué acciones siguen. Detección, clasificación y actuación son conceptos diferentes. No se equipara firmas con multiclase o multietiqueta ni anomalías con una salida binaria obligatoria.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Fuentes: https://scikit-learn.org/stable/modules/multiclass.html ; https://nvlpubs.nist.gov/nistpubs/Legacy/SP/nistspecialpublication800-94.pdf ; https://coreruleset.org/docs/2-how-crs-works/2-1-anomaly_scoring/</a:t>
            </a:r>
            <a:endParaRPr/>
          </a:p>
        </p:txBody>
      </p:sp>
      <p:sp>
        <p:nvSpPr>
          <p:cNvPr id="1871" name="Google Shape;1871;g3f8ea753ef3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fbacf0148d_1_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6" name="Google Shape;1886;g3fbacf0148d_1_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diapositiva agrupa firmas y reglas positivas dentro de detección basada en reglas. Son mecanismos relacionados, con criterios diferentes: las firmas describen patrones asociados a ataques y las reglas positivas (lista blanca) describen condiciones permitidas de una entrada. Ambos pueden expresarse mediante reglas predefinidas. Incumplir una regla positiva puede indicar una entrada inválida o fuera de política, sin demostrar necesariamente un ataque.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Las capacidades de aprender y la ausencia de entrenamiento se comparan aquí para reglas predefinidas. Existen sistemas que generan o ajustan reglas a partir de datos y combinan ambos enfoques. La generación de etiquetas por reglas requiere categorías y una política para combinar coincidencias. Una o varias reglas activadas no demuestran necesariamente uno o varios ataques.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ML no supone un único algoritmo ni exclusivamente detección por anomalías. Aprender normalidad depende del método, aprender de normales y ataques corresponde al enfoque supervisado, e informar tipos de ataque requiere una tarea y etiquetas apropiadas. Se omite la denominación One-Class de la fila conceptual para centrar la comparación en la capacidad.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Fuentes primarias:</a:t>
            </a:r>
            <a:endParaRPr/>
          </a:p>
          <a:p>
            <a:pPr indent="0" lvl="0" marL="0" rtl="0" algn="l">
              <a:spcBef>
                <a:spcPts val="0"/>
              </a:spcBef>
              <a:spcAft>
                <a:spcPts val="0"/>
              </a:spcAft>
              <a:buNone/>
            </a:pPr>
            <a:r>
              <a:rPr lang="en-US" sz="1200"/>
              <a:t>OWASP Virtual Patching Cheat Sheet, Positive Security y Negative Security: https://cheatsheetseries.owasp.org/cheatsheets/Virtual_Patching_Cheat_Sheet.html</a:t>
            </a:r>
            <a:endParaRPr/>
          </a:p>
          <a:p>
            <a:pPr indent="0" lvl="0" marL="0" rtl="0" algn="l">
              <a:spcBef>
                <a:spcPts val="0"/>
              </a:spcBef>
              <a:spcAft>
                <a:spcPts val="0"/>
              </a:spcAft>
              <a:buNone/>
            </a:pPr>
            <a:r>
              <a:rPr lang="en-US" sz="1200"/>
              <a:t>OWASP Input Validation Cheat Sheet: https://cheatsheetseries.owasp.org/cheatsheets/Input_Validation_Cheat_Sheet.html</a:t>
            </a:r>
            <a:endParaRPr/>
          </a:p>
          <a:p>
            <a:pPr indent="0" lvl="0" marL="0" rtl="0" algn="l">
              <a:spcBef>
                <a:spcPts val="0"/>
              </a:spcBef>
              <a:spcAft>
                <a:spcPts val="0"/>
              </a:spcAft>
              <a:buNone/>
            </a:pPr>
            <a:r>
              <a:rPr lang="en-US" sz="1200"/>
              <a:t>OWASP CRS, coincidencias y decisión: https://coreruleset.org/docs/2-how-crs-works/2-1-anomaly_scoring/</a:t>
            </a:r>
            <a:endParaRPr/>
          </a:p>
          <a:p>
            <a:pPr indent="0" lvl="0" marL="0" rtl="0" algn="l">
              <a:spcBef>
                <a:spcPts val="0"/>
              </a:spcBef>
              <a:spcAft>
                <a:spcPts val="0"/>
              </a:spcAft>
              <a:buNone/>
            </a:pPr>
            <a:r>
              <a:rPr lang="en-US" sz="1200"/>
              <a:t>scikit-learn, aprendizaje supervisado y detección de novedades: https://scikit-learn.org/stable/supervised_learning.html y https://scikit-learn.org/stable/modules/outlier_detection.html</a:t>
            </a:r>
            <a:endParaRPr/>
          </a:p>
        </p:txBody>
      </p:sp>
      <p:sp>
        <p:nvSpPr>
          <p:cNvPr id="1887" name="Google Shape;1887;g3fbacf0148d_1_1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3" name="Google Shape;19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7" name="Shape 1927"/>
        <p:cNvGrpSpPr/>
        <p:nvPr/>
      </p:nvGrpSpPr>
      <p:grpSpPr>
        <a:xfrm>
          <a:off x="0" y="0"/>
          <a:ext cx="0" cy="0"/>
          <a:chOff x="0" y="0"/>
          <a:chExt cx="0" cy="0"/>
        </a:xfrm>
      </p:grpSpPr>
      <p:sp>
        <p:nvSpPr>
          <p:cNvPr id="1928" name="Google Shape;1928;ca_formula_on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9" name="Google Shape;1929;ca_formula_one: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Estas fórmulas explican el mecanismo de los algoritmos del anexo. No afirman hiperparámetros de una corrida concreta.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OCSVM: g(x) suma las similitudes con los vectores de soporte ponderadas por α y resta ρ. Un valor negativo queda fuera de la región aprendida de normalidad. La función g no es una probabilidad. En scikit-learn, decision_function = score_samples − offset_, con ρ = offset_ = −intercept_.</a:t>
            </a:r>
            <a:endParaRPr/>
          </a:p>
          <a:p>
            <a:pPr indent="0" lvl="0" marL="0" rtl="0" algn="l">
              <a:spcBef>
                <a:spcPts val="0"/>
              </a:spcBef>
              <a:spcAft>
                <a:spcPts val="0"/>
              </a:spcAft>
              <a:buNone/>
            </a:pPr>
            <a:r>
              <a:rPr lang="en-US"/>
              <a:t>Entrenamiento: min ½‖w‖² + (1/(νn))∑ᵢξᵢ − ρ, sujeto a wᵀφ(xᵢ) ≥ ρ − ξᵢ y ξᵢ ≥ 0. n es el tamaño de entrenamiento, φ la transformación implícita y ξ las holguras. ν limita superiormente la fracción de errores de entrenamiento e inferiormente la de vectores de soporte; no equivale al porcentaje de ataques de prueba.</a:t>
            </a:r>
            <a:endParaRPr/>
          </a:p>
          <a:p>
            <a:pPr indent="0" lvl="0" marL="0" rtl="0" algn="l">
              <a:spcBef>
                <a:spcPts val="0"/>
              </a:spcBef>
              <a:spcAft>
                <a:spcPts val="0"/>
              </a:spcAft>
              <a:buNone/>
            </a:pPr>
            <a:r>
              <a:rPr lang="en-US"/>
              <a:t>Fuente: Schölkopf et al. (2001), ecuaciones 3.3–3.10. https://alex.smola.org/papers/2001/SchPlaShaSmoetal01.pdf</a:t>
            </a:r>
            <a:endParaRPr/>
          </a:p>
          <a:p>
            <a:pPr indent="0" lvl="0" marL="0" rtl="0" algn="l">
              <a:spcBef>
                <a:spcPts val="0"/>
              </a:spcBef>
              <a:spcAft>
                <a:spcPts val="0"/>
              </a:spcAft>
              <a:buNone/>
            </a:pPr>
            <a:r>
              <a:rPr lang="en-US"/>
              <a:t>https://scikit-learn.org/stable/modules/generated/sklearn.svm.OneClassSVM.html</a:t>
            </a:r>
            <a:endParaRPr/>
          </a:p>
          <a:p>
            <a:pPr indent="0" lvl="0" marL="0" rtl="0" algn="l">
              <a:spcBef>
                <a:spcPts val="0"/>
              </a:spcBef>
              <a:spcAft>
                <a:spcPts val="0"/>
              </a:spcAft>
              <a:buNone/>
            </a:pPr>
            <a:r>
              <a:rPr lang="en-US"/>
              <a:t>https://scikit-learn.org/stable/modules/generated/sklearn.metrics.pairwise.rbf_kernel.html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Isolation Forest: la expresión exp[−ln(2)·h̄/c] es igual a 2 elevado a −h̄/c. Primero se promedian longitudes; después se calcula el puntaje. hₜ incluye la profundidad y la corrección por los casos que siguen juntos en la hoja. c(ψ)=2H(ψ−1)−2(ψ−1)/ψ, para ψ≥2; H(m)=∑ⱼ₌₁ᵐ1/j y c(1)=0. En scikit-learn se aproxima H cuando corresponde. score_samples=−s con el mismo cálculo de caminos y normalización; decision_function=score_samples−offset_. Un decision_function negativo indica anomalía. No se presupone contamination ni un umbral numérico de la corrida.</a:t>
            </a:r>
            <a:endParaRPr/>
          </a:p>
          <a:p>
            <a:pPr indent="0" lvl="0" marL="0" rtl="0" algn="l">
              <a:spcBef>
                <a:spcPts val="0"/>
              </a:spcBef>
              <a:spcAft>
                <a:spcPts val="0"/>
              </a:spcAft>
              <a:buNone/>
            </a:pPr>
            <a:r>
              <a:rPr lang="en-US"/>
              <a:t>Fuentes: Liu, Ting y Zhou, Isolation-based Anomaly Detection, ecuaciones 1–2, algoritmo 3 y apéndice A. https://cs.nju.edu.cn/zhouzh/zhouzh.files/publication/tkdd11.pdf</a:t>
            </a:r>
            <a:endParaRPr/>
          </a:p>
          <a:p>
            <a:pPr indent="0" lvl="0" marL="0" rtl="0" algn="l">
              <a:spcBef>
                <a:spcPts val="0"/>
              </a:spcBef>
              <a:spcAft>
                <a:spcPts val="0"/>
              </a:spcAft>
              <a:buNone/>
            </a:pPr>
            <a:r>
              <a:rPr lang="en-US"/>
              <a:t>https://scikit-learn.org/stable/modules/generated/sklearn.ensemble.IsolationForest.html</a:t>
            </a:r>
            <a:endParaRPr/>
          </a:p>
          <a:p>
            <a:pPr indent="0" lvl="0" marL="0" rtl="0" algn="l">
              <a:spcBef>
                <a:spcPts val="0"/>
              </a:spcBef>
              <a:spcAft>
                <a:spcPts val="0"/>
              </a:spcAft>
              <a:buNone/>
            </a:pPr>
            <a:r>
              <a:rPr lang="en-US"/>
              <a:t>https://github.com/scikit-learn/scikit-learn/blob/afe5bcd80/sklearn/ensemble/_iforest.py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Notación de las ecuaciones: S representa los índices de los vectores de soporte; M o M_k, las rondas del modelo correspondiente; n, la cantidad de casos. La forma 2 elevada a −h̄/c es equivalente a exp[−ln(2)·h̄/c].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LaTeX de las ecuaciones de esta página:</a:t>
            </a:r>
            <a:endParaRPr/>
          </a:p>
          <a:p>
            <a:pPr indent="0" lvl="0" marL="0" rtl="0" algn="l">
              <a:spcBef>
                <a:spcPts val="0"/>
              </a:spcBef>
              <a:spcAft>
                <a:spcPts val="0"/>
              </a:spcAft>
              <a:buNone/>
            </a:pPr>
            <a:r>
              <a:rPr lang="en-US"/>
              <a:t>OCSVM</a:t>
            </a:r>
            <a:endParaRPr/>
          </a:p>
          <a:p>
            <a:pPr indent="0" lvl="0" marL="0" rtl="0" algn="l">
              <a:spcBef>
                <a:spcPts val="0"/>
              </a:spcBef>
              <a:spcAft>
                <a:spcPts val="0"/>
              </a:spcAft>
              <a:buNone/>
            </a:pPr>
            <a:r>
              <a:rPr lang="en-US"/>
              <a:t>\begin{aligned}</a:t>
            </a:r>
            <a:endParaRPr/>
          </a:p>
          <a:p>
            <a:pPr indent="0" lvl="0" marL="0" rtl="0" algn="l">
              <a:spcBef>
                <a:spcPts val="0"/>
              </a:spcBef>
              <a:spcAft>
                <a:spcPts val="0"/>
              </a:spcAft>
              <a:buNone/>
            </a:pPr>
            <a:r>
              <a:rPr lang="en-US"/>
              <a:t>K(x_i,x) &amp;= \exp\!\left(-\gamma\lVert x_i-x\rVert^2\right) \\[0.35em]</a:t>
            </a:r>
            <a:endParaRPr/>
          </a:p>
          <a:p>
            <a:pPr indent="0" lvl="0" marL="0" rtl="0" algn="l">
              <a:spcBef>
                <a:spcPts val="0"/>
              </a:spcBef>
              <a:spcAft>
                <a:spcPts val="0"/>
              </a:spcAft>
              <a:buNone/>
            </a:pPr>
            <a:r>
              <a:rPr lang="en-US"/>
              <a:t>g(x) &amp;= \sum_{i\in\mathcal S}\alpha_i K(x_i,x)-\rho</a:t>
            </a:r>
            <a:endParaRPr/>
          </a:p>
          <a:p>
            <a:pPr indent="0" lvl="0" marL="0" rtl="0" algn="l">
              <a:spcBef>
                <a:spcPts val="0"/>
              </a:spcBef>
              <a:spcAft>
                <a:spcPts val="0"/>
              </a:spcAft>
              <a:buNone/>
            </a:pPr>
            <a:r>
              <a:rPr lang="en-US"/>
              <a:t>\end{aligned}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Isolation Forest</a:t>
            </a:r>
            <a:endParaRPr/>
          </a:p>
          <a:p>
            <a:pPr indent="0" lvl="0" marL="0" rtl="0" algn="l">
              <a:spcBef>
                <a:spcPts val="0"/>
              </a:spcBef>
              <a:spcAft>
                <a:spcPts val="0"/>
              </a:spcAft>
              <a:buNone/>
            </a:pPr>
            <a:r>
              <a:rPr lang="en-US"/>
              <a:t>\begin{aligned}\bar h(x)&amp;=\frac{1}{T}\sum_{t=1}^{T}h_t(x)\\[0.25em]s(x)&amp;=2^{-\frac{\bar h(x)}{c(\psi)}}\end{aligned}</a:t>
            </a:r>
            <a:endParaRPr/>
          </a:p>
          <a:p>
            <a:pPr indent="0" lvl="0" marL="0" rtl="0" algn="l">
              <a:spcBef>
                <a:spcPts val="0"/>
              </a:spcBef>
              <a:spcAft>
                <a:spcPts val="0"/>
              </a:spcAft>
              <a:buNone/>
            </a:pPr>
            <a:r>
              <a:t/>
            </a:r>
            <a:endParaRPr/>
          </a:p>
        </p:txBody>
      </p:sp>
      <p:sp>
        <p:nvSpPr>
          <p:cNvPr id="1930" name="Google Shape;1930;ca_formula_one: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4" name="Google Shape;19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ca_formula_bi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0" name="Google Shape;1970;ca_formula_bin: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fórmulas usan ataque=1 y normal=0. x es el vector tabular de características. τ es un umbral de decisión, no necesariamente 0,5. El umbral de B2 se exploró sobre prueba: sus métricas son exploratorias y no una estimación independiente.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Random Forest: en scikit-learn cada árbol estima pₜ(k|x)=Nₜ,k(x)/Nₜ(x) en la hoja de llegada; los conteos son ponderados si se usan pesos de muestras o clases. El bosque promedia p̂(k|x)=(1/T)∑ₜpₜ(k|x). La regla general predict elige argmaxₖp̂(k|x); aquí se muestra la decisión binaria mediante un umbral. No describir este mecanismo siempre como voto mayoritario duro: con hojas mixtas el promedio de probabilidades puede dar otra decisión. Para varias clases se promedia un vector; para varias salidas se hace por salida. G=1−∑ₖqₖ² es la impureza Gini de un nodo, usada para evaluar divisiones cuando se elige ese criterio. La importancia por impureza acumula reducciones ponderadas; no demuestra causalidad y se complementó con ablaciones.</a:t>
            </a:r>
            <a:endParaRPr/>
          </a:p>
          <a:p>
            <a:pPr indent="0" lvl="0" marL="0" rtl="0" algn="l">
              <a:spcBef>
                <a:spcPts val="0"/>
              </a:spcBef>
              <a:spcAft>
                <a:spcPts val="0"/>
              </a:spcAft>
              <a:buNone/>
            </a:pPr>
            <a:r>
              <a:rPr lang="en-US"/>
              <a:t>https://scikit-learn.org/stable/modules/generated/sklearn.ensemble.RandomForestClassifier.html</a:t>
            </a:r>
            <a:endParaRPr/>
          </a:p>
          <a:p>
            <a:pPr indent="0" lvl="0" marL="0" rtl="0" algn="l">
              <a:spcBef>
                <a:spcPts val="0"/>
              </a:spcBef>
              <a:spcAft>
                <a:spcPts val="0"/>
              </a:spcAft>
              <a:buNone/>
            </a:pPr>
            <a:r>
              <a:rPr lang="en-US"/>
              <a:t>https://github.com/scikit-learn/scikit-learn/blob/afe5bcd80/sklearn/ensemble/_forest.py</a:t>
            </a:r>
            <a:endParaRPr/>
          </a:p>
          <a:p>
            <a:pPr indent="0" lvl="0" marL="0" rtl="0" algn="l">
              <a:spcBef>
                <a:spcPts val="0"/>
              </a:spcBef>
              <a:spcAft>
                <a:spcPts val="0"/>
              </a:spcAft>
              <a:buNone/>
            </a:pPr>
            <a:r>
              <a:rPr lang="en-US"/>
              <a:t>Breiman (2001), definición original de voto unitario por árbol: https://www.stat.berkeley.edu/~breiman/randomforest2001.pdf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Regresión logística: se incluye porque aparece como algoritmo de referencia en las comparaciones del anexo; la fórmula no implica que se haya ejecutado una nueva corrida. Pérdida binaria: ℓ(y,p)=−y ln(p)−(1−y)ln(1−p). El ajuste minimiza la pérdida con la regularización configurada. No se presupone L2 ni un hiperparámetro concreto. Si se usan modelos independientes por etiqueta, cada uno tiene su sigmoide. Para regresión multinomial, la salida corresponde a softmax. Una probabilidad estimada no garantiza calibración.</a:t>
            </a:r>
            <a:endParaRPr/>
          </a:p>
          <a:p>
            <a:pPr indent="0" lvl="0" marL="0" rtl="0" algn="l">
              <a:spcBef>
                <a:spcPts val="0"/>
              </a:spcBef>
              <a:spcAft>
                <a:spcPts val="0"/>
              </a:spcAft>
              <a:buNone/>
            </a:pPr>
            <a:r>
              <a:rPr lang="en-US"/>
              <a:t>https://scikit-learn.org/stable/modules/linear_model.html#logistic-regression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Notación de las ecuaciones: S representa los índices de los vectores de soporte; M o M_k, las rondas del modelo correspondiente; n, la cantidad de casos. La forma 2 elevada a −h̄/c es equivalente a exp[−ln(2)·h̄/c].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LaTeX de las ecuaciones de esta página:</a:t>
            </a:r>
            <a:endParaRPr/>
          </a:p>
          <a:p>
            <a:pPr indent="0" lvl="0" marL="0" rtl="0" algn="l">
              <a:spcBef>
                <a:spcPts val="0"/>
              </a:spcBef>
              <a:spcAft>
                <a:spcPts val="0"/>
              </a:spcAft>
              <a:buNone/>
            </a:pPr>
            <a:r>
              <a:rPr lang="en-US"/>
              <a:t>Random Forest</a:t>
            </a:r>
            <a:endParaRPr/>
          </a:p>
          <a:p>
            <a:pPr indent="0" lvl="0" marL="0" rtl="0" algn="l">
              <a:spcBef>
                <a:spcPts val="0"/>
              </a:spcBef>
              <a:spcAft>
                <a:spcPts val="0"/>
              </a:spcAft>
              <a:buNone/>
            </a:pPr>
            <a:r>
              <a:rPr lang="en-US"/>
              <a:t>\begin{gathered}p(x)=\frac{1}{T}\sum_{t=1}^{T}p_t(x)\qquad\widehat y(x)=\mathbf{1}\!\left[p(x)\geq\tau\right]\\[0.25em]G=1-\sum_{k=0}^{1}q_k^2\end{gathered}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Regresión logística</a:t>
            </a:r>
            <a:endParaRPr/>
          </a:p>
          <a:p>
            <a:pPr indent="0" lvl="0" marL="0" rtl="0" algn="l">
              <a:spcBef>
                <a:spcPts val="0"/>
              </a:spcBef>
              <a:spcAft>
                <a:spcPts val="0"/>
              </a:spcAft>
              <a:buNone/>
            </a:pPr>
            <a:r>
              <a:rPr lang="en-US"/>
              <a:t>\begin{aligned}</a:t>
            </a:r>
            <a:endParaRPr/>
          </a:p>
          <a:p>
            <a:pPr indent="0" lvl="0" marL="0" rtl="0" algn="l">
              <a:spcBef>
                <a:spcPts val="0"/>
              </a:spcBef>
              <a:spcAft>
                <a:spcPts val="0"/>
              </a:spcAft>
              <a:buNone/>
            </a:pPr>
            <a:r>
              <a:rPr lang="en-US"/>
              <a:t>z &amp;= w^{\mathsf T}x+b \\[0.35em]</a:t>
            </a:r>
            <a:endParaRPr/>
          </a:p>
          <a:p>
            <a:pPr indent="0" lvl="0" marL="0" rtl="0" algn="l">
              <a:spcBef>
                <a:spcPts val="0"/>
              </a:spcBef>
              <a:spcAft>
                <a:spcPts val="0"/>
              </a:spcAft>
              <a:buNone/>
            </a:pPr>
            <a:r>
              <a:rPr lang="en-US"/>
              <a:t>p(x) &amp;= \frac{1}{1+\exp(-z)} \\[0.35em]</a:t>
            </a:r>
            <a:endParaRPr/>
          </a:p>
          <a:p>
            <a:pPr indent="0" lvl="0" marL="0" rtl="0" algn="l">
              <a:spcBef>
                <a:spcPts val="0"/>
              </a:spcBef>
              <a:spcAft>
                <a:spcPts val="0"/>
              </a:spcAft>
              <a:buNone/>
            </a:pPr>
            <a:r>
              <a:rPr lang="en-US"/>
              <a:t>\widehat y(x) &amp;= \mathbf{1}\!\left[p(x)\geq\tau\right]</a:t>
            </a:r>
            <a:endParaRPr/>
          </a:p>
          <a:p>
            <a:pPr indent="0" lvl="0" marL="0" rtl="0" algn="l">
              <a:spcBef>
                <a:spcPts val="0"/>
              </a:spcBef>
              <a:spcAft>
                <a:spcPts val="0"/>
              </a:spcAft>
              <a:buNone/>
            </a:pPr>
            <a:r>
              <a:rPr lang="en-US"/>
              <a:t>\end{aligned}</a:t>
            </a:r>
            <a:endParaRPr/>
          </a:p>
          <a:p>
            <a:pPr indent="0" lvl="0" marL="0" rtl="0" algn="l">
              <a:spcBef>
                <a:spcPts val="0"/>
              </a:spcBef>
              <a:spcAft>
                <a:spcPts val="0"/>
              </a:spcAft>
              <a:buNone/>
            </a:pPr>
            <a:r>
              <a:t/>
            </a:r>
            <a:endParaRPr/>
          </a:p>
        </p:txBody>
      </p:sp>
      <p:sp>
        <p:nvSpPr>
          <p:cNvPr id="1971" name="Google Shape;1971;ca_formula_bin: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5" name="Google Shape;19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ca_formula_mc: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1" name="Google Shape;2011;ca_formula_mc: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puntuación Fₖ se suma en el espacio anterior a softmax. t recorre las rondas efectivas, de 1 a M; k recorre las K clases. fₜ,ₖ representa el árbol antes de multiplicarlo por la tasa η. Si se define f como la contribución ya reducida, no debe volver a multiplicarse por η.</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cada ronda se construye un árbol por clase. El árbol corrige la puntuación según gradientes y curvaturas de la pérdida. Softmax convierte las K puntuaciones en probabilidades y argmax selecciona una única clase. Estas probabilidades no garantizan calibración.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fórmula L es la pérdida logarítmica multiclase, con aᵢ=1 si no se ponderan las muestras. La regularización de las hojas se añade en el entrenamiento; la fórmula visible no pretende representar todos sus detalles. Equivale a −∑ᵢ∑ₖ aᵢ yᵢₖ log pₖ(xᵢ) si yᵢₖ es una codificación indicadora de la clase real.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histogramas agrupan valores de cada característica en intervalos. Se acumulan gradientes y curvaturas por intervalo y se buscan allí las divisiones; no eliminan características por sí mismos.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principal: documentación oficial de scikit-learn.</a:t>
            </a:r>
            <a:endParaRPr/>
          </a:p>
          <a:p>
            <a:pPr indent="0" lvl="0" marL="0" rtl="0" algn="l">
              <a:spcBef>
                <a:spcPts val="0"/>
              </a:spcBef>
              <a:spcAft>
                <a:spcPts val="0"/>
              </a:spcAft>
              <a:buNone/>
            </a:pPr>
            <a:r>
              <a:rPr lang="en-US"/>
              <a:t>https://scikit-learn.org/1.8/modules/generated/sklearn.ensemble.HistGradientBoostingClassifier.html</a:t>
            </a:r>
            <a:endParaRPr/>
          </a:p>
          <a:p>
            <a:pPr indent="0" lvl="0" marL="0" rtl="0" algn="l">
              <a:spcBef>
                <a:spcPts val="0"/>
              </a:spcBef>
              <a:spcAft>
                <a:spcPts val="0"/>
              </a:spcAft>
              <a:buNone/>
            </a:pPr>
            <a:r>
              <a:rPr lang="en-US"/>
              <a:t>https://scikit-learn.org/1.8/modules/ensemble.html#histogram-based-gradient-boosting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tesis 08282026v4.pdf presenta el algoritmo en pp. impresas 16–17 (PDF 32–33). M8 se documenta en p. impresa 52 (PDF 68): tasa 0,035, máximo 750 rondas, 63 hojas, regularización L2=0,05 y parada temprana. No decir “750 árboles”: es el máximo de rondas, con un árbol por clase y ronda; la parada temprana puede reducir el número efectivo.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Notación de las ecuaciones: S representa los índices de los vectores de soporte; M o M_k, las rondas del modelo correspondiente; n, la cantidad de casos. La forma 2 elevada a −h̄/c es equivalente a exp[−ln(2)·h̄/c].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LaTeX de las ecuaciones de esta página:</a:t>
            </a:r>
            <a:endParaRPr/>
          </a:p>
          <a:p>
            <a:pPr indent="0" lvl="0" marL="0" rtl="0" algn="l">
              <a:spcBef>
                <a:spcPts val="0"/>
              </a:spcBef>
              <a:spcAft>
                <a:spcPts val="0"/>
              </a:spcAft>
              <a:buNone/>
            </a:pPr>
            <a:r>
              <a:rPr lang="en-US"/>
              <a:t>Puntaje multiclase</a:t>
            </a:r>
            <a:endParaRPr/>
          </a:p>
          <a:p>
            <a:pPr indent="0" lvl="0" marL="0" rtl="0" algn="l">
              <a:spcBef>
                <a:spcPts val="0"/>
              </a:spcBef>
              <a:spcAft>
                <a:spcPts val="0"/>
              </a:spcAft>
              <a:buNone/>
            </a:pPr>
            <a:r>
              <a:rPr lang="en-US"/>
              <a:t>F_k(x)=b_k+\eta\sum_{t=1}^{M}f_{t,k}(x)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Softmax</a:t>
            </a:r>
            <a:endParaRPr/>
          </a:p>
          <a:p>
            <a:pPr indent="0" lvl="0" marL="0" rtl="0" algn="l">
              <a:spcBef>
                <a:spcPts val="0"/>
              </a:spcBef>
              <a:spcAft>
                <a:spcPts val="0"/>
              </a:spcAft>
              <a:buNone/>
            </a:pPr>
            <a:r>
              <a:rPr lang="en-US"/>
              <a:t>p_k(x)=\frac{\exp(F_k(x))}{\displaystyle\sum_{j=1}^{K}\exp(F_j(x))}\qquad\widehat y(x)=\operatorname*{arg\,max}_{k}p_k(x)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Pérdida multiclase</a:t>
            </a:r>
            <a:endParaRPr/>
          </a:p>
          <a:p>
            <a:pPr indent="0" lvl="0" marL="0" rtl="0" algn="l">
              <a:spcBef>
                <a:spcPts val="0"/>
              </a:spcBef>
              <a:spcAft>
                <a:spcPts val="0"/>
              </a:spcAft>
              <a:buNone/>
            </a:pPr>
            <a:r>
              <a:rPr lang="en-US"/>
              <a:t>L=-\sum_{i=1}^{n}a_i\log\!\left(p_{y_i}(x_i)\right)</a:t>
            </a:r>
            <a:endParaRPr/>
          </a:p>
          <a:p>
            <a:pPr indent="0" lvl="0" marL="0" rtl="0" algn="l">
              <a:spcBef>
                <a:spcPts val="0"/>
              </a:spcBef>
              <a:spcAft>
                <a:spcPts val="0"/>
              </a:spcAft>
              <a:buNone/>
            </a:pPr>
            <a:r>
              <a:t/>
            </a:r>
            <a:endParaRPr/>
          </a:p>
        </p:txBody>
      </p:sp>
      <p:sp>
        <p:nvSpPr>
          <p:cNvPr id="2012" name="Google Shape;2012;ca_formula_mc: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6" name="Google Shape;20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ca_formula_m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9" name="Google Shape;2049;ca_formula_ml: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L2 recibe un vector de 90 características y entrena un XGBoost por cada una de las 12 CAPEC. La suma recorre las rondas t=1,…,Mₖ de cada clasificador. El margen inicial bₖ se conserva: para binary:logistic, bₖ=log(base_scoreₖ/(1−base_scoreₖ)); si se usa base_margin, este sustituye al margen inicial. No se comprobó el valor serializado de cada modelo, por lo que no se supone b=0. fₜ,ₖ está definido antes de la reducción por ηₖ. Si se usa como f la contribución ya almacenada con esa reducción, debe quitarse ηₖ para no aplicarla dos veces.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objetivo J describe la incorporación de un árbol a un clasificador binario, omitiendo términos constantes de árboles anteriores. zᵢ es el margen anterior a esa ronda. ℓ(y,z)=−y log σ(z)−(1−y)log(1−σ(z)); σ es la sigmoide. aᵢ recoge el peso del caso: si solo hay scale_pos_weight, vale ese factor para los positivos y 1 para los negativos. Ω(f)=γL+(λ/2)∑ⱼwⱼ²+α∑ⱼ|wⱼ| penaliza cantidad de hojas y valores de hoja. XGBoost aproxima el objetivo con gradientes y curvaturas para construir el árbol, y después reduce su contribución mediante η. No resuelve exactamente el objetivo de todo el conjunto en una sola optimización.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preguntan por el valor de una hoja: cuando α=0 y no hay límites adicionales, wⱼ*=−Gⱼ/(Hⱼ+λ), con G y H sumas de gradientes y curvaturas en esa hoja. Para α&gt;0 se aplica umbral suave Sα(G)=sgn(G)max(|G|−α,0) en el numerador. max_delta_step puede limitar el valor antes de aplicar η; por eso la versión simple no describe todas las configuraciones examinadas.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Cada etiqueta tiene un umbral propio τₖ. En L2 esos umbrales se inicializan y ajustan conjuntamente con un bloque reservado, separado de entrenamiento, validación y prueba. Los estimadores no se vuelven a entrenar después de fijarlos. No son doce umbrales necesariamente iguales a 0,5 ni elegidos sobre prueba. Las probabilidades son independientes en su cálculo y no deben sumar 1. OvR no modela explícitamente dependencias entre etiquetas. NORMAL es ausencia de CAPEC; no es un decimotercer clasificador.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Fuentes: Chen y Guestrin (2016), pp. 2–3, https://arxiv.org/pdf/1603.02754</a:t>
            </a:r>
            <a:endParaRPr/>
          </a:p>
          <a:p>
            <a:pPr indent="0" lvl="0" marL="0" rtl="0" algn="l">
              <a:spcBef>
                <a:spcPts val="0"/>
              </a:spcBef>
              <a:spcAft>
                <a:spcPts val="0"/>
              </a:spcAft>
              <a:buNone/>
            </a:pPr>
            <a:r>
              <a:rPr lang="en-US"/>
              <a:t>https://xgboost.readthedocs.io/en/stable/tutorials/model.html</a:t>
            </a:r>
            <a:endParaRPr/>
          </a:p>
          <a:p>
            <a:pPr indent="0" lvl="0" marL="0" rtl="0" algn="l">
              <a:spcBef>
                <a:spcPts val="0"/>
              </a:spcBef>
              <a:spcAft>
                <a:spcPts val="0"/>
              </a:spcAft>
              <a:buNone/>
            </a:pPr>
            <a:r>
              <a:rPr lang="en-US"/>
              <a:t>https://xgboost.readthedocs.io/en/stable/parameter.html</a:t>
            </a:r>
            <a:endParaRPr/>
          </a:p>
          <a:p>
            <a:pPr indent="0" lvl="0" marL="0" rtl="0" algn="l">
              <a:spcBef>
                <a:spcPts val="0"/>
              </a:spcBef>
              <a:spcAft>
                <a:spcPts val="0"/>
              </a:spcAft>
              <a:buNone/>
            </a:pPr>
            <a:r>
              <a:rPr lang="en-US"/>
              <a:t>https://xgboost.readthedocs.io/en/stable/tutorials/intercept.html</a:t>
            </a:r>
            <a:endParaRPr/>
          </a:p>
          <a:p>
            <a:pPr indent="0" lvl="0" marL="0" rtl="0" algn="l">
              <a:spcBef>
                <a:spcPts val="0"/>
              </a:spcBef>
              <a:spcAft>
                <a:spcPts val="0"/>
              </a:spcAft>
              <a:buNone/>
            </a:pPr>
            <a:r>
              <a:rPr lang="en-US"/>
              <a:t>Tesis 08282026v4.pdf: pp. impresas 17–18, 52–53, 59 y tabla 8.9 en p. 68 (PDF 33–34, 68–69, 75 y 84).</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Notación de las ecuaciones: S representa los índices de los vectores de soporte; M o M_k, las rondas del modelo correspondiente; n, la cantidad de casos. La forma 2 elevada a −h̄/c es equivalente a exp[−ln(2)·h̄/c].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 LaTeX de las ecuaciones de esta página:</a:t>
            </a:r>
            <a:endParaRPr/>
          </a:p>
          <a:p>
            <a:pPr indent="0" lvl="0" marL="0" rtl="0" algn="l">
              <a:spcBef>
                <a:spcPts val="0"/>
              </a:spcBef>
              <a:spcAft>
                <a:spcPts val="0"/>
              </a:spcAft>
              <a:buNone/>
            </a:pPr>
            <a:r>
              <a:rPr lang="en-US"/>
              <a:t>Puntaje y sigmoide OvR</a:t>
            </a:r>
            <a:endParaRPr/>
          </a:p>
          <a:p>
            <a:pPr indent="0" lvl="0" marL="0" rtl="0" algn="l">
              <a:spcBef>
                <a:spcPts val="0"/>
              </a:spcBef>
              <a:spcAft>
                <a:spcPts val="0"/>
              </a:spcAft>
              <a:buNone/>
            </a:pPr>
            <a:r>
              <a:rPr lang="en-US"/>
              <a:t>z_k(x)=b_k+\eta_k\sum_{t=1}^{M_k}f_{t,k}(x)\qquad p_k(x)=\frac{1}{1+\exp(-z_k(x))}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Objetivo XGBoost</a:t>
            </a:r>
            <a:endParaRPr/>
          </a:p>
          <a:p>
            <a:pPr indent="0" lvl="0" marL="0" rtl="0" algn="l">
              <a:spcBef>
                <a:spcPts val="0"/>
              </a:spcBef>
              <a:spcAft>
                <a:spcPts val="0"/>
              </a:spcAft>
              <a:buNone/>
            </a:pPr>
            <a:r>
              <a:rPr lang="en-US"/>
              <a:t>\begin{aligned}J&amp;=\sum\nolimits_{i=1}^{n}a_i\,\ell\!\left(y_i,z_i+f(x_i)\right)+\Omega(f)\\[0.35em]\Omega(f)&amp;=\gamma L+\frac{\lambda}{2}\sum\nolimits_{j=1}^{L}w_j^2+\alpha\sum\nolimits_{j=1}^{L}|w_j|\end{aligned}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Decisión OvR</a:t>
            </a:r>
            <a:endParaRPr/>
          </a:p>
          <a:p>
            <a:pPr indent="0" lvl="0" marL="0" rtl="0" algn="l">
              <a:spcBef>
                <a:spcPts val="0"/>
              </a:spcBef>
              <a:spcAft>
                <a:spcPts val="0"/>
              </a:spcAft>
              <a:buNone/>
            </a:pPr>
            <a:r>
              <a:rPr lang="en-US"/>
              <a:t>\begin{aligned}\widehat y_k(x)&amp;=\mathbf{1}\!\left[p_k(x)\geq\tau_k\right],\quad k=1,\ldots,12\\[0.3em]\mathrm{NORMAL}&amp;\iff\sum\nolimits_{k=1}^{12}\widehat y_k(x)=0\end{aligned}</a:t>
            </a:r>
            <a:endParaRPr/>
          </a:p>
          <a:p>
            <a:pPr indent="0" lvl="0" marL="0" rtl="0" algn="l">
              <a:spcBef>
                <a:spcPts val="0"/>
              </a:spcBef>
              <a:spcAft>
                <a:spcPts val="0"/>
              </a:spcAft>
              <a:buNone/>
            </a:pPr>
            <a:r>
              <a:t/>
            </a:r>
            <a:endParaRPr/>
          </a:p>
        </p:txBody>
      </p:sp>
      <p:sp>
        <p:nvSpPr>
          <p:cNvPr id="2050" name="Google Shape;2050;ca_formula_ml: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fbacf0148d_1_18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4" name="Google Shape;2064;g3fbacf0148d_1_18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 sustituye el ranking de B1 CSIC 2010 por el ranking propio de B2 Harvard/SR-BH. Fuente: documento_cross_dataset_waf.pdf, p. 5, cuadro 4, sección 4.5. Top 5 de importancia Gini: encoded 0,264; uri_entropy 0,174; uri_len 0,164; uri_pct_non_alnum_ratio 0,131; path_depth 0,081. Estas cifras pertenecen al modelo entrenado en Harvard, no constituyen un ranking global de los tres conjuntos B2. No se trasladan los pesos de B1 ni el peso de body_encoded.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B2: Random Forest de 500 árboles, clases balanceadas, 57 características, división 80/20 y semilla 42, según documento_cross_dataset_waf.pdf, pp. 1–2. El ranking Gini corresponde al bosque. El barrido de umbral no define estas importancias.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Definiciones y valores de entrada: extractor 05_codigo/base_binaria_historica/waf-ml-starter/src/waf_ml/features/http_features.py, correspondiente a la base binaria de la rama mejoras-profesor-ja. Las URI se usan sin decodificar.</a:t>
            </a:r>
            <a:endParaRPr/>
          </a:p>
          <a:p>
            <a:pPr indent="0" lvl="0" marL="0" rtl="0" algn="l">
              <a:spcBef>
                <a:spcPts val="0"/>
              </a:spcBef>
              <a:spcAft>
                <a:spcPts val="0"/>
              </a:spcAft>
              <a:buNone/>
            </a:pPr>
            <a:r>
              <a:rPr lang="en-US" sz="1200"/>
              <a:t>encoded es la fracción de la URI ocupada por secuencias %HH: tres veces la cantidad de coincidencias dividido por la longitud. /buscar?q=AnaMaria no tiene secuencias y da 0. /buscar?q=Ana%20Maria tiene 21 caracteres y una secuencia %20 de tres caracteres: 3/21 = 0,142857142857, redondeado a 0,1429 (14,29 %). La descripción del informe como presencia de codificación es general; el código la cuantifica como proporción, no como una bandera 0/1.</a:t>
            </a:r>
            <a:endParaRPr/>
          </a:p>
          <a:p>
            <a:pPr indent="0" lvl="0" marL="0" rtl="0" algn="l">
              <a:spcBef>
                <a:spcPts val="0"/>
              </a:spcBef>
              <a:spcAft>
                <a:spcPts val="0"/>
              </a:spcAft>
              <a:buNone/>
            </a:pPr>
            <a:r>
              <a:rPr lang="en-US" sz="1200"/>
              <a:t>uri_entropy usa Shannon base 2: /buscar?q=abc da 3,238901256602631 y /buscar?q=a%27%3D9_X da 4,1219280948873624 bits.</a:t>
            </a:r>
            <a:endParaRPr/>
          </a:p>
          <a:p>
            <a:pPr indent="0" lvl="0" marL="0" rtl="0" algn="l">
              <a:spcBef>
                <a:spcPts val="0"/>
              </a:spcBef>
              <a:spcAft>
                <a:spcPts val="0"/>
              </a:spcAft>
              <a:buNone/>
            </a:pPr>
            <a:r>
              <a:rPr lang="en-US" sz="1200"/>
              <a:t>uri_len cuenta caracteres: /login tiene 6 y /catalogo/productos?cat=libros tiene 30.</a:t>
            </a:r>
            <a:endParaRPr/>
          </a:p>
          <a:p>
            <a:pPr indent="0" lvl="0" marL="0" rtl="0" algn="l">
              <a:spcBef>
                <a:spcPts val="0"/>
              </a:spcBef>
              <a:spcAft>
                <a:spcPts val="0"/>
              </a:spcAft>
              <a:buNone/>
            </a:pPr>
            <a:r>
              <a:rPr lang="en-US" sz="1200"/>
              <a:t>uri_pct_non_alnum_ratio cuenta caracteres que no cumplen isalnum() y divide por la longitud: /p?id=12 da 3/8 = 0,375; /p?id=%27%20%3D da 6/15 = 0,400.</a:t>
            </a:r>
            <a:endParaRPr/>
          </a:p>
          <a:p>
            <a:pPr indent="0" lvl="0" marL="0" rtl="0" algn="l">
              <a:spcBef>
                <a:spcPts val="0"/>
              </a:spcBef>
              <a:spcAft>
                <a:spcPts val="0"/>
              </a:spcAft>
              <a:buNone/>
            </a:pPr>
            <a:r>
              <a:rPr lang="en-US" sz="1200"/>
              <a:t>path_depth cuenta barras / del componente path obtenido con urlsplit: 1 y 4. No equivale en general al número de segmentos no vacíos.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Los ejemplos son sintéticos y sus valores se obtienen de las funciones de extracción. Gini es una medida de importancia del bosque y no el valor de entrada ni un umbral de ataque. No se entrenó ni evaluó un nuevo modelo con cinco características. La entrega contiene únicamente esta diapositiva modificada.</a:t>
            </a:r>
            <a:endParaRPr/>
          </a:p>
        </p:txBody>
      </p:sp>
      <p:sp>
        <p:nvSpPr>
          <p:cNvPr id="2065" name="Google Shape;2065;g3fbacf0148d_1_18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6" name="Shape 2076"/>
        <p:cNvGrpSpPr/>
        <p:nvPr/>
      </p:nvGrpSpPr>
      <p:grpSpPr>
        <a:xfrm>
          <a:off x="0" y="0"/>
          <a:ext cx="0" cy="0"/>
          <a:chOff x="0" y="0"/>
          <a:chExt cx="0" cy="0"/>
        </a:xfrm>
      </p:grpSpPr>
      <p:sp>
        <p:nvSpPr>
          <p:cNvPr id="2077" name="Google Shape;2077;g3fbacf0148d_1_20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8" name="Google Shape;2078;g3fbacf0148d_1_20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 mantienen ranking e importancias de M8 Harvard/SR-BH (diapositiva 43 recibida). Fuente del ranking: 09_Multiclase_Tres_datasets_72_features_WAMM_like.pdf, pp. 11–12. Permutación con 10.000 filas y 5 repeticiones, caída media de F1 macro expresada en puntos porcentuales. Las importancias no suman 100 % ni son universales entre conjuntos.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Valores ejecutados con las funciones de extracción, aisladas por AST sin entrenar modelos, de 02_auditoria/historial_slurm/evidencia_20260803/proyecto_actual/copias/3datasetsMulticlase2.py. Extractor extract_fixed_features, líneas 978–1187, texto concatenado en 996, patrones CRLF 415–417, paréntesis 1092 y CRLF 1100. El run_config.json de la carpeta 3datasetsMulticlase2/multiclase/harvard confirma script, 72 variables y feature_set_version useful72_wamm_manual_request_groups_v2. Su F1 macro 0,9722504983892014 coincide con la corrida M8.</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Casos exactos: URI /?session_token=abc, headers vacíos y body vacío, max_param_name_len = 13; URI /?q=AAAAAA, headers vacíos y body vacío, max_param_value_len = 6. Para n_body_params: URI /, Content-Type application/x-www-form-urlencoded y body user=ana&amp;role=guest, resultado 2. Para CRLF: URI /, headers vacíos y body %0D%0AX-Test:1, resultado 17. Para paren_count: URI /?q=f(x), headers vacíos y body vacío, resultado 6. Los campos restantes no aportan señales.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El extractor concatena texto original y dos versiones sucesivamente decodificadas y suma coincidencias de cada patrón. %0D%0A coincide con %0d, %0a y %0d%0a (tres); cada versión decodificada coincide con retorno, salto y el par CRLF (otras tres). Son nueve coincidencias del contenido. M8 agrega además ocho saltos de línea al unir campos/versiones: total 17. Este valor no significa que la petición contenga 17 pares CRLF. f(x) tiene dos paréntesis en cada una de tres versiones: 6. Se preserva el comportamiento del extractor, no se corrige el código como parte de esta edición.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Ejemplos sintéticos y valores reales calculados para esas entradas, no registros del corpus, importancias adicionales ni umbrales de ataque. No se reentrenó un modelo con cinco variables.</a:t>
            </a:r>
            <a:endParaRPr/>
          </a:p>
        </p:txBody>
      </p:sp>
      <p:sp>
        <p:nvSpPr>
          <p:cNvPr id="2079" name="Google Shape;2079;g3fbacf0148d_1_20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g3fbacf0148d_1_21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g3fbacf0148d_1_21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 mantiene el orden de las cinco características de L2 en la diapositiva 46 del archivo recibido. Los valores añadidos corresponden a las entradas didácticas, no son magnitudes de importancia por permutación.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 los cálculos: 02_auditoria/historial_slurm/evidencia_20260803/proyecto_actual/copias/multietiquetaCorrida2.py, extracción líneas 1299–1505, concatenación 1319, regex CRLF 290–292, cookies 1458, parámetros 1469 y longitud de nombre 1474. Se ejecutaron solo funciones de extracción aisladas por AST. El run_config.json y metrics_flat.csv de multietiquetaCorrida2/harvard vinculan el script a schema sr-bh-request90-v2, 90 características, 108.598 grupos de prueba, F1 micro 0,9760429217118095 y macro 0,9393993137175819. Coinciden con L2. Esta evidencia permite concretar los ejemplos sin trasladar valores de L1.</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Nombres reales: cookie_pair_count, plus_encoding_count, crlf_token_count, n_body_params y max_param_name_len. El conteo de signos + no se denomina plus_count en este código.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Casos: URI / con Cookie idioma=es; tema=claro y cuerpo vacío da cookie_pair_count = 2. URI /?q=libros+de+historia, encabezados y cuerpo vacíos, da plus_encoding_count = 2. URI /, encabezados vacíos y cuerpo %0D%0AX-Test:1 da crlf_token_count = 9. URI / con Content-Type application/x-www-form-urlencoded y cuerpo usuario=ana&amp;idioma=es da n_body_params = 2. URI /?session_token=abc con encabezados y cuerpo vacíos da max_param_name_len = 13. Los campos restantes no aportan señales.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CRLF suma coincidencias separadas y combinadas: el texto original aporta %0d, %0a y %0d%0a (3); cada versión decodificada aporta retorno, salto y CRLF (3 + 3). Total 9. L2 usa separadores neutros, por lo que no añade los ocho saltos internos presentes en M8. Nueve es el valor del extractor, no nueve pares CRLF introducidos en la petición. La cantidad de signos + se calcula sobre el texto original.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Ejemplos sintéticos. No se reentrenó ni evaluó un modelo con solo cinco variables. Una característica por sí sola no constituye una regla de bloqueo.</a:t>
            </a:r>
            <a:endParaRPr/>
          </a:p>
        </p:txBody>
      </p:sp>
      <p:sp>
        <p:nvSpPr>
          <p:cNvPr id="2093" name="Google Shape;2093;g3fbacf0148d_1_21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3" name="Shape 2103"/>
        <p:cNvGrpSpPr/>
        <p:nvPr/>
      </p:nvGrpSpPr>
      <p:grpSpPr>
        <a:xfrm>
          <a:off x="0" y="0"/>
          <a:ext cx="0" cy="0"/>
          <a:chOff x="0" y="0"/>
          <a:chExt cx="0" cy="0"/>
        </a:xfrm>
      </p:grpSpPr>
      <p:sp>
        <p:nvSpPr>
          <p:cNvPr id="2104" name="Google Shape;2104;g3fbacf0148d_1_10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5" name="Google Shape;2105;g3fbacf0148d_1_10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estudio comparó resultados numéricos de pruebas experimentales. La clasificación binaria comenzó con One-Class SVM e Isolation Forest, entrenados para reconocer lo habitual, y luego examinó regresión logística y Random Forest con ejemplos normales y ataques. Este cambio también modifica la información usada para aprender. Los modelos finales fueron Random Forest para clasificación binaria, HistGradientBoosting para multiclase y XGBoost con un clasificador por etiqueta CAPEC para multietiqueta. Al comparar dos pruebas se revisa qué datos se usaron, qué características se calcularon, qué etiquetas se predijeron, qué modelo se entrenó, dónde se fijaron los puntos de corte y cómo se separaron entrenamiento y prueba. Un umbral es el punto de corte que transforma una puntuación en una decisión. Para atribuir una diferencia a las características hay que mantener iguales los demás componentes relevantes. No se repitieron las pruebas con varias divisiones aleatorias ni se midió si las diferencias se mantendrían al repetir el experimento.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08282026v4.pdf, páginas PDF70–76/impresas54–60. B1 compara 25,33,57 y10 variables. M1:30 variables y nueve familias SR-BH; M2:14 combinaciones CAPEC; M3:84 variables; M4:58 por importancia por permutación calculada en prueba; M5/M6:11/10 clases; M7:DS-Augmented-v2; M8:72 variables con SSTI/SSRF/inyección. L1:907815 filas,30 variables,64/16/20 y reentrenamiento posterior al ajuste de umbrales. L2:542990 grupos,90 variables,64/8/8/20, sin reentrenamiento después del ajuste de umbrales. La separación por huella de L2 no se atribuye retrospectivamente a las otras corridas.</a:t>
            </a:r>
            <a:endParaRPr/>
          </a:p>
        </p:txBody>
      </p:sp>
      <p:sp>
        <p:nvSpPr>
          <p:cNvPr id="2106" name="Google Shape;2106;g3fbacf0148d_1_10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ca_ops_recovere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8" name="Google Shape;2118;ca_ops_recovered: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Mediciones operativas registradas. Se distinguen el procesamiento por lotes de vectores de características y los costos de trabajos completos en Slurm.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Isolation Forest, CSIC, 25 variables, trabajo 2440: fase de ajuste final de 72,56 s. Procesó 19.413 vectores en lotes de hasta 4.096; escalado y cálculo de puntajes: 42,442587 s y 457,394358 vectores/s. Las características ya estaban calculadas. El benchmark describe este procesamiento por lotes; la extracción de características HTTP y la latencia de una petición individual quedan fuera de su alcance. El log coincide con la fila IF de 25 variables en corpus, representación y F1/TPR/FPR redondeados. La fase de ajuste final incluye las operaciones de preparación, ajuste y puntajes normales descritas en el código compatible.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One-Class SVM, trabajo 2434: duración total de 864 s (14 min 24 s). Máximo RSS observado: 1.618.736 K / 1.024 = 1.580,80 MiB. El script compatible ejecuta cuatro variantes y operaciones de explicación, evaluación y guardado. La duración corresponde al conjunto de esas operaciones.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Random Forest: CSIC, trabajo 2476: 15 s y 942,13 MiB. TorpEda, trabajo 2528: 25 s y 893,03 MiB. SR-BH, trabajo 2529: 177 s y 9.535,93 MiB. Son duraciones y memoria de trabajos completos, identificados por su registro histórico.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correspondencia exacta de los trabajos históricos OCSVM y Random Forest con las configuraciones de las tablas de calidad de detección sigue pendiente de verificación. Por ello, se presentan como registros operativos separados. Sus duraciones no representan tiempos de predicción de las configuraciones B2 o de una única configuración OCSVM.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MaxRSS: mayor memoria residente observada en un paso del trabajo; no se suman máximos de pasos distintos. La conversión de K a MiB usa 1.024. Es memoria de ejecución, no tamaño del archivo del modelo.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Fuentes:</a:t>
            </a:r>
            <a:endParaRPr/>
          </a:p>
          <a:p>
            <a:pPr indent="0" lvl="0" marL="0" rtl="0" algn="l">
              <a:spcBef>
                <a:spcPts val="0"/>
              </a:spcBef>
              <a:spcAft>
                <a:spcPts val="0"/>
              </a:spcAft>
              <a:buNone/>
            </a:pPr>
            <a:r>
              <a:rPr lang="en-US"/>
              <a:t>1. evidencia_tesis_slurm_20260803T142006/logs_preservados/por_sacct/job_2440/slurm-csic-iforest-2440.out, líneas 88–94.</a:t>
            </a:r>
            <a:endParaRPr/>
          </a:p>
          <a:p>
            <a:pPr indent="0" lvl="0" marL="0" rtl="0" algn="l">
              <a:spcBef>
                <a:spcPts val="0"/>
              </a:spcBef>
              <a:spcAft>
                <a:spcPts val="0"/>
              </a:spcAft>
              <a:buNone/>
            </a:pPr>
            <a:r>
              <a:rPr lang="en-US"/>
              <a:t>2. evidencia_tesis_slurm_20260803T142006/sacct/sacct_jobs_y_steps.psv: trabajo 2434 y paso 2434.4, líneas 123 y 129; trabajo 2476 y paso 2476.1, líneas 207 y 210; trabajo 2528 y paso 2528.1, líneas 244 y 247; trabajo 2529 y paso 2529.1, líneas 249 y 252.</a:t>
            </a:r>
            <a:endParaRPr/>
          </a:p>
          <a:p>
            <a:pPr indent="0" lvl="0" marL="0" rtl="0" algn="l">
              <a:spcBef>
                <a:spcPts val="0"/>
              </a:spcBef>
              <a:spcAft>
                <a:spcPts val="0"/>
              </a:spcAft>
              <a:buNone/>
            </a:pPr>
            <a:r>
              <a:rPr lang="en-US"/>
              <a:t>3. Auditoría consolidada: C:/Users/Usuario/Documents/Codex/2026-09-24/tie/outputs/revision_rendimiento_binario_oneclass.md.</a:t>
            </a:r>
            <a:endParaRPr/>
          </a:p>
          <a:p>
            <a:pPr indent="0" lvl="0" marL="0" rtl="0" algn="l">
              <a:spcBef>
                <a:spcPts val="0"/>
              </a:spcBef>
              <a:spcAft>
                <a:spcPts val="0"/>
              </a:spcAft>
              <a:buNone/>
            </a:pPr>
            <a:r>
              <a:rPr lang="en-US"/>
              <a:t>4. Código compatible del benchmark: proyecto_actual/copias/src/waf_ml/optimo/iforest_eifOptimo.py, desde la línea 653. Sirve para interpretar las operaciones; no certifica la identidad de la versión ejecutada históricamente.</a:t>
            </a:r>
            <a:endParaRPr/>
          </a:p>
          <a:p>
            <a:pPr indent="0" lvl="0" marL="0" rtl="0" algn="l">
              <a:spcBef>
                <a:spcPts val="0"/>
              </a:spcBef>
              <a:spcAft>
                <a:spcPts val="0"/>
              </a:spcAft>
              <a:buNone/>
            </a:pPr>
            <a:r>
              <a:t/>
            </a:r>
            <a:endParaRPr/>
          </a:p>
        </p:txBody>
      </p:sp>
      <p:sp>
        <p:nvSpPr>
          <p:cNvPr id="2119" name="Google Shape;2119;ca_ops_recovered: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6" name="Google Shape;213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Cierre de la defensa. Invitar al tribunal a formular preguntas.</a:t>
            </a:r>
            <a:endParaRPr/>
          </a:p>
        </p:txBody>
      </p:sp>
      <p:sp>
        <p:nvSpPr>
          <p:cNvPr id="2137" name="Google Shape;2137;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22" name="Shape 22"/>
        <p:cNvGrpSpPr/>
        <p:nvPr/>
      </p:nvGrpSpPr>
      <p:grpSpPr>
        <a:xfrm>
          <a:off x="0" y="0"/>
          <a:ext cx="0" cy="0"/>
          <a:chOff x="0" y="0"/>
          <a:chExt cx="0" cy="0"/>
        </a:xfrm>
      </p:grpSpPr>
      <p:sp>
        <p:nvSpPr>
          <p:cNvPr id="23" name="Google Shape;23;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6" name="Shape 56"/>
        <p:cNvGrpSpPr/>
        <p:nvPr/>
      </p:nvGrpSpPr>
      <p:grpSpPr>
        <a:xfrm>
          <a:off x="0" y="0"/>
          <a:ext cx="0" cy="0"/>
          <a:chOff x="0" y="0"/>
          <a:chExt cx="0" cy="0"/>
        </a:xfrm>
      </p:grpSpPr>
      <p:sp>
        <p:nvSpPr>
          <p:cNvPr id="57" name="Google Shape;5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7" name="Shape 67"/>
        <p:cNvGrpSpPr/>
        <p:nvPr/>
      </p:nvGrpSpPr>
      <p:grpSpPr>
        <a:xfrm>
          <a:off x="0" y="0"/>
          <a:ext cx="0" cy="0"/>
          <a:chOff x="0" y="0"/>
          <a:chExt cx="0" cy="0"/>
        </a:xfrm>
      </p:grpSpPr>
      <p:sp>
        <p:nvSpPr>
          <p:cNvPr id="68" name="Google Shape;68;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p:nvPr>
            <p:ph idx="2" type="pic"/>
          </p:nvPr>
        </p:nvSpPr>
        <p:spPr>
          <a:xfrm>
            <a:off x="5183188" y="987425"/>
            <a:ext cx="6172200" cy="4873625"/>
          </a:xfrm>
          <a:prstGeom prst="rect">
            <a:avLst/>
          </a:prstGeom>
          <a:noFill/>
          <a:ln>
            <a:noFill/>
          </a:ln>
        </p:spPr>
      </p:sp>
      <p:sp>
        <p:nvSpPr>
          <p:cNvPr id="70" name="Google Shape;70;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4" name="Shape 74"/>
        <p:cNvGrpSpPr/>
        <p:nvPr/>
      </p:nvGrpSpPr>
      <p:grpSpPr>
        <a:xfrm>
          <a:off x="0" y="0"/>
          <a:ext cx="0" cy="0"/>
          <a:chOff x="0" y="0"/>
          <a:chExt cx="0" cy="0"/>
        </a:xfrm>
      </p:grpSpPr>
      <p:sp>
        <p:nvSpPr>
          <p:cNvPr id="75" name="Google Shape;7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0" name="Shape 80"/>
        <p:cNvGrpSpPr/>
        <p:nvPr/>
      </p:nvGrpSpPr>
      <p:grpSpPr>
        <a:xfrm>
          <a:off x="0" y="0"/>
          <a:ext cx="0" cy="0"/>
          <a:chOff x="0" y="0"/>
          <a:chExt cx="0" cy="0"/>
        </a:xfrm>
      </p:grpSpPr>
      <p:sp>
        <p:nvSpPr>
          <p:cNvPr id="81" name="Google Shape;81;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55.xml"/><Relationship Id="rId10" Type="http://schemas.openxmlformats.org/officeDocument/2006/relationships/slide" Target="/ppt/slides/slide51.xml"/><Relationship Id="rId13" Type="http://schemas.openxmlformats.org/officeDocument/2006/relationships/slide" Target="/ppt/slides/slide55.xml"/><Relationship Id="rId12" Type="http://schemas.openxmlformats.org/officeDocument/2006/relationships/slide" Target="/ppt/slides/slide55.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51.xml"/><Relationship Id="rId14" Type="http://schemas.openxmlformats.org/officeDocument/2006/relationships/slide" Target="/ppt/slides/slide55.xml"/><Relationship Id="rId5" Type="http://schemas.openxmlformats.org/officeDocument/2006/relationships/slide" Target="/ppt/slides/slide21.xml"/><Relationship Id="rId6" Type="http://schemas.openxmlformats.org/officeDocument/2006/relationships/slide" Target="/ppt/slides/slide21.xml"/><Relationship Id="rId7" Type="http://schemas.openxmlformats.org/officeDocument/2006/relationships/slide" Target="/ppt/slides/slide30.xml"/><Relationship Id="rId8" Type="http://schemas.openxmlformats.org/officeDocument/2006/relationships/slide" Target="/ppt/slides/slide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0.png"/><Relationship Id="rId9" Type="http://schemas.openxmlformats.org/officeDocument/2006/relationships/image" Target="../media/image17.png"/><Relationship Id="rId5" Type="http://schemas.openxmlformats.org/officeDocument/2006/relationships/image" Target="../media/image2.png"/><Relationship Id="rId6" Type="http://schemas.openxmlformats.org/officeDocument/2006/relationships/image" Target="../media/image30.png"/><Relationship Id="rId7" Type="http://schemas.openxmlformats.org/officeDocument/2006/relationships/image" Target="../media/image7.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23.png"/><Relationship Id="rId13" Type="http://schemas.openxmlformats.org/officeDocument/2006/relationships/image" Target="../media/image40.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8.png"/><Relationship Id="rId15" Type="http://schemas.openxmlformats.org/officeDocument/2006/relationships/hyperlink" Target="https://content.govdelivery.com/accounts/USDHSCISA/bulletins/35ecb08" TargetMode="External"/><Relationship Id="rId14" Type="http://schemas.openxmlformats.org/officeDocument/2006/relationships/hyperlink" Target="https://www.cve.org/ResourcesSupport/FAQs" TargetMode="External"/><Relationship Id="rId5" Type="http://schemas.openxmlformats.org/officeDocument/2006/relationships/image" Target="../media/image6.png"/><Relationship Id="rId6" Type="http://schemas.openxmlformats.org/officeDocument/2006/relationships/image" Target="../media/image37.png"/><Relationship Id="rId7" Type="http://schemas.openxmlformats.org/officeDocument/2006/relationships/image" Target="../media/image26.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0" Type="http://schemas.openxmlformats.org/officeDocument/2006/relationships/image" Target="../media/image56.png"/><Relationship Id="rId22" Type="http://schemas.openxmlformats.org/officeDocument/2006/relationships/image" Target="../media/image47.png"/><Relationship Id="rId21" Type="http://schemas.openxmlformats.org/officeDocument/2006/relationships/image" Target="../media/image35.png"/><Relationship Id="rId24" Type="http://schemas.openxmlformats.org/officeDocument/2006/relationships/image" Target="../media/image38.png"/><Relationship Id="rId23"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32.png"/><Relationship Id="rId9" Type="http://schemas.openxmlformats.org/officeDocument/2006/relationships/image" Target="../media/image36.png"/><Relationship Id="rId25" Type="http://schemas.openxmlformats.org/officeDocument/2006/relationships/image" Target="../media/image55.png"/><Relationship Id="rId5" Type="http://schemas.openxmlformats.org/officeDocument/2006/relationships/image" Target="../media/image33.png"/><Relationship Id="rId6" Type="http://schemas.openxmlformats.org/officeDocument/2006/relationships/image" Target="../media/image22.png"/><Relationship Id="rId7" Type="http://schemas.openxmlformats.org/officeDocument/2006/relationships/image" Target="../media/image34.png"/><Relationship Id="rId8" Type="http://schemas.openxmlformats.org/officeDocument/2006/relationships/image" Target="../media/image24.png"/><Relationship Id="rId11" Type="http://schemas.openxmlformats.org/officeDocument/2006/relationships/image" Target="../media/image54.png"/><Relationship Id="rId10" Type="http://schemas.openxmlformats.org/officeDocument/2006/relationships/image" Target="../media/image43.png"/><Relationship Id="rId13" Type="http://schemas.openxmlformats.org/officeDocument/2006/relationships/image" Target="../media/image45.png"/><Relationship Id="rId12" Type="http://schemas.openxmlformats.org/officeDocument/2006/relationships/image" Target="../media/image46.png"/><Relationship Id="rId15" Type="http://schemas.openxmlformats.org/officeDocument/2006/relationships/image" Target="../media/image42.png"/><Relationship Id="rId14" Type="http://schemas.openxmlformats.org/officeDocument/2006/relationships/image" Target="../media/image29.png"/><Relationship Id="rId17" Type="http://schemas.openxmlformats.org/officeDocument/2006/relationships/image" Target="../media/image44.png"/><Relationship Id="rId16" Type="http://schemas.openxmlformats.org/officeDocument/2006/relationships/image" Target="../media/image27.png"/><Relationship Id="rId19" Type="http://schemas.openxmlformats.org/officeDocument/2006/relationships/image" Target="../media/image49.png"/><Relationship Id="rId18"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0.png"/><Relationship Id="rId4" Type="http://schemas.openxmlformats.org/officeDocument/2006/relationships/image" Target="../media/image53.png"/><Relationship Id="rId9" Type="http://schemas.openxmlformats.org/officeDocument/2006/relationships/image" Target="../media/image82.png"/><Relationship Id="rId5" Type="http://schemas.openxmlformats.org/officeDocument/2006/relationships/image" Target="../media/image51.png"/><Relationship Id="rId6" Type="http://schemas.openxmlformats.org/officeDocument/2006/relationships/image" Target="../media/image67.png"/><Relationship Id="rId7" Type="http://schemas.openxmlformats.org/officeDocument/2006/relationships/image" Target="../media/image61.png"/><Relationship Id="rId8" Type="http://schemas.openxmlformats.org/officeDocument/2006/relationships/image" Target="../media/image64.png"/><Relationship Id="rId11" Type="http://schemas.openxmlformats.org/officeDocument/2006/relationships/image" Target="../media/image62.png"/><Relationship Id="rId10" Type="http://schemas.openxmlformats.org/officeDocument/2006/relationships/image" Target="../media/image58.png"/><Relationship Id="rId13" Type="http://schemas.openxmlformats.org/officeDocument/2006/relationships/image" Target="../media/image60.png"/><Relationship Id="rId12" Type="http://schemas.openxmlformats.org/officeDocument/2006/relationships/image" Target="../media/image48.png"/><Relationship Id="rId15" Type="http://schemas.openxmlformats.org/officeDocument/2006/relationships/image" Target="../media/image69.png"/><Relationship Id="rId14" Type="http://schemas.openxmlformats.org/officeDocument/2006/relationships/image" Target="../media/image76.png"/><Relationship Id="rId17" Type="http://schemas.openxmlformats.org/officeDocument/2006/relationships/image" Target="../media/image84.png"/><Relationship Id="rId16" Type="http://schemas.openxmlformats.org/officeDocument/2006/relationships/image" Target="../media/image65.png"/></Relationships>
</file>

<file path=ppt/slides/_rels/slide26.xml.rels><?xml version="1.0" encoding="UTF-8" standalone="yes"?><Relationships xmlns="http://schemas.openxmlformats.org/package/2006/relationships"><Relationship Id="rId20" Type="http://schemas.openxmlformats.org/officeDocument/2006/relationships/image" Target="../media/image73.png"/><Relationship Id="rId21" Type="http://schemas.openxmlformats.org/officeDocument/2006/relationships/image" Target="../media/image87.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7.png"/><Relationship Id="rId4" Type="http://schemas.openxmlformats.org/officeDocument/2006/relationships/image" Target="../media/image57.png"/><Relationship Id="rId9" Type="http://schemas.openxmlformats.org/officeDocument/2006/relationships/image" Target="../media/image74.png"/><Relationship Id="rId5" Type="http://schemas.openxmlformats.org/officeDocument/2006/relationships/image" Target="../media/image72.png"/><Relationship Id="rId6" Type="http://schemas.openxmlformats.org/officeDocument/2006/relationships/image" Target="../media/image59.png"/><Relationship Id="rId7" Type="http://schemas.openxmlformats.org/officeDocument/2006/relationships/image" Target="../media/image70.png"/><Relationship Id="rId8" Type="http://schemas.openxmlformats.org/officeDocument/2006/relationships/image" Target="../media/image78.png"/><Relationship Id="rId11" Type="http://schemas.openxmlformats.org/officeDocument/2006/relationships/image" Target="../media/image66.png"/><Relationship Id="rId10" Type="http://schemas.openxmlformats.org/officeDocument/2006/relationships/image" Target="../media/image63.png"/><Relationship Id="rId13" Type="http://schemas.openxmlformats.org/officeDocument/2006/relationships/image" Target="../media/image80.png"/><Relationship Id="rId12" Type="http://schemas.openxmlformats.org/officeDocument/2006/relationships/image" Target="../media/image96.png"/><Relationship Id="rId15" Type="http://schemas.openxmlformats.org/officeDocument/2006/relationships/image" Target="../media/image75.png"/><Relationship Id="rId14" Type="http://schemas.openxmlformats.org/officeDocument/2006/relationships/image" Target="../media/image85.png"/><Relationship Id="rId17" Type="http://schemas.openxmlformats.org/officeDocument/2006/relationships/image" Target="../media/image79.png"/><Relationship Id="rId16" Type="http://schemas.openxmlformats.org/officeDocument/2006/relationships/image" Target="../media/image71.png"/><Relationship Id="rId19" Type="http://schemas.openxmlformats.org/officeDocument/2006/relationships/image" Target="../media/image83.png"/><Relationship Id="rId18" Type="http://schemas.openxmlformats.org/officeDocument/2006/relationships/image" Target="../media/image8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2.png"/><Relationship Id="rId4" Type="http://schemas.openxmlformats.org/officeDocument/2006/relationships/image" Target="../media/image90.png"/><Relationship Id="rId5" Type="http://schemas.openxmlformats.org/officeDocument/2006/relationships/image" Target="../media/image81.png"/><Relationship Id="rId6" Type="http://schemas.openxmlformats.org/officeDocument/2006/relationships/image" Target="../media/image25.png"/><Relationship Id="rId7" Type="http://schemas.openxmlformats.org/officeDocument/2006/relationships/image" Target="../media/image12.png"/><Relationship Id="rId8"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6.png"/><Relationship Id="rId4" Type="http://schemas.openxmlformats.org/officeDocument/2006/relationships/image" Target="../media/image93.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slide" Target="/ppt/slides/slide7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0" Type="http://schemas.openxmlformats.org/officeDocument/2006/relationships/image" Target="../media/image111.png"/><Relationship Id="rId22" Type="http://schemas.openxmlformats.org/officeDocument/2006/relationships/image" Target="../media/image118.png"/><Relationship Id="rId21" Type="http://schemas.openxmlformats.org/officeDocument/2006/relationships/image" Target="../media/image115.png"/><Relationship Id="rId23" Type="http://schemas.openxmlformats.org/officeDocument/2006/relationships/image" Target="../media/image113.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4.png"/><Relationship Id="rId4" Type="http://schemas.openxmlformats.org/officeDocument/2006/relationships/image" Target="../media/image125.png"/><Relationship Id="rId9" Type="http://schemas.openxmlformats.org/officeDocument/2006/relationships/image" Target="../media/image120.png"/><Relationship Id="rId5" Type="http://schemas.openxmlformats.org/officeDocument/2006/relationships/image" Target="../media/image105.png"/><Relationship Id="rId6" Type="http://schemas.openxmlformats.org/officeDocument/2006/relationships/image" Target="../media/image103.png"/><Relationship Id="rId7" Type="http://schemas.openxmlformats.org/officeDocument/2006/relationships/image" Target="../media/image101.png"/><Relationship Id="rId8" Type="http://schemas.openxmlformats.org/officeDocument/2006/relationships/image" Target="../media/image89.png"/><Relationship Id="rId11" Type="http://schemas.openxmlformats.org/officeDocument/2006/relationships/image" Target="../media/image116.png"/><Relationship Id="rId10" Type="http://schemas.openxmlformats.org/officeDocument/2006/relationships/image" Target="../media/image95.png"/><Relationship Id="rId13" Type="http://schemas.openxmlformats.org/officeDocument/2006/relationships/image" Target="../media/image100.png"/><Relationship Id="rId12" Type="http://schemas.openxmlformats.org/officeDocument/2006/relationships/image" Target="../media/image109.png"/><Relationship Id="rId15" Type="http://schemas.openxmlformats.org/officeDocument/2006/relationships/image" Target="../media/image91.png"/><Relationship Id="rId14" Type="http://schemas.openxmlformats.org/officeDocument/2006/relationships/image" Target="../media/image102.png"/><Relationship Id="rId17" Type="http://schemas.openxmlformats.org/officeDocument/2006/relationships/image" Target="../media/image106.png"/><Relationship Id="rId16" Type="http://schemas.openxmlformats.org/officeDocument/2006/relationships/image" Target="../media/image97.png"/><Relationship Id="rId19" Type="http://schemas.openxmlformats.org/officeDocument/2006/relationships/image" Target="../media/image107.png"/><Relationship Id="rId18" Type="http://schemas.openxmlformats.org/officeDocument/2006/relationships/image" Target="../media/image1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4.png"/><Relationship Id="rId4" Type="http://schemas.openxmlformats.org/officeDocument/2006/relationships/image" Target="../media/image114.png"/><Relationship Id="rId5" Type="http://schemas.openxmlformats.org/officeDocument/2006/relationships/image" Target="../media/image136.png"/><Relationship Id="rId6" Type="http://schemas.openxmlformats.org/officeDocument/2006/relationships/image" Target="../media/image1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30.png"/><Relationship Id="rId4" Type="http://schemas.openxmlformats.org/officeDocument/2006/relationships/image" Target="../media/image108.png"/><Relationship Id="rId9" Type="http://schemas.openxmlformats.org/officeDocument/2006/relationships/slide" Target="/ppt/slides/slide70.xml"/><Relationship Id="rId5" Type="http://schemas.openxmlformats.org/officeDocument/2006/relationships/image" Target="../media/image122.png"/><Relationship Id="rId6" Type="http://schemas.openxmlformats.org/officeDocument/2006/relationships/image" Target="../media/image112.png"/><Relationship Id="rId7" Type="http://schemas.openxmlformats.org/officeDocument/2006/relationships/image" Target="../media/image124.png"/><Relationship Id="rId8" Type="http://schemas.openxmlformats.org/officeDocument/2006/relationships/image" Target="../media/image1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6.png"/><Relationship Id="rId4" Type="http://schemas.openxmlformats.org/officeDocument/2006/relationships/image" Target="../media/image137.png"/><Relationship Id="rId9" Type="http://schemas.openxmlformats.org/officeDocument/2006/relationships/image" Target="../media/image129.png"/><Relationship Id="rId5" Type="http://schemas.openxmlformats.org/officeDocument/2006/relationships/image" Target="../media/image133.png"/><Relationship Id="rId6" Type="http://schemas.openxmlformats.org/officeDocument/2006/relationships/image" Target="../media/image119.png"/><Relationship Id="rId7" Type="http://schemas.openxmlformats.org/officeDocument/2006/relationships/image" Target="../media/image139.png"/><Relationship Id="rId8" Type="http://schemas.openxmlformats.org/officeDocument/2006/relationships/image" Target="../media/image128.png"/><Relationship Id="rId11" Type="http://schemas.openxmlformats.org/officeDocument/2006/relationships/image" Target="../media/image168.png"/><Relationship Id="rId10" Type="http://schemas.openxmlformats.org/officeDocument/2006/relationships/image" Target="../media/image157.png"/><Relationship Id="rId12" Type="http://schemas.openxmlformats.org/officeDocument/2006/relationships/image" Target="../media/image1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61.png"/><Relationship Id="rId4" Type="http://schemas.openxmlformats.org/officeDocument/2006/relationships/image" Target="../media/image127.png"/><Relationship Id="rId9" Type="http://schemas.openxmlformats.org/officeDocument/2006/relationships/image" Target="../media/image131.png"/><Relationship Id="rId5" Type="http://schemas.openxmlformats.org/officeDocument/2006/relationships/image" Target="../media/image123.png"/><Relationship Id="rId6" Type="http://schemas.openxmlformats.org/officeDocument/2006/relationships/image" Target="../media/image135.png"/><Relationship Id="rId7" Type="http://schemas.openxmlformats.org/officeDocument/2006/relationships/image" Target="../media/image138.png"/><Relationship Id="rId8" Type="http://schemas.openxmlformats.org/officeDocument/2006/relationships/image" Target="../media/image1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comments" Target="../comments/comment1.xml"/><Relationship Id="rId4" Type="http://schemas.openxmlformats.org/officeDocument/2006/relationships/image" Target="../media/image1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2.png"/><Relationship Id="rId4" Type="http://schemas.openxmlformats.org/officeDocument/2006/relationships/image" Target="../media/image154.png"/><Relationship Id="rId9" Type="http://schemas.openxmlformats.org/officeDocument/2006/relationships/image" Target="../media/image146.png"/><Relationship Id="rId5" Type="http://schemas.openxmlformats.org/officeDocument/2006/relationships/image" Target="../media/image153.png"/><Relationship Id="rId6" Type="http://schemas.openxmlformats.org/officeDocument/2006/relationships/image" Target="../media/image143.png"/><Relationship Id="rId7" Type="http://schemas.openxmlformats.org/officeDocument/2006/relationships/image" Target="../media/image134.png"/><Relationship Id="rId8" Type="http://schemas.openxmlformats.org/officeDocument/2006/relationships/image" Target="../media/image149.png"/><Relationship Id="rId11" Type="http://schemas.openxmlformats.org/officeDocument/2006/relationships/image" Target="../media/image169.png"/><Relationship Id="rId10" Type="http://schemas.openxmlformats.org/officeDocument/2006/relationships/image" Target="../media/image150.png"/><Relationship Id="rId13" Type="http://schemas.openxmlformats.org/officeDocument/2006/relationships/image" Target="../media/image145.png"/><Relationship Id="rId12" Type="http://schemas.openxmlformats.org/officeDocument/2006/relationships/image" Target="../media/image148.png"/><Relationship Id="rId14" Type="http://schemas.openxmlformats.org/officeDocument/2006/relationships/image" Target="../media/image1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62.png"/><Relationship Id="rId4" Type="http://schemas.openxmlformats.org/officeDocument/2006/relationships/image" Target="../media/image141.png"/><Relationship Id="rId9" Type="http://schemas.openxmlformats.org/officeDocument/2006/relationships/image" Target="../media/image164.png"/><Relationship Id="rId5" Type="http://schemas.openxmlformats.org/officeDocument/2006/relationships/image" Target="../media/image147.png"/><Relationship Id="rId6" Type="http://schemas.openxmlformats.org/officeDocument/2006/relationships/image" Target="../media/image160.png"/><Relationship Id="rId7" Type="http://schemas.openxmlformats.org/officeDocument/2006/relationships/image" Target="../media/image152.png"/><Relationship Id="rId8" Type="http://schemas.openxmlformats.org/officeDocument/2006/relationships/image" Target="../media/image1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5.xml"/><Relationship Id="rId3" Type="http://schemas.openxmlformats.org/officeDocument/2006/relationships/slide" Target="/ppt/slides/slide56.xml"/><Relationship Id="rId4" Type="http://schemas.openxmlformats.org/officeDocument/2006/relationships/slide" Target="/ppt/slides/slide56.xml"/><Relationship Id="rId9" Type="http://schemas.openxmlformats.org/officeDocument/2006/relationships/slide" Target="/ppt/slides/slide69.xml"/><Relationship Id="rId5" Type="http://schemas.openxmlformats.org/officeDocument/2006/relationships/slide" Target="/ppt/slides/slide58.xml"/><Relationship Id="rId6" Type="http://schemas.openxmlformats.org/officeDocument/2006/relationships/slide" Target="/ppt/slides/slide58.xml"/><Relationship Id="rId7" Type="http://schemas.openxmlformats.org/officeDocument/2006/relationships/slide" Target="/ppt/slides/slide66.xml"/><Relationship Id="rId8" Type="http://schemas.openxmlformats.org/officeDocument/2006/relationships/slide" Target="/ppt/slides/slide66.xml"/><Relationship Id="rId10" Type="http://schemas.openxmlformats.org/officeDocument/2006/relationships/slide" Target="/ppt/slides/slide6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59.png"/><Relationship Id="rId4" Type="http://schemas.openxmlformats.org/officeDocument/2006/relationships/image" Target="../media/image151.png"/><Relationship Id="rId5" Type="http://schemas.openxmlformats.org/officeDocument/2006/relationships/image" Target="../media/image1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17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67.png"/><Relationship Id="rId4" Type="http://schemas.openxmlformats.org/officeDocument/2006/relationships/image" Target="../media/image170.png"/><Relationship Id="rId5" Type="http://schemas.openxmlformats.org/officeDocument/2006/relationships/image" Target="../media/image1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17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6.png"/><Relationship Id="rId4" Type="http://schemas.openxmlformats.org/officeDocument/2006/relationships/image" Target="../media/image171.png"/><Relationship Id="rId5" Type="http://schemas.openxmlformats.org/officeDocument/2006/relationships/image" Target="../media/image18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17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72.png"/><Relationship Id="rId4" Type="http://schemas.openxmlformats.org/officeDocument/2006/relationships/image" Target="../media/image1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17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63.png"/><Relationship Id="rId4" Type="http://schemas.openxmlformats.org/officeDocument/2006/relationships/image" Target="../media/image177.png"/><Relationship Id="rId5" Type="http://schemas.openxmlformats.org/officeDocument/2006/relationships/image" Target="../media/image1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p:nvPr/>
        </p:nvSpPr>
        <p:spPr>
          <a:xfrm>
            <a:off x="0" y="0"/>
            <a:ext cx="171450" cy="6858000"/>
          </a:xfrm>
          <a:prstGeom prst="rect">
            <a:avLst/>
          </a:prstGeom>
          <a:solidFill>
            <a:srgbClr val="1F6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11658600" y="0"/>
            <a:ext cx="533400" cy="6858000"/>
          </a:xfrm>
          <a:prstGeom prst="rect">
            <a:avLst/>
          </a:prstGeom>
          <a:solidFill>
            <a:srgbClr val="ED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533400" y="419100"/>
            <a:ext cx="9810750" cy="2857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6FEB"/>
              </a:buClr>
              <a:buSzPts val="1275"/>
              <a:buFont typeface="Arial"/>
              <a:buNone/>
            </a:pPr>
            <a:r>
              <a:rPr b="1" i="0" lang="en-US" sz="1275" u="none" cap="none" strike="noStrike">
                <a:solidFill>
                  <a:srgbClr val="1F6FEB"/>
                </a:solidFill>
                <a:latin typeface="Arial"/>
                <a:ea typeface="Arial"/>
                <a:cs typeface="Arial"/>
                <a:sym typeface="Arial"/>
              </a:rPr>
              <a:t>UNIVERSIDAD NACIONAL DE ASUNCIÓN · FACULTAD POLITÉCNICA</a:t>
            </a:r>
            <a:endParaRPr/>
          </a:p>
        </p:txBody>
      </p:sp>
      <p:sp>
        <p:nvSpPr>
          <p:cNvPr id="94" name="Google Shape;94;p14"/>
          <p:cNvSpPr/>
          <p:nvPr/>
        </p:nvSpPr>
        <p:spPr>
          <a:xfrm>
            <a:off x="533400" y="1066800"/>
            <a:ext cx="10477500" cy="2571750"/>
          </a:xfrm>
          <a:prstGeom prst="rect">
            <a:avLst/>
          </a:prstGeom>
          <a:noFill/>
          <a:ln>
            <a:noFill/>
          </a:ln>
        </p:spPr>
        <p:txBody>
          <a:bodyPr anchorCtr="0" anchor="ctr" bIns="0" lIns="0" spcFirstLastPara="1" rIns="0" wrap="square" tIns="0">
            <a:noAutofit/>
          </a:bodyPr>
          <a:lstStyle/>
          <a:p>
            <a:pPr indent="0" lvl="0" marL="0" marR="0" rtl="0" algn="l">
              <a:lnSpc>
                <a:spcPct val="84000"/>
              </a:lnSpc>
              <a:spcBef>
                <a:spcPts val="0"/>
              </a:spcBef>
              <a:spcAft>
                <a:spcPts val="0"/>
              </a:spcAft>
              <a:buClr>
                <a:srgbClr val="0B1320"/>
              </a:buClr>
              <a:buSzPts val="3750"/>
              <a:buFont typeface="Arial"/>
              <a:buNone/>
            </a:pPr>
            <a:r>
              <a:rPr b="1" i="0" lang="en-US" sz="3750" u="none" cap="none" strike="noStrike">
                <a:solidFill>
                  <a:srgbClr val="111F5B"/>
                </a:solidFill>
              </a:rPr>
              <a:t>Detección y clasificación de ataques</a:t>
            </a:r>
            <a:endParaRPr b="1" i="0" sz="3750" u="none" cap="none" strike="noStrike">
              <a:solidFill>
                <a:srgbClr val="111F5B"/>
              </a:solidFill>
            </a:endParaRPr>
          </a:p>
          <a:p>
            <a:pPr indent="0" lvl="0" marL="0" marR="0" rtl="0" algn="l">
              <a:lnSpc>
                <a:spcPct val="84000"/>
              </a:lnSpc>
              <a:spcBef>
                <a:spcPts val="0"/>
              </a:spcBef>
              <a:spcAft>
                <a:spcPts val="0"/>
              </a:spcAft>
              <a:buClr>
                <a:srgbClr val="0B1320"/>
              </a:buClr>
              <a:buSzPts val="3750"/>
              <a:buFont typeface="Arial"/>
              <a:buNone/>
            </a:pPr>
            <a:r>
              <a:rPr b="1" i="0" lang="en-US" sz="3750" u="none" cap="none" strike="noStrike">
                <a:solidFill>
                  <a:srgbClr val="111F5B"/>
                </a:solidFill>
              </a:rPr>
              <a:t>en tráfico HTTP mediante enfoques</a:t>
            </a:r>
            <a:endParaRPr b="1" i="0" sz="3750" u="none" cap="none" strike="noStrike">
              <a:solidFill>
                <a:srgbClr val="111F5B"/>
              </a:solidFill>
            </a:endParaRPr>
          </a:p>
          <a:p>
            <a:pPr indent="0" lvl="0" marL="0" marR="0" rtl="0" algn="l">
              <a:lnSpc>
                <a:spcPct val="84000"/>
              </a:lnSpc>
              <a:spcBef>
                <a:spcPts val="0"/>
              </a:spcBef>
              <a:spcAft>
                <a:spcPts val="0"/>
              </a:spcAft>
              <a:buClr>
                <a:srgbClr val="0B1320"/>
              </a:buClr>
              <a:buSzPts val="3750"/>
              <a:buFont typeface="Arial"/>
              <a:buNone/>
            </a:pPr>
            <a:r>
              <a:rPr b="1" i="0" lang="en-US" sz="3750" u="none" cap="none" strike="noStrike">
                <a:solidFill>
                  <a:srgbClr val="111F5B"/>
                </a:solidFill>
              </a:rPr>
              <a:t>binario, multiclase</a:t>
            </a:r>
            <a:endParaRPr b="1" i="0" sz="3750" u="none" cap="none" strike="noStrike">
              <a:solidFill>
                <a:srgbClr val="111F5B"/>
              </a:solidFill>
            </a:endParaRPr>
          </a:p>
          <a:p>
            <a:pPr indent="0" lvl="0" marL="0" marR="0" rtl="0" algn="l">
              <a:lnSpc>
                <a:spcPct val="84000"/>
              </a:lnSpc>
              <a:spcBef>
                <a:spcPts val="0"/>
              </a:spcBef>
              <a:spcAft>
                <a:spcPts val="0"/>
              </a:spcAft>
              <a:buClr>
                <a:srgbClr val="0B1320"/>
              </a:buClr>
              <a:buSzPts val="3750"/>
              <a:buFont typeface="Arial"/>
              <a:buNone/>
            </a:pPr>
            <a:r>
              <a:rPr b="1" i="0" lang="en-US" sz="3750" u="none" cap="none" strike="noStrike">
                <a:solidFill>
                  <a:srgbClr val="111F5B"/>
                </a:solidFill>
              </a:rPr>
              <a:t>y multietiqueta utilizando modelos de machine learning</a:t>
            </a:r>
            <a:endParaRPr b="1" i="0" sz="3750" u="none" cap="none" strike="noStrike">
              <a:solidFill>
                <a:srgbClr val="111F5B"/>
              </a:solidFill>
            </a:endParaRPr>
          </a:p>
        </p:txBody>
      </p:sp>
      <p:sp>
        <p:nvSpPr>
          <p:cNvPr id="95" name="Google Shape;95;p14"/>
          <p:cNvSpPr/>
          <p:nvPr/>
        </p:nvSpPr>
        <p:spPr>
          <a:xfrm>
            <a:off x="533400" y="4000500"/>
            <a:ext cx="6477000" cy="19050"/>
          </a:xfrm>
          <a:prstGeom prst="rect">
            <a:avLst/>
          </a:prstGeom>
          <a:solidFill>
            <a:srgbClr val="C6D0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533400" y="4305300"/>
            <a:ext cx="9334500" cy="11239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1320"/>
              </a:buClr>
              <a:buSzPts val="1575"/>
              <a:buFont typeface="Arial"/>
              <a:buNone/>
            </a:pPr>
            <a:r>
              <a:rPr b="0" i="0" lang="en-US" sz="1575" u="none" cap="none" strike="noStrike">
                <a:solidFill>
                  <a:srgbClr val="0B1320"/>
                </a:solidFill>
                <a:latin typeface="Arial"/>
                <a:ea typeface="Arial"/>
                <a:cs typeface="Arial"/>
                <a:sym typeface="Arial"/>
              </a:rPr>
              <a:t>Autores</a:t>
            </a:r>
            <a:endParaRPr/>
          </a:p>
          <a:p>
            <a:pPr indent="0" lvl="0" marL="0" marR="0" rtl="0" algn="l">
              <a:lnSpc>
                <a:spcPct val="105000"/>
              </a:lnSpc>
              <a:spcBef>
                <a:spcPts val="10"/>
              </a:spcBef>
              <a:spcAft>
                <a:spcPts val="0"/>
              </a:spcAft>
              <a:buClr>
                <a:srgbClr val="0B1320"/>
              </a:buClr>
              <a:buSzPts val="1575"/>
              <a:buFont typeface="Arial"/>
              <a:buNone/>
            </a:pPr>
            <a:r>
              <a:rPr b="0" i="0" lang="en-US" sz="1575" u="none" cap="none" strike="noStrike">
                <a:solidFill>
                  <a:srgbClr val="0B1320"/>
                </a:solidFill>
                <a:latin typeface="Arial"/>
                <a:ea typeface="Arial"/>
                <a:cs typeface="Arial"/>
                <a:sym typeface="Arial"/>
              </a:rPr>
              <a:t>Andrés Moisés Román Medina · Juan Andrés González Arévalos</a:t>
            </a:r>
            <a:endParaRPr/>
          </a:p>
          <a:p>
            <a:pPr indent="0" lvl="0" marL="0" marR="0" rtl="0" algn="l">
              <a:lnSpc>
                <a:spcPct val="105000"/>
              </a:lnSpc>
              <a:spcBef>
                <a:spcPts val="10"/>
              </a:spcBef>
              <a:spcAft>
                <a:spcPts val="0"/>
              </a:spcAft>
              <a:buClr>
                <a:srgbClr val="0B1320"/>
              </a:buClr>
              <a:buSzPts val="1575"/>
              <a:buFont typeface="Arial"/>
              <a:buNone/>
            </a:pPr>
            <a:r>
              <a:rPr b="0" i="0" lang="en-US" sz="1575" u="none" cap="none" strike="noStrike">
                <a:solidFill>
                  <a:srgbClr val="0B1320"/>
                </a:solidFill>
                <a:latin typeface="Arial"/>
                <a:ea typeface="Arial"/>
                <a:cs typeface="Arial"/>
                <a:sym typeface="Arial"/>
              </a:rPr>
              <a:t>Tutor</a:t>
            </a:r>
            <a:endParaRPr/>
          </a:p>
          <a:p>
            <a:pPr indent="0" lvl="0" marL="0" marR="0" rtl="0" algn="l">
              <a:lnSpc>
                <a:spcPct val="105000"/>
              </a:lnSpc>
              <a:spcBef>
                <a:spcPts val="10"/>
              </a:spcBef>
              <a:spcAft>
                <a:spcPts val="0"/>
              </a:spcAft>
              <a:buClr>
                <a:srgbClr val="0B1320"/>
              </a:buClr>
              <a:buSzPts val="1575"/>
              <a:buFont typeface="Arial"/>
              <a:buNone/>
            </a:pPr>
            <a:r>
              <a:rPr b="0" i="0" lang="en-US" sz="1575" u="none" cap="none" strike="noStrike">
                <a:solidFill>
                  <a:srgbClr val="0B1320"/>
                </a:solidFill>
                <a:latin typeface="Arial"/>
                <a:ea typeface="Arial"/>
                <a:cs typeface="Arial"/>
                <a:sym typeface="Arial"/>
              </a:rPr>
              <a:t>Cristian R. Cappo A.</a:t>
            </a:r>
            <a:endParaRPr/>
          </a:p>
        </p:txBody>
      </p:sp>
      <p:sp>
        <p:nvSpPr>
          <p:cNvPr id="97" name="Google Shape;97;p14"/>
          <p:cNvSpPr/>
          <p:nvPr/>
        </p:nvSpPr>
        <p:spPr>
          <a:xfrm>
            <a:off x="533400" y="6191250"/>
            <a:ext cx="6667500"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2606D"/>
              </a:buClr>
              <a:buSzPts val="1350"/>
              <a:buFont typeface="Arial"/>
              <a:buNone/>
            </a:pPr>
            <a:r>
              <a:rPr b="0" i="0" lang="en-US" sz="1350" u="none" cap="none" strike="noStrike">
                <a:solidFill>
                  <a:srgbClr val="52606D"/>
                </a:solidFill>
                <a:latin typeface="Arial"/>
                <a:ea typeface="Arial"/>
                <a:cs typeface="Arial"/>
                <a:sym typeface="Arial"/>
              </a:rPr>
              <a:t>San Lorenzo · Paraguay · 2026</a:t>
            </a:r>
            <a:endParaRPr/>
          </a:p>
        </p:txBody>
      </p:sp>
      <p:sp>
        <p:nvSpPr>
          <p:cNvPr id="98" name="Google Shape;98;p1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14" title="DEFENSA_SEGURA_V2:portada-superior"/>
          <p:cNvSpPr/>
          <p:nvPr/>
        </p:nvSpPr>
        <p:spPr>
          <a:xfrm>
            <a:off x="0" y="0"/>
            <a:ext cx="12192000" cy="822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0" name="Google Shape;100;p14" title="DEFENSA_SEGURA_V2:portada-inferior"/>
          <p:cNvSpPr/>
          <p:nvPr/>
        </p:nvSpPr>
        <p:spPr>
          <a:xfrm>
            <a:off x="0" y="6775704"/>
            <a:ext cx="12192000" cy="822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1" name="Google Shape;101;p14" title="DEFENSA_SEGURA_V2:portada-acento"/>
          <p:cNvSpPr/>
          <p:nvPr/>
        </p:nvSpPr>
        <p:spPr>
          <a:xfrm>
            <a:off x="292608" y="617220"/>
            <a:ext cx="48900" cy="49377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15" title="DEFENSA_SEGURA_V2:indice-superior"/>
          <p:cNvSpPr/>
          <p:nvPr/>
        </p:nvSpPr>
        <p:spPr>
          <a:xfrm>
            <a:off x="0" y="0"/>
            <a:ext cx="12192000" cy="822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7" name="Google Shape;107;p15" title="DEFENSA_SEGURA_V2:indice-acento"/>
          <p:cNvSpPr/>
          <p:nvPr/>
        </p:nvSpPr>
        <p:spPr>
          <a:xfrm>
            <a:off x="731520" y="1165860"/>
            <a:ext cx="48900" cy="44577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8" name="Google Shape;108;p15" title="DEFENSA_SEGURA_V2:indice-titulo"/>
          <p:cNvSpPr txBox="1"/>
          <p:nvPr/>
        </p:nvSpPr>
        <p:spPr>
          <a:xfrm>
            <a:off x="1158240" y="617220"/>
            <a:ext cx="4267200" cy="6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3000">
                <a:solidFill>
                  <a:srgbClr val="111F5B"/>
                </a:solidFill>
              </a:rPr>
              <a:t>Índice</a:t>
            </a:r>
            <a:endParaRPr b="1" sz="3000">
              <a:solidFill>
                <a:srgbClr val="111F5B"/>
              </a:solidFill>
            </a:endParaRPr>
          </a:p>
        </p:txBody>
      </p:sp>
      <p:sp>
        <p:nvSpPr>
          <p:cNvPr id="109" name="Google Shape;109;p15" title="DEFENSA_SEGURA_V2:indice-subtitulo"/>
          <p:cNvSpPr txBox="1"/>
          <p:nvPr/>
        </p:nvSpPr>
        <p:spPr>
          <a:xfrm>
            <a:off x="1158240" y="1234440"/>
            <a:ext cx="48768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647184"/>
                </a:solidFill>
              </a:rPr>
              <a:t>Estructura de la presentación</a:t>
            </a:r>
            <a:endParaRPr sz="1200">
              <a:solidFill>
                <a:srgbClr val="647184"/>
              </a:solidFill>
            </a:endParaRPr>
          </a:p>
        </p:txBody>
      </p:sp>
      <p:sp>
        <p:nvSpPr>
          <p:cNvPr id="110" name="Google Shape;110;p15" title="DEFENSA_SEGURA_V2:indice-numero-0"/>
          <p:cNvSpPr txBox="1"/>
          <p:nvPr/>
        </p:nvSpPr>
        <p:spPr>
          <a:xfrm>
            <a:off x="1280160" y="18542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01</a:t>
            </a:r>
            <a:endParaRPr b="1" sz="1600">
              <a:solidFill>
                <a:srgbClr val="18A7A0"/>
              </a:solidFill>
            </a:endParaRPr>
          </a:p>
        </p:txBody>
      </p:sp>
      <p:sp>
        <p:nvSpPr>
          <p:cNvPr id="111" name="Google Shape;111;p15" title="DEFENSA_SEGURA_V2:indice-item-0">
            <a:hlinkClick action="ppaction://hlinksldjump" r:id="rId3"/>
          </p:cNvPr>
          <p:cNvSpPr txBox="1"/>
          <p:nvPr/>
        </p:nvSpPr>
        <p:spPr>
          <a:xfrm>
            <a:off x="2133600" y="1854200"/>
            <a:ext cx="70713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172033"/>
                </a:solidFill>
              </a:rPr>
              <a:t>Introducción</a:t>
            </a:r>
            <a:endParaRPr>
              <a:solidFill>
                <a:srgbClr val="172033"/>
              </a:solidFill>
            </a:endParaRPr>
          </a:p>
        </p:txBody>
      </p:sp>
      <p:sp>
        <p:nvSpPr>
          <p:cNvPr id="112" name="Google Shape;112;p15" title="DEFENSA_SEGURA_V2:indice-paginas-0">
            <a:hlinkClick action="ppaction://hlinksldjump" r:id="rId4"/>
          </p:cNvPr>
          <p:cNvSpPr txBox="1"/>
          <p:nvPr/>
        </p:nvSpPr>
        <p:spPr>
          <a:xfrm>
            <a:off x="9997440" y="1854200"/>
            <a:ext cx="9753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rgbClr val="647184"/>
                </a:solidFill>
              </a:rPr>
              <a:t>3-16</a:t>
            </a:r>
            <a:endParaRPr sz="1000">
              <a:solidFill>
                <a:srgbClr val="647184"/>
              </a:solidFill>
            </a:endParaRPr>
          </a:p>
        </p:txBody>
      </p:sp>
      <p:sp>
        <p:nvSpPr>
          <p:cNvPr id="113" name="Google Shape;113;p15" title="DEFENSA_SEGURA_V2:indice-linea-0"/>
          <p:cNvSpPr/>
          <p:nvPr/>
        </p:nvSpPr>
        <p:spPr>
          <a:xfrm>
            <a:off x="2133600" y="22479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4" name="Google Shape;114;p15" title="DEFENSA_SEGURA_V2:indice-numero-1"/>
          <p:cNvSpPr txBox="1"/>
          <p:nvPr/>
        </p:nvSpPr>
        <p:spPr>
          <a:xfrm>
            <a:off x="1280160" y="24003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02</a:t>
            </a:r>
            <a:endParaRPr b="1" sz="1600">
              <a:solidFill>
                <a:srgbClr val="18A7A0"/>
              </a:solidFill>
            </a:endParaRPr>
          </a:p>
        </p:txBody>
      </p:sp>
      <p:sp>
        <p:nvSpPr>
          <p:cNvPr id="115" name="Google Shape;115;p15" title="DEFENSA_SEGURA_V2:indice-item-1"/>
          <p:cNvSpPr txBox="1"/>
          <p:nvPr/>
        </p:nvSpPr>
        <p:spPr>
          <a:xfrm>
            <a:off x="2133600" y="2400300"/>
            <a:ext cx="70713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172033"/>
                </a:solidFill>
              </a:rPr>
              <a:t>Fundamentos</a:t>
            </a:r>
            <a:endParaRPr>
              <a:solidFill>
                <a:srgbClr val="172033"/>
              </a:solidFill>
            </a:endParaRPr>
          </a:p>
        </p:txBody>
      </p:sp>
      <p:sp>
        <p:nvSpPr>
          <p:cNvPr id="116" name="Google Shape;116;p15" title="DEFENSA_SEGURA_V2:indice-paginas-1"/>
          <p:cNvSpPr txBox="1"/>
          <p:nvPr/>
        </p:nvSpPr>
        <p:spPr>
          <a:xfrm>
            <a:off x="9997440" y="2400300"/>
            <a:ext cx="9753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00">
                <a:solidFill>
                  <a:srgbClr val="647184"/>
                </a:solidFill>
              </a:rPr>
              <a:t>17-19</a:t>
            </a:r>
            <a:endParaRPr sz="1000">
              <a:solidFill>
                <a:srgbClr val="647184"/>
              </a:solidFill>
            </a:endParaRPr>
          </a:p>
        </p:txBody>
      </p:sp>
      <p:sp>
        <p:nvSpPr>
          <p:cNvPr id="117" name="Google Shape;117;p15" title="DEFENSA_SEGURA_V2:indice-linea-1"/>
          <p:cNvSpPr/>
          <p:nvPr/>
        </p:nvSpPr>
        <p:spPr>
          <a:xfrm>
            <a:off x="2133600" y="27940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8" name="Google Shape;118;p15" title="DEFENSA_SEGURA_V2:indice-numero-2"/>
          <p:cNvSpPr txBox="1"/>
          <p:nvPr/>
        </p:nvSpPr>
        <p:spPr>
          <a:xfrm>
            <a:off x="1280160" y="29464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03</a:t>
            </a:r>
            <a:endParaRPr b="1" sz="1600">
              <a:solidFill>
                <a:srgbClr val="18A7A0"/>
              </a:solidFill>
            </a:endParaRPr>
          </a:p>
        </p:txBody>
      </p:sp>
      <p:sp>
        <p:nvSpPr>
          <p:cNvPr id="119" name="Google Shape;119;p15" title="DEFENSA_SEGURA_V2:indice-item-2">
            <a:hlinkClick action="ppaction://hlinksldjump" r:id="rId5"/>
          </p:cNvPr>
          <p:cNvSpPr txBox="1"/>
          <p:nvPr/>
        </p:nvSpPr>
        <p:spPr>
          <a:xfrm>
            <a:off x="2133600" y="2946400"/>
            <a:ext cx="70713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US">
                <a:solidFill>
                  <a:srgbClr val="172033"/>
                </a:solidFill>
              </a:rPr>
              <a:t>Diseño común de las pruebas</a:t>
            </a:r>
            <a:endParaRPr>
              <a:solidFill>
                <a:srgbClr val="172033"/>
              </a:solidFill>
            </a:endParaRPr>
          </a:p>
        </p:txBody>
      </p:sp>
      <p:sp>
        <p:nvSpPr>
          <p:cNvPr id="120" name="Google Shape;120;p15" title="DEFENSA_SEGURA_V2:indice-paginas-2">
            <a:hlinkClick action="ppaction://hlinksldjump" r:id="rId6"/>
          </p:cNvPr>
          <p:cNvSpPr txBox="1"/>
          <p:nvPr/>
        </p:nvSpPr>
        <p:spPr>
          <a:xfrm>
            <a:off x="9997440" y="2946400"/>
            <a:ext cx="975300" cy="3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647184"/>
                </a:solidFill>
              </a:rPr>
              <a:t>20–28</a:t>
            </a:r>
            <a:endParaRPr sz="1000">
              <a:solidFill>
                <a:srgbClr val="647184"/>
              </a:solidFill>
            </a:endParaRPr>
          </a:p>
        </p:txBody>
      </p:sp>
      <p:sp>
        <p:nvSpPr>
          <p:cNvPr id="121" name="Google Shape;121;p15" title="DEFENSA_SEGURA_V2:indice-linea-2"/>
          <p:cNvSpPr/>
          <p:nvPr/>
        </p:nvSpPr>
        <p:spPr>
          <a:xfrm>
            <a:off x="2133600" y="33401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2" name="Google Shape;122;p15" title="DEFENSA_SEGURA_V2:indice-numero-3"/>
          <p:cNvSpPr txBox="1"/>
          <p:nvPr/>
        </p:nvSpPr>
        <p:spPr>
          <a:xfrm>
            <a:off x="1280160" y="34925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04</a:t>
            </a:r>
            <a:endParaRPr b="1" sz="1600">
              <a:solidFill>
                <a:srgbClr val="18A7A0"/>
              </a:solidFill>
            </a:endParaRPr>
          </a:p>
        </p:txBody>
      </p:sp>
      <p:sp>
        <p:nvSpPr>
          <p:cNvPr id="123" name="Google Shape;123;p15" title="DEFENSA_SEGURA_V2:indice-item-3">
            <a:hlinkClick action="ppaction://hlinksldjump" r:id="rId7"/>
          </p:cNvPr>
          <p:cNvSpPr txBox="1"/>
          <p:nvPr/>
        </p:nvSpPr>
        <p:spPr>
          <a:xfrm>
            <a:off x="2133600" y="3492500"/>
            <a:ext cx="70713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US">
                <a:solidFill>
                  <a:srgbClr val="172033"/>
                </a:solidFill>
              </a:rPr>
              <a:t>Enfoques: método, comparación y resultados</a:t>
            </a:r>
            <a:endParaRPr>
              <a:solidFill>
                <a:srgbClr val="172033"/>
              </a:solidFill>
            </a:endParaRPr>
          </a:p>
        </p:txBody>
      </p:sp>
      <p:sp>
        <p:nvSpPr>
          <p:cNvPr id="124" name="Google Shape;124;p15" title="DEFENSA_SEGURA_V2:indice-paginas-3">
            <a:hlinkClick action="ppaction://hlinksldjump" r:id="rId8"/>
          </p:cNvPr>
          <p:cNvSpPr txBox="1"/>
          <p:nvPr/>
        </p:nvSpPr>
        <p:spPr>
          <a:xfrm>
            <a:off x="9997440" y="3492500"/>
            <a:ext cx="975300" cy="3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647184"/>
                </a:solidFill>
              </a:rPr>
              <a:t>29–51</a:t>
            </a:r>
            <a:endParaRPr sz="1000">
              <a:solidFill>
                <a:srgbClr val="647184"/>
              </a:solidFill>
            </a:endParaRPr>
          </a:p>
        </p:txBody>
      </p:sp>
      <p:sp>
        <p:nvSpPr>
          <p:cNvPr id="125" name="Google Shape;125;p15" title="DEFENSA_SEGURA_V2:indice-linea-3"/>
          <p:cNvSpPr/>
          <p:nvPr/>
        </p:nvSpPr>
        <p:spPr>
          <a:xfrm>
            <a:off x="2133600" y="38862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6" name="Google Shape;126;p15" title="DEFENSA_SEGURA_V2:indice-numero-4"/>
          <p:cNvSpPr txBox="1"/>
          <p:nvPr/>
        </p:nvSpPr>
        <p:spPr>
          <a:xfrm>
            <a:off x="1280160" y="40386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05</a:t>
            </a:r>
            <a:endParaRPr b="1" sz="1600">
              <a:solidFill>
                <a:srgbClr val="18A7A0"/>
              </a:solidFill>
            </a:endParaRPr>
          </a:p>
        </p:txBody>
      </p:sp>
      <p:sp>
        <p:nvSpPr>
          <p:cNvPr id="127" name="Google Shape;127;p15" title="DEFENSA_SEGURA_V2:indice-item-4">
            <a:hlinkClick action="ppaction://hlinksldjump" r:id="rId9"/>
          </p:cNvPr>
          <p:cNvSpPr txBox="1"/>
          <p:nvPr/>
        </p:nvSpPr>
        <p:spPr>
          <a:xfrm>
            <a:off x="2133600" y="4038600"/>
            <a:ext cx="70713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US">
                <a:solidFill>
                  <a:srgbClr val="172033"/>
                </a:solidFill>
              </a:rPr>
              <a:t>Conclusiones y trabajos futuros</a:t>
            </a:r>
            <a:endParaRPr>
              <a:solidFill>
                <a:srgbClr val="172033"/>
              </a:solidFill>
            </a:endParaRPr>
          </a:p>
        </p:txBody>
      </p:sp>
      <p:sp>
        <p:nvSpPr>
          <p:cNvPr id="128" name="Google Shape;128;p15" title="DEFENSA_SEGURA_V2:indice-paginas-4">
            <a:hlinkClick action="ppaction://hlinksldjump" r:id="rId10"/>
          </p:cNvPr>
          <p:cNvSpPr txBox="1"/>
          <p:nvPr/>
        </p:nvSpPr>
        <p:spPr>
          <a:xfrm>
            <a:off x="9997440" y="4038600"/>
            <a:ext cx="975300" cy="3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647184"/>
                </a:solidFill>
              </a:rPr>
              <a:t>52–55</a:t>
            </a:r>
            <a:endParaRPr sz="1000">
              <a:solidFill>
                <a:srgbClr val="647184"/>
              </a:solidFill>
            </a:endParaRPr>
          </a:p>
        </p:txBody>
      </p:sp>
      <p:sp>
        <p:nvSpPr>
          <p:cNvPr id="129" name="Google Shape;129;p15" title="DEFENSA_SEGURA_V2:indice-linea-4"/>
          <p:cNvSpPr/>
          <p:nvPr/>
        </p:nvSpPr>
        <p:spPr>
          <a:xfrm>
            <a:off x="2133600" y="44323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0" name="Google Shape;130;p15" title="DEFENSA_SEGURA_V2:indice-numero-5"/>
          <p:cNvSpPr txBox="1"/>
          <p:nvPr/>
        </p:nvSpPr>
        <p:spPr>
          <a:xfrm>
            <a:off x="1280160" y="45847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06</a:t>
            </a:r>
            <a:endParaRPr b="1" sz="1600">
              <a:solidFill>
                <a:srgbClr val="18A7A0"/>
              </a:solidFill>
            </a:endParaRPr>
          </a:p>
        </p:txBody>
      </p:sp>
      <p:sp>
        <p:nvSpPr>
          <p:cNvPr id="131" name="Google Shape;131;p15" title="DEFENSA_SEGURA_V2:indice-item-5">
            <a:hlinkClick action="ppaction://hlinksldjump" r:id="rId11"/>
          </p:cNvPr>
          <p:cNvSpPr txBox="1"/>
          <p:nvPr/>
        </p:nvSpPr>
        <p:spPr>
          <a:xfrm>
            <a:off x="2133600" y="4584700"/>
            <a:ext cx="70713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US">
                <a:solidFill>
                  <a:srgbClr val="172033"/>
                </a:solidFill>
              </a:rPr>
              <a:t>Anexo</a:t>
            </a:r>
            <a:endParaRPr>
              <a:solidFill>
                <a:srgbClr val="172033"/>
              </a:solidFill>
            </a:endParaRPr>
          </a:p>
        </p:txBody>
      </p:sp>
      <p:sp>
        <p:nvSpPr>
          <p:cNvPr id="132" name="Google Shape;132;p15" title="DEFENSA_SEGURA_V2:indice-paginas-5">
            <a:hlinkClick action="ppaction://hlinksldjump" r:id="rId12"/>
          </p:cNvPr>
          <p:cNvSpPr txBox="1"/>
          <p:nvPr/>
        </p:nvSpPr>
        <p:spPr>
          <a:xfrm>
            <a:off x="9997440" y="4584700"/>
            <a:ext cx="975300" cy="3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647184"/>
                </a:solidFill>
              </a:rPr>
              <a:t>56–71</a:t>
            </a:r>
            <a:endParaRPr sz="1000">
              <a:solidFill>
                <a:srgbClr val="647184"/>
              </a:solidFill>
            </a:endParaRPr>
          </a:p>
        </p:txBody>
      </p:sp>
      <p:sp>
        <p:nvSpPr>
          <p:cNvPr id="133" name="Google Shape;133;p15" title="DEFENSA_SEGURA_V2:indice-linea-5"/>
          <p:cNvSpPr/>
          <p:nvPr/>
        </p:nvSpPr>
        <p:spPr>
          <a:xfrm>
            <a:off x="2133600" y="49784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4" name="Google Shape;134;p15" title="DEFENSA_SEGURA_V2:pagina-2"/>
          <p:cNvSpPr txBox="1"/>
          <p:nvPr/>
        </p:nvSpPr>
        <p:spPr>
          <a:xfrm>
            <a:off x="11765280" y="6549390"/>
            <a:ext cx="243900" cy="13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700">
                <a:solidFill>
                  <a:srgbClr val="647184"/>
                </a:solidFill>
              </a:rPr>
              <a:t>2</a:t>
            </a:r>
            <a:endParaRPr sz="700">
              <a:solidFill>
                <a:srgbClr val="647184"/>
              </a:solidFill>
            </a:endParaRPr>
          </a:p>
        </p:txBody>
      </p:sp>
      <p:sp>
        <p:nvSpPr>
          <p:cNvPr id="135" name="Google Shape;135;p15" title="DEFENSA_SEGURA_V2:indice-numero-5"/>
          <p:cNvSpPr txBox="1"/>
          <p:nvPr/>
        </p:nvSpPr>
        <p:spPr>
          <a:xfrm>
            <a:off x="1280160" y="5130800"/>
            <a:ext cx="6096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600">
                <a:solidFill>
                  <a:srgbClr val="18A7A0"/>
                </a:solidFill>
              </a:rPr>
              <a:t>07</a:t>
            </a:r>
            <a:endParaRPr b="1" sz="1600">
              <a:solidFill>
                <a:srgbClr val="18A7A0"/>
              </a:solidFill>
            </a:endParaRPr>
          </a:p>
        </p:txBody>
      </p:sp>
      <p:sp>
        <p:nvSpPr>
          <p:cNvPr id="136" name="Google Shape;136;p15" title="DEFENSA_SEGURA_V2:indice-item-5">
            <a:hlinkClick action="ppaction://hlinksldjump" r:id="rId13"/>
          </p:cNvPr>
          <p:cNvSpPr txBox="1"/>
          <p:nvPr/>
        </p:nvSpPr>
        <p:spPr>
          <a:xfrm>
            <a:off x="2133600" y="5130800"/>
            <a:ext cx="7071300" cy="342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US">
                <a:solidFill>
                  <a:srgbClr val="172033"/>
                </a:solidFill>
              </a:rPr>
              <a:t>Cierre</a:t>
            </a:r>
            <a:endParaRPr>
              <a:solidFill>
                <a:srgbClr val="172033"/>
              </a:solidFill>
            </a:endParaRPr>
          </a:p>
        </p:txBody>
      </p:sp>
      <p:sp>
        <p:nvSpPr>
          <p:cNvPr id="137" name="Google Shape;137;p15" title="DEFENSA_SEGURA_V2:indice-paginas-5">
            <a:hlinkClick action="ppaction://hlinksldjump" r:id="rId14"/>
          </p:cNvPr>
          <p:cNvSpPr txBox="1"/>
          <p:nvPr/>
        </p:nvSpPr>
        <p:spPr>
          <a:xfrm>
            <a:off x="9997440" y="5130800"/>
            <a:ext cx="975300" cy="34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647184"/>
                </a:solidFill>
              </a:rPr>
              <a:t>72</a:t>
            </a:r>
            <a:endParaRPr sz="1000">
              <a:solidFill>
                <a:srgbClr val="647184"/>
              </a:solidFill>
            </a:endParaRPr>
          </a:p>
        </p:txBody>
      </p:sp>
      <p:sp>
        <p:nvSpPr>
          <p:cNvPr id="138" name="Google Shape;138;p15" title="DEFENSA_SEGURA_V2:indice-linea-5"/>
          <p:cNvSpPr/>
          <p:nvPr/>
        </p:nvSpPr>
        <p:spPr>
          <a:xfrm>
            <a:off x="2133600" y="5524500"/>
            <a:ext cx="8778300" cy="8100"/>
          </a:xfrm>
          <a:prstGeom prst="rect">
            <a:avLst/>
          </a:prstGeom>
          <a:solidFill>
            <a:srgbClr val="D8E0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6"/>
          <p:cNvSpPr/>
          <p:nvPr/>
        </p:nvSpPr>
        <p:spPr>
          <a:xfrm>
            <a:off x="8129350" y="1056759"/>
            <a:ext cx="3848060" cy="2791301"/>
          </a:xfrm>
          <a:prstGeom prst="roundRect">
            <a:avLst>
              <a:gd fmla="val 2089" name="adj"/>
            </a:avLst>
          </a:prstGeom>
          <a:solidFill>
            <a:srgbClr val="E2F4FF"/>
          </a:solidFill>
          <a:ln cap="flat" cmpd="sng" w="9525">
            <a:solidFill>
              <a:srgbClr val="E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236455" y="1056759"/>
            <a:ext cx="3826196" cy="2791301"/>
          </a:xfrm>
          <a:prstGeom prst="roundRect">
            <a:avLst>
              <a:gd fmla="val 2089" name="adj"/>
            </a:avLst>
          </a:prstGeom>
          <a:solidFill>
            <a:srgbClr val="E2F4FF"/>
          </a:solidFill>
          <a:ln cap="flat" cmpd="sng" w="9525">
            <a:solidFill>
              <a:srgbClr val="E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4208410" y="1056759"/>
            <a:ext cx="3782468" cy="2791301"/>
          </a:xfrm>
          <a:prstGeom prst="roundRect">
            <a:avLst>
              <a:gd fmla="val 2089" name="adj"/>
            </a:avLst>
          </a:prstGeom>
          <a:solidFill>
            <a:srgbClr val="E2F4FF"/>
          </a:solidFill>
          <a:ln cap="flat" cmpd="sng" w="9525">
            <a:solidFill>
              <a:srgbClr val="E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3">
            <a:alphaModFix/>
          </a:blip>
          <a:srcRect b="0" l="0" r="0" t="0"/>
          <a:stretch/>
        </p:blipFill>
        <p:spPr>
          <a:xfrm>
            <a:off x="571702" y="1596070"/>
            <a:ext cx="3177564" cy="2120806"/>
          </a:xfrm>
          <a:prstGeom prst="rect">
            <a:avLst/>
          </a:prstGeom>
          <a:noFill/>
          <a:ln>
            <a:noFill/>
          </a:ln>
        </p:spPr>
      </p:pic>
      <p:pic>
        <p:nvPicPr>
          <p:cNvPr id="147" name="Google Shape;147;p16"/>
          <p:cNvPicPr preferRelativeResize="0"/>
          <p:nvPr/>
        </p:nvPicPr>
        <p:blipFill rotWithShape="1">
          <a:blip r:embed="rId4">
            <a:alphaModFix/>
          </a:blip>
          <a:srcRect b="0" l="0" r="0" t="0"/>
          <a:stretch/>
        </p:blipFill>
        <p:spPr>
          <a:xfrm>
            <a:off x="4514506" y="1596070"/>
            <a:ext cx="3192140" cy="2120806"/>
          </a:xfrm>
          <a:prstGeom prst="rect">
            <a:avLst/>
          </a:prstGeom>
          <a:noFill/>
          <a:ln>
            <a:noFill/>
          </a:ln>
        </p:spPr>
      </p:pic>
      <p:pic>
        <p:nvPicPr>
          <p:cNvPr id="148" name="Google Shape;148;p16"/>
          <p:cNvPicPr preferRelativeResize="0"/>
          <p:nvPr/>
        </p:nvPicPr>
        <p:blipFill rotWithShape="1">
          <a:blip r:embed="rId5">
            <a:alphaModFix/>
          </a:blip>
          <a:srcRect b="0" l="0" r="0" t="0"/>
          <a:stretch/>
        </p:blipFill>
        <p:spPr>
          <a:xfrm>
            <a:off x="8464597" y="1588782"/>
            <a:ext cx="3192140" cy="2128094"/>
          </a:xfrm>
          <a:prstGeom prst="rect">
            <a:avLst/>
          </a:prstGeom>
          <a:noFill/>
          <a:ln>
            <a:noFill/>
          </a:ln>
        </p:spPr>
      </p:pic>
      <p:pic>
        <p:nvPicPr>
          <p:cNvPr id="149" name="Google Shape;149;p16"/>
          <p:cNvPicPr preferRelativeResize="0"/>
          <p:nvPr/>
        </p:nvPicPr>
        <p:blipFill rotWithShape="1">
          <a:blip r:embed="rId6">
            <a:alphaModFix/>
          </a:blip>
          <a:srcRect b="0" l="0" r="0" t="0"/>
          <a:stretch/>
        </p:blipFill>
        <p:spPr>
          <a:xfrm>
            <a:off x="1008982" y="4831938"/>
            <a:ext cx="2587237" cy="1151503"/>
          </a:xfrm>
          <a:prstGeom prst="rect">
            <a:avLst/>
          </a:prstGeom>
          <a:noFill/>
          <a:ln>
            <a:noFill/>
          </a:ln>
        </p:spPr>
      </p:pic>
      <p:pic>
        <p:nvPicPr>
          <p:cNvPr id="150" name="Google Shape;150;p16"/>
          <p:cNvPicPr preferRelativeResize="0"/>
          <p:nvPr/>
        </p:nvPicPr>
        <p:blipFill rotWithShape="1">
          <a:blip r:embed="rId7">
            <a:alphaModFix/>
          </a:blip>
          <a:srcRect b="0" l="0" r="0" t="0"/>
          <a:stretch/>
        </p:blipFill>
        <p:spPr>
          <a:xfrm>
            <a:off x="9113228" y="4810074"/>
            <a:ext cx="2120806" cy="1173367"/>
          </a:xfrm>
          <a:prstGeom prst="rect">
            <a:avLst/>
          </a:prstGeom>
          <a:noFill/>
          <a:ln>
            <a:noFill/>
          </a:ln>
        </p:spPr>
      </p:pic>
      <p:sp>
        <p:nvSpPr>
          <p:cNvPr id="151" name="Google Shape;151;p16"/>
          <p:cNvSpPr/>
          <p:nvPr/>
        </p:nvSpPr>
        <p:spPr>
          <a:xfrm>
            <a:off x="3887739" y="5167186"/>
            <a:ext cx="4693467" cy="153048"/>
          </a:xfrm>
          <a:prstGeom prst="rightArrow">
            <a:avLst>
              <a:gd fmla="val 50000" name="adj1"/>
              <a:gd fmla="val 50000" name="adj2"/>
            </a:avLst>
          </a:prstGeom>
          <a:solidFill>
            <a:srgbClr val="007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3887739" y="5568026"/>
            <a:ext cx="4693467" cy="153048"/>
          </a:xfrm>
          <a:prstGeom prst="leftArrow">
            <a:avLst>
              <a:gd fmla="val 50000" name="adj1"/>
              <a:gd fmla="val 50000" name="adj2"/>
            </a:avLst>
          </a:prstGeom>
          <a:solidFill>
            <a:srgbClr val="009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2211781" y="225760"/>
            <a:ext cx="8045400" cy="8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559" u="none" cap="none" strike="noStrike">
                <a:solidFill>
                  <a:srgbClr val="111F5B"/>
                </a:solidFill>
              </a:rPr>
              <a:t>La web en nuestra vida cotidiana</a:t>
            </a:r>
            <a:endParaRPr b="1" sz="300">
              <a:solidFill>
                <a:srgbClr val="111F5B"/>
              </a:solidFill>
            </a:endParaRPr>
          </a:p>
        </p:txBody>
      </p:sp>
      <p:sp>
        <p:nvSpPr>
          <p:cNvPr id="154" name="Google Shape;154;p16"/>
          <p:cNvSpPr/>
          <p:nvPr/>
        </p:nvSpPr>
        <p:spPr>
          <a:xfrm>
            <a:off x="1519141" y="648104"/>
            <a:ext cx="9175004" cy="4233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88" u="none" cap="none" strike="noStrike">
                <a:solidFill>
                  <a:srgbClr val="071E53"/>
                </a:solidFill>
                <a:latin typeface="Arial Narrow"/>
                <a:ea typeface="Arial Narrow"/>
                <a:cs typeface="Arial Narrow"/>
                <a:sym typeface="Arial Narrow"/>
              </a:rPr>
              <a:t>Usamos aplicaciones web para consultar información y realizar tareas.</a:t>
            </a:r>
            <a:endParaRPr/>
          </a:p>
        </p:txBody>
      </p:sp>
      <p:sp>
        <p:nvSpPr>
          <p:cNvPr id="155" name="Google Shape;155;p16"/>
          <p:cNvSpPr/>
          <p:nvPr/>
        </p:nvSpPr>
        <p:spPr>
          <a:xfrm>
            <a:off x="1329654" y="1166916"/>
            <a:ext cx="1850573" cy="46625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92" u="none" cap="none" strike="noStrike">
                <a:solidFill>
                  <a:srgbClr val="081F4F"/>
                </a:solidFill>
                <a:latin typeface="Arial Narrow"/>
                <a:ea typeface="Arial Narrow"/>
                <a:cs typeface="Arial Narrow"/>
                <a:sym typeface="Arial Narrow"/>
              </a:rPr>
              <a:t>Leer noticias</a:t>
            </a:r>
            <a:endParaRPr/>
          </a:p>
        </p:txBody>
      </p:sp>
      <p:sp>
        <p:nvSpPr>
          <p:cNvPr id="156" name="Google Shape;156;p16"/>
          <p:cNvSpPr/>
          <p:nvPr/>
        </p:nvSpPr>
        <p:spPr>
          <a:xfrm>
            <a:off x="4980937" y="1211409"/>
            <a:ext cx="2331580" cy="4258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60" u="none" cap="none" strike="noStrike">
                <a:solidFill>
                  <a:srgbClr val="071F51"/>
                </a:solidFill>
                <a:latin typeface="Arial Narrow"/>
                <a:ea typeface="Arial Narrow"/>
                <a:cs typeface="Arial Narrow"/>
                <a:sym typeface="Arial Narrow"/>
              </a:rPr>
              <a:t>Buscar productos</a:t>
            </a:r>
            <a:endParaRPr/>
          </a:p>
        </p:txBody>
      </p:sp>
      <p:sp>
        <p:nvSpPr>
          <p:cNvPr id="157" name="Google Shape;157;p16"/>
          <p:cNvSpPr/>
          <p:nvPr/>
        </p:nvSpPr>
        <p:spPr>
          <a:xfrm>
            <a:off x="8712389" y="1196846"/>
            <a:ext cx="2725132" cy="4353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17" u="none" cap="none" strike="noStrike">
                <a:solidFill>
                  <a:srgbClr val="061E51"/>
                </a:solidFill>
                <a:latin typeface="Arial Narrow"/>
                <a:ea typeface="Arial Narrow"/>
                <a:cs typeface="Arial Narrow"/>
                <a:sym typeface="Arial Narrow"/>
              </a:rPr>
              <a:t>Enviar un formulario</a:t>
            </a:r>
            <a:endParaRPr/>
          </a:p>
        </p:txBody>
      </p:sp>
      <p:sp>
        <p:nvSpPr>
          <p:cNvPr id="158" name="Google Shape;158;p16"/>
          <p:cNvSpPr/>
          <p:nvPr/>
        </p:nvSpPr>
        <p:spPr>
          <a:xfrm>
            <a:off x="2838268" y="3987266"/>
            <a:ext cx="6565903" cy="6276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633" u="none" cap="none" strike="noStrike">
                <a:solidFill>
                  <a:srgbClr val="051E50"/>
                </a:solidFill>
                <a:latin typeface="Arial Narrow"/>
                <a:ea typeface="Arial Narrow"/>
                <a:cs typeface="Arial Narrow"/>
                <a:sym typeface="Arial Narrow"/>
              </a:rPr>
              <a:t>¿Qué ocurre detrás de la pantalla?</a:t>
            </a:r>
            <a:endParaRPr/>
          </a:p>
        </p:txBody>
      </p:sp>
      <p:sp>
        <p:nvSpPr>
          <p:cNvPr id="159" name="Google Shape;159;p16"/>
          <p:cNvSpPr/>
          <p:nvPr/>
        </p:nvSpPr>
        <p:spPr>
          <a:xfrm>
            <a:off x="914238" y="4474858"/>
            <a:ext cx="10523283" cy="393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248" u="none" cap="none" strike="noStrike">
                <a:solidFill>
                  <a:srgbClr val="071E55"/>
                </a:solidFill>
                <a:latin typeface="Arial Narrow"/>
                <a:ea typeface="Arial Narrow"/>
                <a:cs typeface="Arial Narrow"/>
                <a:sym typeface="Arial Narrow"/>
              </a:rPr>
              <a:t>Para obtener o enviar datos, el navegador se comunica con los servidores mediante HTTP*.</a:t>
            </a:r>
            <a:endParaRPr/>
          </a:p>
        </p:txBody>
      </p:sp>
      <p:sp>
        <p:nvSpPr>
          <p:cNvPr id="160" name="Google Shape;160;p16"/>
          <p:cNvSpPr/>
          <p:nvPr/>
        </p:nvSpPr>
        <p:spPr>
          <a:xfrm>
            <a:off x="5170425" y="4910873"/>
            <a:ext cx="1894301" cy="349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19">
                <a:solidFill>
                  <a:srgbClr val="0367E1"/>
                </a:solidFill>
                <a:latin typeface="Calibri"/>
                <a:ea typeface="Calibri"/>
                <a:cs typeface="Calibri"/>
                <a:sym typeface="Calibri"/>
              </a:rPr>
              <a:t>PETICIONES HTTP</a:t>
            </a:r>
            <a:endParaRPr/>
          </a:p>
        </p:txBody>
      </p:sp>
      <p:sp>
        <p:nvSpPr>
          <p:cNvPr id="161" name="Google Shape;161;p16"/>
          <p:cNvSpPr/>
          <p:nvPr/>
        </p:nvSpPr>
        <p:spPr>
          <a:xfrm>
            <a:off x="5133985" y="5723598"/>
            <a:ext cx="2010909" cy="313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01" u="none" cap="none" strike="noStrike">
                <a:solidFill>
                  <a:srgbClr val="08948D"/>
                </a:solidFill>
                <a:latin typeface="Quattrocento Sans"/>
                <a:ea typeface="Quattrocento Sans"/>
                <a:cs typeface="Quattrocento Sans"/>
                <a:sym typeface="Quattrocento Sans"/>
              </a:rPr>
              <a:t>RESPUESTAS HTTP</a:t>
            </a:r>
            <a:endParaRPr/>
          </a:p>
        </p:txBody>
      </p:sp>
      <p:sp>
        <p:nvSpPr>
          <p:cNvPr id="162" name="Google Shape;162;p16"/>
          <p:cNvSpPr/>
          <p:nvPr/>
        </p:nvSpPr>
        <p:spPr>
          <a:xfrm>
            <a:off x="1643037" y="5971886"/>
            <a:ext cx="1325837" cy="3170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20" u="none" cap="none" strike="noStrike">
                <a:solidFill>
                  <a:srgbClr val="061D55"/>
                </a:solidFill>
                <a:latin typeface="Calibri"/>
                <a:ea typeface="Calibri"/>
                <a:cs typeface="Calibri"/>
                <a:sym typeface="Calibri"/>
              </a:rPr>
              <a:t>NAVEGADOR</a:t>
            </a:r>
            <a:endParaRPr/>
          </a:p>
        </p:txBody>
      </p:sp>
      <p:sp>
        <p:nvSpPr>
          <p:cNvPr id="163" name="Google Shape;163;p16"/>
          <p:cNvSpPr/>
          <p:nvPr/>
        </p:nvSpPr>
        <p:spPr>
          <a:xfrm>
            <a:off x="9317292" y="5974459"/>
            <a:ext cx="1741253" cy="2944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84" u="none" cap="none" strike="noStrike">
                <a:solidFill>
                  <a:srgbClr val="061F56"/>
                </a:solidFill>
                <a:latin typeface="Arial Narrow"/>
                <a:ea typeface="Arial Narrow"/>
                <a:cs typeface="Arial Narrow"/>
                <a:sym typeface="Arial Narrow"/>
              </a:rPr>
              <a:t>SERVIDORES WEB</a:t>
            </a:r>
            <a:endParaRPr/>
          </a:p>
        </p:txBody>
      </p:sp>
      <p:sp>
        <p:nvSpPr>
          <p:cNvPr id="164" name="Google Shape;164;p16"/>
          <p:cNvSpPr/>
          <p:nvPr/>
        </p:nvSpPr>
        <p:spPr>
          <a:xfrm>
            <a:off x="236455" y="6496609"/>
            <a:ext cx="9911091" cy="2318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2" u="none" cap="none" strike="noStrike">
                <a:solidFill>
                  <a:srgbClr val="213167"/>
                </a:solidFill>
                <a:latin typeface="Arial Narrow"/>
                <a:ea typeface="Arial Narrow"/>
                <a:cs typeface="Arial Narrow"/>
                <a:sym typeface="Arial Narrow"/>
              </a:rPr>
              <a:t>* Fielding, R., Nottingham, M., &amp; Reschke, J. (2022). HTTP Semantics (RFC 9110). Internet Engineering Task Force. https://doi.org/10.17487/RFC9110</a:t>
            </a:r>
            <a:endParaRPr/>
          </a:p>
        </p:txBody>
      </p:sp>
      <p:sp>
        <p:nvSpPr>
          <p:cNvPr id="165" name="Google Shape;165;p1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6" name="Google Shape;166;p16" title="DEFENSA_SEGURA_V2:barra-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7" name="Google Shape;167;p16" title="DEFENSA_SEGURA_V2:avance-3"/>
          <p:cNvSpPr/>
          <p:nvPr/>
        </p:nvSpPr>
        <p:spPr>
          <a:xfrm>
            <a:off x="0" y="0"/>
            <a:ext cx="11085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8" name="Google Shape;168;p16" title="DEFENSA_SEGURA_V2:seccion-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17"/>
          <p:cNvSpPr/>
          <p:nvPr/>
        </p:nvSpPr>
        <p:spPr>
          <a:xfrm>
            <a:off x="1625039" y="2298630"/>
            <a:ext cx="8941923" cy="3384796"/>
          </a:xfrm>
          <a:prstGeom prst="roundRect">
            <a:avLst>
              <a:gd fmla="val 1493" name="adj"/>
            </a:avLst>
          </a:prstGeom>
          <a:solidFill>
            <a:srgbClr val="EEF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1625039" y="656751"/>
            <a:ext cx="8941923" cy="1591359"/>
          </a:xfrm>
          <a:prstGeom prst="roundRect">
            <a:avLst>
              <a:gd fmla="val 3175" name="adj"/>
            </a:avLst>
          </a:prstGeom>
          <a:solidFill>
            <a:srgbClr val="F0F8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1745022" y="2961696"/>
            <a:ext cx="5102453" cy="2639635"/>
          </a:xfrm>
          <a:prstGeom prst="roundRect">
            <a:avLst>
              <a:gd fmla="val 1914" name="adj"/>
            </a:avLst>
          </a:prstGeom>
          <a:solidFill>
            <a:srgbClr val="F1F8FF"/>
          </a:solidFill>
          <a:ln cap="flat" cmpd="sng" w="9525">
            <a:solidFill>
              <a:srgbClr val="B3D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180751" y="3656337"/>
            <a:ext cx="4470961" cy="839884"/>
          </a:xfrm>
          <a:prstGeom prst="roundRect">
            <a:avLst>
              <a:gd fmla="val 6015" name="adj"/>
            </a:avLst>
          </a:prstGeom>
          <a:solidFill>
            <a:srgbClr val="D0F6EF"/>
          </a:solidFill>
          <a:ln cap="flat" cmpd="sng" w="9525">
            <a:solidFill>
              <a:srgbClr val="D0F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1625039" y="5784464"/>
            <a:ext cx="8916663" cy="404155"/>
          </a:xfrm>
          <a:prstGeom prst="roundRect">
            <a:avLst>
              <a:gd fmla="val 12500" name="adj"/>
            </a:avLst>
          </a:prstGeom>
          <a:solidFill>
            <a:srgbClr val="EDF4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p:nvPr/>
        </p:nvSpPr>
        <p:spPr>
          <a:xfrm>
            <a:off x="7163221" y="3662652"/>
            <a:ext cx="3290072" cy="827254"/>
          </a:xfrm>
          <a:prstGeom prst="roundRect">
            <a:avLst>
              <a:gd fmla="val 6107" name="adj"/>
            </a:avLst>
          </a:prstGeom>
          <a:solidFill>
            <a:srgbClr val="D8F6EF"/>
          </a:solidFill>
          <a:ln cap="flat" cmpd="sng" w="9525">
            <a:solidFill>
              <a:srgbClr val="D8F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7"/>
          <p:cNvSpPr/>
          <p:nvPr/>
        </p:nvSpPr>
        <p:spPr>
          <a:xfrm>
            <a:off x="7163221" y="2816453"/>
            <a:ext cx="3290072" cy="801994"/>
          </a:xfrm>
          <a:prstGeom prst="roundRect">
            <a:avLst>
              <a:gd fmla="val 6299" name="adj"/>
            </a:avLst>
          </a:prstGeom>
          <a:solidFill>
            <a:srgbClr val="E0EFFF"/>
          </a:solidFill>
          <a:ln cap="flat" cmpd="sng" w="9525">
            <a:solidFill>
              <a:srgbClr val="D1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p:nvPr/>
        </p:nvSpPr>
        <p:spPr>
          <a:xfrm>
            <a:off x="7163221" y="5001414"/>
            <a:ext cx="3290072" cy="612547"/>
          </a:xfrm>
          <a:prstGeom prst="roundRect">
            <a:avLst>
              <a:gd fmla="val 8247" name="adj"/>
            </a:avLst>
          </a:prstGeom>
          <a:solidFill>
            <a:srgbClr val="E9DEFF"/>
          </a:solidFill>
          <a:ln cap="flat" cmpd="sng" w="9525">
            <a:solidFill>
              <a:srgbClr val="E9D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2180751" y="4868801"/>
            <a:ext cx="4470961" cy="347320"/>
          </a:xfrm>
          <a:prstGeom prst="roundRect">
            <a:avLst>
              <a:gd fmla="val 14545" name="adj"/>
            </a:avLst>
          </a:prstGeom>
          <a:solidFill>
            <a:srgbClr val="E5DBFF"/>
          </a:solidFill>
          <a:ln cap="flat" cmpd="sng" w="9525">
            <a:solidFill>
              <a:srgbClr val="E5D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
          <p:cNvSpPr/>
          <p:nvPr/>
        </p:nvSpPr>
        <p:spPr>
          <a:xfrm>
            <a:off x="1745022" y="2961696"/>
            <a:ext cx="5102453" cy="290486"/>
          </a:xfrm>
          <a:prstGeom prst="roundRect">
            <a:avLst>
              <a:gd fmla="val 17391" name="adj"/>
            </a:avLst>
          </a:prstGeom>
          <a:solidFill>
            <a:srgbClr val="234251"/>
          </a:solidFill>
          <a:ln cap="flat" cmpd="sng" w="9525">
            <a:solidFill>
              <a:srgbClr val="2342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7"/>
          <p:cNvSpPr/>
          <p:nvPr/>
        </p:nvSpPr>
        <p:spPr>
          <a:xfrm>
            <a:off x="7163221" y="4546740"/>
            <a:ext cx="3290072" cy="410470"/>
          </a:xfrm>
          <a:prstGeom prst="roundRect">
            <a:avLst>
              <a:gd fmla="val 12308" name="adj"/>
            </a:avLst>
          </a:prstGeom>
          <a:solidFill>
            <a:srgbClr val="FFF0CF"/>
          </a:solidFill>
          <a:ln cap="flat" cmpd="sng" w="9525">
            <a:solidFill>
              <a:srgbClr val="FFF0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p:nvPr/>
        </p:nvSpPr>
        <p:spPr>
          <a:xfrm>
            <a:off x="2180751" y="4540425"/>
            <a:ext cx="4470961" cy="296801"/>
          </a:xfrm>
          <a:prstGeom prst="roundRect">
            <a:avLst>
              <a:gd fmla="val 17021" name="adj"/>
            </a:avLst>
          </a:prstGeom>
          <a:solidFill>
            <a:srgbClr val="FFF2D5"/>
          </a:solidFill>
          <a:ln cap="flat" cmpd="sng" w="9525">
            <a:solidFill>
              <a:srgbClr val="FFF2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2180751" y="3340591"/>
            <a:ext cx="4470961" cy="284171"/>
          </a:xfrm>
          <a:prstGeom prst="roundRect">
            <a:avLst>
              <a:gd fmla="val 17778" name="adj"/>
            </a:avLst>
          </a:prstGeom>
          <a:solidFill>
            <a:srgbClr val="D1E7FF"/>
          </a:solidFill>
          <a:ln cap="flat" cmpd="sng" w="9525">
            <a:solidFill>
              <a:srgbClr val="D1E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 name="Google Shape;186;p17"/>
          <p:cNvPicPr preferRelativeResize="0"/>
          <p:nvPr/>
        </p:nvPicPr>
        <p:blipFill rotWithShape="1">
          <a:blip r:embed="rId3">
            <a:alphaModFix/>
          </a:blip>
          <a:srcRect b="0" l="0" r="0" t="0"/>
          <a:stretch/>
        </p:blipFill>
        <p:spPr>
          <a:xfrm>
            <a:off x="6866420" y="2866972"/>
            <a:ext cx="277856" cy="757790"/>
          </a:xfrm>
          <a:prstGeom prst="rect">
            <a:avLst/>
          </a:prstGeom>
          <a:noFill/>
          <a:ln>
            <a:noFill/>
          </a:ln>
        </p:spPr>
      </p:pic>
      <p:pic>
        <p:nvPicPr>
          <p:cNvPr id="187" name="Google Shape;187;p17"/>
          <p:cNvPicPr preferRelativeResize="0"/>
          <p:nvPr/>
        </p:nvPicPr>
        <p:blipFill rotWithShape="1">
          <a:blip r:embed="rId4">
            <a:alphaModFix/>
          </a:blip>
          <a:srcRect b="0" l="0" r="0" t="0"/>
          <a:stretch/>
        </p:blipFill>
        <p:spPr>
          <a:xfrm>
            <a:off x="6866420" y="3650022"/>
            <a:ext cx="277856" cy="808309"/>
          </a:xfrm>
          <a:prstGeom prst="rect">
            <a:avLst/>
          </a:prstGeom>
          <a:noFill/>
          <a:ln>
            <a:noFill/>
          </a:ln>
        </p:spPr>
      </p:pic>
      <p:pic>
        <p:nvPicPr>
          <p:cNvPr id="188" name="Google Shape;188;p17"/>
          <p:cNvPicPr preferRelativeResize="0"/>
          <p:nvPr/>
        </p:nvPicPr>
        <p:blipFill rotWithShape="1">
          <a:blip r:embed="rId5">
            <a:alphaModFix/>
          </a:blip>
          <a:srcRect b="0" l="0" r="0" t="0"/>
          <a:stretch/>
        </p:blipFill>
        <p:spPr>
          <a:xfrm>
            <a:off x="6866420" y="4508851"/>
            <a:ext cx="277856" cy="353635"/>
          </a:xfrm>
          <a:prstGeom prst="rect">
            <a:avLst/>
          </a:prstGeom>
          <a:noFill/>
          <a:ln>
            <a:noFill/>
          </a:ln>
        </p:spPr>
      </p:pic>
      <p:pic>
        <p:nvPicPr>
          <p:cNvPr id="189" name="Google Shape;189;p17"/>
          <p:cNvPicPr preferRelativeResize="0"/>
          <p:nvPr/>
        </p:nvPicPr>
        <p:blipFill rotWithShape="1">
          <a:blip r:embed="rId6">
            <a:alphaModFix/>
          </a:blip>
          <a:srcRect b="0" l="0" r="0" t="0"/>
          <a:stretch/>
        </p:blipFill>
        <p:spPr>
          <a:xfrm>
            <a:off x="6866420" y="4938265"/>
            <a:ext cx="277856" cy="429414"/>
          </a:xfrm>
          <a:prstGeom prst="rect">
            <a:avLst/>
          </a:prstGeom>
          <a:noFill/>
          <a:ln>
            <a:noFill/>
          </a:ln>
        </p:spPr>
      </p:pic>
      <p:pic>
        <p:nvPicPr>
          <p:cNvPr id="190" name="Google Shape;190;p17"/>
          <p:cNvPicPr preferRelativeResize="0"/>
          <p:nvPr/>
        </p:nvPicPr>
        <p:blipFill rotWithShape="1">
          <a:blip r:embed="rId7">
            <a:alphaModFix/>
          </a:blip>
          <a:srcRect b="0" l="0" r="0" t="0"/>
          <a:stretch/>
        </p:blipFill>
        <p:spPr>
          <a:xfrm>
            <a:off x="7270575" y="5241381"/>
            <a:ext cx="176818" cy="328376"/>
          </a:xfrm>
          <a:prstGeom prst="rect">
            <a:avLst/>
          </a:prstGeom>
          <a:noFill/>
          <a:ln>
            <a:noFill/>
          </a:ln>
        </p:spPr>
      </p:pic>
      <p:pic>
        <p:nvPicPr>
          <p:cNvPr id="191" name="Google Shape;191;p17"/>
          <p:cNvPicPr preferRelativeResize="0"/>
          <p:nvPr/>
        </p:nvPicPr>
        <p:blipFill rotWithShape="1">
          <a:blip r:embed="rId8">
            <a:alphaModFix/>
          </a:blip>
          <a:srcRect b="0" l="0" r="0" t="0"/>
          <a:stretch/>
        </p:blipFill>
        <p:spPr>
          <a:xfrm>
            <a:off x="1940785" y="820939"/>
            <a:ext cx="1622934" cy="947238"/>
          </a:xfrm>
          <a:prstGeom prst="rect">
            <a:avLst/>
          </a:prstGeom>
          <a:noFill/>
          <a:ln>
            <a:noFill/>
          </a:ln>
        </p:spPr>
      </p:pic>
      <p:pic>
        <p:nvPicPr>
          <p:cNvPr id="192" name="Google Shape;192;p17"/>
          <p:cNvPicPr preferRelativeResize="0"/>
          <p:nvPr/>
        </p:nvPicPr>
        <p:blipFill rotWithShape="1">
          <a:blip r:embed="rId9">
            <a:alphaModFix/>
          </a:blip>
          <a:srcRect b="0" l="0" r="0" t="0"/>
          <a:stretch/>
        </p:blipFill>
        <p:spPr>
          <a:xfrm>
            <a:off x="8659856" y="820939"/>
            <a:ext cx="1629249" cy="947238"/>
          </a:xfrm>
          <a:prstGeom prst="rect">
            <a:avLst/>
          </a:prstGeom>
          <a:noFill/>
          <a:ln>
            <a:noFill/>
          </a:ln>
        </p:spPr>
      </p:pic>
      <p:sp>
        <p:nvSpPr>
          <p:cNvPr id="193" name="Google Shape;193;p17"/>
          <p:cNvSpPr/>
          <p:nvPr/>
        </p:nvSpPr>
        <p:spPr>
          <a:xfrm>
            <a:off x="3816315" y="1016702"/>
            <a:ext cx="4578315" cy="265227"/>
          </a:xfrm>
          <a:prstGeom prst="rightArrow">
            <a:avLst>
              <a:gd fmla="val 50000" name="adj1"/>
              <a:gd fmla="val 50000" name="adj2"/>
            </a:avLst>
          </a:prstGeom>
          <a:solidFill>
            <a:srgbClr val="007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3816315" y="1370337"/>
            <a:ext cx="4578315" cy="252597"/>
          </a:xfrm>
          <a:prstGeom prst="leftArrow">
            <a:avLst>
              <a:gd fmla="val 50000" name="adj1"/>
              <a:gd fmla="val 50000" name="adj2"/>
            </a:avLst>
          </a:prstGeom>
          <a:solidFill>
            <a:srgbClr val="00B5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1700818" y="2368094"/>
            <a:ext cx="366265" cy="366265"/>
          </a:xfrm>
          <a:prstGeom prst="ellipse">
            <a:avLst/>
          </a:prstGeom>
          <a:solidFill>
            <a:srgbClr val="0089E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615" u="none" cap="none" strike="noStrike">
                <a:solidFill>
                  <a:srgbClr val="FFFFFF"/>
                </a:solidFill>
                <a:latin typeface="Arial"/>
                <a:ea typeface="Arial"/>
                <a:cs typeface="Arial"/>
                <a:sym typeface="Arial"/>
              </a:rPr>
              <a:t>2</a:t>
            </a:r>
            <a:endParaRPr/>
          </a:p>
        </p:txBody>
      </p:sp>
      <p:sp>
        <p:nvSpPr>
          <p:cNvPr id="196" name="Google Shape;196;p17"/>
          <p:cNvSpPr/>
          <p:nvPr/>
        </p:nvSpPr>
        <p:spPr>
          <a:xfrm>
            <a:off x="2445978" y="1788315"/>
            <a:ext cx="628492" cy="2136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4" u="none" cap="none" strike="noStrike">
                <a:solidFill>
                  <a:srgbClr val="080B4A"/>
                </a:solidFill>
                <a:latin typeface="Quattrocento Sans"/>
                <a:ea typeface="Quattrocento Sans"/>
                <a:cs typeface="Quattrocento Sans"/>
                <a:sym typeface="Quattrocento Sans"/>
              </a:rPr>
              <a:t>CLIENTE</a:t>
            </a:r>
            <a:endParaRPr/>
          </a:p>
        </p:txBody>
      </p:sp>
      <p:sp>
        <p:nvSpPr>
          <p:cNvPr id="197" name="Google Shape;197;p17"/>
          <p:cNvSpPr/>
          <p:nvPr/>
        </p:nvSpPr>
        <p:spPr>
          <a:xfrm>
            <a:off x="2104972" y="1979614"/>
            <a:ext cx="1329448" cy="1830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2" u="none" cap="none" strike="noStrike">
                <a:solidFill>
                  <a:srgbClr val="3C57AE"/>
                </a:solidFill>
                <a:latin typeface="Arial Narrow"/>
                <a:ea typeface="Arial Narrow"/>
                <a:cs typeface="Arial Narrow"/>
                <a:sym typeface="Arial Narrow"/>
              </a:rPr>
              <a:t>Navegador o aplicación</a:t>
            </a:r>
            <a:endParaRPr/>
          </a:p>
        </p:txBody>
      </p:sp>
      <p:sp>
        <p:nvSpPr>
          <p:cNvPr id="198" name="Google Shape;198;p17"/>
          <p:cNvSpPr/>
          <p:nvPr/>
        </p:nvSpPr>
        <p:spPr>
          <a:xfrm>
            <a:off x="4270989" y="38309"/>
            <a:ext cx="3678597" cy="46657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26" u="none" cap="none" strike="noStrike">
                <a:solidFill>
                  <a:srgbClr val="111F5B"/>
                </a:solidFill>
              </a:rPr>
              <a:t>Cómo funciona HTTP</a:t>
            </a:r>
            <a:endParaRPr b="1">
              <a:solidFill>
                <a:srgbClr val="111F5B"/>
              </a:solidFill>
            </a:endParaRPr>
          </a:p>
        </p:txBody>
      </p:sp>
      <p:sp>
        <p:nvSpPr>
          <p:cNvPr id="199" name="Google Shape;199;p17"/>
          <p:cNvSpPr/>
          <p:nvPr/>
        </p:nvSpPr>
        <p:spPr>
          <a:xfrm>
            <a:off x="3437420" y="416785"/>
            <a:ext cx="5339420" cy="253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37" u="none" cap="none" strike="noStrike">
                <a:solidFill>
                  <a:srgbClr val="3A57A4"/>
                </a:solidFill>
                <a:latin typeface="Quattrocento Sans"/>
                <a:ea typeface="Quattrocento Sans"/>
                <a:cs typeface="Quattrocento Sans"/>
                <a:sym typeface="Quattrocento Sans"/>
              </a:rPr>
              <a:t>Un protocolo de aplicación basado en peticiones y respuestas</a:t>
            </a:r>
            <a:endParaRPr/>
          </a:p>
        </p:txBody>
      </p:sp>
      <p:sp>
        <p:nvSpPr>
          <p:cNvPr id="200" name="Google Shape;200;p17"/>
          <p:cNvSpPr/>
          <p:nvPr/>
        </p:nvSpPr>
        <p:spPr>
          <a:xfrm>
            <a:off x="4536215" y="871459"/>
            <a:ext cx="3186034" cy="2192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42" u="none" cap="none" strike="noStrike">
                <a:solidFill>
                  <a:srgbClr val="061DD2"/>
                </a:solidFill>
                <a:latin typeface="Arial Narrow"/>
                <a:ea typeface="Arial Narrow"/>
                <a:cs typeface="Arial Narrow"/>
                <a:sym typeface="Arial Narrow"/>
              </a:rPr>
              <a:t>PETICIÓN: solicita una operación sobre un recurso</a:t>
            </a:r>
            <a:endParaRPr/>
          </a:p>
        </p:txBody>
      </p:sp>
      <p:sp>
        <p:nvSpPr>
          <p:cNvPr id="201" name="Google Shape;201;p17"/>
          <p:cNvSpPr/>
          <p:nvPr/>
        </p:nvSpPr>
        <p:spPr>
          <a:xfrm>
            <a:off x="4953000" y="1601674"/>
            <a:ext cx="2314575" cy="22096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9" u="none" cap="none" strike="noStrike">
                <a:solidFill>
                  <a:srgbClr val="059AA5"/>
                </a:solidFill>
                <a:latin typeface="Arial Narrow"/>
                <a:ea typeface="Arial Narrow"/>
                <a:cs typeface="Arial Narrow"/>
                <a:sym typeface="Arial Narrow"/>
              </a:rPr>
              <a:t>RESPUESTA: comunica el resultado</a:t>
            </a:r>
            <a:endParaRPr/>
          </a:p>
        </p:txBody>
      </p:sp>
      <p:sp>
        <p:nvSpPr>
          <p:cNvPr id="202" name="Google Shape;202;p17"/>
          <p:cNvSpPr/>
          <p:nvPr/>
        </p:nvSpPr>
        <p:spPr>
          <a:xfrm>
            <a:off x="3892094" y="1982884"/>
            <a:ext cx="4449017" cy="1711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63" u="none" cap="none" strike="noStrike">
                <a:solidFill>
                  <a:srgbClr val="415BB2"/>
                </a:solidFill>
                <a:latin typeface="Arial Narrow"/>
                <a:ea typeface="Arial Narrow"/>
                <a:cs typeface="Arial Narrow"/>
                <a:sym typeface="Arial Narrow"/>
              </a:rPr>
              <a:t>La respuesta incluye un código de estado, encabezados y, cuando corresponde, un cuerpo.</a:t>
            </a:r>
            <a:endParaRPr/>
          </a:p>
        </p:txBody>
      </p:sp>
      <p:sp>
        <p:nvSpPr>
          <p:cNvPr id="203" name="Google Shape;203;p17"/>
          <p:cNvSpPr/>
          <p:nvPr/>
        </p:nvSpPr>
        <p:spPr>
          <a:xfrm>
            <a:off x="8925083" y="1789204"/>
            <a:ext cx="1108426" cy="2107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7" u="none" cap="none" strike="noStrike">
                <a:solidFill>
                  <a:srgbClr val="07084C"/>
                </a:solidFill>
                <a:latin typeface="Arial Narrow"/>
                <a:ea typeface="Arial Narrow"/>
                <a:cs typeface="Arial Narrow"/>
                <a:sym typeface="Arial Narrow"/>
              </a:rPr>
              <a:t>SERVIDOR WEB</a:t>
            </a:r>
            <a:endParaRPr/>
          </a:p>
        </p:txBody>
      </p:sp>
      <p:sp>
        <p:nvSpPr>
          <p:cNvPr id="204" name="Google Shape;204;p17"/>
          <p:cNvSpPr/>
          <p:nvPr/>
        </p:nvSpPr>
        <p:spPr>
          <a:xfrm>
            <a:off x="8944028" y="1979759"/>
            <a:ext cx="1083166" cy="1825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95" u="none" cap="none" strike="noStrike">
                <a:solidFill>
                  <a:srgbClr val="3E58AF"/>
                </a:solidFill>
                <a:latin typeface="Arial Narrow"/>
                <a:ea typeface="Arial Narrow"/>
                <a:cs typeface="Arial Narrow"/>
                <a:sym typeface="Arial Narrow"/>
              </a:rPr>
              <a:t>Procesa la petición</a:t>
            </a:r>
            <a:endParaRPr/>
          </a:p>
        </p:txBody>
      </p:sp>
      <p:sp>
        <p:nvSpPr>
          <p:cNvPr id="205" name="Google Shape;205;p17"/>
          <p:cNvSpPr/>
          <p:nvPr/>
        </p:nvSpPr>
        <p:spPr>
          <a:xfrm>
            <a:off x="2180751" y="2395262"/>
            <a:ext cx="4714244" cy="3960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99" u="none" cap="none" strike="noStrike">
                <a:solidFill>
                  <a:srgbClr val="070741"/>
                </a:solidFill>
                <a:latin typeface="Calibri"/>
                <a:ea typeface="Calibri"/>
                <a:cs typeface="Calibri"/>
                <a:sym typeface="Calibri"/>
              </a:rPr>
              <a:t>Anatomía de una petición HTTP/1.1*</a:t>
            </a:r>
            <a:endParaRPr/>
          </a:p>
        </p:txBody>
      </p:sp>
      <p:sp>
        <p:nvSpPr>
          <p:cNvPr id="206" name="Google Shape;206;p17"/>
          <p:cNvSpPr/>
          <p:nvPr/>
        </p:nvSpPr>
        <p:spPr>
          <a:xfrm>
            <a:off x="2193381" y="2717195"/>
            <a:ext cx="3969083" cy="2281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66" u="none" cap="none" strike="noStrike">
                <a:solidFill>
                  <a:srgbClr val="3A54AD"/>
                </a:solidFill>
                <a:latin typeface="Arial Narrow"/>
                <a:ea typeface="Arial Narrow"/>
                <a:cs typeface="Arial Narrow"/>
                <a:sym typeface="Arial Narrow"/>
              </a:rPr>
              <a:t>Ejemplo: solicitar la creación de un pedido de dos cuadernos.</a:t>
            </a:r>
            <a:endParaRPr/>
          </a:p>
        </p:txBody>
      </p:sp>
      <p:sp>
        <p:nvSpPr>
          <p:cNvPr id="207" name="Google Shape;207;p17"/>
          <p:cNvSpPr/>
          <p:nvPr/>
        </p:nvSpPr>
        <p:spPr>
          <a:xfrm>
            <a:off x="7283204" y="2874235"/>
            <a:ext cx="1222094" cy="2308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62" u="none" cap="none" strike="noStrike">
                <a:solidFill>
                  <a:srgbClr val="05074F"/>
                </a:solidFill>
                <a:latin typeface="Arial Narrow"/>
                <a:ea typeface="Arial Narrow"/>
                <a:cs typeface="Arial Narrow"/>
                <a:sym typeface="Arial Narrow"/>
              </a:rPr>
              <a:t>Línea de petición</a:t>
            </a:r>
            <a:endParaRPr/>
          </a:p>
        </p:txBody>
      </p:sp>
      <p:sp>
        <p:nvSpPr>
          <p:cNvPr id="208" name="Google Shape;208;p17"/>
          <p:cNvSpPr/>
          <p:nvPr/>
        </p:nvSpPr>
        <p:spPr>
          <a:xfrm>
            <a:off x="7295834" y="3693552"/>
            <a:ext cx="950553" cy="2361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30" u="none" cap="none" strike="noStrike">
                <a:solidFill>
                  <a:srgbClr val="060B52"/>
                </a:solidFill>
                <a:latin typeface="Arial Narrow"/>
                <a:ea typeface="Arial Narrow"/>
                <a:cs typeface="Arial Narrow"/>
                <a:sym typeface="Arial Narrow"/>
              </a:rPr>
              <a:t>Encabezados</a:t>
            </a:r>
            <a:endParaRPr/>
          </a:p>
        </p:txBody>
      </p:sp>
      <p:sp>
        <p:nvSpPr>
          <p:cNvPr id="209" name="Google Shape;209;p17"/>
          <p:cNvSpPr/>
          <p:nvPr/>
        </p:nvSpPr>
        <p:spPr>
          <a:xfrm>
            <a:off x="7295834" y="4571388"/>
            <a:ext cx="830569" cy="24416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74" u="none" cap="none" strike="noStrike">
                <a:solidFill>
                  <a:srgbClr val="0A0C52"/>
                </a:solidFill>
                <a:latin typeface="Arial Narrow"/>
                <a:ea typeface="Arial Narrow"/>
                <a:cs typeface="Arial Narrow"/>
                <a:sym typeface="Arial Narrow"/>
              </a:rPr>
              <a:t>Línea vacía</a:t>
            </a:r>
            <a:endParaRPr/>
          </a:p>
        </p:txBody>
      </p:sp>
      <p:sp>
        <p:nvSpPr>
          <p:cNvPr id="210" name="Google Shape;210;p17"/>
          <p:cNvSpPr/>
          <p:nvPr/>
        </p:nvSpPr>
        <p:spPr>
          <a:xfrm>
            <a:off x="7314779" y="4795344"/>
            <a:ext cx="2087238" cy="1853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083">
                <a:solidFill>
                  <a:srgbClr val="3A5DB0"/>
                </a:solidFill>
                <a:latin typeface="Arial Narrow"/>
                <a:ea typeface="Arial Narrow"/>
                <a:cs typeface="Arial Narrow"/>
                <a:sym typeface="Arial Narrow"/>
              </a:rPr>
              <a:t>Separa los encabezados del cuerpo.</a:t>
            </a:r>
            <a:endParaRPr sz="1083">
              <a:solidFill>
                <a:srgbClr val="3A5DB0"/>
              </a:solidFill>
              <a:latin typeface="Arial Narrow"/>
              <a:ea typeface="Arial Narrow"/>
              <a:cs typeface="Arial Narrow"/>
              <a:sym typeface="Arial Narrow"/>
            </a:endParaRPr>
          </a:p>
        </p:txBody>
      </p:sp>
      <p:sp>
        <p:nvSpPr>
          <p:cNvPr id="211" name="Google Shape;211;p17"/>
          <p:cNvSpPr/>
          <p:nvPr/>
        </p:nvSpPr>
        <p:spPr>
          <a:xfrm>
            <a:off x="7289519" y="5045026"/>
            <a:ext cx="565343" cy="2153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4" u="none" cap="none" strike="noStrike">
                <a:solidFill>
                  <a:srgbClr val="060853"/>
                </a:solidFill>
                <a:latin typeface="Quattrocento Sans"/>
                <a:ea typeface="Quattrocento Sans"/>
                <a:cs typeface="Quattrocento Sans"/>
                <a:sym typeface="Quattrocento Sans"/>
              </a:rPr>
              <a:t>Cuerpo</a:t>
            </a:r>
            <a:endParaRPr/>
          </a:p>
        </p:txBody>
      </p:sp>
      <p:sp>
        <p:nvSpPr>
          <p:cNvPr id="212" name="Google Shape;212;p17"/>
          <p:cNvSpPr/>
          <p:nvPr/>
        </p:nvSpPr>
        <p:spPr>
          <a:xfrm>
            <a:off x="7535801" y="5277033"/>
            <a:ext cx="1992514" cy="17967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17" u="none" cap="none" strike="noStrike">
                <a:solidFill>
                  <a:srgbClr val="4356B6"/>
                </a:solidFill>
                <a:latin typeface="Arial Narrow"/>
                <a:ea typeface="Arial Narrow"/>
                <a:cs typeface="Arial Narrow"/>
                <a:sym typeface="Arial Narrow"/>
              </a:rPr>
              <a:t>Objeto JSON con los datos del pedido.</a:t>
            </a:r>
            <a:endParaRPr/>
          </a:p>
        </p:txBody>
      </p:sp>
      <p:sp>
        <p:nvSpPr>
          <p:cNvPr id="213" name="Google Shape;213;p17"/>
          <p:cNvSpPr/>
          <p:nvPr/>
        </p:nvSpPr>
        <p:spPr>
          <a:xfrm>
            <a:off x="7535801" y="5435424"/>
            <a:ext cx="1657824" cy="17798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45" u="none" cap="none" strike="noStrike">
                <a:solidFill>
                  <a:srgbClr val="4357B8"/>
                </a:solidFill>
                <a:latin typeface="Arial Narrow"/>
                <a:ea typeface="Arial Narrow"/>
                <a:cs typeface="Arial Narrow"/>
                <a:sym typeface="Arial Narrow"/>
              </a:rPr>
              <a:t>producto: cuaderno • cantidad: 2</a:t>
            </a:r>
            <a:endParaRPr/>
          </a:p>
        </p:txBody>
      </p:sp>
      <p:sp>
        <p:nvSpPr>
          <p:cNvPr id="214" name="Google Shape;214;p17"/>
          <p:cNvSpPr/>
          <p:nvPr/>
        </p:nvSpPr>
        <p:spPr>
          <a:xfrm>
            <a:off x="1770282" y="5856857"/>
            <a:ext cx="5838299" cy="1834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02" u="none" cap="none" strike="noStrike">
                <a:solidFill>
                  <a:srgbClr val="0C0EAB"/>
                </a:solidFill>
                <a:latin typeface="Arial Narrow"/>
                <a:ea typeface="Arial Narrow"/>
                <a:cs typeface="Arial Narrow"/>
                <a:sym typeface="Arial Narrow"/>
              </a:rPr>
              <a:t>El cuerpo es opcional y depende de la petición. Su longitud se mide en bytes, no necesariamente en caracteres.</a:t>
            </a:r>
            <a:endParaRPr/>
          </a:p>
        </p:txBody>
      </p:sp>
      <p:sp>
        <p:nvSpPr>
          <p:cNvPr id="215" name="Google Shape;215;p17"/>
          <p:cNvSpPr/>
          <p:nvPr/>
        </p:nvSpPr>
        <p:spPr>
          <a:xfrm>
            <a:off x="1770282" y="6027324"/>
            <a:ext cx="5661481" cy="1588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916" u="none" cap="none" strike="noStrike">
                <a:solidFill>
                  <a:srgbClr val="455FB3"/>
                </a:solidFill>
                <a:latin typeface="Arial Narrow"/>
                <a:ea typeface="Arial Narrow"/>
                <a:cs typeface="Arial Narrow"/>
                <a:sym typeface="Arial Narrow"/>
              </a:rPr>
              <a:t>El valor 36 corresponde al cuerpo mostrado, sin espacios extra ni salto final. Las líneas de HTTP/1.1 se separan con CRLF.</a:t>
            </a:r>
            <a:endParaRPr/>
          </a:p>
        </p:txBody>
      </p:sp>
      <p:sp>
        <p:nvSpPr>
          <p:cNvPr id="216" name="Google Shape;216;p17"/>
          <p:cNvSpPr/>
          <p:nvPr/>
        </p:nvSpPr>
        <p:spPr>
          <a:xfrm>
            <a:off x="1776597" y="6479105"/>
            <a:ext cx="7934851" cy="1958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80" u="none" cap="none" strike="noStrike">
                <a:solidFill>
                  <a:srgbClr val="232897"/>
                </a:solidFill>
                <a:latin typeface="Arial Narrow"/>
                <a:ea typeface="Arial Narrow"/>
                <a:cs typeface="Arial Narrow"/>
                <a:sym typeface="Arial Narrow"/>
              </a:rPr>
              <a:t>* Fielding, R., Nottingham, M., &amp; Reschke, J. (2022). </a:t>
            </a:r>
            <a:r>
              <a:rPr lang="en-US" sz="1180">
                <a:solidFill>
                  <a:srgbClr val="232897"/>
                </a:solidFill>
                <a:latin typeface="Arial Narrow"/>
                <a:ea typeface="Arial Narrow"/>
                <a:cs typeface="Arial Narrow"/>
                <a:sym typeface="Arial Narrow"/>
              </a:rPr>
              <a:t>HTTP/1.1</a:t>
            </a:r>
            <a:r>
              <a:rPr b="0" i="0" lang="en-US" sz="1180" u="none" cap="none" strike="noStrike">
                <a:solidFill>
                  <a:srgbClr val="232897"/>
                </a:solidFill>
                <a:latin typeface="Arial Narrow"/>
                <a:ea typeface="Arial Narrow"/>
                <a:cs typeface="Arial Narrow"/>
                <a:sym typeface="Arial Narrow"/>
              </a:rPr>
              <a:t> (RFC 9112). Internet Engineering Task Force. https://doi.org/10.17487/RFC9112</a:t>
            </a:r>
            <a:endParaRPr/>
          </a:p>
        </p:txBody>
      </p:sp>
      <p:sp>
        <p:nvSpPr>
          <p:cNvPr id="217" name="Google Shape;217;p17"/>
          <p:cNvSpPr/>
          <p:nvPr/>
        </p:nvSpPr>
        <p:spPr>
          <a:xfrm>
            <a:off x="2591221" y="3031160"/>
            <a:ext cx="3571244" cy="221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43" u="none" cap="none" strike="noStrike">
                <a:solidFill>
                  <a:srgbClr val="FFFFFF"/>
                </a:solidFill>
                <a:latin typeface="Arial Narrow"/>
                <a:ea typeface="Arial Narrow"/>
                <a:cs typeface="Arial Narrow"/>
                <a:sym typeface="Arial Narrow"/>
              </a:rPr>
              <a:t>Petición HTTP/1.1 (formato de texto)</a:t>
            </a:r>
            <a:endParaRPr/>
          </a:p>
        </p:txBody>
      </p:sp>
      <p:sp>
        <p:nvSpPr>
          <p:cNvPr id="218" name="Google Shape;218;p17"/>
          <p:cNvSpPr/>
          <p:nvPr/>
        </p:nvSpPr>
        <p:spPr>
          <a:xfrm>
            <a:off x="2319680" y="3410055"/>
            <a:ext cx="4322719" cy="240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42" u="none" cap="none" strike="noStrike">
                <a:solidFill>
                  <a:srgbClr val="08125F"/>
                </a:solidFill>
                <a:latin typeface="Consolas"/>
                <a:ea typeface="Consolas"/>
                <a:cs typeface="Consolas"/>
                <a:sym typeface="Consolas"/>
              </a:rPr>
              <a:t>POST /pedidos HTTP/1.1</a:t>
            </a:r>
            <a:endParaRPr/>
          </a:p>
        </p:txBody>
      </p:sp>
      <p:sp>
        <p:nvSpPr>
          <p:cNvPr id="219" name="Google Shape;219;p17"/>
          <p:cNvSpPr/>
          <p:nvPr/>
        </p:nvSpPr>
        <p:spPr>
          <a:xfrm>
            <a:off x="2319680" y="3719486"/>
            <a:ext cx="4322719" cy="240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42" u="none" cap="none" strike="noStrike">
                <a:solidFill>
                  <a:srgbClr val="08125F"/>
                </a:solidFill>
                <a:latin typeface="Consolas"/>
                <a:ea typeface="Consolas"/>
                <a:cs typeface="Consolas"/>
                <a:sym typeface="Consolas"/>
              </a:rPr>
              <a:t>Host: tienda.ejemplo.test</a:t>
            </a:r>
            <a:endParaRPr/>
          </a:p>
        </p:txBody>
      </p:sp>
      <p:sp>
        <p:nvSpPr>
          <p:cNvPr id="220" name="Google Shape;220;p17"/>
          <p:cNvSpPr/>
          <p:nvPr/>
        </p:nvSpPr>
        <p:spPr>
          <a:xfrm>
            <a:off x="2319680" y="3984713"/>
            <a:ext cx="4322719" cy="240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42" u="none" cap="none" strike="noStrike">
                <a:solidFill>
                  <a:srgbClr val="08125F"/>
                </a:solidFill>
                <a:latin typeface="Consolas"/>
                <a:ea typeface="Consolas"/>
                <a:cs typeface="Consolas"/>
                <a:sym typeface="Consolas"/>
              </a:rPr>
              <a:t>Content-Type: application/json</a:t>
            </a:r>
            <a:endParaRPr/>
          </a:p>
        </p:txBody>
      </p:sp>
      <p:sp>
        <p:nvSpPr>
          <p:cNvPr id="221" name="Google Shape;221;p17"/>
          <p:cNvSpPr/>
          <p:nvPr/>
        </p:nvSpPr>
        <p:spPr>
          <a:xfrm>
            <a:off x="2319680" y="4262569"/>
            <a:ext cx="4322719" cy="240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42" u="none" cap="none" strike="noStrike">
                <a:solidFill>
                  <a:srgbClr val="08125F"/>
                </a:solidFill>
                <a:latin typeface="Consolas"/>
                <a:ea typeface="Consolas"/>
                <a:cs typeface="Consolas"/>
                <a:sym typeface="Consolas"/>
              </a:rPr>
              <a:t>Content-Length: 36</a:t>
            </a:r>
            <a:endParaRPr/>
          </a:p>
        </p:txBody>
      </p:sp>
      <p:sp>
        <p:nvSpPr>
          <p:cNvPr id="222" name="Google Shape;222;p17"/>
          <p:cNvSpPr/>
          <p:nvPr/>
        </p:nvSpPr>
        <p:spPr>
          <a:xfrm>
            <a:off x="2319680" y="4957210"/>
            <a:ext cx="4322719" cy="240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42" u="none" cap="none" strike="noStrike">
                <a:solidFill>
                  <a:srgbClr val="08125F"/>
                </a:solidFill>
                <a:latin typeface="Consolas"/>
                <a:ea typeface="Consolas"/>
                <a:cs typeface="Consolas"/>
                <a:sym typeface="Consolas"/>
              </a:rPr>
              <a:t>{"producto":"cuaderno","cantidad":2}</a:t>
            </a:r>
            <a:endParaRPr/>
          </a:p>
        </p:txBody>
      </p:sp>
      <p:sp>
        <p:nvSpPr>
          <p:cNvPr id="223" name="Google Shape;223;p17"/>
          <p:cNvSpPr/>
          <p:nvPr/>
        </p:nvSpPr>
        <p:spPr>
          <a:xfrm>
            <a:off x="1909210" y="3426474"/>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1</a:t>
            </a:r>
            <a:endParaRPr/>
          </a:p>
        </p:txBody>
      </p:sp>
      <p:sp>
        <p:nvSpPr>
          <p:cNvPr id="224" name="Google Shape;224;p17"/>
          <p:cNvSpPr/>
          <p:nvPr/>
        </p:nvSpPr>
        <p:spPr>
          <a:xfrm>
            <a:off x="1909210" y="3735905"/>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2</a:t>
            </a:r>
            <a:endParaRPr/>
          </a:p>
        </p:txBody>
      </p:sp>
      <p:sp>
        <p:nvSpPr>
          <p:cNvPr id="225" name="Google Shape;225;p17"/>
          <p:cNvSpPr/>
          <p:nvPr/>
        </p:nvSpPr>
        <p:spPr>
          <a:xfrm>
            <a:off x="1909210" y="4039021"/>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3</a:t>
            </a:r>
            <a:endParaRPr/>
          </a:p>
        </p:txBody>
      </p:sp>
      <p:sp>
        <p:nvSpPr>
          <p:cNvPr id="226" name="Google Shape;226;p17"/>
          <p:cNvSpPr/>
          <p:nvPr/>
        </p:nvSpPr>
        <p:spPr>
          <a:xfrm>
            <a:off x="1909210" y="4310562"/>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4</a:t>
            </a:r>
            <a:endParaRPr/>
          </a:p>
        </p:txBody>
      </p:sp>
      <p:sp>
        <p:nvSpPr>
          <p:cNvPr id="227" name="Google Shape;227;p17"/>
          <p:cNvSpPr/>
          <p:nvPr/>
        </p:nvSpPr>
        <p:spPr>
          <a:xfrm>
            <a:off x="1909210" y="4638938"/>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5</a:t>
            </a:r>
            <a:endParaRPr/>
          </a:p>
        </p:txBody>
      </p:sp>
      <p:sp>
        <p:nvSpPr>
          <p:cNvPr id="228" name="Google Shape;228;p17"/>
          <p:cNvSpPr/>
          <p:nvPr/>
        </p:nvSpPr>
        <p:spPr>
          <a:xfrm>
            <a:off x="1909210" y="4967314"/>
            <a:ext cx="167503" cy="213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93" u="none" cap="none" strike="noStrike">
                <a:solidFill>
                  <a:srgbClr val="425AB0"/>
                </a:solidFill>
                <a:latin typeface="Arial Narrow"/>
                <a:ea typeface="Arial Narrow"/>
                <a:cs typeface="Arial Narrow"/>
                <a:sym typeface="Arial Narrow"/>
              </a:rPr>
              <a:t>6</a:t>
            </a:r>
            <a:endParaRPr/>
          </a:p>
        </p:txBody>
      </p:sp>
      <p:sp>
        <p:nvSpPr>
          <p:cNvPr id="229" name="Google Shape;229;p17"/>
          <p:cNvSpPr/>
          <p:nvPr/>
        </p:nvSpPr>
        <p:spPr>
          <a:xfrm>
            <a:off x="7359002" y="3088699"/>
            <a:ext cx="2870400" cy="52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POST → método: envía datos para procesarlos.</a:t>
            </a:r>
            <a:endParaRPr/>
          </a:p>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/pedidos → ruta del recurso solicitado.</a:t>
            </a:r>
            <a:endParaRPr/>
          </a:p>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HTTP/1.1 → versión del protocolo.</a:t>
            </a:r>
            <a:endParaRPr/>
          </a:p>
        </p:txBody>
      </p:sp>
      <p:sp>
        <p:nvSpPr>
          <p:cNvPr id="230" name="Google Shape;230;p17"/>
          <p:cNvSpPr/>
          <p:nvPr/>
        </p:nvSpPr>
        <p:spPr>
          <a:xfrm>
            <a:off x="7504227" y="3959453"/>
            <a:ext cx="2851343" cy="558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Host → dominio de destino.</a:t>
            </a:r>
            <a:endParaRPr/>
          </a:p>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Content-Type → formato del cuerpo: JSON.</a:t>
            </a:r>
            <a:endParaRPr/>
          </a:p>
          <a:p>
            <a:pPr indent="0" lvl="0" marL="0" marR="0" rtl="0" algn="l">
              <a:spcBef>
                <a:spcPts val="0"/>
              </a:spcBef>
              <a:spcAft>
                <a:spcPts val="0"/>
              </a:spcAft>
              <a:buNone/>
            </a:pPr>
            <a:r>
              <a:rPr b="0" i="0" lang="en-US" sz="1044" u="none" cap="none" strike="noStrike">
                <a:solidFill>
                  <a:srgbClr val="08125F"/>
                </a:solidFill>
                <a:latin typeface="Arial Narrow"/>
                <a:ea typeface="Arial Narrow"/>
                <a:cs typeface="Arial Narrow"/>
                <a:sym typeface="Arial Narrow"/>
              </a:rPr>
              <a:t>Content-Length → tamaño del cuerpo: 36 bytes.</a:t>
            </a:r>
            <a:endParaRPr/>
          </a:p>
        </p:txBody>
      </p:sp>
      <p:sp>
        <p:nvSpPr>
          <p:cNvPr id="231" name="Google Shape;231;p1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2" name="Google Shape;232;p17" title="DEFENSA_SEGURA_V2:barra-4"/>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p17" title="DEFENSA_SEGURA_V2:avance-4"/>
          <p:cNvSpPr/>
          <p:nvPr/>
        </p:nvSpPr>
        <p:spPr>
          <a:xfrm>
            <a:off x="0" y="0"/>
            <a:ext cx="22167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4" name="Google Shape;234;p17" title="DEFENSA_SEGURA_V2:seccion-4"/>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8"/>
          <p:cNvSpPr/>
          <p:nvPr/>
        </p:nvSpPr>
        <p:spPr>
          <a:xfrm>
            <a:off x="228600" y="91440"/>
            <a:ext cx="11734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3720" u="none" cap="none" strike="noStrike">
                <a:solidFill>
                  <a:srgbClr val="111F5B"/>
                </a:solidFill>
              </a:rPr>
              <a:t>Ataques en peticiones HTTP</a:t>
            </a:r>
            <a:endParaRPr b="1">
              <a:solidFill>
                <a:srgbClr val="111F5B"/>
              </a:solidFill>
            </a:endParaRPr>
          </a:p>
        </p:txBody>
      </p:sp>
      <p:sp>
        <p:nvSpPr>
          <p:cNvPr id="241" name="Google Shape;241;p18"/>
          <p:cNvSpPr/>
          <p:nvPr/>
        </p:nvSpPr>
        <p:spPr>
          <a:xfrm>
            <a:off x="457200" y="670560"/>
            <a:ext cx="11277600" cy="259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250" u="none" cap="none" strike="noStrike">
                <a:solidFill>
                  <a:srgbClr val="112A6D"/>
                </a:solidFill>
                <a:latin typeface="Arial Narrow"/>
                <a:ea typeface="Arial Narrow"/>
                <a:cs typeface="Arial Narrow"/>
                <a:sym typeface="Arial Narrow"/>
              </a:rPr>
              <a:t>Las peticiones HTTP pueden transportar entradas diseñadas para atacar una aplicación web.</a:t>
            </a:r>
            <a:endParaRPr/>
          </a:p>
        </p:txBody>
      </p:sp>
      <p:sp>
        <p:nvSpPr>
          <p:cNvPr id="242" name="Google Shape;242;p18"/>
          <p:cNvSpPr/>
          <p:nvPr/>
        </p:nvSpPr>
        <p:spPr>
          <a:xfrm>
            <a:off x="533400" y="944880"/>
            <a:ext cx="11125200" cy="243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1680" u="none" cap="none" strike="noStrike">
                <a:solidFill>
                  <a:srgbClr val="112A6D"/>
                </a:solidFill>
                <a:latin typeface="Calibri"/>
                <a:ea typeface="Calibri"/>
                <a:cs typeface="Calibri"/>
                <a:sym typeface="Calibri"/>
              </a:rPr>
              <a:t>Los indicios pueden aparecer en la URI, los encabezados o el cuerpo.</a:t>
            </a:r>
            <a:endParaRPr/>
          </a:p>
        </p:txBody>
      </p:sp>
      <p:sp>
        <p:nvSpPr>
          <p:cNvPr id="243" name="Google Shape;243;p18"/>
          <p:cNvSpPr/>
          <p:nvPr/>
        </p:nvSpPr>
        <p:spPr>
          <a:xfrm>
            <a:off x="213360" y="1219200"/>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920" u="none" cap="none" strike="noStrike">
                <a:solidFill>
                  <a:srgbClr val="0069DC"/>
                </a:solidFill>
                <a:latin typeface="Calibri"/>
                <a:ea typeface="Calibri"/>
                <a:cs typeface="Calibri"/>
                <a:sym typeface="Calibri"/>
              </a:rPr>
              <a:t>Algunos tipos e indicios ilustrativos</a:t>
            </a:r>
            <a:endParaRPr/>
          </a:p>
        </p:txBody>
      </p:sp>
      <p:sp>
        <p:nvSpPr>
          <p:cNvPr id="244" name="Google Shape;244;p18"/>
          <p:cNvSpPr/>
          <p:nvPr/>
        </p:nvSpPr>
        <p:spPr>
          <a:xfrm>
            <a:off x="167640" y="1493520"/>
            <a:ext cx="2926080" cy="1615440"/>
          </a:xfrm>
          <a:prstGeom prst="roundRect">
            <a:avLst>
              <a:gd fmla="val 3774" name="adj"/>
            </a:avLst>
          </a:prstGeom>
          <a:solidFill>
            <a:srgbClr val="D7EDFC"/>
          </a:solidFill>
          <a:ln cap="flat" cmpd="sng" w="9525">
            <a:solidFill>
              <a:srgbClr val="4BC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8"/>
          <p:cNvSpPr/>
          <p:nvPr/>
        </p:nvSpPr>
        <p:spPr>
          <a:xfrm>
            <a:off x="243840" y="1645920"/>
            <a:ext cx="2773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040" u="none" cap="none" strike="noStrike">
                <a:solidFill>
                  <a:srgbClr val="092E6B"/>
                </a:solidFill>
                <a:latin typeface="Arial Narrow"/>
                <a:ea typeface="Arial Narrow"/>
                <a:cs typeface="Arial Narrow"/>
                <a:sym typeface="Arial Narrow"/>
              </a:rPr>
              <a:t>Inyección SQL (SQLi)</a:t>
            </a:r>
            <a:endParaRPr/>
          </a:p>
        </p:txBody>
      </p:sp>
      <p:sp>
        <p:nvSpPr>
          <p:cNvPr id="246" name="Google Shape;246;p18"/>
          <p:cNvSpPr/>
          <p:nvPr/>
        </p:nvSpPr>
        <p:spPr>
          <a:xfrm>
            <a:off x="320040" y="2011680"/>
            <a:ext cx="2621280" cy="381000"/>
          </a:xfrm>
          <a:prstGeom prst="roundRect">
            <a:avLst>
              <a:gd fmla="val 12000" name="adj"/>
            </a:avLst>
          </a:prstGeom>
          <a:solidFill>
            <a:srgbClr val="F3F6F9"/>
          </a:solidFill>
          <a:ln cap="flat" cmpd="sng" w="9525">
            <a:solidFill>
              <a:srgbClr val="CFD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472440" y="2072640"/>
            <a:ext cx="2499360" cy="289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560" u="none" cap="none" strike="noStrike">
                <a:solidFill>
                  <a:srgbClr val="112A6D"/>
                </a:solidFill>
                <a:latin typeface="Consolas"/>
                <a:ea typeface="Consolas"/>
                <a:cs typeface="Consolas"/>
                <a:sym typeface="Consolas"/>
              </a:rPr>
              <a:t>' OR '1'='1</a:t>
            </a:r>
            <a:endParaRPr/>
          </a:p>
        </p:txBody>
      </p:sp>
      <p:sp>
        <p:nvSpPr>
          <p:cNvPr id="248" name="Google Shape;248;p18"/>
          <p:cNvSpPr/>
          <p:nvPr/>
        </p:nvSpPr>
        <p:spPr>
          <a:xfrm>
            <a:off x="533400" y="2545080"/>
            <a:ext cx="2499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500" u="none" cap="none" strike="noStrike">
                <a:solidFill>
                  <a:srgbClr val="112A6D"/>
                </a:solidFill>
                <a:latin typeface="Arial Narrow"/>
                <a:ea typeface="Arial Narrow"/>
                <a:cs typeface="Arial Narrow"/>
                <a:sym typeface="Arial Narrow"/>
              </a:rPr>
              <a:t>Busca alterar la lógica de</a:t>
            </a:r>
            <a:endParaRPr/>
          </a:p>
        </p:txBody>
      </p:sp>
      <p:sp>
        <p:nvSpPr>
          <p:cNvPr id="249" name="Google Shape;249;p18"/>
          <p:cNvSpPr/>
          <p:nvPr/>
        </p:nvSpPr>
        <p:spPr>
          <a:xfrm>
            <a:off x="533400" y="2773680"/>
            <a:ext cx="2499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500" u="none" cap="none" strike="noStrike">
                <a:solidFill>
                  <a:srgbClr val="112A6D"/>
                </a:solidFill>
                <a:latin typeface="Arial Narrow"/>
                <a:ea typeface="Arial Narrow"/>
                <a:cs typeface="Arial Narrow"/>
                <a:sym typeface="Arial Narrow"/>
              </a:rPr>
              <a:t>una consulta SQL.</a:t>
            </a:r>
            <a:endParaRPr/>
          </a:p>
        </p:txBody>
      </p:sp>
      <p:sp>
        <p:nvSpPr>
          <p:cNvPr id="250" name="Google Shape;250;p18"/>
          <p:cNvSpPr/>
          <p:nvPr/>
        </p:nvSpPr>
        <p:spPr>
          <a:xfrm>
            <a:off x="167640" y="3139440"/>
            <a:ext cx="2926080" cy="243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16" u="none" cap="none" strike="noStrike">
                <a:solidFill>
                  <a:srgbClr val="092E6B"/>
                </a:solidFill>
                <a:latin typeface="Calibri"/>
                <a:ea typeface="Calibri"/>
                <a:cs typeface="Calibri"/>
                <a:sym typeface="Calibri"/>
              </a:rPr>
              <a:t>CAPEC-66*</a:t>
            </a:r>
            <a:endParaRPr/>
          </a:p>
        </p:txBody>
      </p:sp>
      <p:sp>
        <p:nvSpPr>
          <p:cNvPr id="251" name="Google Shape;251;p18"/>
          <p:cNvSpPr/>
          <p:nvPr/>
        </p:nvSpPr>
        <p:spPr>
          <a:xfrm>
            <a:off x="3169920" y="1493520"/>
            <a:ext cx="2895600" cy="1615440"/>
          </a:xfrm>
          <a:prstGeom prst="roundRect">
            <a:avLst>
              <a:gd fmla="val 3774" name="adj"/>
            </a:avLst>
          </a:prstGeom>
          <a:solidFill>
            <a:srgbClr val="EEE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3246120" y="1645920"/>
            <a:ext cx="2743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2280" u="none" cap="none" strike="noStrike">
                <a:solidFill>
                  <a:srgbClr val="092E6B"/>
                </a:solidFill>
                <a:latin typeface="Calibri"/>
                <a:ea typeface="Calibri"/>
                <a:cs typeface="Calibri"/>
                <a:sym typeface="Calibri"/>
              </a:rPr>
              <a:t>XSS</a:t>
            </a:r>
            <a:endParaRPr/>
          </a:p>
        </p:txBody>
      </p:sp>
      <p:sp>
        <p:nvSpPr>
          <p:cNvPr id="253" name="Google Shape;253;p18"/>
          <p:cNvSpPr/>
          <p:nvPr/>
        </p:nvSpPr>
        <p:spPr>
          <a:xfrm>
            <a:off x="3322320" y="2011680"/>
            <a:ext cx="2590800" cy="381000"/>
          </a:xfrm>
          <a:prstGeom prst="roundRect">
            <a:avLst>
              <a:gd fmla="val 12000" name="adj"/>
            </a:avLst>
          </a:prstGeom>
          <a:solidFill>
            <a:srgbClr val="F3F6F9"/>
          </a:solidFill>
          <a:ln cap="flat" cmpd="sng" w="9525">
            <a:solidFill>
              <a:srgbClr val="CFD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a:off x="3444240" y="2087880"/>
            <a:ext cx="2499360" cy="289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344" u="none" cap="none" strike="noStrike">
                <a:solidFill>
                  <a:srgbClr val="112A6D"/>
                </a:solidFill>
                <a:latin typeface="Consolas"/>
                <a:ea typeface="Consolas"/>
                <a:cs typeface="Consolas"/>
                <a:sym typeface="Consolas"/>
              </a:rPr>
              <a:t>&lt;script&gt;alert(1)&lt;/script&gt;</a:t>
            </a:r>
            <a:endParaRPr/>
          </a:p>
        </p:txBody>
      </p:sp>
      <p:sp>
        <p:nvSpPr>
          <p:cNvPr id="255" name="Google Shape;255;p18"/>
          <p:cNvSpPr/>
          <p:nvPr/>
        </p:nvSpPr>
        <p:spPr>
          <a:xfrm>
            <a:off x="3505200" y="2545080"/>
            <a:ext cx="2499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500" u="none" cap="none" strike="noStrike">
                <a:solidFill>
                  <a:srgbClr val="112A6D"/>
                </a:solidFill>
                <a:latin typeface="Arial Narrow"/>
                <a:ea typeface="Arial Narrow"/>
                <a:cs typeface="Arial Narrow"/>
                <a:sym typeface="Arial Narrow"/>
              </a:rPr>
              <a:t>Busca introducir código</a:t>
            </a:r>
            <a:endParaRPr/>
          </a:p>
        </p:txBody>
      </p:sp>
      <p:sp>
        <p:nvSpPr>
          <p:cNvPr id="256" name="Google Shape;256;p18"/>
          <p:cNvSpPr/>
          <p:nvPr/>
        </p:nvSpPr>
        <p:spPr>
          <a:xfrm>
            <a:off x="3505200" y="2773680"/>
            <a:ext cx="2499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500" u="none" cap="none" strike="noStrike">
                <a:solidFill>
                  <a:srgbClr val="112A6D"/>
                </a:solidFill>
                <a:latin typeface="Arial Narrow"/>
                <a:ea typeface="Arial Narrow"/>
                <a:cs typeface="Arial Narrow"/>
                <a:sym typeface="Arial Narrow"/>
              </a:rPr>
              <a:t>ejecutable en el navegador.</a:t>
            </a:r>
            <a:endParaRPr/>
          </a:p>
        </p:txBody>
      </p:sp>
      <p:sp>
        <p:nvSpPr>
          <p:cNvPr id="257" name="Google Shape;257;p18"/>
          <p:cNvSpPr/>
          <p:nvPr/>
        </p:nvSpPr>
        <p:spPr>
          <a:xfrm>
            <a:off x="3169920" y="3139440"/>
            <a:ext cx="2895600" cy="243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16" u="none" cap="none" strike="noStrike">
                <a:solidFill>
                  <a:srgbClr val="092E6B"/>
                </a:solidFill>
                <a:latin typeface="Calibri"/>
                <a:ea typeface="Calibri"/>
                <a:cs typeface="Calibri"/>
                <a:sym typeface="Calibri"/>
              </a:rPr>
              <a:t>CAPEC-63*</a:t>
            </a:r>
            <a:endParaRPr/>
          </a:p>
        </p:txBody>
      </p:sp>
      <p:sp>
        <p:nvSpPr>
          <p:cNvPr id="258" name="Google Shape;258;p18"/>
          <p:cNvSpPr/>
          <p:nvPr/>
        </p:nvSpPr>
        <p:spPr>
          <a:xfrm>
            <a:off x="6141720" y="1493520"/>
            <a:ext cx="2880360" cy="1615440"/>
          </a:xfrm>
          <a:prstGeom prst="roundRect">
            <a:avLst>
              <a:gd fmla="val 3774"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
          <p:cNvSpPr/>
          <p:nvPr/>
        </p:nvSpPr>
        <p:spPr>
          <a:xfrm>
            <a:off x="6217920" y="1645920"/>
            <a:ext cx="2727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84" u="none" cap="none" strike="noStrike">
                <a:solidFill>
                  <a:srgbClr val="092E6B"/>
                </a:solidFill>
                <a:latin typeface="Arial Narrow"/>
                <a:ea typeface="Arial Narrow"/>
                <a:cs typeface="Arial Narrow"/>
                <a:sym typeface="Arial Narrow"/>
              </a:rPr>
              <a:t>Recorrido de directorios</a:t>
            </a:r>
            <a:endParaRPr/>
          </a:p>
        </p:txBody>
      </p:sp>
      <p:sp>
        <p:nvSpPr>
          <p:cNvPr id="260" name="Google Shape;260;p18"/>
          <p:cNvSpPr/>
          <p:nvPr/>
        </p:nvSpPr>
        <p:spPr>
          <a:xfrm>
            <a:off x="6294120" y="2011680"/>
            <a:ext cx="2575560" cy="381000"/>
          </a:xfrm>
          <a:prstGeom prst="roundRect">
            <a:avLst>
              <a:gd fmla="val 12000" name="adj"/>
            </a:avLst>
          </a:prstGeom>
          <a:solidFill>
            <a:srgbClr val="F3F6F9"/>
          </a:solidFill>
          <a:ln cap="flat" cmpd="sng" w="9525">
            <a:solidFill>
              <a:srgbClr val="CFD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
          <p:cNvSpPr/>
          <p:nvPr/>
        </p:nvSpPr>
        <p:spPr>
          <a:xfrm>
            <a:off x="6477000" y="2087880"/>
            <a:ext cx="2392680" cy="289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560" u="none" cap="none" strike="noStrike">
                <a:solidFill>
                  <a:srgbClr val="112A6D"/>
                </a:solidFill>
                <a:latin typeface="Consolas"/>
                <a:ea typeface="Consolas"/>
                <a:cs typeface="Consolas"/>
                <a:sym typeface="Consolas"/>
              </a:rPr>
              <a:t>../../etc/passwd</a:t>
            </a:r>
            <a:endParaRPr/>
          </a:p>
        </p:txBody>
      </p:sp>
      <p:sp>
        <p:nvSpPr>
          <p:cNvPr id="262" name="Google Shape;262;p18"/>
          <p:cNvSpPr/>
          <p:nvPr/>
        </p:nvSpPr>
        <p:spPr>
          <a:xfrm>
            <a:off x="6431280" y="2545080"/>
            <a:ext cx="2529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500" u="none" cap="none" strike="noStrike">
                <a:solidFill>
                  <a:srgbClr val="112A6D"/>
                </a:solidFill>
                <a:latin typeface="Arial Narrow"/>
                <a:ea typeface="Arial Narrow"/>
                <a:cs typeface="Arial Narrow"/>
                <a:sym typeface="Arial Narrow"/>
              </a:rPr>
              <a:t>Busca acceder a archivos</a:t>
            </a:r>
            <a:endParaRPr/>
          </a:p>
        </p:txBody>
      </p:sp>
      <p:sp>
        <p:nvSpPr>
          <p:cNvPr id="263" name="Google Shape;263;p18"/>
          <p:cNvSpPr/>
          <p:nvPr/>
        </p:nvSpPr>
        <p:spPr>
          <a:xfrm>
            <a:off x="6431280" y="2773680"/>
            <a:ext cx="2529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500" u="none" cap="none" strike="noStrike">
                <a:solidFill>
                  <a:srgbClr val="112A6D"/>
                </a:solidFill>
                <a:latin typeface="Arial Narrow"/>
                <a:ea typeface="Arial Narrow"/>
                <a:cs typeface="Arial Narrow"/>
                <a:sym typeface="Arial Narrow"/>
              </a:rPr>
              <a:t>fuera del directorio permitido.</a:t>
            </a:r>
            <a:endParaRPr/>
          </a:p>
        </p:txBody>
      </p:sp>
      <p:sp>
        <p:nvSpPr>
          <p:cNvPr id="264" name="Google Shape;264;p18"/>
          <p:cNvSpPr/>
          <p:nvPr/>
        </p:nvSpPr>
        <p:spPr>
          <a:xfrm>
            <a:off x="6141720" y="3139440"/>
            <a:ext cx="2880360" cy="243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16" u="none" cap="none" strike="noStrike">
                <a:solidFill>
                  <a:srgbClr val="092E6B"/>
                </a:solidFill>
                <a:latin typeface="Calibri"/>
                <a:ea typeface="Calibri"/>
                <a:cs typeface="Calibri"/>
                <a:sym typeface="Calibri"/>
              </a:rPr>
              <a:t>CAPEC-126*</a:t>
            </a:r>
            <a:endParaRPr/>
          </a:p>
        </p:txBody>
      </p:sp>
      <p:sp>
        <p:nvSpPr>
          <p:cNvPr id="265" name="Google Shape;265;p18"/>
          <p:cNvSpPr/>
          <p:nvPr/>
        </p:nvSpPr>
        <p:spPr>
          <a:xfrm>
            <a:off x="9098280" y="1493520"/>
            <a:ext cx="2910840" cy="1615440"/>
          </a:xfrm>
          <a:prstGeom prst="roundRect">
            <a:avLst>
              <a:gd fmla="val 3774" name="adj"/>
            </a:avLst>
          </a:prstGeom>
          <a:solidFill>
            <a:srgbClr val="C4F3FA"/>
          </a:solidFill>
          <a:ln cap="flat" cmpd="sng" w="9525">
            <a:solidFill>
              <a:srgbClr val="4BC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
          <p:cNvSpPr/>
          <p:nvPr/>
        </p:nvSpPr>
        <p:spPr>
          <a:xfrm>
            <a:off x="9174480" y="1645920"/>
            <a:ext cx="2758440" cy="259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750" u="none" cap="none" strike="noStrike">
                <a:solidFill>
                  <a:srgbClr val="092E6B"/>
                </a:solidFill>
                <a:latin typeface="Arial Narrow"/>
                <a:ea typeface="Arial Narrow"/>
                <a:cs typeface="Arial Narrow"/>
                <a:sym typeface="Arial Narrow"/>
              </a:rPr>
              <a:t>División de respuesta HTTP</a:t>
            </a:r>
            <a:endParaRPr sz="900"/>
          </a:p>
        </p:txBody>
      </p:sp>
      <p:sp>
        <p:nvSpPr>
          <p:cNvPr id="267" name="Google Shape;267;p18"/>
          <p:cNvSpPr/>
          <p:nvPr/>
        </p:nvSpPr>
        <p:spPr>
          <a:xfrm>
            <a:off x="9174480" y="1889760"/>
            <a:ext cx="27584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40" u="none" cap="none" strike="noStrike">
                <a:solidFill>
                  <a:srgbClr val="112A6D"/>
                </a:solidFill>
                <a:latin typeface="Arial Narrow"/>
                <a:ea typeface="Arial Narrow"/>
                <a:cs typeface="Arial Narrow"/>
                <a:sym typeface="Arial Narrow"/>
              </a:rPr>
              <a:t>Inyección CRLF</a:t>
            </a:r>
            <a:endParaRPr/>
          </a:p>
        </p:txBody>
      </p:sp>
      <p:sp>
        <p:nvSpPr>
          <p:cNvPr id="268" name="Google Shape;268;p18"/>
          <p:cNvSpPr/>
          <p:nvPr/>
        </p:nvSpPr>
        <p:spPr>
          <a:xfrm>
            <a:off x="9250680" y="2103120"/>
            <a:ext cx="2606040" cy="381000"/>
          </a:xfrm>
          <a:prstGeom prst="roundRect">
            <a:avLst>
              <a:gd fmla="val 12000" name="adj"/>
            </a:avLst>
          </a:prstGeom>
          <a:solidFill>
            <a:srgbClr val="F3F6F9"/>
          </a:solidFill>
          <a:ln cap="flat" cmpd="sng" w="9525">
            <a:solidFill>
              <a:srgbClr val="CFD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p:nvPr/>
        </p:nvSpPr>
        <p:spPr>
          <a:xfrm>
            <a:off x="9631680" y="2179320"/>
            <a:ext cx="2286000" cy="289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584" u="none" cap="none" strike="noStrike">
                <a:solidFill>
                  <a:srgbClr val="112A6D"/>
                </a:solidFill>
                <a:latin typeface="Consolas"/>
                <a:ea typeface="Consolas"/>
                <a:cs typeface="Consolas"/>
                <a:sym typeface="Consolas"/>
              </a:rPr>
              <a:t>%0D%0AX-Test:1</a:t>
            </a:r>
            <a:endParaRPr/>
          </a:p>
        </p:txBody>
      </p:sp>
      <p:sp>
        <p:nvSpPr>
          <p:cNvPr id="270" name="Google Shape;270;p18"/>
          <p:cNvSpPr/>
          <p:nvPr/>
        </p:nvSpPr>
        <p:spPr>
          <a:xfrm>
            <a:off x="9281160" y="2545080"/>
            <a:ext cx="2667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272" u="none" cap="none" strike="noStrike">
                <a:solidFill>
                  <a:srgbClr val="112A6D"/>
                </a:solidFill>
                <a:latin typeface="Arial Narrow"/>
                <a:ea typeface="Arial Narrow"/>
                <a:cs typeface="Arial Narrow"/>
                <a:sym typeface="Arial Narrow"/>
              </a:rPr>
              <a:t>Puede alterar encabezados si el</a:t>
            </a:r>
            <a:endParaRPr/>
          </a:p>
        </p:txBody>
      </p:sp>
      <p:sp>
        <p:nvSpPr>
          <p:cNvPr id="271" name="Google Shape;271;p18"/>
          <p:cNvSpPr/>
          <p:nvPr/>
        </p:nvSpPr>
        <p:spPr>
          <a:xfrm>
            <a:off x="9281160" y="2773680"/>
            <a:ext cx="2667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272" u="none" cap="none" strike="noStrike">
                <a:solidFill>
                  <a:srgbClr val="112A6D"/>
                </a:solidFill>
                <a:latin typeface="Arial Narrow"/>
                <a:ea typeface="Arial Narrow"/>
                <a:cs typeface="Arial Narrow"/>
                <a:sym typeface="Arial Narrow"/>
              </a:rPr>
              <a:t>servidor inserta el dato en la respuesta.</a:t>
            </a:r>
            <a:endParaRPr/>
          </a:p>
        </p:txBody>
      </p:sp>
      <p:sp>
        <p:nvSpPr>
          <p:cNvPr id="272" name="Google Shape;272;p18"/>
          <p:cNvSpPr/>
          <p:nvPr/>
        </p:nvSpPr>
        <p:spPr>
          <a:xfrm>
            <a:off x="9098280" y="3139440"/>
            <a:ext cx="2910840" cy="243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16" u="none" cap="none" strike="noStrike">
                <a:solidFill>
                  <a:srgbClr val="092E6B"/>
                </a:solidFill>
                <a:latin typeface="Calibri"/>
                <a:ea typeface="Calibri"/>
                <a:cs typeface="Calibri"/>
                <a:sym typeface="Calibri"/>
              </a:rPr>
              <a:t>CAPEC-34*</a:t>
            </a:r>
            <a:endParaRPr/>
          </a:p>
        </p:txBody>
      </p:sp>
      <p:sp>
        <p:nvSpPr>
          <p:cNvPr id="273" name="Google Shape;273;p18"/>
          <p:cNvSpPr/>
          <p:nvPr/>
        </p:nvSpPr>
        <p:spPr>
          <a:xfrm>
            <a:off x="472440" y="3429000"/>
            <a:ext cx="89916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2340" u="none" cap="none" strike="noStrike">
                <a:solidFill>
                  <a:srgbClr val="082699"/>
                </a:solidFill>
                <a:latin typeface="Calibri"/>
                <a:ea typeface="Calibri"/>
                <a:cs typeface="Calibri"/>
                <a:sym typeface="Calibri"/>
              </a:rPr>
              <a:t>Ejemplo completo: indicio de inyección SQL</a:t>
            </a:r>
            <a:endParaRPr/>
          </a:p>
        </p:txBody>
      </p:sp>
      <p:sp>
        <p:nvSpPr>
          <p:cNvPr id="274" name="Google Shape;274;p18"/>
          <p:cNvSpPr/>
          <p:nvPr/>
        </p:nvSpPr>
        <p:spPr>
          <a:xfrm>
            <a:off x="472440" y="3718560"/>
            <a:ext cx="7010400" cy="259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920" u="none" cap="none" strike="noStrike">
                <a:solidFill>
                  <a:srgbClr val="0069DC"/>
                </a:solidFill>
                <a:latin typeface="Calibri"/>
                <a:ea typeface="Calibri"/>
                <a:cs typeface="Calibri"/>
                <a:sym typeface="Calibri"/>
              </a:rPr>
              <a:t>Búsqueda de productos</a:t>
            </a:r>
            <a:endParaRPr/>
          </a:p>
        </p:txBody>
      </p:sp>
      <p:sp>
        <p:nvSpPr>
          <p:cNvPr id="275" name="Google Shape;275;p18"/>
          <p:cNvSpPr/>
          <p:nvPr/>
        </p:nvSpPr>
        <p:spPr>
          <a:xfrm>
            <a:off x="472440" y="4038600"/>
            <a:ext cx="6812280" cy="1630680"/>
          </a:xfrm>
          <a:prstGeom prst="roundRect">
            <a:avLst>
              <a:gd fmla="val 3738" name="adj"/>
            </a:avLst>
          </a:prstGeom>
          <a:solidFill>
            <a:srgbClr val="F3F6F9"/>
          </a:solidFill>
          <a:ln cap="flat" cmpd="sng" w="9525">
            <a:solidFill>
              <a:srgbClr val="9EB4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8"/>
          <p:cNvSpPr/>
          <p:nvPr/>
        </p:nvSpPr>
        <p:spPr>
          <a:xfrm>
            <a:off x="609600" y="4145280"/>
            <a:ext cx="655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76" u="none" cap="none" strike="noStrike">
                <a:solidFill>
                  <a:srgbClr val="001369"/>
                </a:solidFill>
                <a:latin typeface="Consolas"/>
                <a:ea typeface="Consolas"/>
                <a:cs typeface="Consolas"/>
                <a:sym typeface="Consolas"/>
              </a:rPr>
              <a:t>POST /productos/buscar HTTP/1.1</a:t>
            </a:r>
            <a:endParaRPr/>
          </a:p>
        </p:txBody>
      </p:sp>
      <p:sp>
        <p:nvSpPr>
          <p:cNvPr id="277" name="Google Shape;277;p18"/>
          <p:cNvSpPr/>
          <p:nvPr/>
        </p:nvSpPr>
        <p:spPr>
          <a:xfrm>
            <a:off x="609600" y="4373880"/>
            <a:ext cx="655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76" u="none" cap="none" strike="noStrike">
                <a:solidFill>
                  <a:srgbClr val="001369"/>
                </a:solidFill>
                <a:latin typeface="Consolas"/>
                <a:ea typeface="Consolas"/>
                <a:cs typeface="Consolas"/>
                <a:sym typeface="Consolas"/>
              </a:rPr>
              <a:t>Host: tienda.ejemplo.test</a:t>
            </a:r>
            <a:endParaRPr/>
          </a:p>
        </p:txBody>
      </p:sp>
      <p:sp>
        <p:nvSpPr>
          <p:cNvPr id="278" name="Google Shape;278;p18"/>
          <p:cNvSpPr/>
          <p:nvPr/>
        </p:nvSpPr>
        <p:spPr>
          <a:xfrm>
            <a:off x="609600" y="4602480"/>
            <a:ext cx="655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76" u="none" cap="none" strike="noStrike">
                <a:solidFill>
                  <a:srgbClr val="001369"/>
                </a:solidFill>
                <a:latin typeface="Consolas"/>
                <a:ea typeface="Consolas"/>
                <a:cs typeface="Consolas"/>
                <a:sym typeface="Consolas"/>
              </a:rPr>
              <a:t>Content-Type: application/json</a:t>
            </a:r>
            <a:endParaRPr/>
          </a:p>
        </p:txBody>
      </p:sp>
      <p:sp>
        <p:nvSpPr>
          <p:cNvPr id="279" name="Google Shape;279;p18"/>
          <p:cNvSpPr/>
          <p:nvPr/>
        </p:nvSpPr>
        <p:spPr>
          <a:xfrm>
            <a:off x="609600" y="4831080"/>
            <a:ext cx="655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76" u="none" cap="none" strike="noStrike">
                <a:solidFill>
                  <a:srgbClr val="001369"/>
                </a:solidFill>
                <a:latin typeface="Consolas"/>
                <a:ea typeface="Consolas"/>
                <a:cs typeface="Consolas"/>
                <a:sym typeface="Consolas"/>
              </a:rPr>
              <a:t>Content-Length: 34</a:t>
            </a:r>
            <a:endParaRPr/>
          </a:p>
        </p:txBody>
      </p:sp>
      <p:sp>
        <p:nvSpPr>
          <p:cNvPr id="280" name="Google Shape;280;p18"/>
          <p:cNvSpPr/>
          <p:nvPr/>
        </p:nvSpPr>
        <p:spPr>
          <a:xfrm>
            <a:off x="609600" y="5288280"/>
            <a:ext cx="6553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76" u="none" cap="none" strike="noStrike">
                <a:solidFill>
                  <a:srgbClr val="001369"/>
                </a:solidFill>
                <a:latin typeface="Consolas"/>
                <a:ea typeface="Consolas"/>
                <a:cs typeface="Consolas"/>
                <a:sym typeface="Consolas"/>
              </a:rPr>
              <a:t>{"busqueda":"cuaderno' OR '1'='1"}</a:t>
            </a:r>
            <a:endParaRPr/>
          </a:p>
        </p:txBody>
      </p:sp>
      <p:sp>
        <p:nvSpPr>
          <p:cNvPr id="281" name="Google Shape;281;p18"/>
          <p:cNvSpPr/>
          <p:nvPr/>
        </p:nvSpPr>
        <p:spPr>
          <a:xfrm>
            <a:off x="487680" y="5715000"/>
            <a:ext cx="6858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356" u="none" cap="none" strike="noStrike">
                <a:solidFill>
                  <a:srgbClr val="00418B"/>
                </a:solidFill>
                <a:latin typeface="Arial Narrow"/>
                <a:ea typeface="Arial Narrow"/>
                <a:cs typeface="Arial Narrow"/>
                <a:sym typeface="Arial Narrow"/>
              </a:rPr>
              <a:t>Cuerpo JSON válido • 34 bytes, sin salto de línea final.</a:t>
            </a:r>
            <a:endParaRPr/>
          </a:p>
        </p:txBody>
      </p:sp>
      <p:sp>
        <p:nvSpPr>
          <p:cNvPr id="282" name="Google Shape;282;p18"/>
          <p:cNvSpPr/>
          <p:nvPr/>
        </p:nvSpPr>
        <p:spPr>
          <a:xfrm>
            <a:off x="7711440" y="4175760"/>
            <a:ext cx="402336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2250" u="none" cap="none" strike="noStrike">
                <a:solidFill>
                  <a:srgbClr val="163CB1"/>
                </a:solidFill>
                <a:latin typeface="Calibri"/>
                <a:ea typeface="Calibri"/>
                <a:cs typeface="Calibri"/>
                <a:sym typeface="Calibri"/>
              </a:rPr>
              <a:t>Indicio en el cuerpo</a:t>
            </a:r>
            <a:endParaRPr/>
          </a:p>
        </p:txBody>
      </p:sp>
      <p:sp>
        <p:nvSpPr>
          <p:cNvPr id="283" name="Google Shape;283;p18"/>
          <p:cNvSpPr/>
          <p:nvPr/>
        </p:nvSpPr>
        <p:spPr>
          <a:xfrm>
            <a:off x="7665720" y="4587240"/>
            <a:ext cx="152400" cy="21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Calibri"/>
                <a:ea typeface="Calibri"/>
                <a:cs typeface="Calibri"/>
                <a:sym typeface="Calibri"/>
              </a:rPr>
              <a:t>•</a:t>
            </a:r>
            <a:endParaRPr/>
          </a:p>
        </p:txBody>
      </p:sp>
      <p:sp>
        <p:nvSpPr>
          <p:cNvPr id="284" name="Google Shape;284;p18"/>
          <p:cNvSpPr/>
          <p:nvPr/>
        </p:nvSpPr>
        <p:spPr>
          <a:xfrm>
            <a:off x="7818120" y="4572000"/>
            <a:ext cx="388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Calibri"/>
                <a:ea typeface="Calibri"/>
                <a:cs typeface="Calibri"/>
                <a:sym typeface="Calibri"/>
              </a:rPr>
              <a:t>cuaderno: término de búsqueda.</a:t>
            </a:r>
            <a:endParaRPr/>
          </a:p>
        </p:txBody>
      </p:sp>
      <p:sp>
        <p:nvSpPr>
          <p:cNvPr id="285" name="Google Shape;285;p18"/>
          <p:cNvSpPr/>
          <p:nvPr/>
        </p:nvSpPr>
        <p:spPr>
          <a:xfrm>
            <a:off x="7680960" y="4869180"/>
            <a:ext cx="99060" cy="99060"/>
          </a:xfrm>
          <a:prstGeom prst="ellipse">
            <a:avLst/>
          </a:prstGeom>
          <a:solidFill>
            <a:srgbClr val="0069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8"/>
          <p:cNvSpPr/>
          <p:nvPr/>
        </p:nvSpPr>
        <p:spPr>
          <a:xfrm>
            <a:off x="7894320" y="4831080"/>
            <a:ext cx="3840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Arial Narrow"/>
                <a:ea typeface="Arial Narrow"/>
                <a:cs typeface="Arial Narrow"/>
                <a:sym typeface="Arial Narrow"/>
              </a:rPr>
              <a:t>' OR '1'='1: intenta cambiar la lógica</a:t>
            </a:r>
            <a:endParaRPr/>
          </a:p>
        </p:txBody>
      </p:sp>
      <p:sp>
        <p:nvSpPr>
          <p:cNvPr id="287" name="Google Shape;287;p18"/>
          <p:cNvSpPr/>
          <p:nvPr/>
        </p:nvSpPr>
        <p:spPr>
          <a:xfrm>
            <a:off x="7894320" y="5059680"/>
            <a:ext cx="3840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Arial Narrow"/>
                <a:ea typeface="Arial Narrow"/>
                <a:cs typeface="Arial Narrow"/>
                <a:sym typeface="Arial Narrow"/>
              </a:rPr>
              <a:t>de la consulta.</a:t>
            </a:r>
            <a:endParaRPr/>
          </a:p>
        </p:txBody>
      </p:sp>
      <p:sp>
        <p:nvSpPr>
          <p:cNvPr id="288" name="Google Shape;288;p18"/>
          <p:cNvSpPr/>
          <p:nvPr/>
        </p:nvSpPr>
        <p:spPr>
          <a:xfrm>
            <a:off x="7680960" y="5334000"/>
            <a:ext cx="152400" cy="21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Calibri"/>
                <a:ea typeface="Calibri"/>
                <a:cs typeface="Calibri"/>
                <a:sym typeface="Calibri"/>
              </a:rPr>
              <a:t>•</a:t>
            </a:r>
            <a:endParaRPr/>
          </a:p>
        </p:txBody>
      </p:sp>
      <p:sp>
        <p:nvSpPr>
          <p:cNvPr id="289" name="Google Shape;289;p18"/>
          <p:cNvSpPr/>
          <p:nvPr/>
        </p:nvSpPr>
        <p:spPr>
          <a:xfrm>
            <a:off x="7833360" y="5318760"/>
            <a:ext cx="396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Calibri"/>
                <a:ea typeface="Calibri"/>
                <a:cs typeface="Calibri"/>
                <a:sym typeface="Calibri"/>
              </a:rPr>
              <a:t>Su efecto depende de cómo la aplicación</a:t>
            </a:r>
            <a:endParaRPr/>
          </a:p>
        </p:txBody>
      </p:sp>
      <p:sp>
        <p:nvSpPr>
          <p:cNvPr id="290" name="Google Shape;290;p18"/>
          <p:cNvSpPr/>
          <p:nvPr/>
        </p:nvSpPr>
        <p:spPr>
          <a:xfrm>
            <a:off x="7924800" y="5532120"/>
            <a:ext cx="3810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40" u="none" cap="none" strike="noStrike">
                <a:solidFill>
                  <a:srgbClr val="112A6D"/>
                </a:solidFill>
                <a:latin typeface="Calibri"/>
                <a:ea typeface="Calibri"/>
                <a:cs typeface="Calibri"/>
                <a:sym typeface="Calibri"/>
              </a:rPr>
              <a:t>utilice ese dato al construir SQL.</a:t>
            </a:r>
            <a:endParaRPr/>
          </a:p>
        </p:txBody>
      </p:sp>
      <p:sp>
        <p:nvSpPr>
          <p:cNvPr id="291" name="Google Shape;291;p18"/>
          <p:cNvSpPr/>
          <p:nvPr/>
        </p:nvSpPr>
        <p:spPr>
          <a:xfrm>
            <a:off x="472440" y="6019800"/>
            <a:ext cx="11262360" cy="457200"/>
          </a:xfrm>
          <a:prstGeom prst="roundRect">
            <a:avLst>
              <a:gd fmla="val 13333" name="adj"/>
            </a:avLst>
          </a:prstGeom>
          <a:solidFill>
            <a:srgbClr val="D9EFFD"/>
          </a:solidFill>
          <a:ln cap="flat" cmpd="sng" w="9525">
            <a:solidFill>
              <a:srgbClr val="4BC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8"/>
          <p:cNvSpPr/>
          <p:nvPr/>
        </p:nvSpPr>
        <p:spPr>
          <a:xfrm>
            <a:off x="609600" y="6096000"/>
            <a:ext cx="10972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2250" u="none" cap="none" strike="noStrike">
                <a:solidFill>
                  <a:srgbClr val="003CCD"/>
                </a:solidFill>
                <a:latin typeface="Calibri"/>
                <a:ea typeface="Calibri"/>
                <a:cs typeface="Calibri"/>
                <a:sym typeface="Calibri"/>
              </a:rPr>
              <a:t>Un indicio no confirma una vulnerabilidad ni el éxito del ataque.</a:t>
            </a:r>
            <a:endParaRPr/>
          </a:p>
        </p:txBody>
      </p:sp>
      <p:sp>
        <p:nvSpPr>
          <p:cNvPr id="293" name="Google Shape;293;p18"/>
          <p:cNvSpPr/>
          <p:nvPr/>
        </p:nvSpPr>
        <p:spPr>
          <a:xfrm>
            <a:off x="213360" y="6629400"/>
            <a:ext cx="11795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116" u="none" cap="none" strike="noStrike">
                <a:solidFill>
                  <a:srgbClr val="456085"/>
                </a:solidFill>
                <a:latin typeface="Arial Narrow"/>
                <a:ea typeface="Arial Narrow"/>
                <a:cs typeface="Arial Narrow"/>
                <a:sym typeface="Arial Narrow"/>
              </a:rPr>
              <a:t>* The MITRE Corporation. (2023). Common Attack Pattern Enumeration and Classification (CAPEC). v3.9; patrones 66, 63, 126 y 34. https://capec.mitre.org/</a:t>
            </a:r>
            <a:endParaRPr/>
          </a:p>
        </p:txBody>
      </p:sp>
      <p:sp>
        <p:nvSpPr>
          <p:cNvPr id="294" name="Google Shape;294;p1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5" name="Google Shape;295;p18" title="DEFENSA_SEGURA_V2:barra-5"/>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6" name="Google Shape;296;p18" title="DEFENSA_SEGURA_V2:avance-5"/>
          <p:cNvSpPr/>
          <p:nvPr/>
        </p:nvSpPr>
        <p:spPr>
          <a:xfrm>
            <a:off x="0" y="0"/>
            <a:ext cx="332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7" name="Google Shape;297;p18" title="DEFENSA_SEGURA_V2:seccion-5"/>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p:nvPr/>
        </p:nvSpPr>
        <p:spPr>
          <a:xfrm>
            <a:off x="207303" y="3877211"/>
            <a:ext cx="11806546" cy="2390461"/>
          </a:xfrm>
          <a:prstGeom prst="roundRect">
            <a:avLst>
              <a:gd fmla="val 2439" name="adj"/>
            </a:avLst>
          </a:prstGeom>
          <a:solidFill>
            <a:srgbClr val="E9F3FC"/>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207303" y="2944349"/>
            <a:ext cx="11806546" cy="903711"/>
          </a:xfrm>
          <a:prstGeom prst="roundRect">
            <a:avLst>
              <a:gd fmla="val 6452" name="adj"/>
            </a:avLst>
          </a:prstGeom>
          <a:solidFill>
            <a:srgbClr val="E5F0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207303" y="874559"/>
            <a:ext cx="3906363" cy="2040638"/>
          </a:xfrm>
          <a:prstGeom prst="roundRect">
            <a:avLst>
              <a:gd fmla="val 2857" name="adj"/>
            </a:avLst>
          </a:prstGeom>
          <a:solidFill>
            <a:srgbClr val="E2EF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8136638" y="874559"/>
            <a:ext cx="3877211" cy="2040638"/>
          </a:xfrm>
          <a:prstGeom prst="roundRect">
            <a:avLst>
              <a:gd fmla="val 2857" name="adj"/>
            </a:avLst>
          </a:prstGeom>
          <a:solidFill>
            <a:srgbClr val="DFF7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4230274" y="874559"/>
            <a:ext cx="3789756" cy="2011486"/>
          </a:xfrm>
          <a:prstGeom prst="roundRect">
            <a:avLst>
              <a:gd fmla="val 2899" name="adj"/>
            </a:avLst>
          </a:prstGeom>
          <a:solidFill>
            <a:srgbClr val="EDE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8377141" y="1413870"/>
            <a:ext cx="3162988" cy="327960"/>
          </a:xfrm>
          <a:prstGeom prst="roundRect">
            <a:avLst>
              <a:gd fmla="val 17778" name="adj"/>
            </a:avLst>
          </a:prstGeom>
          <a:solidFill>
            <a:srgbClr val="6CDAD9"/>
          </a:solidFill>
          <a:ln cap="flat" cmpd="sng" w="9525">
            <a:solidFill>
              <a:srgbClr val="6CDA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4434338" y="1515902"/>
            <a:ext cx="1924030" cy="306096"/>
          </a:xfrm>
          <a:prstGeom prst="roundRect">
            <a:avLst>
              <a:gd fmla="val 19048" name="adj"/>
            </a:avLst>
          </a:prstGeom>
          <a:solidFill>
            <a:srgbClr val="9253DB"/>
          </a:solidFill>
          <a:ln cap="flat" cmpd="sng" w="9525">
            <a:solidFill>
              <a:srgbClr val="9253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404079" y="1486750"/>
            <a:ext cx="1880302" cy="306096"/>
          </a:xfrm>
          <a:prstGeom prst="roundRect">
            <a:avLst>
              <a:gd fmla="val 19048" name="adj"/>
            </a:avLst>
          </a:prstGeom>
          <a:solidFill>
            <a:srgbClr val="2B86DF"/>
          </a:solidFill>
          <a:ln cap="flat" cmpd="sng" w="9525">
            <a:solidFill>
              <a:srgbClr val="2B86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0" name="Google Shape;310;p19"/>
          <p:cNvPicPr preferRelativeResize="0"/>
          <p:nvPr/>
        </p:nvPicPr>
        <p:blipFill rotWithShape="1">
          <a:blip r:embed="rId3">
            <a:alphaModFix/>
          </a:blip>
          <a:srcRect b="0" l="0" r="0" t="0"/>
          <a:stretch/>
        </p:blipFill>
        <p:spPr>
          <a:xfrm>
            <a:off x="5031953" y="3192140"/>
            <a:ext cx="174912" cy="174912"/>
          </a:xfrm>
          <a:prstGeom prst="rect">
            <a:avLst/>
          </a:prstGeom>
          <a:noFill/>
          <a:ln>
            <a:noFill/>
          </a:ln>
        </p:spPr>
      </p:pic>
      <p:pic>
        <p:nvPicPr>
          <p:cNvPr id="311" name="Google Shape;311;p19"/>
          <p:cNvPicPr preferRelativeResize="0"/>
          <p:nvPr/>
        </p:nvPicPr>
        <p:blipFill rotWithShape="1">
          <a:blip r:embed="rId4">
            <a:alphaModFix/>
          </a:blip>
          <a:srcRect b="0" l="0" r="0" t="0"/>
          <a:stretch/>
        </p:blipFill>
        <p:spPr>
          <a:xfrm>
            <a:off x="11503690" y="3192140"/>
            <a:ext cx="349824" cy="174912"/>
          </a:xfrm>
          <a:prstGeom prst="rect">
            <a:avLst/>
          </a:prstGeom>
          <a:noFill/>
          <a:ln>
            <a:noFill/>
          </a:ln>
        </p:spPr>
      </p:pic>
      <p:sp>
        <p:nvSpPr>
          <p:cNvPr id="312" name="Google Shape;312;p19"/>
          <p:cNvSpPr/>
          <p:nvPr/>
        </p:nvSpPr>
        <p:spPr>
          <a:xfrm>
            <a:off x="3013180" y="3410780"/>
            <a:ext cx="1924030" cy="174912"/>
          </a:xfrm>
          <a:prstGeom prst="rightArrow">
            <a:avLst>
              <a:gd fmla="val 50000" name="adj1"/>
              <a:gd fmla="val 50000" name="adj2"/>
            </a:avLst>
          </a:prstGeom>
          <a:solidFill>
            <a:srgbClr val="00A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7327671" y="3410780"/>
            <a:ext cx="2033350" cy="174912"/>
          </a:xfrm>
          <a:prstGeom prst="rightArrow">
            <a:avLst>
              <a:gd fmla="val 50000" name="adj1"/>
              <a:gd fmla="val 50000" name="adj2"/>
            </a:avLst>
          </a:prstGeom>
          <a:solidFill>
            <a:srgbClr val="00A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2867420" y="80168"/>
            <a:ext cx="6063032" cy="526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191" u="none" cap="none" strike="noStrike">
                <a:solidFill>
                  <a:srgbClr val="111F5B"/>
                </a:solidFill>
              </a:rPr>
              <a:t>Cómo se clasifican los ataques</a:t>
            </a:r>
            <a:endParaRPr b="1">
              <a:solidFill>
                <a:srgbClr val="111F5B"/>
              </a:solidFill>
            </a:endParaRPr>
          </a:p>
        </p:txBody>
      </p:sp>
      <p:sp>
        <p:nvSpPr>
          <p:cNvPr id="315" name="Google Shape;315;p19"/>
          <p:cNvSpPr/>
          <p:nvPr/>
        </p:nvSpPr>
        <p:spPr>
          <a:xfrm>
            <a:off x="2284380" y="524266"/>
            <a:ext cx="7192671" cy="2762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73" u="none" cap="none" strike="noStrike">
                <a:solidFill>
                  <a:srgbClr val="092A77"/>
                </a:solidFill>
                <a:latin typeface="Quattrocento Sans"/>
                <a:ea typeface="Quattrocento Sans"/>
                <a:cs typeface="Quattrocento Sans"/>
                <a:sym typeface="Quattrocento Sans"/>
              </a:rPr>
              <a:t>Los patrones de ataque se relacionan con debilidades y categorías de riesgo.</a:t>
            </a:r>
            <a:endParaRPr/>
          </a:p>
        </p:txBody>
      </p:sp>
      <p:sp>
        <p:nvSpPr>
          <p:cNvPr id="316" name="Google Shape;316;p19"/>
          <p:cNvSpPr/>
          <p:nvPr/>
        </p:nvSpPr>
        <p:spPr>
          <a:xfrm>
            <a:off x="396791" y="974329"/>
            <a:ext cx="2120229" cy="3958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97" u="none" cap="none" strike="noStrike">
                <a:solidFill>
                  <a:srgbClr val="071E5B"/>
                </a:solidFill>
                <a:latin typeface="Quattrocento Sans"/>
                <a:ea typeface="Quattrocento Sans"/>
                <a:cs typeface="Quattrocento Sans"/>
                <a:sym typeface="Quattrocento Sans"/>
              </a:rPr>
              <a:t>CAPEC* MITRE</a:t>
            </a:r>
            <a:endParaRPr/>
          </a:p>
        </p:txBody>
      </p:sp>
      <p:sp>
        <p:nvSpPr>
          <p:cNvPr id="317" name="Google Shape;317;p19"/>
          <p:cNvSpPr/>
          <p:nvPr/>
        </p:nvSpPr>
        <p:spPr>
          <a:xfrm>
            <a:off x="411367" y="1266298"/>
            <a:ext cx="3504947" cy="2048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2" u="none" cap="none" strike="noStrike">
                <a:solidFill>
                  <a:srgbClr val="103180"/>
                </a:solidFill>
                <a:latin typeface="Arial Narrow"/>
                <a:ea typeface="Arial Narrow"/>
                <a:cs typeface="Arial Narrow"/>
                <a:sym typeface="Arial Narrow"/>
              </a:rPr>
              <a:t>Common Attack Pattern Enumeration and Classification</a:t>
            </a:r>
            <a:endParaRPr/>
          </a:p>
        </p:txBody>
      </p:sp>
      <p:sp>
        <p:nvSpPr>
          <p:cNvPr id="318" name="Google Shape;318;p19"/>
          <p:cNvSpPr/>
          <p:nvPr/>
        </p:nvSpPr>
        <p:spPr>
          <a:xfrm>
            <a:off x="549838" y="1561254"/>
            <a:ext cx="1624645" cy="236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31" u="none" cap="none" strike="noStrike">
                <a:solidFill>
                  <a:srgbClr val="FFFFFF"/>
                </a:solidFill>
                <a:latin typeface="Arial"/>
                <a:ea typeface="Arial"/>
                <a:cs typeface="Arial"/>
                <a:sym typeface="Arial"/>
              </a:rPr>
              <a:t>Patrones de ataque</a:t>
            </a:r>
            <a:endParaRPr/>
          </a:p>
        </p:txBody>
      </p:sp>
      <p:sp>
        <p:nvSpPr>
          <p:cNvPr id="319" name="Google Shape;319;p19"/>
          <p:cNvSpPr/>
          <p:nvPr/>
        </p:nvSpPr>
        <p:spPr>
          <a:xfrm>
            <a:off x="418655" y="1846542"/>
            <a:ext cx="3424779" cy="213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48" u="none" cap="none" strike="noStrike">
                <a:solidFill>
                  <a:srgbClr val="1F306D"/>
                </a:solidFill>
                <a:latin typeface="Arial Narrow"/>
                <a:ea typeface="Arial Narrow"/>
                <a:cs typeface="Arial Narrow"/>
                <a:sym typeface="Arial Narrow"/>
              </a:rPr>
              <a:t>Describe formas habituales de explotar debilidades:</a:t>
            </a:r>
            <a:endParaRPr/>
          </a:p>
        </p:txBody>
      </p:sp>
      <p:sp>
        <p:nvSpPr>
          <p:cNvPr id="320" name="Google Shape;320;p19"/>
          <p:cNvSpPr/>
          <p:nvPr/>
        </p:nvSpPr>
        <p:spPr>
          <a:xfrm>
            <a:off x="418655" y="2030787"/>
            <a:ext cx="3497659" cy="2120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84" u="none" cap="none" strike="noStrike">
                <a:solidFill>
                  <a:srgbClr val="192C65"/>
                </a:solidFill>
                <a:latin typeface="Calibri"/>
                <a:ea typeface="Calibri"/>
                <a:cs typeface="Calibri"/>
                <a:sym typeface="Calibri"/>
              </a:rPr>
              <a:t>las condiciones necesarias, las acciones del atacante</a:t>
            </a:r>
            <a:endParaRPr/>
          </a:p>
        </p:txBody>
      </p:sp>
      <p:sp>
        <p:nvSpPr>
          <p:cNvPr id="321" name="Google Shape;321;p19"/>
          <p:cNvSpPr/>
          <p:nvPr/>
        </p:nvSpPr>
        <p:spPr>
          <a:xfrm>
            <a:off x="411367" y="2220914"/>
            <a:ext cx="1930741" cy="2052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43" u="none" cap="none" strike="noStrike">
                <a:solidFill>
                  <a:srgbClr val="1A2A64"/>
                </a:solidFill>
                <a:latin typeface="Arial Narrow"/>
                <a:ea typeface="Arial Narrow"/>
                <a:cs typeface="Arial Narrow"/>
                <a:sym typeface="Arial Narrow"/>
              </a:rPr>
              <a:t>y sus posibles consecuencias.</a:t>
            </a:r>
            <a:endParaRPr/>
          </a:p>
        </p:txBody>
      </p:sp>
      <p:sp>
        <p:nvSpPr>
          <p:cNvPr id="322" name="Google Shape;322;p19"/>
          <p:cNvSpPr/>
          <p:nvPr/>
        </p:nvSpPr>
        <p:spPr>
          <a:xfrm>
            <a:off x="411367" y="2458733"/>
            <a:ext cx="3169699" cy="213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46" u="none" cap="none" strike="noStrike">
                <a:solidFill>
                  <a:srgbClr val="142561"/>
                </a:solidFill>
                <a:latin typeface="Arial Narrow"/>
                <a:ea typeface="Arial Narrow"/>
                <a:cs typeface="Arial Narrow"/>
                <a:sym typeface="Arial Narrow"/>
              </a:rPr>
              <a:t>Cada patrón tiene un identificador propio, como</a:t>
            </a:r>
            <a:endParaRPr/>
          </a:p>
        </p:txBody>
      </p:sp>
      <p:sp>
        <p:nvSpPr>
          <p:cNvPr id="323" name="Google Shape;323;p19"/>
          <p:cNvSpPr/>
          <p:nvPr/>
        </p:nvSpPr>
        <p:spPr>
          <a:xfrm>
            <a:off x="411367" y="2651639"/>
            <a:ext cx="2849028" cy="1933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71" u="none" cap="none" strike="noStrike">
                <a:solidFill>
                  <a:srgbClr val="182963"/>
                </a:solidFill>
                <a:latin typeface="Quattrocento Sans"/>
                <a:ea typeface="Quattrocento Sans"/>
                <a:cs typeface="Quattrocento Sans"/>
                <a:sym typeface="Quattrocento Sans"/>
              </a:rPr>
              <a:t>CAPEC-66, y relaciones con otros patrones.</a:t>
            </a:r>
            <a:endParaRPr/>
          </a:p>
        </p:txBody>
      </p:sp>
      <p:sp>
        <p:nvSpPr>
          <p:cNvPr id="324" name="Google Shape;324;p19"/>
          <p:cNvSpPr/>
          <p:nvPr/>
        </p:nvSpPr>
        <p:spPr>
          <a:xfrm>
            <a:off x="382215" y="3022894"/>
            <a:ext cx="3089531" cy="2658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0" u="none" cap="none" strike="noStrike">
                <a:solidFill>
                  <a:srgbClr val="062874"/>
                </a:solidFill>
                <a:latin typeface="Calibri"/>
                <a:ea typeface="Calibri"/>
                <a:cs typeface="Calibri"/>
                <a:sym typeface="Calibri"/>
              </a:rPr>
              <a:t>CAPEC: de lo general a lo específico</a:t>
            </a:r>
            <a:endParaRPr/>
          </a:p>
        </p:txBody>
      </p:sp>
      <p:sp>
        <p:nvSpPr>
          <p:cNvPr id="325" name="Google Shape;325;p19"/>
          <p:cNvSpPr/>
          <p:nvPr/>
        </p:nvSpPr>
        <p:spPr>
          <a:xfrm>
            <a:off x="4434338" y="983430"/>
            <a:ext cx="2025485" cy="3993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419" u="none" cap="none" strike="noStrike">
                <a:solidFill>
                  <a:srgbClr val="071C5B"/>
                </a:solidFill>
                <a:latin typeface="Arial"/>
                <a:ea typeface="Arial"/>
                <a:cs typeface="Arial"/>
                <a:sym typeface="Arial"/>
              </a:rPr>
              <a:t>CWE** MITRE</a:t>
            </a:r>
            <a:endParaRPr/>
          </a:p>
        </p:txBody>
      </p:sp>
      <p:sp>
        <p:nvSpPr>
          <p:cNvPr id="326" name="Google Shape;326;p19"/>
          <p:cNvSpPr/>
          <p:nvPr/>
        </p:nvSpPr>
        <p:spPr>
          <a:xfrm>
            <a:off x="4441626" y="1271688"/>
            <a:ext cx="2338868" cy="22997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39" u="none" cap="none" strike="noStrike">
                <a:solidFill>
                  <a:srgbClr val="142876"/>
                </a:solidFill>
                <a:latin typeface="Arial Narrow"/>
                <a:ea typeface="Arial Narrow"/>
                <a:cs typeface="Arial Narrow"/>
                <a:sym typeface="Arial Narrow"/>
              </a:rPr>
              <a:t>Common Weakness Enumeration</a:t>
            </a:r>
            <a:endParaRPr/>
          </a:p>
        </p:txBody>
      </p:sp>
      <p:sp>
        <p:nvSpPr>
          <p:cNvPr id="327" name="Google Shape;327;p19"/>
          <p:cNvSpPr/>
          <p:nvPr/>
        </p:nvSpPr>
        <p:spPr>
          <a:xfrm>
            <a:off x="4558234" y="1593996"/>
            <a:ext cx="1697525" cy="224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61" u="none" cap="none" strike="noStrike">
                <a:solidFill>
                  <a:srgbClr val="FFFFFF"/>
                </a:solidFill>
                <a:latin typeface="Quattrocento Sans"/>
                <a:ea typeface="Quattrocento Sans"/>
                <a:cs typeface="Quattrocento Sans"/>
                <a:sym typeface="Quattrocento Sans"/>
              </a:rPr>
              <a:t>Tipos de debilidades</a:t>
            </a:r>
            <a:endParaRPr/>
          </a:p>
        </p:txBody>
      </p:sp>
      <p:sp>
        <p:nvSpPr>
          <p:cNvPr id="328" name="Google Shape;328;p19"/>
          <p:cNvSpPr/>
          <p:nvPr/>
        </p:nvSpPr>
        <p:spPr>
          <a:xfrm>
            <a:off x="4448914" y="1923441"/>
            <a:ext cx="3184275" cy="1914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59" u="none" cap="none" strike="noStrike">
                <a:solidFill>
                  <a:srgbClr val="1D286E"/>
                </a:solidFill>
                <a:latin typeface="Quattrocento Sans"/>
                <a:ea typeface="Quattrocento Sans"/>
                <a:cs typeface="Quattrocento Sans"/>
                <a:sym typeface="Quattrocento Sans"/>
              </a:rPr>
              <a:t>Describe fallas de software y hardware que, bajo</a:t>
            </a:r>
            <a:endParaRPr/>
          </a:p>
        </p:txBody>
      </p:sp>
      <p:sp>
        <p:nvSpPr>
          <p:cNvPr id="329" name="Google Shape;329;p19"/>
          <p:cNvSpPr/>
          <p:nvPr/>
        </p:nvSpPr>
        <p:spPr>
          <a:xfrm>
            <a:off x="4441626" y="2103457"/>
            <a:ext cx="3439355" cy="2079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5" u="none" cap="none" strike="noStrike">
                <a:solidFill>
                  <a:srgbClr val="1B266C"/>
                </a:solidFill>
                <a:latin typeface="Arial Narrow"/>
                <a:ea typeface="Arial Narrow"/>
                <a:cs typeface="Arial Narrow"/>
                <a:sym typeface="Arial Narrow"/>
              </a:rPr>
              <a:t>ciertas condiciones, pueden originar vulnerabilidades.</a:t>
            </a:r>
            <a:endParaRPr/>
          </a:p>
        </p:txBody>
      </p:sp>
      <p:sp>
        <p:nvSpPr>
          <p:cNvPr id="330" name="Google Shape;330;p19"/>
          <p:cNvSpPr/>
          <p:nvPr/>
        </p:nvSpPr>
        <p:spPr>
          <a:xfrm>
            <a:off x="4448914" y="2378565"/>
            <a:ext cx="2972924" cy="213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28" u="none" cap="none" strike="noStrike">
                <a:solidFill>
                  <a:srgbClr val="1D2A72"/>
                </a:solidFill>
                <a:latin typeface="Arial Narrow"/>
                <a:ea typeface="Arial Narrow"/>
                <a:cs typeface="Arial Narrow"/>
                <a:sym typeface="Arial Narrow"/>
              </a:rPr>
              <a:t>Permite identificar la debilidad que un ataque</a:t>
            </a:r>
            <a:endParaRPr/>
          </a:p>
        </p:txBody>
      </p:sp>
      <p:sp>
        <p:nvSpPr>
          <p:cNvPr id="331" name="Google Shape;331;p19"/>
          <p:cNvSpPr/>
          <p:nvPr/>
        </p:nvSpPr>
        <p:spPr>
          <a:xfrm>
            <a:off x="4441626" y="2571917"/>
            <a:ext cx="2244124" cy="191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62" u="none" cap="none" strike="noStrike">
                <a:solidFill>
                  <a:srgbClr val="15226B"/>
                </a:solidFill>
                <a:latin typeface="Quattrocento Sans"/>
                <a:ea typeface="Quattrocento Sans"/>
                <a:cs typeface="Quattrocento Sans"/>
                <a:sym typeface="Quattrocento Sans"/>
              </a:rPr>
              <a:t>puede aprovechar, como CWE-89.</a:t>
            </a:r>
            <a:endParaRPr/>
          </a:p>
        </p:txBody>
      </p:sp>
      <p:sp>
        <p:nvSpPr>
          <p:cNvPr id="332" name="Google Shape;332;p19"/>
          <p:cNvSpPr/>
          <p:nvPr/>
        </p:nvSpPr>
        <p:spPr>
          <a:xfrm>
            <a:off x="8384429" y="1017432"/>
            <a:ext cx="1792269" cy="4688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72" u="none" cap="none" strike="noStrike">
                <a:solidFill>
                  <a:srgbClr val="071951"/>
                </a:solidFill>
                <a:latin typeface="Calibri"/>
                <a:ea typeface="Calibri"/>
                <a:cs typeface="Calibri"/>
                <a:sym typeface="Calibri"/>
              </a:rPr>
              <a:t>OWASP Top 10***</a:t>
            </a:r>
            <a:endParaRPr/>
          </a:p>
        </p:txBody>
      </p:sp>
      <p:sp>
        <p:nvSpPr>
          <p:cNvPr id="333" name="Google Shape;333;p19"/>
          <p:cNvSpPr/>
          <p:nvPr/>
        </p:nvSpPr>
        <p:spPr>
          <a:xfrm>
            <a:off x="8522901" y="1499550"/>
            <a:ext cx="2885468" cy="2568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56" u="none" cap="none" strike="noStrike">
                <a:solidFill>
                  <a:srgbClr val="021758"/>
                </a:solidFill>
                <a:latin typeface="Calibri"/>
                <a:ea typeface="Calibri"/>
                <a:cs typeface="Calibri"/>
                <a:sym typeface="Calibri"/>
              </a:rPr>
              <a:t>Categorías de riesgo • edición 2025</a:t>
            </a:r>
            <a:endParaRPr/>
          </a:p>
        </p:txBody>
      </p:sp>
      <p:sp>
        <p:nvSpPr>
          <p:cNvPr id="334" name="Google Shape;334;p19"/>
          <p:cNvSpPr/>
          <p:nvPr/>
        </p:nvSpPr>
        <p:spPr>
          <a:xfrm>
            <a:off x="8377141" y="1861818"/>
            <a:ext cx="3286307" cy="2116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0" u="none" cap="none" strike="noStrike">
                <a:solidFill>
                  <a:srgbClr val="172961"/>
                </a:solidFill>
                <a:latin typeface="Arial Narrow"/>
                <a:ea typeface="Arial Narrow"/>
                <a:cs typeface="Arial Narrow"/>
                <a:sym typeface="Arial Narrow"/>
              </a:rPr>
              <a:t>Proyecto de OWASP que reúne diez categorías de</a:t>
            </a:r>
            <a:endParaRPr/>
          </a:p>
        </p:txBody>
      </p:sp>
      <p:sp>
        <p:nvSpPr>
          <p:cNvPr id="335" name="Google Shape;335;p19"/>
          <p:cNvSpPr/>
          <p:nvPr/>
        </p:nvSpPr>
        <p:spPr>
          <a:xfrm>
            <a:off x="8377141" y="2036122"/>
            <a:ext cx="2542932" cy="2136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0" u="none" cap="none" strike="noStrike">
                <a:solidFill>
                  <a:srgbClr val="1D2E67"/>
                </a:solidFill>
                <a:latin typeface="Arial Narrow"/>
                <a:ea typeface="Arial Narrow"/>
                <a:cs typeface="Arial Narrow"/>
                <a:sym typeface="Arial Narrow"/>
              </a:rPr>
              <a:t>riesgos críticos para aplicaciones web.</a:t>
            </a:r>
            <a:endParaRPr/>
          </a:p>
        </p:txBody>
      </p:sp>
      <p:sp>
        <p:nvSpPr>
          <p:cNvPr id="336" name="Google Shape;336;p19"/>
          <p:cNvSpPr/>
          <p:nvPr/>
        </p:nvSpPr>
        <p:spPr>
          <a:xfrm>
            <a:off x="8377141" y="2312973"/>
            <a:ext cx="3388339" cy="213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69" u="none" cap="none" strike="noStrike">
                <a:solidFill>
                  <a:srgbClr val="1D3167"/>
                </a:solidFill>
                <a:latin typeface="Arial Narrow"/>
                <a:ea typeface="Arial Narrow"/>
                <a:cs typeface="Arial Narrow"/>
                <a:sym typeface="Arial Narrow"/>
              </a:rPr>
              <a:t>Una categoría puede agrupar distintas debilidades.</a:t>
            </a:r>
            <a:endParaRPr/>
          </a:p>
        </p:txBody>
      </p:sp>
      <p:sp>
        <p:nvSpPr>
          <p:cNvPr id="337" name="Google Shape;337;p19"/>
          <p:cNvSpPr/>
          <p:nvPr/>
        </p:nvSpPr>
        <p:spPr>
          <a:xfrm>
            <a:off x="8377141" y="2488885"/>
            <a:ext cx="2958348" cy="2201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0" u="none" cap="none" strike="noStrike">
                <a:solidFill>
                  <a:srgbClr val="172A65"/>
                </a:solidFill>
                <a:latin typeface="Arial Narrow"/>
                <a:ea typeface="Arial Narrow"/>
                <a:cs typeface="Arial Narrow"/>
                <a:sym typeface="Arial Narrow"/>
              </a:rPr>
              <a:t>Por ejemplo, A05:2025 reúne varios tipos de</a:t>
            </a:r>
            <a:endParaRPr/>
          </a:p>
        </p:txBody>
      </p:sp>
      <p:sp>
        <p:nvSpPr>
          <p:cNvPr id="338" name="Google Shape;338;p19"/>
          <p:cNvSpPr/>
          <p:nvPr/>
        </p:nvSpPr>
        <p:spPr>
          <a:xfrm>
            <a:off x="8377141" y="2671532"/>
            <a:ext cx="677206" cy="2092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67" u="none" cap="none" strike="noStrike">
                <a:solidFill>
                  <a:srgbClr val="1C2C63"/>
                </a:solidFill>
                <a:latin typeface="Arial Narrow"/>
                <a:ea typeface="Arial Narrow"/>
                <a:cs typeface="Arial Narrow"/>
                <a:sym typeface="Arial Narrow"/>
              </a:rPr>
              <a:t>inyección.</a:t>
            </a:r>
            <a:endParaRPr/>
          </a:p>
        </p:txBody>
      </p:sp>
      <p:sp>
        <p:nvSpPr>
          <p:cNvPr id="339" name="Google Shape;339;p19"/>
          <p:cNvSpPr/>
          <p:nvPr/>
        </p:nvSpPr>
        <p:spPr>
          <a:xfrm>
            <a:off x="987118" y="3313200"/>
            <a:ext cx="1369565" cy="2176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18" u="none" cap="none" strike="noStrike">
                <a:solidFill>
                  <a:srgbClr val="071F64"/>
                </a:solidFill>
                <a:latin typeface="Arial"/>
                <a:ea typeface="Arial"/>
                <a:cs typeface="Arial"/>
                <a:sym typeface="Arial"/>
              </a:rPr>
              <a:t>Meta CAPEC-248</a:t>
            </a:r>
            <a:endParaRPr/>
          </a:p>
        </p:txBody>
      </p:sp>
      <p:sp>
        <p:nvSpPr>
          <p:cNvPr id="340" name="Google Shape;340;p19"/>
          <p:cNvSpPr/>
          <p:nvPr/>
        </p:nvSpPr>
        <p:spPr>
          <a:xfrm>
            <a:off x="928814" y="3515711"/>
            <a:ext cx="1493461" cy="203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20" u="none" cap="none" strike="noStrike">
                <a:solidFill>
                  <a:srgbClr val="1C2E69"/>
                </a:solidFill>
                <a:latin typeface="Arial Narrow"/>
                <a:ea typeface="Arial Narrow"/>
                <a:cs typeface="Arial Narrow"/>
                <a:sym typeface="Arial Narrow"/>
              </a:rPr>
              <a:t>Inyección de comandos</a:t>
            </a:r>
            <a:endParaRPr/>
          </a:p>
        </p:txBody>
      </p:sp>
      <p:sp>
        <p:nvSpPr>
          <p:cNvPr id="341" name="Google Shape;341;p19"/>
          <p:cNvSpPr/>
          <p:nvPr/>
        </p:nvSpPr>
        <p:spPr>
          <a:xfrm>
            <a:off x="3421307" y="3312306"/>
            <a:ext cx="1187366" cy="173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08" u="none" cap="none" strike="noStrike">
                <a:solidFill>
                  <a:srgbClr val="1E438D"/>
                </a:solidFill>
                <a:latin typeface="Arial Narrow"/>
                <a:ea typeface="Arial Narrow"/>
                <a:cs typeface="Arial Narrow"/>
                <a:sym typeface="Arial Narrow"/>
              </a:rPr>
              <a:t>Mayor nivel de detalle</a:t>
            </a:r>
            <a:endParaRPr/>
          </a:p>
        </p:txBody>
      </p:sp>
      <p:sp>
        <p:nvSpPr>
          <p:cNvPr id="342" name="Google Shape;342;p19"/>
          <p:cNvSpPr/>
          <p:nvPr/>
        </p:nvSpPr>
        <p:spPr>
          <a:xfrm>
            <a:off x="5389065" y="3304887"/>
            <a:ext cx="1551765" cy="2304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96" u="none" cap="none" strike="noStrike">
                <a:solidFill>
                  <a:srgbClr val="05195F"/>
                </a:solidFill>
                <a:latin typeface="Arial Narrow"/>
                <a:ea typeface="Arial Narrow"/>
                <a:cs typeface="Arial Narrow"/>
                <a:sym typeface="Arial Narrow"/>
              </a:rPr>
              <a:t>Estándar • CAPEC-66</a:t>
            </a:r>
            <a:endParaRPr/>
          </a:p>
        </p:txBody>
      </p:sp>
      <p:sp>
        <p:nvSpPr>
          <p:cNvPr id="343" name="Google Shape;343;p19"/>
          <p:cNvSpPr/>
          <p:nvPr/>
        </p:nvSpPr>
        <p:spPr>
          <a:xfrm>
            <a:off x="5673296" y="3508904"/>
            <a:ext cx="924998" cy="2116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82" u="none" cap="none" strike="noStrike">
                <a:solidFill>
                  <a:srgbClr val="0B1B58"/>
                </a:solidFill>
                <a:latin typeface="Arial Narrow"/>
                <a:ea typeface="Arial Narrow"/>
                <a:cs typeface="Arial Narrow"/>
                <a:sym typeface="Arial Narrow"/>
              </a:rPr>
              <a:t>Inyección SQL</a:t>
            </a:r>
            <a:endParaRPr/>
          </a:p>
        </p:txBody>
      </p:sp>
      <p:sp>
        <p:nvSpPr>
          <p:cNvPr id="344" name="Google Shape;344;p19"/>
          <p:cNvSpPr/>
          <p:nvPr/>
        </p:nvSpPr>
        <p:spPr>
          <a:xfrm>
            <a:off x="7757662" y="3312306"/>
            <a:ext cx="1194654" cy="173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12" u="none" cap="none" strike="noStrike">
                <a:solidFill>
                  <a:srgbClr val="1D408C"/>
                </a:solidFill>
                <a:latin typeface="Arial Narrow"/>
                <a:ea typeface="Arial Narrow"/>
                <a:cs typeface="Arial Narrow"/>
                <a:sym typeface="Arial Narrow"/>
              </a:rPr>
              <a:t>Mayor nivel de detalle</a:t>
            </a:r>
            <a:endParaRPr/>
          </a:p>
        </p:txBody>
      </p:sp>
      <p:sp>
        <p:nvSpPr>
          <p:cNvPr id="345" name="Google Shape;345;p19"/>
          <p:cNvSpPr/>
          <p:nvPr/>
        </p:nvSpPr>
        <p:spPr>
          <a:xfrm>
            <a:off x="389503" y="3960566"/>
            <a:ext cx="3942226" cy="2644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1" u="none" cap="none" strike="noStrike">
                <a:solidFill>
                  <a:srgbClr val="063783"/>
                </a:solidFill>
                <a:latin typeface="Calibri"/>
                <a:ea typeface="Calibri"/>
                <a:cs typeface="Calibri"/>
                <a:sym typeface="Calibri"/>
              </a:rPr>
              <a:t>Ejemplos de relaciones entre los tres recursos</a:t>
            </a:r>
            <a:endParaRPr/>
          </a:p>
        </p:txBody>
      </p:sp>
      <p:sp>
        <p:nvSpPr>
          <p:cNvPr id="346" name="Google Shape;346;p19"/>
          <p:cNvSpPr/>
          <p:nvPr/>
        </p:nvSpPr>
        <p:spPr>
          <a:xfrm>
            <a:off x="9900332" y="3314105"/>
            <a:ext cx="1529901" cy="2147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00" u="none" cap="none" strike="noStrike">
                <a:solidFill>
                  <a:srgbClr val="051B62"/>
                </a:solidFill>
                <a:latin typeface="Quattrocento Sans"/>
                <a:ea typeface="Quattrocento Sans"/>
                <a:cs typeface="Quattrocento Sans"/>
                <a:sym typeface="Quattrocento Sans"/>
              </a:rPr>
              <a:t>Detallado • CAPEC-7</a:t>
            </a:r>
            <a:endParaRPr/>
          </a:p>
        </p:txBody>
      </p:sp>
      <p:sp>
        <p:nvSpPr>
          <p:cNvPr id="347" name="Google Shape;347;p19"/>
          <p:cNvSpPr/>
          <p:nvPr/>
        </p:nvSpPr>
        <p:spPr>
          <a:xfrm>
            <a:off x="9987787" y="3509650"/>
            <a:ext cx="1325837" cy="209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67" u="none" cap="none" strike="noStrike">
                <a:solidFill>
                  <a:srgbClr val="0E225F"/>
                </a:solidFill>
                <a:latin typeface="Arial Narrow"/>
                <a:ea typeface="Arial Narrow"/>
                <a:cs typeface="Arial Narrow"/>
                <a:sym typeface="Arial Narrow"/>
              </a:rPr>
              <a:t>Inyección SQL ciega</a:t>
            </a:r>
            <a:endParaRPr/>
          </a:p>
        </p:txBody>
      </p:sp>
      <p:sp>
        <p:nvSpPr>
          <p:cNvPr id="348" name="Google Shape;348;p19"/>
          <p:cNvSpPr/>
          <p:nvPr/>
        </p:nvSpPr>
        <p:spPr>
          <a:xfrm>
            <a:off x="3275547" y="6043710"/>
            <a:ext cx="5705920" cy="2162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0" u="none" cap="none" strike="noStrike">
                <a:solidFill>
                  <a:srgbClr val="0A2068"/>
                </a:solidFill>
                <a:latin typeface="Arial Narrow"/>
                <a:ea typeface="Arial Narrow"/>
                <a:cs typeface="Arial Narrow"/>
                <a:sym typeface="Arial Narrow"/>
              </a:rPr>
              <a:t>Estas relaciones se complementan: un patrón puede asociarse con varias debilidades.</a:t>
            </a:r>
            <a:endParaRPr/>
          </a:p>
        </p:txBody>
      </p:sp>
      <p:sp>
        <p:nvSpPr>
          <p:cNvPr id="349" name="Google Shape;349;p19"/>
          <p:cNvSpPr/>
          <p:nvPr/>
        </p:nvSpPr>
        <p:spPr>
          <a:xfrm>
            <a:off x="229167" y="6366818"/>
            <a:ext cx="6237944" cy="17044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018" u="none" cap="none" strike="noStrike">
                <a:solidFill>
                  <a:srgbClr val="2E4278"/>
                </a:solidFill>
                <a:latin typeface="Arial Narrow"/>
                <a:ea typeface="Arial Narrow"/>
                <a:cs typeface="Arial Narrow"/>
                <a:sym typeface="Arial Narrow"/>
              </a:rPr>
              <a:t>* The MITRE Corporation. (2023). Common Attack Pattern Enumeration and Classification (CAPEC), v3.9. https://capec.mitre.org/</a:t>
            </a:r>
            <a:endParaRPr/>
          </a:p>
        </p:txBody>
      </p:sp>
      <p:sp>
        <p:nvSpPr>
          <p:cNvPr id="350" name="Google Shape;350;p19"/>
          <p:cNvSpPr/>
          <p:nvPr/>
        </p:nvSpPr>
        <p:spPr>
          <a:xfrm>
            <a:off x="353063" y="6508176"/>
            <a:ext cx="4044258" cy="1417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859" u="none" cap="none" strike="noStrike">
                <a:solidFill>
                  <a:srgbClr val="354579"/>
                </a:solidFill>
                <a:latin typeface="Quattrocento Sans"/>
                <a:ea typeface="Quattrocento Sans"/>
                <a:cs typeface="Quattrocento Sans"/>
                <a:sym typeface="Quattrocento Sans"/>
              </a:rPr>
              <a:t>The MITRE Corporation. (2024). About CWE. https://cwe.mitre.org/about/index.html</a:t>
            </a:r>
            <a:endParaRPr/>
          </a:p>
        </p:txBody>
      </p:sp>
      <p:sp>
        <p:nvSpPr>
          <p:cNvPr id="351" name="Google Shape;351;p19"/>
          <p:cNvSpPr/>
          <p:nvPr/>
        </p:nvSpPr>
        <p:spPr>
          <a:xfrm>
            <a:off x="404079" y="6636654"/>
            <a:ext cx="3905786" cy="160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02" u="none" cap="none" strike="noStrike">
                <a:solidFill>
                  <a:srgbClr val="2F4278"/>
                </a:solidFill>
                <a:latin typeface="Arial Narrow"/>
                <a:ea typeface="Arial Narrow"/>
                <a:cs typeface="Arial Narrow"/>
                <a:sym typeface="Arial Narrow"/>
              </a:rPr>
              <a:t>OWASP Foundation. (2025). OWASP Top 10:2025. https://owasp.org/Top10/2025/</a:t>
            </a:r>
            <a:endParaRPr/>
          </a:p>
        </p:txBody>
      </p:sp>
      <p:graphicFrame>
        <p:nvGraphicFramePr>
          <p:cNvPr id="352" name="Google Shape;352;p19"/>
          <p:cNvGraphicFramePr/>
          <p:nvPr/>
        </p:nvGraphicFramePr>
        <p:xfrm>
          <a:off x="294759" y="4190595"/>
          <a:ext cx="3000000" cy="3000000"/>
        </p:xfrm>
        <a:graphic>
          <a:graphicData uri="http://schemas.openxmlformats.org/drawingml/2006/table">
            <a:tbl>
              <a:tblPr>
                <a:noFill/>
                <a:tableStyleId>{F1B291AF-9CB1-4793-AFE8-E70834C1BA4F}</a:tableStyleId>
              </a:tblPr>
              <a:tblGrid>
                <a:gridCol w="2645550"/>
                <a:gridCol w="2273850"/>
                <a:gridCol w="3534675"/>
                <a:gridCol w="3170275"/>
              </a:tblGrid>
              <a:tr h="269650">
                <a:tc>
                  <a:txBody>
                    <a:bodyPr/>
                    <a:lstStyle/>
                    <a:p>
                      <a:pPr indent="0" lvl="0" marL="0" marR="0" rtl="0" algn="l">
                        <a:spcBef>
                          <a:spcPts val="0"/>
                        </a:spcBef>
                        <a:spcAft>
                          <a:spcPts val="0"/>
                        </a:spcAft>
                        <a:buNone/>
                      </a:pPr>
                      <a:r>
                        <a:rPr b="1" lang="en-US" sz="919" u="none" cap="none" strike="noStrike">
                          <a:solidFill>
                            <a:srgbClr val="FFFFFF"/>
                          </a:solidFill>
                          <a:latin typeface="Arial"/>
                          <a:ea typeface="Arial"/>
                          <a:cs typeface="Arial"/>
                          <a:sym typeface="Arial"/>
                        </a:rPr>
                        <a:t>Tipo de ataque</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919" u="none" cap="none" strike="noStrike">
                          <a:solidFill>
                            <a:srgbClr val="FFFFFF"/>
                          </a:solidFill>
                          <a:latin typeface="Arial"/>
                          <a:ea typeface="Arial"/>
                          <a:cs typeface="Arial"/>
                          <a:sym typeface="Arial"/>
                        </a:rPr>
                        <a:t>Patrón CAPEC</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919" u="none" cap="none" strike="noStrike">
                          <a:solidFill>
                            <a:srgbClr val="FFFFFF"/>
                          </a:solidFill>
                          <a:latin typeface="Arial"/>
                          <a:ea typeface="Arial"/>
                          <a:cs typeface="Arial"/>
                          <a:sym typeface="Arial"/>
                        </a:rPr>
                        <a:t>Debilidad relacionada (CWE)</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919" u="none" cap="none" strike="noStrike">
                          <a:solidFill>
                            <a:srgbClr val="FFFFFF"/>
                          </a:solidFill>
                          <a:latin typeface="Arial"/>
                          <a:ea typeface="Arial"/>
                          <a:cs typeface="Arial"/>
                          <a:sym typeface="Arial"/>
                        </a:rPr>
                        <a:t>OWASP Top 10:2025</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371700">
                <a:tc>
                  <a:txBody>
                    <a:bodyPr/>
                    <a:lstStyle/>
                    <a:p>
                      <a:pPr indent="0" lvl="0" marL="0" marR="0" rtl="0" algn="l">
                        <a:spcBef>
                          <a:spcPts val="0"/>
                        </a:spcBef>
                        <a:spcAft>
                          <a:spcPts val="0"/>
                        </a:spcAft>
                        <a:buNone/>
                      </a:pPr>
                      <a:r>
                        <a:rPr b="1" lang="en-US" sz="868" u="none" cap="none" strike="noStrike">
                          <a:solidFill>
                            <a:srgbClr val="070F64"/>
                          </a:solidFill>
                          <a:latin typeface="Arial"/>
                          <a:ea typeface="Arial"/>
                          <a:cs typeface="Arial"/>
                          <a:sym typeface="Arial"/>
                        </a:rPr>
                        <a:t>Inyección SQL (SQLi)</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CAPEC-66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CWE-89: neutralización incorrecta de elementos en SQL</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A05:2025 · Inyección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86275">
                <a:tc>
                  <a:txBody>
                    <a:bodyPr/>
                    <a:lstStyle/>
                    <a:p>
                      <a:pPr indent="0" lvl="0" marL="0" marR="0" rtl="0" algn="l">
                        <a:spcBef>
                          <a:spcPts val="0"/>
                        </a:spcBef>
                        <a:spcAft>
                          <a:spcPts val="0"/>
                        </a:spcAft>
                        <a:buNone/>
                      </a:pPr>
                      <a:r>
                        <a:rPr b="1" lang="en-US" sz="868" u="none" cap="none" strike="noStrike">
                          <a:solidFill>
                            <a:srgbClr val="070F64"/>
                          </a:solidFill>
                          <a:latin typeface="Arial"/>
                          <a:ea typeface="Arial"/>
                          <a:cs typeface="Arial"/>
                          <a:sym typeface="Arial"/>
                        </a:rPr>
                        <a:t>XSS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CAPEC-63</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CWE-79: neutralización incorrecta al generar páginas web</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A05:2025 · Inyección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291525">
                <a:tc>
                  <a:txBody>
                    <a:bodyPr/>
                    <a:lstStyle/>
                    <a:p>
                      <a:pPr indent="0" lvl="0" marL="0" marR="0" rtl="0" algn="l">
                        <a:spcBef>
                          <a:spcPts val="0"/>
                        </a:spcBef>
                        <a:spcAft>
                          <a:spcPts val="0"/>
                        </a:spcAft>
                        <a:buNone/>
                      </a:pPr>
                      <a:r>
                        <a:rPr b="1" lang="en-US" sz="868" u="none" cap="none" strike="noStrike">
                          <a:solidFill>
                            <a:srgbClr val="070F64"/>
                          </a:solidFill>
                          <a:latin typeface="Arial"/>
                          <a:ea typeface="Arial"/>
                          <a:cs typeface="Arial"/>
                          <a:sym typeface="Arial"/>
                        </a:rPr>
                        <a:t>Recorrido de directorios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CAPEC-126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CWE-22: restricción inadecuada de rutas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A01:2025 · Control de acceso roto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93550">
                <a:tc>
                  <a:txBody>
                    <a:bodyPr/>
                    <a:lstStyle/>
                    <a:p>
                      <a:pPr indent="0" lvl="0" marL="0" marR="0" rtl="0" algn="l">
                        <a:spcBef>
                          <a:spcPts val="0"/>
                        </a:spcBef>
                        <a:spcAft>
                          <a:spcPts val="0"/>
                        </a:spcAft>
                        <a:buNone/>
                      </a:pPr>
                      <a:r>
                        <a:rPr b="1" lang="en-US" sz="868" u="none" cap="none" strike="noStrike">
                          <a:solidFill>
                            <a:srgbClr val="070F64"/>
                          </a:solidFill>
                          <a:latin typeface="Arial"/>
                          <a:ea typeface="Arial"/>
                          <a:cs typeface="Arial"/>
                          <a:sym typeface="Arial"/>
                        </a:rPr>
                        <a:t>División de respuesta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CAPEC-34</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CWE-113: neutralización incorrecta de CRLF en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868" u="none" cap="none" strike="noStrike">
                          <a:solidFill>
                            <a:srgbClr val="070F64"/>
                          </a:solidFill>
                          <a:latin typeface="Arial"/>
                          <a:ea typeface="Arial"/>
                          <a:cs typeface="Arial"/>
                          <a:sym typeface="Arial"/>
                        </a:rPr>
                        <a:t>A05:2025 · Inyección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353" name="Google Shape;353;p1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4" name="Google Shape;354;p19" title="DEFENSA_SEGURA_V2:barra-6"/>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5" name="Google Shape;355;p19" title="DEFENSA_SEGURA_V2:avance-6"/>
          <p:cNvSpPr/>
          <p:nvPr/>
        </p:nvSpPr>
        <p:spPr>
          <a:xfrm>
            <a:off x="0" y="0"/>
            <a:ext cx="4433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6" name="Google Shape;356;p19" title="DEFENSA_SEGURA_V2:seccion-6"/>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0"/>
          <p:cNvSpPr/>
          <p:nvPr/>
        </p:nvSpPr>
        <p:spPr>
          <a:xfrm>
            <a:off x="207303" y="2157245"/>
            <a:ext cx="11777394" cy="1515902"/>
          </a:xfrm>
          <a:prstGeom prst="roundRect">
            <a:avLst>
              <a:gd fmla="val 3846" name="adj"/>
            </a:avLst>
          </a:prstGeom>
          <a:solidFill>
            <a:srgbClr val="EC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0"/>
          <p:cNvSpPr/>
          <p:nvPr/>
        </p:nvSpPr>
        <p:spPr>
          <a:xfrm>
            <a:off x="323911" y="5568026"/>
            <a:ext cx="11544179" cy="524735"/>
          </a:xfrm>
          <a:prstGeom prst="roundRect">
            <a:avLst>
              <a:gd fmla="val 11111" name="adj"/>
            </a:avLst>
          </a:prstGeom>
          <a:solidFill>
            <a:srgbClr val="D6EB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
          <p:cNvSpPr/>
          <p:nvPr/>
        </p:nvSpPr>
        <p:spPr>
          <a:xfrm>
            <a:off x="207303" y="816255"/>
            <a:ext cx="3906363" cy="1253535"/>
          </a:xfrm>
          <a:prstGeom prst="roundRect">
            <a:avLst>
              <a:gd fmla="val 4651" name="adj"/>
            </a:avLst>
          </a:prstGeom>
          <a:solidFill>
            <a:srgbClr val="DCEF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0"/>
          <p:cNvSpPr/>
          <p:nvPr/>
        </p:nvSpPr>
        <p:spPr>
          <a:xfrm>
            <a:off x="8107486" y="1078623"/>
            <a:ext cx="3877211" cy="991167"/>
          </a:xfrm>
          <a:prstGeom prst="roundRect">
            <a:avLst>
              <a:gd fmla="val 5882" name="adj"/>
            </a:avLst>
          </a:prstGeom>
          <a:solidFill>
            <a:srgbClr val="D5F6F9"/>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0"/>
          <p:cNvSpPr/>
          <p:nvPr/>
        </p:nvSpPr>
        <p:spPr>
          <a:xfrm>
            <a:off x="4230274" y="1078623"/>
            <a:ext cx="3760604" cy="991167"/>
          </a:xfrm>
          <a:prstGeom prst="roundRect">
            <a:avLst>
              <a:gd fmla="val 5882" name="adj"/>
            </a:avLst>
          </a:prstGeom>
          <a:solidFill>
            <a:srgbClr val="EADD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a:off x="9033061" y="4409235"/>
            <a:ext cx="2827741" cy="1122351"/>
          </a:xfrm>
          <a:prstGeom prst="roundRect">
            <a:avLst>
              <a:gd fmla="val 5195" name="adj"/>
            </a:avLst>
          </a:prstGeom>
          <a:solidFill>
            <a:srgbClr val="087CFF"/>
          </a:solidFill>
          <a:ln cap="flat" cmpd="sng" w="9525">
            <a:solidFill>
              <a:srgbClr val="087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p:nvPr/>
        </p:nvSpPr>
        <p:spPr>
          <a:xfrm>
            <a:off x="6096000" y="4460251"/>
            <a:ext cx="2769437" cy="1020319"/>
          </a:xfrm>
          <a:prstGeom prst="roundRect">
            <a:avLst>
              <a:gd fmla="val 5714" name="adj"/>
            </a:avLst>
          </a:prstGeom>
          <a:solidFill>
            <a:srgbClr val="D2F5F8"/>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
          <p:cNvSpPr/>
          <p:nvPr/>
        </p:nvSpPr>
        <p:spPr>
          <a:xfrm>
            <a:off x="353063" y="4431099"/>
            <a:ext cx="2623677" cy="1049471"/>
          </a:xfrm>
          <a:prstGeom prst="roundRect">
            <a:avLst>
              <a:gd fmla="val 5556" name="adj"/>
            </a:avLst>
          </a:prstGeom>
          <a:solidFill>
            <a:srgbClr val="DEF0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a:off x="3209955" y="4460251"/>
            <a:ext cx="2681981" cy="1020319"/>
          </a:xfrm>
          <a:prstGeom prst="roundRect">
            <a:avLst>
              <a:gd fmla="val 5714" name="adj"/>
            </a:avLst>
          </a:prstGeom>
          <a:solidFill>
            <a:srgbClr val="EAE0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0" name="Google Shape;370;p20"/>
          <p:cNvPicPr preferRelativeResize="0"/>
          <p:nvPr/>
        </p:nvPicPr>
        <p:blipFill rotWithShape="1">
          <a:blip r:embed="rId3">
            <a:alphaModFix/>
          </a:blip>
          <a:srcRect b="0" l="0" r="0" t="0"/>
          <a:stretch/>
        </p:blipFill>
        <p:spPr>
          <a:xfrm>
            <a:off x="455095" y="1151503"/>
            <a:ext cx="903711" cy="845407"/>
          </a:xfrm>
          <a:prstGeom prst="rect">
            <a:avLst/>
          </a:prstGeom>
          <a:noFill/>
          <a:ln>
            <a:noFill/>
          </a:ln>
        </p:spPr>
      </p:pic>
      <p:pic>
        <p:nvPicPr>
          <p:cNvPr id="371" name="Google Shape;371;p20"/>
          <p:cNvPicPr preferRelativeResize="0"/>
          <p:nvPr/>
        </p:nvPicPr>
        <p:blipFill rotWithShape="1">
          <a:blip r:embed="rId4">
            <a:alphaModFix/>
          </a:blip>
          <a:srcRect b="0" l="0" r="0" t="0"/>
          <a:stretch/>
        </p:blipFill>
        <p:spPr>
          <a:xfrm>
            <a:off x="4448914" y="1180655"/>
            <a:ext cx="874559" cy="816255"/>
          </a:xfrm>
          <a:prstGeom prst="rect">
            <a:avLst/>
          </a:prstGeom>
          <a:noFill/>
          <a:ln>
            <a:noFill/>
          </a:ln>
        </p:spPr>
      </p:pic>
      <p:pic>
        <p:nvPicPr>
          <p:cNvPr id="372" name="Google Shape;372;p20"/>
          <p:cNvPicPr preferRelativeResize="0"/>
          <p:nvPr/>
        </p:nvPicPr>
        <p:blipFill rotWithShape="1">
          <a:blip r:embed="rId5">
            <a:alphaModFix/>
          </a:blip>
          <a:srcRect b="0" l="0" r="0" t="0"/>
          <a:stretch/>
        </p:blipFill>
        <p:spPr>
          <a:xfrm>
            <a:off x="8326125" y="1180655"/>
            <a:ext cx="903711" cy="787103"/>
          </a:xfrm>
          <a:prstGeom prst="rect">
            <a:avLst/>
          </a:prstGeom>
          <a:noFill/>
          <a:ln>
            <a:noFill/>
          </a:ln>
        </p:spPr>
      </p:pic>
      <p:pic>
        <p:nvPicPr>
          <p:cNvPr id="373" name="Google Shape;373;p20"/>
          <p:cNvPicPr preferRelativeResize="0"/>
          <p:nvPr/>
        </p:nvPicPr>
        <p:blipFill rotWithShape="1">
          <a:blip r:embed="rId6">
            <a:alphaModFix/>
          </a:blip>
          <a:srcRect b="0" l="0" r="0" t="0"/>
          <a:stretch/>
        </p:blipFill>
        <p:spPr>
          <a:xfrm>
            <a:off x="3341139" y="4562283"/>
            <a:ext cx="699647" cy="816255"/>
          </a:xfrm>
          <a:prstGeom prst="rect">
            <a:avLst/>
          </a:prstGeom>
          <a:noFill/>
          <a:ln>
            <a:noFill/>
          </a:ln>
        </p:spPr>
      </p:pic>
      <p:pic>
        <p:nvPicPr>
          <p:cNvPr id="374" name="Google Shape;374;p20"/>
          <p:cNvPicPr preferRelativeResize="0"/>
          <p:nvPr/>
        </p:nvPicPr>
        <p:blipFill rotWithShape="1">
          <a:blip r:embed="rId7">
            <a:alphaModFix/>
          </a:blip>
          <a:srcRect b="0" l="0" r="0" t="0"/>
          <a:stretch/>
        </p:blipFill>
        <p:spPr>
          <a:xfrm>
            <a:off x="6256336" y="4562283"/>
            <a:ext cx="787103" cy="816255"/>
          </a:xfrm>
          <a:prstGeom prst="rect">
            <a:avLst/>
          </a:prstGeom>
          <a:noFill/>
          <a:ln>
            <a:noFill/>
          </a:ln>
        </p:spPr>
      </p:pic>
      <p:pic>
        <p:nvPicPr>
          <p:cNvPr id="375" name="Google Shape;375;p20"/>
          <p:cNvPicPr preferRelativeResize="0"/>
          <p:nvPr/>
        </p:nvPicPr>
        <p:blipFill rotWithShape="1">
          <a:blip r:embed="rId8">
            <a:alphaModFix/>
          </a:blip>
          <a:srcRect b="0" l="0" r="0" t="0"/>
          <a:stretch/>
        </p:blipFill>
        <p:spPr>
          <a:xfrm>
            <a:off x="455095" y="4649739"/>
            <a:ext cx="757951" cy="553887"/>
          </a:xfrm>
          <a:prstGeom prst="rect">
            <a:avLst/>
          </a:prstGeom>
          <a:noFill/>
          <a:ln>
            <a:noFill/>
          </a:ln>
        </p:spPr>
      </p:pic>
      <p:pic>
        <p:nvPicPr>
          <p:cNvPr id="376" name="Google Shape;376;p20"/>
          <p:cNvPicPr preferRelativeResize="0"/>
          <p:nvPr/>
        </p:nvPicPr>
        <p:blipFill rotWithShape="1">
          <a:blip r:embed="rId9">
            <a:alphaModFix/>
          </a:blip>
          <a:srcRect b="0" l="0" r="0" t="0"/>
          <a:stretch/>
        </p:blipFill>
        <p:spPr>
          <a:xfrm>
            <a:off x="3341139" y="5087018"/>
            <a:ext cx="145760" cy="145760"/>
          </a:xfrm>
          <a:prstGeom prst="rect">
            <a:avLst/>
          </a:prstGeom>
          <a:noFill/>
          <a:ln>
            <a:noFill/>
          </a:ln>
        </p:spPr>
      </p:pic>
      <p:pic>
        <p:nvPicPr>
          <p:cNvPr id="377" name="Google Shape;377;p20"/>
          <p:cNvPicPr preferRelativeResize="0"/>
          <p:nvPr/>
        </p:nvPicPr>
        <p:blipFill rotWithShape="1">
          <a:blip r:embed="rId10">
            <a:alphaModFix/>
          </a:blip>
          <a:srcRect b="0" l="0" r="0" t="0"/>
          <a:stretch/>
        </p:blipFill>
        <p:spPr>
          <a:xfrm>
            <a:off x="3486899" y="5174474"/>
            <a:ext cx="233216" cy="145760"/>
          </a:xfrm>
          <a:prstGeom prst="rect">
            <a:avLst/>
          </a:prstGeom>
          <a:noFill/>
          <a:ln>
            <a:noFill/>
          </a:ln>
        </p:spPr>
      </p:pic>
      <p:pic>
        <p:nvPicPr>
          <p:cNvPr id="378" name="Google Shape;378;p20"/>
          <p:cNvPicPr preferRelativeResize="0"/>
          <p:nvPr/>
        </p:nvPicPr>
        <p:blipFill rotWithShape="1">
          <a:blip r:embed="rId11">
            <a:alphaModFix/>
          </a:blip>
          <a:srcRect b="0" l="0" r="0" t="0"/>
          <a:stretch/>
        </p:blipFill>
        <p:spPr>
          <a:xfrm>
            <a:off x="1970997" y="5582601"/>
            <a:ext cx="466431" cy="495583"/>
          </a:xfrm>
          <a:prstGeom prst="rect">
            <a:avLst/>
          </a:prstGeom>
          <a:noFill/>
          <a:ln>
            <a:noFill/>
          </a:ln>
        </p:spPr>
      </p:pic>
      <p:pic>
        <p:nvPicPr>
          <p:cNvPr id="379" name="Google Shape;379;p20"/>
          <p:cNvPicPr preferRelativeResize="0"/>
          <p:nvPr/>
        </p:nvPicPr>
        <p:blipFill rotWithShape="1">
          <a:blip r:embed="rId12">
            <a:alphaModFix/>
          </a:blip>
          <a:srcRect b="0" l="0" r="0" t="0"/>
          <a:stretch/>
        </p:blipFill>
        <p:spPr>
          <a:xfrm>
            <a:off x="498823" y="2295717"/>
            <a:ext cx="852695" cy="1020319"/>
          </a:xfrm>
          <a:prstGeom prst="rect">
            <a:avLst/>
          </a:prstGeom>
          <a:noFill/>
          <a:ln>
            <a:noFill/>
          </a:ln>
        </p:spPr>
      </p:pic>
      <p:pic>
        <p:nvPicPr>
          <p:cNvPr id="380" name="Google Shape;380;p20"/>
          <p:cNvPicPr preferRelativeResize="0"/>
          <p:nvPr/>
        </p:nvPicPr>
        <p:blipFill rotWithShape="1">
          <a:blip r:embed="rId13">
            <a:alphaModFix/>
          </a:blip>
          <a:srcRect b="0" l="0" r="0" t="0"/>
          <a:stretch/>
        </p:blipFill>
        <p:spPr>
          <a:xfrm>
            <a:off x="9149668" y="4613299"/>
            <a:ext cx="692359" cy="604903"/>
          </a:xfrm>
          <a:prstGeom prst="rect">
            <a:avLst/>
          </a:prstGeom>
          <a:noFill/>
          <a:ln>
            <a:noFill/>
          </a:ln>
        </p:spPr>
      </p:pic>
      <p:sp>
        <p:nvSpPr>
          <p:cNvPr id="381" name="Google Shape;381;p20"/>
          <p:cNvSpPr/>
          <p:nvPr/>
        </p:nvSpPr>
        <p:spPr>
          <a:xfrm>
            <a:off x="2976740" y="4861090"/>
            <a:ext cx="247792" cy="211352"/>
          </a:xfrm>
          <a:prstGeom prst="rightArrow">
            <a:avLst>
              <a:gd fmla="val 50000" name="adj1"/>
              <a:gd fmla="val 50000" name="adj2"/>
            </a:avLst>
          </a:prstGeom>
          <a:solidFill>
            <a:srgbClr val="008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0"/>
          <p:cNvSpPr/>
          <p:nvPr/>
        </p:nvSpPr>
        <p:spPr>
          <a:xfrm>
            <a:off x="5877360" y="4861090"/>
            <a:ext cx="247792" cy="211352"/>
          </a:xfrm>
          <a:prstGeom prst="rightArrow">
            <a:avLst>
              <a:gd fmla="val 50000" name="adj1"/>
              <a:gd fmla="val 50000" name="adj2"/>
            </a:avLst>
          </a:prstGeom>
          <a:solidFill>
            <a:srgbClr val="008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p:nvPr/>
        </p:nvSpPr>
        <p:spPr>
          <a:xfrm>
            <a:off x="8777981" y="4861090"/>
            <a:ext cx="247792" cy="211352"/>
          </a:xfrm>
          <a:prstGeom prst="rightArrow">
            <a:avLst>
              <a:gd fmla="val 50000" name="adj1"/>
              <a:gd fmla="val 50000" name="adj2"/>
            </a:avLst>
          </a:prstGeom>
          <a:solidFill>
            <a:srgbClr val="008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0"/>
          <p:cNvSpPr/>
          <p:nvPr/>
        </p:nvSpPr>
        <p:spPr>
          <a:xfrm>
            <a:off x="979830" y="51016"/>
            <a:ext cx="10137019" cy="5477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18">
                <a:solidFill>
                  <a:srgbClr val="111F5B"/>
                </a:solidFill>
              </a:rPr>
              <a:t>Consecuencias de los ataques web</a:t>
            </a:r>
            <a:endParaRPr b="1">
              <a:solidFill>
                <a:srgbClr val="111F5B"/>
              </a:solidFill>
            </a:endParaRPr>
          </a:p>
        </p:txBody>
      </p:sp>
      <p:sp>
        <p:nvSpPr>
          <p:cNvPr id="385" name="Google Shape;385;p20"/>
          <p:cNvSpPr/>
          <p:nvPr/>
        </p:nvSpPr>
        <p:spPr>
          <a:xfrm>
            <a:off x="1380670" y="516623"/>
            <a:ext cx="9451948" cy="2679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23" u="none" cap="none" strike="noStrike">
                <a:solidFill>
                  <a:srgbClr val="1130B0"/>
                </a:solidFill>
                <a:latin typeface="Quattrocento Sans"/>
                <a:ea typeface="Quattrocento Sans"/>
                <a:cs typeface="Quattrocento Sans"/>
                <a:sym typeface="Quattrocento Sans"/>
              </a:rPr>
              <a:t>Cuando un ataque aprovecha una vulnerabilidad, puede afectar a los datos, los servicios y las personas.</a:t>
            </a:r>
            <a:endParaRPr/>
          </a:p>
        </p:txBody>
      </p:sp>
      <p:sp>
        <p:nvSpPr>
          <p:cNvPr id="386" name="Google Shape;386;p20"/>
          <p:cNvSpPr/>
          <p:nvPr/>
        </p:nvSpPr>
        <p:spPr>
          <a:xfrm>
            <a:off x="411367" y="877029"/>
            <a:ext cx="1879725" cy="2525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29" u="none" cap="none" strike="noStrike">
                <a:solidFill>
                  <a:srgbClr val="0441B6"/>
                </a:solidFill>
                <a:latin typeface="Arial Narrow"/>
                <a:ea typeface="Arial Narrow"/>
                <a:cs typeface="Arial Narrow"/>
                <a:sym typeface="Arial Narrow"/>
              </a:rPr>
              <a:t>Posibles consecuencias</a:t>
            </a:r>
            <a:endParaRPr/>
          </a:p>
        </p:txBody>
      </p:sp>
      <p:sp>
        <p:nvSpPr>
          <p:cNvPr id="387" name="Google Shape;387;p20"/>
          <p:cNvSpPr/>
          <p:nvPr/>
        </p:nvSpPr>
        <p:spPr>
          <a:xfrm>
            <a:off x="1533717" y="1202991"/>
            <a:ext cx="2309716" cy="3584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98" u="none" cap="none" strike="noStrike">
                <a:solidFill>
                  <a:srgbClr val="060769"/>
                </a:solidFill>
                <a:latin typeface="Arial Narrow"/>
                <a:ea typeface="Arial Narrow"/>
                <a:cs typeface="Arial Narrow"/>
                <a:sym typeface="Arial Narrow"/>
              </a:rPr>
              <a:t>Robo de información</a:t>
            </a:r>
            <a:endParaRPr/>
          </a:p>
        </p:txBody>
      </p:sp>
      <p:sp>
        <p:nvSpPr>
          <p:cNvPr id="388" name="Google Shape;388;p20"/>
          <p:cNvSpPr/>
          <p:nvPr/>
        </p:nvSpPr>
        <p:spPr>
          <a:xfrm>
            <a:off x="1526429" y="1528970"/>
            <a:ext cx="2185820" cy="24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64" u="none" cap="none" strike="noStrike">
                <a:solidFill>
                  <a:srgbClr val="1233B7"/>
                </a:solidFill>
                <a:latin typeface="Quattrocento Sans"/>
                <a:ea typeface="Quattrocento Sans"/>
                <a:cs typeface="Quattrocento Sans"/>
                <a:sym typeface="Quattrocento Sans"/>
              </a:rPr>
              <a:t>Acceso a datos personales</a:t>
            </a:r>
            <a:endParaRPr/>
          </a:p>
        </p:txBody>
      </p:sp>
      <p:sp>
        <p:nvSpPr>
          <p:cNvPr id="389" name="Google Shape;389;p20"/>
          <p:cNvSpPr/>
          <p:nvPr/>
        </p:nvSpPr>
        <p:spPr>
          <a:xfrm>
            <a:off x="1526429" y="1739755"/>
            <a:ext cx="2265988" cy="2436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75" u="none" cap="none" strike="noStrike">
                <a:solidFill>
                  <a:srgbClr val="0C35B8"/>
                </a:solidFill>
                <a:latin typeface="Quattrocento Sans"/>
                <a:ea typeface="Quattrocento Sans"/>
                <a:cs typeface="Quattrocento Sans"/>
                <a:sym typeface="Quattrocento Sans"/>
              </a:rPr>
              <a:t>o información confidencial.</a:t>
            </a:r>
            <a:endParaRPr/>
          </a:p>
        </p:txBody>
      </p:sp>
      <p:sp>
        <p:nvSpPr>
          <p:cNvPr id="390" name="Google Shape;390;p20"/>
          <p:cNvSpPr/>
          <p:nvPr/>
        </p:nvSpPr>
        <p:spPr>
          <a:xfrm>
            <a:off x="5483809" y="1218213"/>
            <a:ext cx="2040061" cy="337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99" u="none" cap="none" strike="noStrike">
                <a:solidFill>
                  <a:srgbClr val="070872"/>
                </a:solidFill>
                <a:latin typeface="Arial Narrow"/>
                <a:ea typeface="Arial Narrow"/>
                <a:cs typeface="Arial Narrow"/>
                <a:sym typeface="Arial Narrow"/>
              </a:rPr>
              <a:t>Alteración de datos</a:t>
            </a:r>
            <a:endParaRPr/>
          </a:p>
        </p:txBody>
      </p:sp>
      <p:sp>
        <p:nvSpPr>
          <p:cNvPr id="391" name="Google Shape;391;p20"/>
          <p:cNvSpPr/>
          <p:nvPr/>
        </p:nvSpPr>
        <p:spPr>
          <a:xfrm>
            <a:off x="5491097" y="1517281"/>
            <a:ext cx="2069213" cy="2560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29" u="none" cap="none" strike="noStrike">
                <a:solidFill>
                  <a:srgbClr val="1438C5"/>
                </a:solidFill>
                <a:latin typeface="Arial Narrow"/>
                <a:ea typeface="Arial Narrow"/>
                <a:cs typeface="Arial Narrow"/>
                <a:sym typeface="Arial Narrow"/>
              </a:rPr>
              <a:t>Cambios o eliminación de</a:t>
            </a:r>
            <a:endParaRPr/>
          </a:p>
        </p:txBody>
      </p:sp>
      <p:sp>
        <p:nvSpPr>
          <p:cNvPr id="392" name="Google Shape;392;p20"/>
          <p:cNvSpPr/>
          <p:nvPr/>
        </p:nvSpPr>
        <p:spPr>
          <a:xfrm>
            <a:off x="5491097" y="1750497"/>
            <a:ext cx="2295140" cy="2560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1" u="none" cap="none" strike="noStrike">
                <a:solidFill>
                  <a:srgbClr val="1436C8"/>
                </a:solidFill>
                <a:latin typeface="Arial Narrow"/>
                <a:ea typeface="Arial Narrow"/>
                <a:cs typeface="Arial Narrow"/>
                <a:sym typeface="Arial Narrow"/>
              </a:rPr>
              <a:t>información sin autorización.</a:t>
            </a:r>
            <a:endParaRPr/>
          </a:p>
        </p:txBody>
      </p:sp>
      <p:sp>
        <p:nvSpPr>
          <p:cNvPr id="393" name="Google Shape;393;p20"/>
          <p:cNvSpPr/>
          <p:nvPr/>
        </p:nvSpPr>
        <p:spPr>
          <a:xfrm>
            <a:off x="9426612" y="1239209"/>
            <a:ext cx="2426324" cy="3260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98" u="none" cap="none" strike="noStrike">
                <a:solidFill>
                  <a:srgbClr val="080860"/>
                </a:solidFill>
                <a:latin typeface="Arial Narrow"/>
                <a:ea typeface="Arial Narrow"/>
                <a:cs typeface="Arial Narrow"/>
                <a:sym typeface="Arial Narrow"/>
              </a:rPr>
              <a:t>Interrupción del servicio</a:t>
            </a:r>
            <a:endParaRPr/>
          </a:p>
        </p:txBody>
      </p:sp>
      <p:sp>
        <p:nvSpPr>
          <p:cNvPr id="394" name="Google Shape;394;p20"/>
          <p:cNvSpPr/>
          <p:nvPr/>
        </p:nvSpPr>
        <p:spPr>
          <a:xfrm>
            <a:off x="9426612" y="1526572"/>
            <a:ext cx="2207684" cy="2637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8" u="none" cap="none" strike="noStrike">
                <a:solidFill>
                  <a:srgbClr val="1137B4"/>
                </a:solidFill>
                <a:latin typeface="Calibri"/>
                <a:ea typeface="Calibri"/>
                <a:cs typeface="Calibri"/>
                <a:sym typeface="Calibri"/>
              </a:rPr>
              <a:t>La aplicación deja de estar</a:t>
            </a:r>
            <a:endParaRPr/>
          </a:p>
        </p:txBody>
      </p:sp>
      <p:sp>
        <p:nvSpPr>
          <p:cNvPr id="395" name="Google Shape;395;p20"/>
          <p:cNvSpPr/>
          <p:nvPr/>
        </p:nvSpPr>
        <p:spPr>
          <a:xfrm>
            <a:off x="9419324" y="1768818"/>
            <a:ext cx="2360732" cy="2344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0" u="none" cap="none" strike="noStrike">
                <a:solidFill>
                  <a:srgbClr val="1138B8"/>
                </a:solidFill>
                <a:latin typeface="Quattrocento Sans"/>
                <a:ea typeface="Quattrocento Sans"/>
                <a:cs typeface="Quattrocento Sans"/>
                <a:sym typeface="Quattrocento Sans"/>
              </a:rPr>
              <a:t>disponible para sus usuarios.</a:t>
            </a:r>
            <a:endParaRPr/>
          </a:p>
        </p:txBody>
      </p:sp>
      <p:sp>
        <p:nvSpPr>
          <p:cNvPr id="396" name="Google Shape;396;p20"/>
          <p:cNvSpPr/>
          <p:nvPr/>
        </p:nvSpPr>
        <p:spPr>
          <a:xfrm>
            <a:off x="8931029" y="2429606"/>
            <a:ext cx="2793900" cy="28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754">
                <a:solidFill>
                  <a:srgbClr val="063CA5"/>
                </a:solidFill>
              </a:rPr>
              <a:t>Ejemplo: CVE-2023-34362</a:t>
            </a:r>
            <a:endParaRPr/>
          </a:p>
        </p:txBody>
      </p:sp>
      <p:sp>
        <p:nvSpPr>
          <p:cNvPr id="397" name="Google Shape;397;p20"/>
          <p:cNvSpPr/>
          <p:nvPr/>
        </p:nvSpPr>
        <p:spPr>
          <a:xfrm>
            <a:off x="1621173" y="2253605"/>
            <a:ext cx="5079153" cy="4353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632" u="none" cap="none" strike="noStrike">
                <a:solidFill>
                  <a:srgbClr val="070C68"/>
                </a:solidFill>
                <a:latin typeface="Arial Narrow"/>
                <a:ea typeface="Arial Narrow"/>
                <a:cs typeface="Arial Narrow"/>
                <a:sym typeface="Arial Narrow"/>
              </a:rPr>
              <a:t>CVE.*: identificación de vulnerabilidades</a:t>
            </a:r>
            <a:endParaRPr/>
          </a:p>
        </p:txBody>
      </p:sp>
      <p:sp>
        <p:nvSpPr>
          <p:cNvPr id="398" name="Google Shape;398;p20"/>
          <p:cNvSpPr/>
          <p:nvPr/>
        </p:nvSpPr>
        <p:spPr>
          <a:xfrm>
            <a:off x="1628461" y="2577205"/>
            <a:ext cx="3104107" cy="2505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17" u="none" cap="none" strike="noStrike">
                <a:solidFill>
                  <a:srgbClr val="161F9D"/>
                </a:solidFill>
                <a:latin typeface="Calibri"/>
                <a:ea typeface="Calibri"/>
                <a:cs typeface="Calibri"/>
                <a:sym typeface="Calibri"/>
              </a:rPr>
              <a:t>Common Vulnerabilities and Exposures</a:t>
            </a:r>
            <a:endParaRPr/>
          </a:p>
        </p:txBody>
      </p:sp>
      <p:sp>
        <p:nvSpPr>
          <p:cNvPr id="399" name="Google Shape;399;p20"/>
          <p:cNvSpPr/>
          <p:nvPr/>
        </p:nvSpPr>
        <p:spPr>
          <a:xfrm>
            <a:off x="1621173" y="2849605"/>
            <a:ext cx="7593510" cy="20634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50" u="none" cap="none" strike="noStrike">
                <a:solidFill>
                  <a:srgbClr val="2125A3"/>
                </a:solidFill>
                <a:latin typeface="Quattrocento Sans"/>
                <a:ea typeface="Quattrocento Sans"/>
                <a:cs typeface="Quattrocento Sans"/>
                <a:sym typeface="Quattrocento Sans"/>
              </a:rPr>
              <a:t>CVE es un programa que identifica y cataloga vulnerabilidades de ciberseguridad divulgadas públicamente.</a:t>
            </a:r>
            <a:endParaRPr/>
          </a:p>
        </p:txBody>
      </p:sp>
      <p:sp>
        <p:nvSpPr>
          <p:cNvPr id="400" name="Google Shape;400;p20"/>
          <p:cNvSpPr/>
          <p:nvPr/>
        </p:nvSpPr>
        <p:spPr>
          <a:xfrm>
            <a:off x="1628461" y="3049389"/>
            <a:ext cx="6726239" cy="2318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48" u="none" cap="none" strike="noStrike">
                <a:solidFill>
                  <a:srgbClr val="1722A8"/>
                </a:solidFill>
                <a:latin typeface="Arial Narrow"/>
                <a:ea typeface="Arial Narrow"/>
                <a:cs typeface="Arial Narrow"/>
                <a:sym typeface="Arial Narrow"/>
              </a:rPr>
              <a:t>Cada vulnerabilidad registrada tiene un identificador que permite referirse al mismo problema.</a:t>
            </a:r>
            <a:endParaRPr/>
          </a:p>
        </p:txBody>
      </p:sp>
      <p:sp>
        <p:nvSpPr>
          <p:cNvPr id="401" name="Google Shape;401;p20"/>
          <p:cNvSpPr/>
          <p:nvPr/>
        </p:nvSpPr>
        <p:spPr>
          <a:xfrm>
            <a:off x="3603507" y="3361786"/>
            <a:ext cx="6114048" cy="24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32" u="none" cap="none" strike="noStrike">
                <a:solidFill>
                  <a:srgbClr val="0A47D7"/>
                </a:solidFill>
                <a:latin typeface="Arial Narrow"/>
                <a:ea typeface="Arial Narrow"/>
                <a:cs typeface="Arial Narrow"/>
                <a:sym typeface="Arial Narrow"/>
              </a:rPr>
              <a:t>CAPEC: patrón de ataque • CWE: tipo de debilidad • CVE: vulnerabilidad concreta</a:t>
            </a:r>
            <a:endParaRPr/>
          </a:p>
        </p:txBody>
      </p:sp>
      <p:sp>
        <p:nvSpPr>
          <p:cNvPr id="402" name="Google Shape;402;p20"/>
          <p:cNvSpPr/>
          <p:nvPr/>
        </p:nvSpPr>
        <p:spPr>
          <a:xfrm>
            <a:off x="389503" y="3846572"/>
            <a:ext cx="7365900" cy="43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612">
                <a:solidFill>
                  <a:srgbClr val="070953"/>
                </a:solidFill>
                <a:latin typeface="Quattrocento Sans"/>
                <a:ea typeface="Quattrocento Sans"/>
                <a:cs typeface="Quattrocento Sans"/>
                <a:sym typeface="Quattrocento Sans"/>
              </a:rPr>
              <a:t>Caso real: MOVEit Transfer (2023)</a:t>
            </a:r>
            <a:endParaRPr/>
          </a:p>
        </p:txBody>
      </p:sp>
      <p:sp>
        <p:nvSpPr>
          <p:cNvPr id="403" name="Google Shape;403;p20"/>
          <p:cNvSpPr/>
          <p:nvPr/>
        </p:nvSpPr>
        <p:spPr>
          <a:xfrm>
            <a:off x="396791" y="4189396"/>
            <a:ext cx="8889900" cy="25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516">
                <a:solidFill>
                  <a:srgbClr val="1231B0"/>
                </a:solidFill>
                <a:latin typeface="Quattrocento Sans"/>
                <a:ea typeface="Quattrocento Sans"/>
                <a:cs typeface="Quattrocento Sans"/>
                <a:sym typeface="Quattrocento Sans"/>
              </a:rPr>
              <a:t>Aplicación web para transferir archivos; atacada desde el 27 de mayo de 2023.</a:t>
            </a:r>
            <a:endParaRPr/>
          </a:p>
        </p:txBody>
      </p:sp>
      <p:sp>
        <p:nvSpPr>
          <p:cNvPr id="404" name="Google Shape;404;p20"/>
          <p:cNvSpPr/>
          <p:nvPr/>
        </p:nvSpPr>
        <p:spPr>
          <a:xfrm>
            <a:off x="1329654" y="4576336"/>
            <a:ext cx="1136350" cy="2717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8" u="none" cap="none" strike="noStrike">
                <a:solidFill>
                  <a:srgbClr val="0633A5"/>
                </a:solidFill>
                <a:latin typeface="Arial Narrow"/>
                <a:ea typeface="Arial Narrow"/>
                <a:cs typeface="Arial Narrow"/>
                <a:sym typeface="Arial Narrow"/>
              </a:rPr>
              <a:t>Petición HTTP</a:t>
            </a:r>
            <a:endParaRPr/>
          </a:p>
        </p:txBody>
      </p:sp>
      <p:sp>
        <p:nvSpPr>
          <p:cNvPr id="405" name="Google Shape;405;p20"/>
          <p:cNvSpPr/>
          <p:nvPr/>
        </p:nvSpPr>
        <p:spPr>
          <a:xfrm>
            <a:off x="1329654" y="4775681"/>
            <a:ext cx="735510" cy="2444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80" u="none" cap="none" strike="noStrike">
                <a:solidFill>
                  <a:srgbClr val="051F96"/>
                </a:solidFill>
                <a:latin typeface="Arial Narrow"/>
                <a:ea typeface="Arial Narrow"/>
                <a:cs typeface="Arial Narrow"/>
                <a:sym typeface="Arial Narrow"/>
              </a:rPr>
              <a:t>maliciosa</a:t>
            </a:r>
            <a:endParaRPr/>
          </a:p>
        </p:txBody>
      </p:sp>
      <p:sp>
        <p:nvSpPr>
          <p:cNvPr id="406" name="Google Shape;406;p20"/>
          <p:cNvSpPr/>
          <p:nvPr/>
        </p:nvSpPr>
        <p:spPr>
          <a:xfrm>
            <a:off x="4244850" y="4582653"/>
            <a:ext cx="1587600" cy="23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407">
                <a:solidFill>
                  <a:srgbClr val="0538B1"/>
                </a:solidFill>
                <a:latin typeface="Quattrocento Sans"/>
                <a:ea typeface="Quattrocento Sans"/>
                <a:cs typeface="Quattrocento Sans"/>
                <a:sym typeface="Quattrocento Sans"/>
              </a:rPr>
              <a:t>MOVEit Transfer</a:t>
            </a:r>
            <a:endParaRPr/>
          </a:p>
        </p:txBody>
      </p:sp>
      <p:sp>
        <p:nvSpPr>
          <p:cNvPr id="407" name="Google Shape;407;p20"/>
          <p:cNvSpPr/>
          <p:nvPr/>
        </p:nvSpPr>
        <p:spPr>
          <a:xfrm>
            <a:off x="4244850" y="4753149"/>
            <a:ext cx="1012454" cy="25606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526">
                <a:solidFill>
                  <a:srgbClr val="052EAA"/>
                </a:solidFill>
                <a:latin typeface="Arial Narrow"/>
                <a:ea typeface="Arial Narrow"/>
                <a:cs typeface="Arial Narrow"/>
                <a:sym typeface="Arial Narrow"/>
              </a:rPr>
              <a:t>vulnerable</a:t>
            </a:r>
            <a:endParaRPr/>
          </a:p>
        </p:txBody>
      </p:sp>
      <p:sp>
        <p:nvSpPr>
          <p:cNvPr id="408" name="Google Shape;408;p20"/>
          <p:cNvSpPr/>
          <p:nvPr/>
        </p:nvSpPr>
        <p:spPr>
          <a:xfrm>
            <a:off x="1329654" y="5039941"/>
            <a:ext cx="1522613" cy="1814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99">
                <a:solidFill>
                  <a:srgbClr val="1727A4"/>
                </a:solidFill>
                <a:latin typeface="Arial Narrow"/>
                <a:ea typeface="Arial Narrow"/>
                <a:cs typeface="Arial Narrow"/>
                <a:sym typeface="Arial Narrow"/>
              </a:rPr>
              <a:t>Inyección SQL</a:t>
            </a:r>
            <a:endParaRPr/>
          </a:p>
        </p:txBody>
      </p:sp>
      <p:sp>
        <p:nvSpPr>
          <p:cNvPr id="409" name="Google Shape;409;p20"/>
          <p:cNvSpPr/>
          <p:nvPr/>
        </p:nvSpPr>
        <p:spPr>
          <a:xfrm>
            <a:off x="1329654" y="5199063"/>
            <a:ext cx="720934" cy="185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83">
                <a:solidFill>
                  <a:srgbClr val="1842BE"/>
                </a:solidFill>
                <a:latin typeface="Arial Narrow"/>
                <a:ea typeface="Arial Narrow"/>
                <a:cs typeface="Arial Narrow"/>
                <a:sym typeface="Arial Narrow"/>
              </a:rPr>
              <a:t>(SQLi).</a:t>
            </a:r>
            <a:endParaRPr/>
          </a:p>
        </p:txBody>
      </p:sp>
      <p:sp>
        <p:nvSpPr>
          <p:cNvPr id="410" name="Google Shape;410;p20"/>
          <p:cNvSpPr/>
          <p:nvPr/>
        </p:nvSpPr>
        <p:spPr>
          <a:xfrm>
            <a:off x="7087167" y="4603314"/>
            <a:ext cx="1610069" cy="2266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272">
                <a:solidFill>
                  <a:srgbClr val="07329F"/>
                </a:solidFill>
                <a:latin typeface="Arial Narrow"/>
                <a:ea typeface="Arial Narrow"/>
                <a:cs typeface="Arial Narrow"/>
                <a:sym typeface="Arial Narrow"/>
              </a:rPr>
              <a:t>Webshell LEMURLOOT</a:t>
            </a:r>
            <a:endParaRPr/>
          </a:p>
        </p:txBody>
      </p:sp>
      <p:sp>
        <p:nvSpPr>
          <p:cNvPr id="411" name="Google Shape;411;p20"/>
          <p:cNvSpPr/>
          <p:nvPr/>
        </p:nvSpPr>
        <p:spPr>
          <a:xfrm>
            <a:off x="2546748" y="5761316"/>
            <a:ext cx="7382158" cy="2766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59" u="none" cap="none" strike="noStrike">
                <a:solidFill>
                  <a:srgbClr val="0927C8"/>
                </a:solidFill>
                <a:latin typeface="Arial Narrow"/>
                <a:ea typeface="Arial Narrow"/>
                <a:cs typeface="Arial Narrow"/>
                <a:sym typeface="Arial Narrow"/>
              </a:rPr>
              <a:t>Para las personas: exposición de su privacidad y riesgo de fraude o suplantación de identidad.</a:t>
            </a:r>
            <a:endParaRPr/>
          </a:p>
        </p:txBody>
      </p:sp>
      <p:sp>
        <p:nvSpPr>
          <p:cNvPr id="412" name="Google Shape;412;p20"/>
          <p:cNvSpPr/>
          <p:nvPr/>
        </p:nvSpPr>
        <p:spPr>
          <a:xfrm>
            <a:off x="207303" y="6281301"/>
            <a:ext cx="2440900" cy="1451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833" u="none" cap="none" strike="noStrike">
                <a:solidFill>
                  <a:srgbClr val="53548E"/>
                </a:solidFill>
                <a:latin typeface="Arial Narrow"/>
                <a:ea typeface="Arial Narrow"/>
                <a:cs typeface="Arial Narrow"/>
                <a:sym typeface="Arial Narrow"/>
              </a:rPr>
              <a:t>• CVE Program. (s.f.). Frequently Asked Questions (FAQs).</a:t>
            </a:r>
            <a:endParaRPr/>
          </a:p>
        </p:txBody>
      </p:sp>
      <p:sp>
        <p:nvSpPr>
          <p:cNvPr id="413" name="Google Shape;413;p20"/>
          <p:cNvSpPr/>
          <p:nvPr/>
        </p:nvSpPr>
        <p:spPr>
          <a:xfrm>
            <a:off x="2962164" y="6281807"/>
            <a:ext cx="1887013" cy="1435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68">
                <a:solidFill>
                  <a:srgbClr val="575891"/>
                </a:solidFill>
                <a:latin typeface="Arial Narrow"/>
                <a:ea typeface="Arial Narrow"/>
                <a:cs typeface="Arial Narrow"/>
                <a:sym typeface="Arial Narrow"/>
              </a:rPr>
              <a:t>CISA y FBI. (7 de junio de 2023).</a:t>
            </a:r>
            <a:endParaRPr/>
          </a:p>
        </p:txBody>
      </p:sp>
      <p:sp>
        <p:nvSpPr>
          <p:cNvPr id="414" name="Google Shape;414;p20"/>
          <p:cNvSpPr/>
          <p:nvPr/>
        </p:nvSpPr>
        <p:spPr>
          <a:xfrm>
            <a:off x="5629569" y="6280990"/>
            <a:ext cx="2958348" cy="14620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21">
                <a:solidFill>
                  <a:srgbClr val="59568D"/>
                </a:solidFill>
                <a:latin typeface="Arial Narrow"/>
                <a:ea typeface="Arial Narrow"/>
                <a:cs typeface="Arial Narrow"/>
                <a:sym typeface="Arial Narrow"/>
              </a:rPr>
              <a:t>Explotación de SQLi e instalación de LEMURLOOT.</a:t>
            </a:r>
            <a:endParaRPr/>
          </a:p>
        </p:txBody>
      </p:sp>
      <p:sp>
        <p:nvSpPr>
          <p:cNvPr id="415" name="Google Shape;415;p20"/>
          <p:cNvSpPr/>
          <p:nvPr/>
        </p:nvSpPr>
        <p:spPr>
          <a:xfrm>
            <a:off x="9127804" y="6279644"/>
            <a:ext cx="2783436" cy="141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02">
                <a:solidFill>
                  <a:srgbClr val="57588F"/>
                </a:solidFill>
                <a:latin typeface="Arial Narrow"/>
                <a:ea typeface="Arial Narrow"/>
                <a:cs typeface="Arial Narrow"/>
                <a:sym typeface="Arial Narrow"/>
              </a:rPr>
              <a:t>Caso: actividad desde el 27 de mayo de 2023.</a:t>
            </a:r>
            <a:endParaRPr/>
          </a:p>
        </p:txBody>
      </p:sp>
      <p:sp>
        <p:nvSpPr>
          <p:cNvPr id="416" name="Google Shape;416;p20"/>
          <p:cNvSpPr/>
          <p:nvPr/>
        </p:nvSpPr>
        <p:spPr>
          <a:xfrm>
            <a:off x="302047" y="6419558"/>
            <a:ext cx="1901589" cy="13641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92">
                <a:solidFill>
                  <a:srgbClr val="54568F"/>
                </a:solidFill>
                <a:uFill>
                  <a:noFill/>
                </a:uFill>
                <a:latin typeface="Arial Narrow"/>
                <a:ea typeface="Arial Narrow"/>
                <a:cs typeface="Arial Narrow"/>
                <a:sym typeface="Arial Narrow"/>
                <a:hlinkClick r:id="rId14">
                  <a:extLst>
                    <a:ext uri="{A12FA001-AC4F-418D-AE19-62706E023703}">
                      <ahyp:hlinkClr val="tx"/>
                    </a:ext>
                  </a:extLst>
                </a:hlinkClick>
              </a:rPr>
              <a:t>cve.org/ResourcesSupport/FAQs</a:t>
            </a:r>
            <a:endParaRPr/>
          </a:p>
        </p:txBody>
      </p:sp>
      <p:sp>
        <p:nvSpPr>
          <p:cNvPr id="417" name="Google Shape;417;p20"/>
          <p:cNvSpPr/>
          <p:nvPr/>
        </p:nvSpPr>
        <p:spPr>
          <a:xfrm>
            <a:off x="2962164" y="6418115"/>
            <a:ext cx="2331580" cy="141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36">
                <a:solidFill>
                  <a:srgbClr val="575993"/>
                </a:solidFill>
                <a:latin typeface="Arial Narrow"/>
                <a:ea typeface="Arial Narrow"/>
                <a:cs typeface="Arial Narrow"/>
                <a:sym typeface="Arial Narrow"/>
              </a:rPr>
              <a:t>Aviso conjunto sobre MOVEit Transfer.</a:t>
            </a:r>
            <a:endParaRPr/>
          </a:p>
        </p:txBody>
      </p:sp>
      <p:sp>
        <p:nvSpPr>
          <p:cNvPr id="418" name="Google Shape;418;p20"/>
          <p:cNvSpPr/>
          <p:nvPr/>
        </p:nvSpPr>
        <p:spPr>
          <a:xfrm>
            <a:off x="5622281" y="6418115"/>
            <a:ext cx="3060379" cy="141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797">
                <a:solidFill>
                  <a:srgbClr val="595990"/>
                </a:solidFill>
                <a:uFill>
                  <a:noFill/>
                </a:uFill>
                <a:latin typeface="Arial Narrow"/>
                <a:ea typeface="Arial Narrow"/>
                <a:cs typeface="Arial Narrow"/>
                <a:sym typeface="Arial Narrow"/>
                <a:hlinkClick r:id="rId15">
                  <a:extLst>
                    <a:ext uri="{A12FA001-AC4F-418D-AE19-62706E023703}">
                      <ahyp:hlinkClr val="tx"/>
                    </a:ext>
                  </a:extLst>
                </a:hlinkClick>
              </a:rPr>
              <a:t>content.govdelivery.com/accounts/USDHSCISA/bulletins/35ecb08</a:t>
            </a:r>
            <a:endParaRPr/>
          </a:p>
        </p:txBody>
      </p:sp>
      <p:sp>
        <p:nvSpPr>
          <p:cNvPr id="419" name="Google Shape;419;p20"/>
          <p:cNvSpPr/>
          <p:nvPr/>
        </p:nvSpPr>
        <p:spPr>
          <a:xfrm>
            <a:off x="9120516" y="6418144"/>
            <a:ext cx="2880984" cy="1410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18">
                <a:solidFill>
                  <a:srgbClr val="5B5B93"/>
                </a:solidFill>
                <a:latin typeface="Arial Narrow"/>
                <a:ea typeface="Arial Narrow"/>
                <a:cs typeface="Arial Narrow"/>
                <a:sym typeface="Arial Narrow"/>
              </a:rPr>
              <a:t>Fuente completa y explicación en las notas.</a:t>
            </a:r>
            <a:endParaRPr/>
          </a:p>
        </p:txBody>
      </p:sp>
      <p:sp>
        <p:nvSpPr>
          <p:cNvPr id="420" name="Google Shape;420;p20"/>
          <p:cNvSpPr/>
          <p:nvPr/>
        </p:nvSpPr>
        <p:spPr>
          <a:xfrm>
            <a:off x="9958635" y="4518555"/>
            <a:ext cx="1792269" cy="3126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19">
                <a:solidFill>
                  <a:srgbClr val="FFFFFF"/>
                </a:solidFill>
                <a:latin typeface="Arial Narrow"/>
                <a:ea typeface="Arial Narrow"/>
                <a:cs typeface="Arial Narrow"/>
                <a:sym typeface="Arial Narrow"/>
              </a:rPr>
              <a:t>Robo de datos</a:t>
            </a:r>
            <a:endParaRPr/>
          </a:p>
        </p:txBody>
      </p:sp>
      <p:sp>
        <p:nvSpPr>
          <p:cNvPr id="421" name="Google Shape;421;p20"/>
          <p:cNvSpPr/>
          <p:nvPr/>
        </p:nvSpPr>
        <p:spPr>
          <a:xfrm>
            <a:off x="9965923" y="4788210"/>
            <a:ext cx="1835997" cy="2463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492">
                <a:solidFill>
                  <a:srgbClr val="FFFFFF"/>
                </a:solidFill>
                <a:latin typeface="Arial Narrow"/>
                <a:ea typeface="Arial Narrow"/>
                <a:cs typeface="Arial Narrow"/>
                <a:sym typeface="Arial Narrow"/>
              </a:rPr>
              <a:t>mediante la webshell</a:t>
            </a:r>
            <a:endParaRPr/>
          </a:p>
        </p:txBody>
      </p:sp>
      <p:sp>
        <p:nvSpPr>
          <p:cNvPr id="422" name="Google Shape;422;p20"/>
          <p:cNvSpPr/>
          <p:nvPr/>
        </p:nvSpPr>
        <p:spPr>
          <a:xfrm>
            <a:off x="9973211" y="5006850"/>
            <a:ext cx="1828709" cy="48975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lang="en-US" sz="1071">
                <a:solidFill>
                  <a:srgbClr val="FFFFFF"/>
                </a:solidFill>
                <a:latin typeface="Arial Narrow"/>
                <a:ea typeface="Arial Narrow"/>
                <a:cs typeface="Arial Narrow"/>
                <a:sym typeface="Arial Narrow"/>
              </a:rPr>
              <a:t>Información extraída</a:t>
            </a:r>
            <a:endParaRPr/>
          </a:p>
          <a:p>
            <a:pPr indent="0" lvl="0" marL="0" marR="0" rtl="0" algn="l">
              <a:lnSpc>
                <a:spcPct val="90000"/>
              </a:lnSpc>
              <a:spcBef>
                <a:spcPts val="0"/>
              </a:spcBef>
              <a:spcAft>
                <a:spcPts val="0"/>
              </a:spcAft>
              <a:buNone/>
            </a:pPr>
            <a:r>
              <a:rPr lang="en-US" sz="1071">
                <a:solidFill>
                  <a:srgbClr val="FFFFFF"/>
                </a:solidFill>
                <a:latin typeface="Arial Narrow"/>
                <a:ea typeface="Arial Narrow"/>
                <a:cs typeface="Arial Narrow"/>
                <a:sym typeface="Arial Narrow"/>
              </a:rPr>
              <a:t>por los atacantes.</a:t>
            </a:r>
            <a:endParaRPr/>
          </a:p>
        </p:txBody>
      </p:sp>
      <p:sp>
        <p:nvSpPr>
          <p:cNvPr id="423" name="Google Shape;423;p20"/>
          <p:cNvSpPr/>
          <p:nvPr/>
        </p:nvSpPr>
        <p:spPr>
          <a:xfrm>
            <a:off x="7079879" y="4846514"/>
            <a:ext cx="1631933" cy="5877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130">
                <a:solidFill>
                  <a:srgbClr val="08125F"/>
                </a:solidFill>
                <a:latin typeface="Arial Narrow"/>
                <a:ea typeface="Arial Narrow"/>
                <a:cs typeface="Arial Narrow"/>
                <a:sym typeface="Arial Narrow"/>
              </a:rPr>
              <a:t>Programa malicioso</a:t>
            </a:r>
            <a:endParaRPr/>
          </a:p>
          <a:p>
            <a:pPr indent="0" lvl="0" marL="0" marR="0" rtl="0" algn="l">
              <a:lnSpc>
                <a:spcPct val="100000"/>
              </a:lnSpc>
              <a:spcBef>
                <a:spcPts val="0"/>
              </a:spcBef>
              <a:spcAft>
                <a:spcPts val="0"/>
              </a:spcAft>
              <a:buNone/>
            </a:pPr>
            <a:r>
              <a:rPr lang="en-US" sz="1130">
                <a:solidFill>
                  <a:srgbClr val="08125F"/>
                </a:solidFill>
                <a:latin typeface="Arial Narrow"/>
                <a:ea typeface="Arial Narrow"/>
                <a:cs typeface="Arial Narrow"/>
                <a:sym typeface="Arial Narrow"/>
              </a:rPr>
              <a:t>instalado en el servidor.</a:t>
            </a:r>
            <a:endParaRPr/>
          </a:p>
        </p:txBody>
      </p:sp>
      <p:sp>
        <p:nvSpPr>
          <p:cNvPr id="424" name="Google Shape;424;p20"/>
          <p:cNvSpPr/>
          <p:nvPr/>
        </p:nvSpPr>
        <p:spPr>
          <a:xfrm>
            <a:off x="4244850" y="5028714"/>
            <a:ext cx="1588205" cy="383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115">
                <a:solidFill>
                  <a:srgbClr val="08125F"/>
                </a:solidFill>
                <a:latin typeface="Arial Narrow"/>
                <a:ea typeface="Arial Narrow"/>
                <a:cs typeface="Arial Narrow"/>
                <a:sym typeface="Arial Narrow"/>
              </a:rPr>
              <a:t>CVE-2023-34362:</a:t>
            </a:r>
            <a:endParaRPr/>
          </a:p>
          <a:p>
            <a:pPr indent="0" lvl="0" marL="0" marR="0" rtl="0" algn="l">
              <a:lnSpc>
                <a:spcPct val="100000"/>
              </a:lnSpc>
              <a:spcBef>
                <a:spcPts val="0"/>
              </a:spcBef>
              <a:spcAft>
                <a:spcPts val="0"/>
              </a:spcAft>
              <a:buNone/>
            </a:pPr>
            <a:r>
              <a:rPr lang="en-US" sz="1115">
                <a:solidFill>
                  <a:srgbClr val="08125F"/>
                </a:solidFill>
                <a:latin typeface="Arial Narrow"/>
                <a:ea typeface="Arial Narrow"/>
                <a:cs typeface="Arial Narrow"/>
                <a:sym typeface="Arial Narrow"/>
              </a:rPr>
              <a:t>inyección SQL.</a:t>
            </a:r>
            <a:endParaRPr/>
          </a:p>
        </p:txBody>
      </p:sp>
      <p:sp>
        <p:nvSpPr>
          <p:cNvPr id="425" name="Google Shape;425;p2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6" name="Google Shape;426;p20" title="DEFENSA_SEGURA_V2:barra-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7" name="Google Shape;427;p20" title="DEFENSA_SEGURA_V2:avance-7"/>
          <p:cNvSpPr/>
          <p:nvPr/>
        </p:nvSpPr>
        <p:spPr>
          <a:xfrm>
            <a:off x="0" y="0"/>
            <a:ext cx="55419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8" name="Google Shape;428;p20" title="DEFENSA_SEGURA_V2:seccion-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1"/>
          <p:cNvSpPr/>
          <p:nvPr/>
        </p:nvSpPr>
        <p:spPr>
          <a:xfrm>
            <a:off x="274320" y="259080"/>
            <a:ext cx="11658600" cy="701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4680"/>
              <a:buFont typeface="Calibri"/>
              <a:buNone/>
            </a:pPr>
            <a:r>
              <a:rPr b="1" i="0" lang="en-US" sz="4680" u="none" cap="none" strike="noStrike">
                <a:solidFill>
                  <a:srgbClr val="111F5B"/>
                </a:solidFill>
              </a:rPr>
              <a:t>WAF: protección de aplicaciones web</a:t>
            </a:r>
            <a:endParaRPr b="1">
              <a:solidFill>
                <a:srgbClr val="111F5B"/>
              </a:solidFill>
            </a:endParaRPr>
          </a:p>
        </p:txBody>
      </p:sp>
      <p:sp>
        <p:nvSpPr>
          <p:cNvPr id="435" name="Google Shape;435;p21"/>
          <p:cNvSpPr/>
          <p:nvPr/>
        </p:nvSpPr>
        <p:spPr>
          <a:xfrm>
            <a:off x="335280" y="990600"/>
            <a:ext cx="1143000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2760"/>
              <a:buFont typeface="Arial Narrow"/>
              <a:buNone/>
            </a:pPr>
            <a:r>
              <a:rPr b="1" i="0" lang="en-US" sz="2760" u="none" cap="none" strike="noStrike">
                <a:solidFill>
                  <a:srgbClr val="07166E"/>
                </a:solidFill>
                <a:latin typeface="Arial Narrow"/>
                <a:ea typeface="Arial Narrow"/>
                <a:cs typeface="Arial Narrow"/>
                <a:sym typeface="Arial Narrow"/>
              </a:rPr>
              <a:t>Inspecciona el tráfico HTTP y aplica políticas de seguridad.</a:t>
            </a:r>
            <a:endParaRPr/>
          </a:p>
        </p:txBody>
      </p:sp>
      <p:sp>
        <p:nvSpPr>
          <p:cNvPr id="436" name="Google Shape;436;p21"/>
          <p:cNvSpPr/>
          <p:nvPr/>
        </p:nvSpPr>
        <p:spPr>
          <a:xfrm>
            <a:off x="304800" y="1645920"/>
            <a:ext cx="11582400" cy="350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2400"/>
              <a:buFont typeface="Calibri"/>
              <a:buNone/>
            </a:pPr>
            <a:r>
              <a:rPr b="0" i="0" lang="en-US" sz="2400" u="none" cap="none" strike="noStrike">
                <a:solidFill>
                  <a:srgbClr val="07166E"/>
                </a:solidFill>
                <a:latin typeface="Calibri"/>
                <a:ea typeface="Calibri"/>
                <a:cs typeface="Calibri"/>
                <a:sym typeface="Calibri"/>
              </a:rPr>
              <a:t>Componentes funcionales habituales</a:t>
            </a:r>
            <a:endParaRPr/>
          </a:p>
        </p:txBody>
      </p:sp>
      <p:sp>
        <p:nvSpPr>
          <p:cNvPr id="437" name="Google Shape;437;p21"/>
          <p:cNvSpPr/>
          <p:nvPr/>
        </p:nvSpPr>
        <p:spPr>
          <a:xfrm>
            <a:off x="2529840" y="1950720"/>
            <a:ext cx="7437120" cy="3764280"/>
          </a:xfrm>
          <a:prstGeom prst="roundRect">
            <a:avLst>
              <a:gd fmla="val 1215" name="adj"/>
            </a:avLst>
          </a:prstGeom>
          <a:solidFill>
            <a:srgbClr val="F7FBFF"/>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
          <p:cNvSpPr/>
          <p:nvPr/>
        </p:nvSpPr>
        <p:spPr>
          <a:xfrm>
            <a:off x="2575560" y="1965960"/>
            <a:ext cx="7360920" cy="3733800"/>
          </a:xfrm>
          <a:prstGeom prst="roundRect">
            <a:avLst>
              <a:gd fmla="val 4898" name="adj"/>
            </a:avLst>
          </a:prstGeom>
          <a:solidFill>
            <a:srgbClr val="E1F2FF"/>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2682240" y="2103120"/>
            <a:ext cx="71170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2880"/>
              <a:buFont typeface="Calibri"/>
              <a:buNone/>
            </a:pPr>
            <a:r>
              <a:rPr b="0" i="0" lang="en-US" sz="2880" u="none" cap="none" strike="noStrike">
                <a:solidFill>
                  <a:srgbClr val="07166E"/>
                </a:solidFill>
                <a:latin typeface="Calibri"/>
                <a:ea typeface="Calibri"/>
                <a:cs typeface="Calibri"/>
                <a:sym typeface="Calibri"/>
              </a:rPr>
              <a:t>WAF</a:t>
            </a:r>
            <a:endParaRPr/>
          </a:p>
        </p:txBody>
      </p:sp>
      <p:cxnSp>
        <p:nvCxnSpPr>
          <p:cNvPr id="440" name="Google Shape;440;p21"/>
          <p:cNvCxnSpPr/>
          <p:nvPr/>
        </p:nvCxnSpPr>
        <p:spPr>
          <a:xfrm>
            <a:off x="1249680" y="3154680"/>
            <a:ext cx="1402080" cy="0"/>
          </a:xfrm>
          <a:prstGeom prst="straightConnector1">
            <a:avLst/>
          </a:prstGeom>
          <a:noFill/>
          <a:ln cap="flat" cmpd="sng" w="95250">
            <a:solidFill>
              <a:srgbClr val="0088FF"/>
            </a:solidFill>
            <a:prstDash val="solid"/>
            <a:round/>
            <a:headEnd len="sm" w="sm" type="none"/>
            <a:tailEnd len="sm" w="sm" type="none"/>
          </a:ln>
        </p:spPr>
      </p:cxnSp>
      <p:sp>
        <p:nvSpPr>
          <p:cNvPr id="441" name="Google Shape;441;p21"/>
          <p:cNvSpPr/>
          <p:nvPr/>
        </p:nvSpPr>
        <p:spPr>
          <a:xfrm rot="5400000">
            <a:off x="2590800" y="3093720"/>
            <a:ext cx="121920" cy="121920"/>
          </a:xfrm>
          <a:prstGeom prst="triangle">
            <a:avLst>
              <a:gd fmla="val 50000"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1371600" y="2819400"/>
            <a:ext cx="1371600" cy="289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1440"/>
              <a:buFont typeface="Arial Narrow"/>
              <a:buNone/>
            </a:pPr>
            <a:r>
              <a:rPr b="0" i="0" lang="en-US" sz="1440" u="none" cap="none" strike="noStrike">
                <a:solidFill>
                  <a:srgbClr val="07166E"/>
                </a:solidFill>
                <a:latin typeface="Arial Narrow"/>
                <a:ea typeface="Arial Narrow"/>
                <a:cs typeface="Arial Narrow"/>
                <a:sym typeface="Arial Narrow"/>
              </a:rPr>
              <a:t>Petición HTTP</a:t>
            </a:r>
            <a:endParaRPr/>
          </a:p>
        </p:txBody>
      </p:sp>
      <p:sp>
        <p:nvSpPr>
          <p:cNvPr id="443" name="Google Shape;443;p21"/>
          <p:cNvSpPr/>
          <p:nvPr/>
        </p:nvSpPr>
        <p:spPr>
          <a:xfrm>
            <a:off x="2743200" y="2529840"/>
            <a:ext cx="2179320" cy="1203960"/>
          </a:xfrm>
          <a:prstGeom prst="roundRect">
            <a:avLst>
              <a:gd fmla="val 5063" name="adj"/>
            </a:avLst>
          </a:prstGeom>
          <a:solidFill>
            <a:srgbClr val="E1F5FF"/>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2880360" y="3215640"/>
            <a:ext cx="1905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1380"/>
              <a:buFont typeface="Arial Narrow"/>
              <a:buNone/>
            </a:pPr>
            <a:r>
              <a:rPr b="0" i="0" lang="en-US" sz="1380" u="none" cap="none" strike="noStrike">
                <a:solidFill>
                  <a:srgbClr val="07166E"/>
                </a:solidFill>
                <a:latin typeface="Arial Narrow"/>
                <a:ea typeface="Arial Narrow"/>
                <a:cs typeface="Arial Narrow"/>
                <a:sym typeface="Arial Narrow"/>
              </a:rPr>
              <a:t>Interpreta método, URI,</a:t>
            </a:r>
            <a:endParaRPr/>
          </a:p>
          <a:p>
            <a:pPr indent="0" lvl="0" marL="0" marR="0" rtl="0" algn="ctr">
              <a:spcBef>
                <a:spcPts val="0"/>
              </a:spcBef>
              <a:spcAft>
                <a:spcPts val="0"/>
              </a:spcAft>
              <a:buClr>
                <a:srgbClr val="07166E"/>
              </a:buClr>
              <a:buSzPts val="1380"/>
              <a:buFont typeface="Arial Narrow"/>
              <a:buNone/>
            </a:pPr>
            <a:r>
              <a:rPr b="0" i="0" lang="en-US" sz="1380" u="none" cap="none" strike="noStrike">
                <a:solidFill>
                  <a:srgbClr val="07166E"/>
                </a:solidFill>
                <a:latin typeface="Arial Narrow"/>
                <a:ea typeface="Arial Narrow"/>
                <a:cs typeface="Arial Narrow"/>
                <a:sym typeface="Arial Narrow"/>
              </a:rPr>
              <a:t>encabezados y cuerpo.</a:t>
            </a:r>
            <a:endParaRPr/>
          </a:p>
        </p:txBody>
      </p:sp>
      <p:cxnSp>
        <p:nvCxnSpPr>
          <p:cNvPr id="445" name="Google Shape;445;p21"/>
          <p:cNvCxnSpPr/>
          <p:nvPr/>
        </p:nvCxnSpPr>
        <p:spPr>
          <a:xfrm>
            <a:off x="4907280" y="3154680"/>
            <a:ext cx="259080" cy="0"/>
          </a:xfrm>
          <a:prstGeom prst="straightConnector1">
            <a:avLst/>
          </a:prstGeom>
          <a:noFill/>
          <a:ln cap="flat" cmpd="sng" w="114300">
            <a:solidFill>
              <a:srgbClr val="0088FF"/>
            </a:solidFill>
            <a:prstDash val="solid"/>
            <a:round/>
            <a:headEnd len="sm" w="sm" type="none"/>
            <a:tailEnd len="sm" w="sm" type="none"/>
          </a:ln>
        </p:spPr>
      </p:cxnSp>
      <p:sp>
        <p:nvSpPr>
          <p:cNvPr id="446" name="Google Shape;446;p21"/>
          <p:cNvSpPr/>
          <p:nvPr/>
        </p:nvSpPr>
        <p:spPr>
          <a:xfrm rot="5400000">
            <a:off x="5105400" y="3093720"/>
            <a:ext cx="121920" cy="121920"/>
          </a:xfrm>
          <a:prstGeom prst="triangle">
            <a:avLst>
              <a:gd fmla="val 50000"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5273040" y="2606040"/>
            <a:ext cx="2026920" cy="1158240"/>
          </a:xfrm>
          <a:prstGeom prst="roundRect">
            <a:avLst>
              <a:gd fmla="val 6579"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5242560" y="2560320"/>
            <a:ext cx="2026920" cy="1158240"/>
          </a:xfrm>
          <a:prstGeom prst="roundRect">
            <a:avLst>
              <a:gd fmla="val 3947" name="adj"/>
            </a:avLst>
          </a:prstGeom>
          <a:solidFill>
            <a:srgbClr val="D4F2FF"/>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5379720" y="3108960"/>
            <a:ext cx="1752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1416"/>
              <a:buFont typeface="Arial Narrow"/>
              <a:buNone/>
            </a:pPr>
            <a:r>
              <a:rPr b="0" i="0" lang="en-US" sz="1416" u="none" cap="none" strike="noStrike">
                <a:solidFill>
                  <a:srgbClr val="07166E"/>
                </a:solidFill>
                <a:latin typeface="Arial Narrow"/>
                <a:ea typeface="Arial Narrow"/>
                <a:cs typeface="Arial Narrow"/>
                <a:sym typeface="Arial Narrow"/>
              </a:rPr>
              <a:t>Algoritmos que evalúan</a:t>
            </a:r>
            <a:endParaRPr/>
          </a:p>
          <a:p>
            <a:pPr indent="0" lvl="0" marL="0" marR="0" rtl="0" algn="ctr">
              <a:spcBef>
                <a:spcPts val="0"/>
              </a:spcBef>
              <a:spcAft>
                <a:spcPts val="0"/>
              </a:spcAft>
              <a:buClr>
                <a:srgbClr val="07166E"/>
              </a:buClr>
              <a:buSzPts val="1416"/>
              <a:buFont typeface="Arial Narrow"/>
              <a:buNone/>
            </a:pPr>
            <a:r>
              <a:rPr b="0" i="0" lang="en-US" sz="1416" u="none" cap="none" strike="noStrike">
                <a:solidFill>
                  <a:srgbClr val="07166E"/>
                </a:solidFill>
                <a:latin typeface="Arial Narrow"/>
                <a:ea typeface="Arial Narrow"/>
                <a:cs typeface="Arial Narrow"/>
                <a:sym typeface="Arial Narrow"/>
              </a:rPr>
              <a:t>la petición.</a:t>
            </a:r>
            <a:endParaRPr/>
          </a:p>
        </p:txBody>
      </p:sp>
      <p:cxnSp>
        <p:nvCxnSpPr>
          <p:cNvPr id="450" name="Google Shape;450;p21"/>
          <p:cNvCxnSpPr/>
          <p:nvPr/>
        </p:nvCxnSpPr>
        <p:spPr>
          <a:xfrm>
            <a:off x="7284720" y="3154680"/>
            <a:ext cx="259080" cy="0"/>
          </a:xfrm>
          <a:prstGeom prst="straightConnector1">
            <a:avLst/>
          </a:prstGeom>
          <a:noFill/>
          <a:ln cap="flat" cmpd="sng" w="114300">
            <a:solidFill>
              <a:srgbClr val="0088FF"/>
            </a:solidFill>
            <a:prstDash val="solid"/>
            <a:round/>
            <a:headEnd len="sm" w="sm" type="none"/>
            <a:tailEnd len="sm" w="sm" type="none"/>
          </a:ln>
        </p:spPr>
      </p:cxnSp>
      <p:sp>
        <p:nvSpPr>
          <p:cNvPr id="451" name="Google Shape;451;p21"/>
          <p:cNvSpPr/>
          <p:nvPr/>
        </p:nvSpPr>
        <p:spPr>
          <a:xfrm rot="5400000">
            <a:off x="7482840" y="3093720"/>
            <a:ext cx="121920" cy="121920"/>
          </a:xfrm>
          <a:prstGeom prst="triangle">
            <a:avLst>
              <a:gd fmla="val 50000"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7604760" y="2529840"/>
            <a:ext cx="2209800" cy="1203960"/>
          </a:xfrm>
          <a:prstGeom prst="roundRect">
            <a:avLst>
              <a:gd fmla="val 5063" name="adj"/>
            </a:avLst>
          </a:prstGeom>
          <a:solidFill>
            <a:srgbClr val="E1F5FF"/>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7772400" y="3124200"/>
            <a:ext cx="1874520" cy="487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1440"/>
              <a:buFont typeface="Arial Narrow"/>
              <a:buNone/>
            </a:pPr>
            <a:r>
              <a:rPr b="0" i="0" lang="en-US" sz="1440" u="none" cap="none" strike="noStrike">
                <a:solidFill>
                  <a:srgbClr val="07166E"/>
                </a:solidFill>
                <a:latin typeface="Arial Narrow"/>
                <a:ea typeface="Arial Narrow"/>
                <a:cs typeface="Arial Narrow"/>
                <a:sym typeface="Arial Narrow"/>
              </a:rPr>
              <a:t>Aplica la política:</a:t>
            </a:r>
            <a:endParaRPr/>
          </a:p>
          <a:p>
            <a:pPr indent="0" lvl="0" marL="0" marR="0" rtl="0" algn="ctr">
              <a:spcBef>
                <a:spcPts val="0"/>
              </a:spcBef>
              <a:spcAft>
                <a:spcPts val="0"/>
              </a:spcAft>
              <a:buClr>
                <a:srgbClr val="07166E"/>
              </a:buClr>
              <a:buSzPts val="1440"/>
              <a:buFont typeface="Arial Narrow"/>
              <a:buNone/>
            </a:pPr>
            <a:r>
              <a:rPr b="0" i="0" lang="en-US" sz="1440" u="none" cap="none" strike="noStrike">
                <a:solidFill>
                  <a:srgbClr val="07166E"/>
                </a:solidFill>
                <a:latin typeface="Arial Narrow"/>
                <a:ea typeface="Arial Narrow"/>
                <a:cs typeface="Arial Narrow"/>
                <a:sym typeface="Arial Narrow"/>
              </a:rPr>
              <a:t>permitir o bloquear.</a:t>
            </a:r>
            <a:endParaRPr/>
          </a:p>
        </p:txBody>
      </p:sp>
      <p:cxnSp>
        <p:nvCxnSpPr>
          <p:cNvPr id="454" name="Google Shape;454;p21"/>
          <p:cNvCxnSpPr/>
          <p:nvPr/>
        </p:nvCxnSpPr>
        <p:spPr>
          <a:xfrm>
            <a:off x="9814560" y="3017520"/>
            <a:ext cx="1158240" cy="0"/>
          </a:xfrm>
          <a:prstGeom prst="straightConnector1">
            <a:avLst/>
          </a:prstGeom>
          <a:noFill/>
          <a:ln cap="flat" cmpd="sng" w="95250">
            <a:solidFill>
              <a:srgbClr val="00A679"/>
            </a:solidFill>
            <a:prstDash val="solid"/>
            <a:round/>
            <a:headEnd len="sm" w="sm" type="none"/>
            <a:tailEnd len="sm" w="sm" type="none"/>
          </a:ln>
        </p:spPr>
      </p:cxnSp>
      <p:sp>
        <p:nvSpPr>
          <p:cNvPr id="455" name="Google Shape;455;p21"/>
          <p:cNvSpPr/>
          <p:nvPr/>
        </p:nvSpPr>
        <p:spPr>
          <a:xfrm rot="5400000">
            <a:off x="10911840" y="2956560"/>
            <a:ext cx="121920" cy="121920"/>
          </a:xfrm>
          <a:prstGeom prst="triangle">
            <a:avLst>
              <a:gd fmla="val 50000" name="adj"/>
            </a:avLst>
          </a:prstGeom>
          <a:solidFill>
            <a:srgbClr val="00A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10043160" y="2712720"/>
            <a:ext cx="9906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8D52"/>
              </a:buClr>
              <a:buSzPts val="1679"/>
              <a:buFont typeface="Arial Narrow"/>
              <a:buNone/>
            </a:pPr>
            <a:r>
              <a:rPr b="1" i="0" lang="en-US" sz="1680" u="none" cap="none" strike="noStrike">
                <a:solidFill>
                  <a:srgbClr val="008D52"/>
                </a:solidFill>
                <a:latin typeface="Arial Narrow"/>
                <a:ea typeface="Arial Narrow"/>
                <a:cs typeface="Arial Narrow"/>
                <a:sym typeface="Arial Narrow"/>
              </a:rPr>
              <a:t>Permitir</a:t>
            </a:r>
            <a:endParaRPr/>
          </a:p>
        </p:txBody>
      </p:sp>
      <p:cxnSp>
        <p:nvCxnSpPr>
          <p:cNvPr id="457" name="Google Shape;457;p21"/>
          <p:cNvCxnSpPr/>
          <p:nvPr/>
        </p:nvCxnSpPr>
        <p:spPr>
          <a:xfrm>
            <a:off x="9311640" y="3733800"/>
            <a:ext cx="0" cy="381000"/>
          </a:xfrm>
          <a:prstGeom prst="straightConnector1">
            <a:avLst/>
          </a:prstGeom>
          <a:noFill/>
          <a:ln cap="flat" cmpd="sng" w="76200">
            <a:solidFill>
              <a:srgbClr val="EE0036"/>
            </a:solidFill>
            <a:prstDash val="solid"/>
            <a:round/>
            <a:headEnd len="sm" w="sm" type="none"/>
            <a:tailEnd len="sm" w="sm" type="none"/>
          </a:ln>
        </p:spPr>
      </p:cxnSp>
      <p:cxnSp>
        <p:nvCxnSpPr>
          <p:cNvPr id="458" name="Google Shape;458;p21"/>
          <p:cNvCxnSpPr/>
          <p:nvPr/>
        </p:nvCxnSpPr>
        <p:spPr>
          <a:xfrm>
            <a:off x="9311640" y="4114800"/>
            <a:ext cx="1630680" cy="0"/>
          </a:xfrm>
          <a:prstGeom prst="straightConnector1">
            <a:avLst/>
          </a:prstGeom>
          <a:noFill/>
          <a:ln cap="flat" cmpd="sng" w="76200">
            <a:solidFill>
              <a:srgbClr val="EE0036"/>
            </a:solidFill>
            <a:prstDash val="solid"/>
            <a:round/>
            <a:headEnd len="sm" w="sm" type="none"/>
            <a:tailEnd len="sm" w="sm" type="none"/>
          </a:ln>
        </p:spPr>
      </p:cxnSp>
      <p:sp>
        <p:nvSpPr>
          <p:cNvPr id="459" name="Google Shape;459;p21"/>
          <p:cNvSpPr/>
          <p:nvPr/>
        </p:nvSpPr>
        <p:spPr>
          <a:xfrm rot="5400000">
            <a:off x="10881360" y="4053840"/>
            <a:ext cx="121920" cy="121920"/>
          </a:xfrm>
          <a:prstGeom prst="triangle">
            <a:avLst>
              <a:gd fmla="val 50000" name="adj"/>
            </a:avLst>
          </a:prstGeom>
          <a:solidFill>
            <a:srgbClr val="EE00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p:nvPr/>
        </p:nvSpPr>
        <p:spPr>
          <a:xfrm>
            <a:off x="10012680" y="3794760"/>
            <a:ext cx="102108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E0036"/>
              </a:buClr>
              <a:buSzPts val="1560"/>
              <a:buFont typeface="Arial Narrow"/>
              <a:buNone/>
            </a:pPr>
            <a:r>
              <a:rPr b="0" i="0" lang="en-US" sz="1560" u="none" cap="none" strike="noStrike">
                <a:solidFill>
                  <a:srgbClr val="EE0036"/>
                </a:solidFill>
                <a:latin typeface="Arial Narrow"/>
                <a:ea typeface="Arial Narrow"/>
                <a:cs typeface="Arial Narrow"/>
                <a:sym typeface="Arial Narrow"/>
              </a:rPr>
              <a:t>Bloquear</a:t>
            </a:r>
            <a:endParaRPr/>
          </a:p>
        </p:txBody>
      </p:sp>
      <p:sp>
        <p:nvSpPr>
          <p:cNvPr id="461" name="Google Shape;461;p21"/>
          <p:cNvSpPr/>
          <p:nvPr/>
        </p:nvSpPr>
        <p:spPr>
          <a:xfrm>
            <a:off x="11079480" y="3870960"/>
            <a:ext cx="533400" cy="533400"/>
          </a:xfrm>
          <a:prstGeom prst="ellipse">
            <a:avLst/>
          </a:prstGeom>
          <a:solidFill>
            <a:srgbClr val="EE00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
          <p:cNvSpPr/>
          <p:nvPr/>
        </p:nvSpPr>
        <p:spPr>
          <a:xfrm>
            <a:off x="11186160" y="4099560"/>
            <a:ext cx="320040" cy="60960"/>
          </a:xfrm>
          <a:prstGeom prst="roundRect">
            <a:avLst>
              <a:gd fmla="val 25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1"/>
          <p:cNvSpPr/>
          <p:nvPr/>
        </p:nvSpPr>
        <p:spPr>
          <a:xfrm>
            <a:off x="259080" y="2712720"/>
            <a:ext cx="990600" cy="883920"/>
          </a:xfrm>
          <a:prstGeom prst="roundRect">
            <a:avLst>
              <a:gd fmla="val 8621" name="adj"/>
            </a:avLst>
          </a:prstGeom>
          <a:solidFill>
            <a:srgbClr val="FFFFFF"/>
          </a:solidFill>
          <a:ln cap="flat" cmpd="sng" w="11425">
            <a:solidFill>
              <a:srgbClr val="2037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259080" y="2712720"/>
            <a:ext cx="990600" cy="228600"/>
          </a:xfrm>
          <a:prstGeom prst="roundRect">
            <a:avLst>
              <a:gd fmla="val 26667" name="adj"/>
            </a:avLst>
          </a:prstGeom>
          <a:solidFill>
            <a:srgbClr val="48667B"/>
          </a:solidFill>
          <a:ln cap="flat" cmpd="sng" w="11425">
            <a:solidFill>
              <a:srgbClr val="2037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350520" y="2788920"/>
            <a:ext cx="76200" cy="76200"/>
          </a:xfrm>
          <a:prstGeom prst="ellipse">
            <a:avLst/>
          </a:prstGeom>
          <a:solidFill>
            <a:srgbClr val="FF4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487680" y="2788920"/>
            <a:ext cx="76200" cy="76200"/>
          </a:xfrm>
          <a:prstGeom prst="ellipse">
            <a:avLst/>
          </a:prstGeom>
          <a:solidFill>
            <a:srgbClr val="FFD6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624840" y="2788920"/>
            <a:ext cx="76200" cy="76200"/>
          </a:xfrm>
          <a:prstGeom prst="ellipse">
            <a:avLst/>
          </a:prstGeom>
          <a:solidFill>
            <a:srgbClr val="88EA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1"/>
          <p:cNvSpPr/>
          <p:nvPr/>
        </p:nvSpPr>
        <p:spPr>
          <a:xfrm>
            <a:off x="533400" y="3048000"/>
            <a:ext cx="441960" cy="441960"/>
          </a:xfrm>
          <a:prstGeom prst="ellipse">
            <a:avLst/>
          </a:prstGeom>
          <a:noFill/>
          <a:ln cap="flat" cmpd="sng" w="32375">
            <a:solidFill>
              <a:srgbClr val="008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1"/>
          <p:cNvSpPr/>
          <p:nvPr/>
        </p:nvSpPr>
        <p:spPr>
          <a:xfrm>
            <a:off x="655320" y="3048000"/>
            <a:ext cx="198120" cy="441960"/>
          </a:xfrm>
          <a:prstGeom prst="ellipse">
            <a:avLst/>
          </a:prstGeom>
          <a:noFill/>
          <a:ln cap="flat" cmpd="sng" w="24750">
            <a:solidFill>
              <a:srgbClr val="008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21"/>
          <p:cNvCxnSpPr/>
          <p:nvPr/>
        </p:nvCxnSpPr>
        <p:spPr>
          <a:xfrm>
            <a:off x="533400" y="3268980"/>
            <a:ext cx="441960" cy="0"/>
          </a:xfrm>
          <a:prstGeom prst="straightConnector1">
            <a:avLst/>
          </a:prstGeom>
          <a:noFill/>
          <a:ln cap="flat" cmpd="sng" w="24750">
            <a:solidFill>
              <a:srgbClr val="0088FF"/>
            </a:solidFill>
            <a:prstDash val="solid"/>
            <a:round/>
            <a:headEnd len="sm" w="sm" type="none"/>
            <a:tailEnd len="sm" w="sm" type="none"/>
          </a:ln>
        </p:spPr>
      </p:cxnSp>
      <p:cxnSp>
        <p:nvCxnSpPr>
          <p:cNvPr id="471" name="Google Shape;471;p21"/>
          <p:cNvCxnSpPr/>
          <p:nvPr/>
        </p:nvCxnSpPr>
        <p:spPr>
          <a:xfrm>
            <a:off x="579120" y="3139440"/>
            <a:ext cx="350520" cy="0"/>
          </a:xfrm>
          <a:prstGeom prst="straightConnector1">
            <a:avLst/>
          </a:prstGeom>
          <a:noFill/>
          <a:ln cap="flat" cmpd="sng" w="20950">
            <a:solidFill>
              <a:srgbClr val="0088FF"/>
            </a:solidFill>
            <a:prstDash val="solid"/>
            <a:round/>
            <a:headEnd len="sm" w="sm" type="none"/>
            <a:tailEnd len="sm" w="sm" type="none"/>
          </a:ln>
        </p:spPr>
      </p:cxnSp>
      <p:cxnSp>
        <p:nvCxnSpPr>
          <p:cNvPr id="472" name="Google Shape;472;p21"/>
          <p:cNvCxnSpPr/>
          <p:nvPr/>
        </p:nvCxnSpPr>
        <p:spPr>
          <a:xfrm>
            <a:off x="579120" y="3383280"/>
            <a:ext cx="350520" cy="0"/>
          </a:xfrm>
          <a:prstGeom prst="straightConnector1">
            <a:avLst/>
          </a:prstGeom>
          <a:noFill/>
          <a:ln cap="flat" cmpd="sng" w="20950">
            <a:solidFill>
              <a:srgbClr val="0088FF"/>
            </a:solidFill>
            <a:prstDash val="solid"/>
            <a:round/>
            <a:headEnd len="sm" w="sm" type="none"/>
            <a:tailEnd len="sm" w="sm" type="none"/>
          </a:ln>
        </p:spPr>
      </p:cxnSp>
      <p:sp>
        <p:nvSpPr>
          <p:cNvPr id="473" name="Google Shape;473;p21"/>
          <p:cNvSpPr/>
          <p:nvPr/>
        </p:nvSpPr>
        <p:spPr>
          <a:xfrm>
            <a:off x="182880" y="3657600"/>
            <a:ext cx="1173480" cy="335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2250"/>
              <a:buFont typeface="Arial Narrow"/>
              <a:buNone/>
            </a:pPr>
            <a:r>
              <a:rPr b="1" i="0" lang="en-US" sz="2250" u="none" cap="none" strike="noStrike">
                <a:solidFill>
                  <a:srgbClr val="07166E"/>
                </a:solidFill>
                <a:latin typeface="Arial Narrow"/>
                <a:ea typeface="Arial Narrow"/>
                <a:cs typeface="Arial Narrow"/>
                <a:sym typeface="Arial Narrow"/>
              </a:rPr>
              <a:t>Cliente</a:t>
            </a:r>
            <a:endParaRPr/>
          </a:p>
        </p:txBody>
      </p:sp>
      <p:sp>
        <p:nvSpPr>
          <p:cNvPr id="474" name="Google Shape;474;p21"/>
          <p:cNvSpPr/>
          <p:nvPr/>
        </p:nvSpPr>
        <p:spPr>
          <a:xfrm>
            <a:off x="11033760" y="2545080"/>
            <a:ext cx="853440" cy="868680"/>
          </a:xfrm>
          <a:prstGeom prst="roundRect">
            <a:avLst>
              <a:gd fmla="val 10714" name="adj"/>
            </a:avLst>
          </a:prstGeom>
          <a:solidFill>
            <a:srgbClr val="334C60"/>
          </a:solidFill>
          <a:ln cap="flat" cmpd="sng" w="11425">
            <a:solidFill>
              <a:srgbClr val="223B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1"/>
          <p:cNvSpPr/>
          <p:nvPr/>
        </p:nvSpPr>
        <p:spPr>
          <a:xfrm>
            <a:off x="11079480" y="2606040"/>
            <a:ext cx="746760" cy="213360"/>
          </a:xfrm>
          <a:prstGeom prst="roundRect">
            <a:avLst>
              <a:gd fmla="val 21429" name="adj"/>
            </a:avLst>
          </a:prstGeom>
          <a:solidFill>
            <a:srgbClr val="526F85"/>
          </a:solidFill>
          <a:ln cap="flat" cmpd="sng" w="11425">
            <a:solidFill>
              <a:srgbClr val="293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1"/>
          <p:cNvSpPr/>
          <p:nvPr/>
        </p:nvSpPr>
        <p:spPr>
          <a:xfrm>
            <a:off x="11170920" y="2682240"/>
            <a:ext cx="365760" cy="45720"/>
          </a:xfrm>
          <a:prstGeom prst="roundRect">
            <a:avLst>
              <a:gd fmla="val 33333" name="adj"/>
            </a:avLst>
          </a:prstGeom>
          <a:solidFill>
            <a:srgbClr val="223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1"/>
          <p:cNvSpPr/>
          <p:nvPr/>
        </p:nvSpPr>
        <p:spPr>
          <a:xfrm>
            <a:off x="11704320" y="2682240"/>
            <a:ext cx="91440" cy="91440"/>
          </a:xfrm>
          <a:prstGeom prst="ellipse">
            <a:avLst/>
          </a:prstGeom>
          <a:solidFill>
            <a:srgbClr val="91E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1"/>
          <p:cNvSpPr/>
          <p:nvPr/>
        </p:nvSpPr>
        <p:spPr>
          <a:xfrm>
            <a:off x="11079480" y="2849880"/>
            <a:ext cx="746760" cy="213360"/>
          </a:xfrm>
          <a:prstGeom prst="roundRect">
            <a:avLst>
              <a:gd fmla="val 21429" name="adj"/>
            </a:avLst>
          </a:prstGeom>
          <a:solidFill>
            <a:srgbClr val="526F85"/>
          </a:solidFill>
          <a:ln cap="flat" cmpd="sng" w="11425">
            <a:solidFill>
              <a:srgbClr val="293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1"/>
          <p:cNvSpPr/>
          <p:nvPr/>
        </p:nvSpPr>
        <p:spPr>
          <a:xfrm>
            <a:off x="11170920" y="2926080"/>
            <a:ext cx="365760" cy="45720"/>
          </a:xfrm>
          <a:prstGeom prst="roundRect">
            <a:avLst>
              <a:gd fmla="val 33333" name="adj"/>
            </a:avLst>
          </a:prstGeom>
          <a:solidFill>
            <a:srgbClr val="223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1"/>
          <p:cNvSpPr/>
          <p:nvPr/>
        </p:nvSpPr>
        <p:spPr>
          <a:xfrm>
            <a:off x="11704320" y="2926080"/>
            <a:ext cx="91440" cy="91440"/>
          </a:xfrm>
          <a:prstGeom prst="ellipse">
            <a:avLst/>
          </a:prstGeom>
          <a:solidFill>
            <a:srgbClr val="91E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
          <p:cNvSpPr/>
          <p:nvPr/>
        </p:nvSpPr>
        <p:spPr>
          <a:xfrm>
            <a:off x="11079480" y="3093720"/>
            <a:ext cx="746760" cy="213360"/>
          </a:xfrm>
          <a:prstGeom prst="roundRect">
            <a:avLst>
              <a:gd fmla="val 21429" name="adj"/>
            </a:avLst>
          </a:prstGeom>
          <a:solidFill>
            <a:srgbClr val="526F85"/>
          </a:solidFill>
          <a:ln cap="flat" cmpd="sng" w="11425">
            <a:solidFill>
              <a:srgbClr val="293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p:nvPr/>
        </p:nvSpPr>
        <p:spPr>
          <a:xfrm>
            <a:off x="11170920" y="3169920"/>
            <a:ext cx="365760" cy="45720"/>
          </a:xfrm>
          <a:prstGeom prst="roundRect">
            <a:avLst>
              <a:gd fmla="val 33333" name="adj"/>
            </a:avLst>
          </a:prstGeom>
          <a:solidFill>
            <a:srgbClr val="223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1"/>
          <p:cNvSpPr/>
          <p:nvPr/>
        </p:nvSpPr>
        <p:spPr>
          <a:xfrm>
            <a:off x="11704320" y="3169920"/>
            <a:ext cx="91440" cy="91440"/>
          </a:xfrm>
          <a:prstGeom prst="ellipse">
            <a:avLst/>
          </a:prstGeom>
          <a:solidFill>
            <a:srgbClr val="91E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1"/>
          <p:cNvSpPr/>
          <p:nvPr/>
        </p:nvSpPr>
        <p:spPr>
          <a:xfrm>
            <a:off x="10622280" y="3489960"/>
            <a:ext cx="1310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166E"/>
              </a:buClr>
              <a:buSzPts val="1560"/>
              <a:buFont typeface="Arial Narrow"/>
              <a:buNone/>
            </a:pPr>
            <a:r>
              <a:rPr b="0" i="0" lang="en-US" sz="1560" u="none" cap="none" strike="noStrike">
                <a:solidFill>
                  <a:srgbClr val="07166E"/>
                </a:solidFill>
                <a:latin typeface="Arial Narrow"/>
                <a:ea typeface="Arial Narrow"/>
                <a:cs typeface="Arial Narrow"/>
                <a:sym typeface="Arial Narrow"/>
              </a:rPr>
              <a:t>Aplicación web</a:t>
            </a:r>
            <a:endParaRPr/>
          </a:p>
        </p:txBody>
      </p:sp>
      <p:cxnSp>
        <p:nvCxnSpPr>
          <p:cNvPr id="485" name="Google Shape;485;p21"/>
          <p:cNvCxnSpPr/>
          <p:nvPr/>
        </p:nvCxnSpPr>
        <p:spPr>
          <a:xfrm rot="10800000">
            <a:off x="5669280" y="3825240"/>
            <a:ext cx="0" cy="411480"/>
          </a:xfrm>
          <a:prstGeom prst="straightConnector1">
            <a:avLst/>
          </a:prstGeom>
          <a:noFill/>
          <a:ln cap="flat" cmpd="sng" w="95250">
            <a:solidFill>
              <a:srgbClr val="0088FF"/>
            </a:solidFill>
            <a:prstDash val="solid"/>
            <a:round/>
            <a:headEnd len="sm" w="sm" type="none"/>
            <a:tailEnd len="sm" w="sm" type="none"/>
          </a:ln>
        </p:spPr>
      </p:cxnSp>
      <p:sp>
        <p:nvSpPr>
          <p:cNvPr id="486" name="Google Shape;486;p21"/>
          <p:cNvSpPr/>
          <p:nvPr/>
        </p:nvSpPr>
        <p:spPr>
          <a:xfrm>
            <a:off x="5608320" y="3764280"/>
            <a:ext cx="121920" cy="121920"/>
          </a:xfrm>
          <a:prstGeom prst="triangle">
            <a:avLst>
              <a:gd fmla="val 50000"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21"/>
          <p:cNvCxnSpPr/>
          <p:nvPr/>
        </p:nvCxnSpPr>
        <p:spPr>
          <a:xfrm rot="10800000">
            <a:off x="8153400" y="3825240"/>
            <a:ext cx="0" cy="411480"/>
          </a:xfrm>
          <a:prstGeom prst="straightConnector1">
            <a:avLst/>
          </a:prstGeom>
          <a:noFill/>
          <a:ln cap="flat" cmpd="sng" w="57150">
            <a:solidFill>
              <a:srgbClr val="0088FF"/>
            </a:solidFill>
            <a:prstDash val="solid"/>
            <a:round/>
            <a:headEnd len="sm" w="sm" type="none"/>
            <a:tailEnd len="sm" w="sm" type="none"/>
          </a:ln>
        </p:spPr>
      </p:cxnSp>
      <p:sp>
        <p:nvSpPr>
          <p:cNvPr id="488" name="Google Shape;488;p21"/>
          <p:cNvSpPr/>
          <p:nvPr/>
        </p:nvSpPr>
        <p:spPr>
          <a:xfrm>
            <a:off x="8092440" y="3764280"/>
            <a:ext cx="121920" cy="121920"/>
          </a:xfrm>
          <a:prstGeom prst="triangle">
            <a:avLst>
              <a:gd fmla="val 50000" name="adj"/>
            </a:avLst>
          </a:prstGeom>
          <a:solidFill>
            <a:srgbClr val="008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1"/>
          <p:cNvSpPr/>
          <p:nvPr/>
        </p:nvSpPr>
        <p:spPr>
          <a:xfrm>
            <a:off x="3185160" y="4251960"/>
            <a:ext cx="2987040" cy="838200"/>
          </a:xfrm>
          <a:prstGeom prst="roundRect">
            <a:avLst>
              <a:gd fmla="val 9091" name="adj"/>
            </a:avLst>
          </a:prstGeom>
          <a:solidFill>
            <a:srgbClr val="ECEAFF"/>
          </a:solidFill>
          <a:ln cap="flat" cmpd="sng" w="11425">
            <a:solidFill>
              <a:srgbClr val="C9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p:nvPr/>
        </p:nvSpPr>
        <p:spPr>
          <a:xfrm>
            <a:off x="3352800" y="4404360"/>
            <a:ext cx="335280" cy="487680"/>
          </a:xfrm>
          <a:prstGeom prst="foldedCorner">
            <a:avLst>
              <a:gd fmla="val 16667" name="adj"/>
            </a:avLst>
          </a:prstGeom>
          <a:solidFill>
            <a:srgbClr val="E9F4FF"/>
          </a:solidFill>
          <a:ln cap="flat" cmpd="sng" w="24750">
            <a:solidFill>
              <a:srgbClr val="254D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 name="Google Shape;491;p21"/>
          <p:cNvCxnSpPr/>
          <p:nvPr/>
        </p:nvCxnSpPr>
        <p:spPr>
          <a:xfrm>
            <a:off x="3429000" y="4587240"/>
            <a:ext cx="167640" cy="0"/>
          </a:xfrm>
          <a:prstGeom prst="straightConnector1">
            <a:avLst/>
          </a:prstGeom>
          <a:noFill/>
          <a:ln cap="flat" cmpd="sng" w="19050">
            <a:solidFill>
              <a:srgbClr val="254D76"/>
            </a:solidFill>
            <a:prstDash val="solid"/>
            <a:round/>
            <a:headEnd len="sm" w="sm" type="none"/>
            <a:tailEnd len="sm" w="sm" type="none"/>
          </a:ln>
        </p:spPr>
      </p:cxnSp>
      <p:cxnSp>
        <p:nvCxnSpPr>
          <p:cNvPr id="492" name="Google Shape;492;p21"/>
          <p:cNvCxnSpPr/>
          <p:nvPr/>
        </p:nvCxnSpPr>
        <p:spPr>
          <a:xfrm>
            <a:off x="3429000" y="4678680"/>
            <a:ext cx="167640" cy="0"/>
          </a:xfrm>
          <a:prstGeom prst="straightConnector1">
            <a:avLst/>
          </a:prstGeom>
          <a:noFill/>
          <a:ln cap="flat" cmpd="sng" w="19050">
            <a:solidFill>
              <a:srgbClr val="254D76"/>
            </a:solidFill>
            <a:prstDash val="solid"/>
            <a:round/>
            <a:headEnd len="sm" w="sm" type="none"/>
            <a:tailEnd len="sm" w="sm" type="none"/>
          </a:ln>
        </p:spPr>
      </p:cxnSp>
      <p:cxnSp>
        <p:nvCxnSpPr>
          <p:cNvPr id="493" name="Google Shape;493;p21"/>
          <p:cNvCxnSpPr/>
          <p:nvPr/>
        </p:nvCxnSpPr>
        <p:spPr>
          <a:xfrm>
            <a:off x="3429000" y="4770120"/>
            <a:ext cx="121920" cy="0"/>
          </a:xfrm>
          <a:prstGeom prst="straightConnector1">
            <a:avLst/>
          </a:prstGeom>
          <a:noFill/>
          <a:ln cap="flat" cmpd="sng" w="19050">
            <a:solidFill>
              <a:srgbClr val="254D76"/>
            </a:solidFill>
            <a:prstDash val="solid"/>
            <a:round/>
            <a:headEnd len="sm" w="sm" type="none"/>
            <a:tailEnd len="sm" w="sm" type="none"/>
          </a:ln>
        </p:spPr>
      </p:cxnSp>
      <p:sp>
        <p:nvSpPr>
          <p:cNvPr id="494" name="Google Shape;494;p21"/>
          <p:cNvSpPr/>
          <p:nvPr/>
        </p:nvSpPr>
        <p:spPr>
          <a:xfrm>
            <a:off x="3825240" y="4328160"/>
            <a:ext cx="2255520" cy="259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1560"/>
              <a:buFont typeface="Arial Narrow"/>
              <a:buNone/>
            </a:pPr>
            <a:r>
              <a:rPr b="1" i="0" lang="en-US" sz="1560" u="none" cap="none" strike="noStrike">
                <a:solidFill>
                  <a:srgbClr val="07166E"/>
                </a:solidFill>
                <a:latin typeface="Arial Narrow"/>
                <a:ea typeface="Arial Narrow"/>
                <a:cs typeface="Arial Narrow"/>
                <a:sym typeface="Arial Narrow"/>
              </a:rPr>
              <a:t>Reglas, perfiles o modelos</a:t>
            </a:r>
            <a:endParaRPr/>
          </a:p>
        </p:txBody>
      </p:sp>
      <p:sp>
        <p:nvSpPr>
          <p:cNvPr id="495" name="Google Shape;495;p21"/>
          <p:cNvSpPr/>
          <p:nvPr/>
        </p:nvSpPr>
        <p:spPr>
          <a:xfrm>
            <a:off x="3825240" y="4587240"/>
            <a:ext cx="2255520" cy="441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1440"/>
              <a:buFont typeface="Arial Narrow"/>
              <a:buNone/>
            </a:pPr>
            <a:r>
              <a:rPr b="0" i="0" lang="en-US" sz="1440" u="none" cap="none" strike="noStrike">
                <a:solidFill>
                  <a:srgbClr val="07166E"/>
                </a:solidFill>
                <a:latin typeface="Arial Narrow"/>
                <a:ea typeface="Arial Narrow"/>
                <a:cs typeface="Arial Narrow"/>
                <a:sym typeface="Arial Narrow"/>
              </a:rPr>
              <a:t>Proporcionan patrones o</a:t>
            </a:r>
            <a:endParaRPr/>
          </a:p>
          <a:p>
            <a:pPr indent="0" lvl="0" marL="0" marR="0" rtl="0" algn="l">
              <a:spcBef>
                <a:spcPts val="0"/>
              </a:spcBef>
              <a:spcAft>
                <a:spcPts val="0"/>
              </a:spcAft>
              <a:buClr>
                <a:srgbClr val="07166E"/>
              </a:buClr>
              <a:buSzPts val="1440"/>
              <a:buFont typeface="Arial Narrow"/>
              <a:buNone/>
            </a:pPr>
            <a:r>
              <a:rPr b="0" i="0" lang="en-US" sz="1440" u="none" cap="none" strike="noStrike">
                <a:solidFill>
                  <a:srgbClr val="07166E"/>
                </a:solidFill>
                <a:latin typeface="Arial Narrow"/>
                <a:ea typeface="Arial Narrow"/>
                <a:cs typeface="Arial Narrow"/>
                <a:sym typeface="Arial Narrow"/>
              </a:rPr>
              <a:t>modelos al motor.</a:t>
            </a:r>
            <a:endParaRPr/>
          </a:p>
        </p:txBody>
      </p:sp>
      <p:sp>
        <p:nvSpPr>
          <p:cNvPr id="496" name="Google Shape;496;p21"/>
          <p:cNvSpPr/>
          <p:nvPr/>
        </p:nvSpPr>
        <p:spPr>
          <a:xfrm>
            <a:off x="6355080" y="4251960"/>
            <a:ext cx="3459480" cy="838200"/>
          </a:xfrm>
          <a:prstGeom prst="roundRect">
            <a:avLst>
              <a:gd fmla="val 9091" name="adj"/>
            </a:avLst>
          </a:prstGeom>
          <a:solidFill>
            <a:srgbClr val="DAF9F1"/>
          </a:solidFill>
          <a:ln cap="flat" cmpd="sng" w="11425">
            <a:solidFill>
              <a:srgbClr val="54D8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p:nvPr/>
        </p:nvSpPr>
        <p:spPr>
          <a:xfrm>
            <a:off x="6522720" y="4480560"/>
            <a:ext cx="457200" cy="457200"/>
          </a:xfrm>
          <a:custGeom>
            <a:rect b="b" l="l" r="r" t="t"/>
            <a:pathLst>
              <a:path extrusionOk="0" h="120000" w="120000">
                <a:moveTo>
                  <a:pt x="89790" y="30393"/>
                </a:moveTo>
                <a:lnTo>
                  <a:pt x="107494" y="25057"/>
                </a:lnTo>
                <a:lnTo>
                  <a:pt x="114008" y="36341"/>
                </a:lnTo>
                <a:lnTo>
                  <a:pt x="100535" y="49005"/>
                </a:lnTo>
                <a:cubicBezTo>
                  <a:pt x="102488" y="56205"/>
                  <a:pt x="102488" y="63795"/>
                  <a:pt x="100535" y="70995"/>
                </a:cubicBezTo>
                <a:lnTo>
                  <a:pt x="114008" y="83659"/>
                </a:lnTo>
                <a:lnTo>
                  <a:pt x="107494" y="94943"/>
                </a:lnTo>
                <a:lnTo>
                  <a:pt x="89790" y="89607"/>
                </a:lnTo>
                <a:cubicBezTo>
                  <a:pt x="84531" y="94898"/>
                  <a:pt x="77957" y="98693"/>
                  <a:pt x="70746" y="100602"/>
                </a:cubicBezTo>
                <a:lnTo>
                  <a:pt x="66514" y="118602"/>
                </a:lnTo>
                <a:lnTo>
                  <a:pt x="53486" y="118602"/>
                </a:lnTo>
                <a:lnTo>
                  <a:pt x="49254" y="100602"/>
                </a:lnTo>
                <a:cubicBezTo>
                  <a:pt x="42043" y="98693"/>
                  <a:pt x="35469" y="94898"/>
                  <a:pt x="30210" y="89607"/>
                </a:cubicBezTo>
                <a:lnTo>
                  <a:pt x="12506" y="94943"/>
                </a:lnTo>
                <a:lnTo>
                  <a:pt x="5992" y="83659"/>
                </a:lnTo>
                <a:lnTo>
                  <a:pt x="19465" y="70995"/>
                </a:lnTo>
                <a:cubicBezTo>
                  <a:pt x="17512" y="63795"/>
                  <a:pt x="17512" y="56205"/>
                  <a:pt x="19465" y="49005"/>
                </a:cubicBezTo>
                <a:lnTo>
                  <a:pt x="5992" y="36341"/>
                </a:lnTo>
                <a:lnTo>
                  <a:pt x="12506" y="25057"/>
                </a:lnTo>
                <a:lnTo>
                  <a:pt x="30210" y="30393"/>
                </a:lnTo>
                <a:cubicBezTo>
                  <a:pt x="35469" y="25102"/>
                  <a:pt x="42043" y="21307"/>
                  <a:pt x="49254" y="19398"/>
                </a:cubicBezTo>
                <a:lnTo>
                  <a:pt x="53486" y="1398"/>
                </a:lnTo>
                <a:lnTo>
                  <a:pt x="66514" y="1398"/>
                </a:lnTo>
                <a:lnTo>
                  <a:pt x="70746" y="19398"/>
                </a:lnTo>
                <a:cubicBezTo>
                  <a:pt x="77957" y="21307"/>
                  <a:pt x="84531" y="25102"/>
                  <a:pt x="89790" y="30393"/>
                </a:cubicBezTo>
                <a:close/>
              </a:path>
            </a:pathLst>
          </a:custGeom>
          <a:solidFill>
            <a:srgbClr val="4A6475"/>
          </a:solidFill>
          <a:ln cap="flat" cmpd="sng" w="24750">
            <a:solidFill>
              <a:srgbClr val="24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p:nvPr/>
        </p:nvSpPr>
        <p:spPr>
          <a:xfrm>
            <a:off x="6675120" y="4632960"/>
            <a:ext cx="152400" cy="152400"/>
          </a:xfrm>
          <a:prstGeom prst="ellipse">
            <a:avLst/>
          </a:prstGeom>
          <a:solidFill>
            <a:srgbClr val="DAF9F1"/>
          </a:solidFill>
          <a:ln cap="flat" cmpd="sng" w="19050">
            <a:solidFill>
              <a:srgbClr val="243E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p:nvPr/>
        </p:nvSpPr>
        <p:spPr>
          <a:xfrm>
            <a:off x="7117080" y="4328160"/>
            <a:ext cx="2606040" cy="259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1500"/>
              <a:buFont typeface="Arial Narrow"/>
              <a:buNone/>
            </a:pPr>
            <a:r>
              <a:rPr b="0" i="0" lang="en-US" sz="1500" u="none" cap="none" strike="noStrike">
                <a:solidFill>
                  <a:srgbClr val="07166E"/>
                </a:solidFill>
                <a:latin typeface="Arial Narrow"/>
                <a:ea typeface="Arial Narrow"/>
                <a:cs typeface="Arial Narrow"/>
                <a:sym typeface="Arial Narrow"/>
              </a:rPr>
              <a:t>Administración, registros y alertas</a:t>
            </a:r>
            <a:endParaRPr/>
          </a:p>
        </p:txBody>
      </p:sp>
      <p:sp>
        <p:nvSpPr>
          <p:cNvPr id="500" name="Google Shape;500;p21"/>
          <p:cNvSpPr/>
          <p:nvPr/>
        </p:nvSpPr>
        <p:spPr>
          <a:xfrm>
            <a:off x="7117080" y="4587240"/>
            <a:ext cx="2606040" cy="441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1380"/>
              <a:buFont typeface="Arial Narrow"/>
              <a:buNone/>
            </a:pPr>
            <a:r>
              <a:rPr b="0" i="0" lang="en-US" sz="1380" u="none" cap="none" strike="noStrike">
                <a:solidFill>
                  <a:srgbClr val="07166E"/>
                </a:solidFill>
                <a:latin typeface="Arial Narrow"/>
                <a:ea typeface="Arial Narrow"/>
                <a:cs typeface="Arial Narrow"/>
                <a:sym typeface="Arial Narrow"/>
              </a:rPr>
              <a:t>Gestión de políticas, registros</a:t>
            </a:r>
            <a:endParaRPr/>
          </a:p>
          <a:p>
            <a:pPr indent="0" lvl="0" marL="0" marR="0" rtl="0" algn="l">
              <a:spcBef>
                <a:spcPts val="0"/>
              </a:spcBef>
              <a:spcAft>
                <a:spcPts val="0"/>
              </a:spcAft>
              <a:buClr>
                <a:srgbClr val="07166E"/>
              </a:buClr>
              <a:buSzPts val="1380"/>
              <a:buFont typeface="Arial Narrow"/>
              <a:buNone/>
            </a:pPr>
            <a:r>
              <a:rPr b="0" i="0" lang="en-US" sz="1380" u="none" cap="none" strike="noStrike">
                <a:solidFill>
                  <a:srgbClr val="07166E"/>
                </a:solidFill>
                <a:latin typeface="Arial Narrow"/>
                <a:ea typeface="Arial Narrow"/>
                <a:cs typeface="Arial Narrow"/>
                <a:sym typeface="Arial Narrow"/>
              </a:rPr>
              <a:t>y notificaciones.</a:t>
            </a:r>
            <a:endParaRPr/>
          </a:p>
        </p:txBody>
      </p:sp>
      <p:cxnSp>
        <p:nvCxnSpPr>
          <p:cNvPr id="501" name="Google Shape;501;p21"/>
          <p:cNvCxnSpPr/>
          <p:nvPr/>
        </p:nvCxnSpPr>
        <p:spPr>
          <a:xfrm>
            <a:off x="11887200" y="3230880"/>
            <a:ext cx="121920" cy="0"/>
          </a:xfrm>
          <a:prstGeom prst="straightConnector1">
            <a:avLst/>
          </a:prstGeom>
          <a:noFill/>
          <a:ln cap="flat" cmpd="sng" w="47625">
            <a:solidFill>
              <a:srgbClr val="7254B5"/>
            </a:solidFill>
            <a:prstDash val="dash"/>
            <a:round/>
            <a:headEnd len="sm" w="sm" type="none"/>
            <a:tailEnd len="sm" w="sm" type="none"/>
          </a:ln>
        </p:spPr>
      </p:cxnSp>
      <p:cxnSp>
        <p:nvCxnSpPr>
          <p:cNvPr id="502" name="Google Shape;502;p21"/>
          <p:cNvCxnSpPr/>
          <p:nvPr/>
        </p:nvCxnSpPr>
        <p:spPr>
          <a:xfrm>
            <a:off x="12009120" y="3230880"/>
            <a:ext cx="0" cy="2209800"/>
          </a:xfrm>
          <a:prstGeom prst="straightConnector1">
            <a:avLst/>
          </a:prstGeom>
          <a:noFill/>
          <a:ln cap="flat" cmpd="sng" w="47625">
            <a:solidFill>
              <a:srgbClr val="7254B5"/>
            </a:solidFill>
            <a:prstDash val="dash"/>
            <a:round/>
            <a:headEnd len="sm" w="sm" type="none"/>
            <a:tailEnd len="sm" w="sm" type="none"/>
          </a:ln>
        </p:spPr>
      </p:cxnSp>
      <p:cxnSp>
        <p:nvCxnSpPr>
          <p:cNvPr id="503" name="Google Shape;503;p21"/>
          <p:cNvCxnSpPr/>
          <p:nvPr/>
        </p:nvCxnSpPr>
        <p:spPr>
          <a:xfrm>
            <a:off x="9906000" y="5440680"/>
            <a:ext cx="2103120" cy="0"/>
          </a:xfrm>
          <a:prstGeom prst="straightConnector1">
            <a:avLst/>
          </a:prstGeom>
          <a:noFill/>
          <a:ln cap="flat" cmpd="sng" w="47625">
            <a:solidFill>
              <a:srgbClr val="7254B5"/>
            </a:solidFill>
            <a:prstDash val="dash"/>
            <a:round/>
            <a:headEnd len="sm" w="sm" type="none"/>
            <a:tailEnd len="sm" w="sm" type="none"/>
          </a:ln>
        </p:spPr>
      </p:cxnSp>
      <p:sp>
        <p:nvSpPr>
          <p:cNvPr id="504" name="Google Shape;504;p21"/>
          <p:cNvSpPr/>
          <p:nvPr/>
        </p:nvSpPr>
        <p:spPr>
          <a:xfrm rot="-5400000">
            <a:off x="9837420" y="5372100"/>
            <a:ext cx="137160" cy="137160"/>
          </a:xfrm>
          <a:prstGeom prst="triangle">
            <a:avLst>
              <a:gd fmla="val 50000" name="adj"/>
            </a:avLst>
          </a:prstGeom>
          <a:solidFill>
            <a:srgbClr val="7254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5" name="Google Shape;505;p21"/>
          <p:cNvCxnSpPr/>
          <p:nvPr/>
        </p:nvCxnSpPr>
        <p:spPr>
          <a:xfrm>
            <a:off x="2697480" y="5440680"/>
            <a:ext cx="7208520" cy="0"/>
          </a:xfrm>
          <a:prstGeom prst="straightConnector1">
            <a:avLst/>
          </a:prstGeom>
          <a:noFill/>
          <a:ln cap="flat" cmpd="sng" w="47625">
            <a:solidFill>
              <a:srgbClr val="7254B5"/>
            </a:solidFill>
            <a:prstDash val="dash"/>
            <a:round/>
            <a:headEnd len="sm" w="sm" type="none"/>
            <a:tailEnd len="sm" w="sm" type="none"/>
          </a:ln>
        </p:spPr>
      </p:cxnSp>
      <p:sp>
        <p:nvSpPr>
          <p:cNvPr id="506" name="Google Shape;506;p21"/>
          <p:cNvSpPr/>
          <p:nvPr/>
        </p:nvSpPr>
        <p:spPr>
          <a:xfrm rot="-5400000">
            <a:off x="2628900" y="5372100"/>
            <a:ext cx="137160" cy="137160"/>
          </a:xfrm>
          <a:prstGeom prst="triangle">
            <a:avLst>
              <a:gd fmla="val 50000" name="adj"/>
            </a:avLst>
          </a:prstGeom>
          <a:solidFill>
            <a:srgbClr val="7254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7" name="Google Shape;507;p21"/>
          <p:cNvCxnSpPr/>
          <p:nvPr/>
        </p:nvCxnSpPr>
        <p:spPr>
          <a:xfrm>
            <a:off x="1706880" y="5440680"/>
            <a:ext cx="990600" cy="0"/>
          </a:xfrm>
          <a:prstGeom prst="straightConnector1">
            <a:avLst/>
          </a:prstGeom>
          <a:noFill/>
          <a:ln cap="flat" cmpd="sng" w="47625">
            <a:solidFill>
              <a:srgbClr val="7254B5"/>
            </a:solidFill>
            <a:prstDash val="dash"/>
            <a:round/>
            <a:headEnd len="sm" w="sm" type="none"/>
            <a:tailEnd len="sm" w="sm" type="none"/>
          </a:ln>
        </p:spPr>
      </p:cxnSp>
      <p:cxnSp>
        <p:nvCxnSpPr>
          <p:cNvPr id="508" name="Google Shape;508;p21"/>
          <p:cNvCxnSpPr/>
          <p:nvPr/>
        </p:nvCxnSpPr>
        <p:spPr>
          <a:xfrm>
            <a:off x="1706880" y="3444240"/>
            <a:ext cx="0" cy="1996440"/>
          </a:xfrm>
          <a:prstGeom prst="straightConnector1">
            <a:avLst/>
          </a:prstGeom>
          <a:noFill/>
          <a:ln cap="flat" cmpd="sng" w="47625">
            <a:solidFill>
              <a:srgbClr val="7254B5"/>
            </a:solidFill>
            <a:prstDash val="dash"/>
            <a:round/>
            <a:headEnd len="sm" w="sm" type="none"/>
            <a:tailEnd len="sm" w="sm" type="none"/>
          </a:ln>
        </p:spPr>
      </p:cxnSp>
      <p:cxnSp>
        <p:nvCxnSpPr>
          <p:cNvPr id="509" name="Google Shape;509;p21"/>
          <p:cNvCxnSpPr/>
          <p:nvPr/>
        </p:nvCxnSpPr>
        <p:spPr>
          <a:xfrm>
            <a:off x="1280160" y="3444240"/>
            <a:ext cx="426720" cy="0"/>
          </a:xfrm>
          <a:prstGeom prst="straightConnector1">
            <a:avLst/>
          </a:prstGeom>
          <a:noFill/>
          <a:ln cap="flat" cmpd="sng" w="47625">
            <a:solidFill>
              <a:srgbClr val="7254B5"/>
            </a:solidFill>
            <a:prstDash val="dash"/>
            <a:round/>
            <a:headEnd len="sm" w="sm" type="none"/>
            <a:tailEnd len="sm" w="sm" type="none"/>
          </a:ln>
        </p:spPr>
      </p:cxnSp>
      <p:sp>
        <p:nvSpPr>
          <p:cNvPr id="510" name="Google Shape;510;p21"/>
          <p:cNvSpPr/>
          <p:nvPr/>
        </p:nvSpPr>
        <p:spPr>
          <a:xfrm rot="-5400000">
            <a:off x="1219200" y="3383280"/>
            <a:ext cx="121920" cy="121920"/>
          </a:xfrm>
          <a:prstGeom prst="triangle">
            <a:avLst>
              <a:gd fmla="val 50000" name="adj"/>
            </a:avLst>
          </a:prstGeom>
          <a:solidFill>
            <a:srgbClr val="7254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p:nvPr/>
        </p:nvSpPr>
        <p:spPr>
          <a:xfrm>
            <a:off x="10088880" y="5044440"/>
            <a:ext cx="1828800" cy="30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54B5"/>
              </a:buClr>
              <a:buSzPts val="1560"/>
              <a:buFont typeface="Calibri"/>
              <a:buNone/>
            </a:pPr>
            <a:r>
              <a:rPr b="0" i="0" lang="en-US" sz="1560" u="none" cap="none" strike="noStrike">
                <a:solidFill>
                  <a:srgbClr val="7254B5"/>
                </a:solidFill>
                <a:latin typeface="Calibri"/>
                <a:ea typeface="Calibri"/>
                <a:cs typeface="Calibri"/>
                <a:sym typeface="Calibri"/>
              </a:rPr>
              <a:t>Respuesta HTTP</a:t>
            </a:r>
            <a:r>
              <a:rPr lang="en-US" sz="1560">
                <a:solidFill>
                  <a:srgbClr val="7254B5"/>
                </a:solidFill>
                <a:latin typeface="Calibri"/>
                <a:ea typeface="Calibri"/>
                <a:cs typeface="Calibri"/>
                <a:sym typeface="Calibri"/>
              </a:rPr>
              <a:t>*</a:t>
            </a:r>
            <a:endParaRPr/>
          </a:p>
        </p:txBody>
      </p:sp>
      <p:sp>
        <p:nvSpPr>
          <p:cNvPr id="512" name="Google Shape;512;p21"/>
          <p:cNvSpPr/>
          <p:nvPr/>
        </p:nvSpPr>
        <p:spPr>
          <a:xfrm>
            <a:off x="289560" y="4511040"/>
            <a:ext cx="1310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54B5"/>
              </a:buClr>
              <a:buSzPts val="1560"/>
              <a:buFont typeface="Calibri"/>
              <a:buNone/>
            </a:pPr>
            <a:r>
              <a:rPr b="0" i="0" lang="en-US" sz="1560" u="none" cap="none" strike="noStrike">
                <a:solidFill>
                  <a:srgbClr val="7254B5"/>
                </a:solidFill>
                <a:latin typeface="Calibri"/>
                <a:ea typeface="Calibri"/>
                <a:cs typeface="Calibri"/>
                <a:sym typeface="Calibri"/>
              </a:rPr>
              <a:t>Respuesta</a:t>
            </a:r>
            <a:endParaRPr/>
          </a:p>
          <a:p>
            <a:pPr indent="0" lvl="0" marL="0" marR="0" rtl="0" algn="ctr">
              <a:spcBef>
                <a:spcPts val="0"/>
              </a:spcBef>
              <a:spcAft>
                <a:spcPts val="0"/>
              </a:spcAft>
              <a:buClr>
                <a:srgbClr val="7254B5"/>
              </a:buClr>
              <a:buSzPts val="1560"/>
              <a:buFont typeface="Calibri"/>
              <a:buNone/>
            </a:pPr>
            <a:r>
              <a:rPr b="0" i="0" lang="en-US" sz="1560" u="none" cap="none" strike="noStrike">
                <a:solidFill>
                  <a:srgbClr val="7254B5"/>
                </a:solidFill>
                <a:latin typeface="Calibri"/>
                <a:ea typeface="Calibri"/>
                <a:cs typeface="Calibri"/>
                <a:sym typeface="Calibri"/>
              </a:rPr>
              <a:t>HTTP</a:t>
            </a:r>
            <a:endParaRPr/>
          </a:p>
        </p:txBody>
      </p:sp>
      <p:sp>
        <p:nvSpPr>
          <p:cNvPr id="513" name="Google Shape;513;p21"/>
          <p:cNvSpPr/>
          <p:nvPr/>
        </p:nvSpPr>
        <p:spPr>
          <a:xfrm>
            <a:off x="320040" y="5882640"/>
            <a:ext cx="11551920" cy="579120"/>
          </a:xfrm>
          <a:prstGeom prst="roundRect">
            <a:avLst>
              <a:gd fmla="val 10526" name="adj"/>
            </a:avLst>
          </a:prstGeom>
          <a:solidFill>
            <a:srgbClr val="D8EEFC"/>
          </a:solidFill>
          <a:ln cap="flat" cmpd="sng" w="11425">
            <a:solidFill>
              <a:srgbClr val="60BB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a:off x="1112520" y="5989320"/>
            <a:ext cx="396240" cy="396240"/>
          </a:xfrm>
          <a:prstGeom prst="ellipse">
            <a:avLst/>
          </a:prstGeom>
          <a:noFill/>
          <a:ln cap="flat" cmpd="sng" w="57150">
            <a:solidFill>
              <a:srgbClr val="006D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1"/>
          <p:cNvSpPr/>
          <p:nvPr/>
        </p:nvSpPr>
        <p:spPr>
          <a:xfrm>
            <a:off x="1203960" y="6080760"/>
            <a:ext cx="213360" cy="213360"/>
          </a:xfrm>
          <a:prstGeom prst="ellipse">
            <a:avLst/>
          </a:prstGeom>
          <a:noFill/>
          <a:ln cap="flat" cmpd="sng" w="38100">
            <a:solidFill>
              <a:srgbClr val="006D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1"/>
          <p:cNvSpPr/>
          <p:nvPr/>
        </p:nvSpPr>
        <p:spPr>
          <a:xfrm>
            <a:off x="1280160" y="6156960"/>
            <a:ext cx="60960" cy="60960"/>
          </a:xfrm>
          <a:prstGeom prst="ellipse">
            <a:avLst/>
          </a:prstGeom>
          <a:solidFill>
            <a:srgbClr val="006D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 name="Google Shape;517;p21"/>
          <p:cNvCxnSpPr/>
          <p:nvPr/>
        </p:nvCxnSpPr>
        <p:spPr>
          <a:xfrm flipH="1" rot="10800000">
            <a:off x="1325880" y="5958840"/>
            <a:ext cx="198120" cy="228600"/>
          </a:xfrm>
          <a:prstGeom prst="straightConnector1">
            <a:avLst/>
          </a:prstGeom>
          <a:noFill/>
          <a:ln cap="flat" cmpd="sng" w="57150">
            <a:solidFill>
              <a:srgbClr val="006DEC"/>
            </a:solidFill>
            <a:prstDash val="solid"/>
            <a:round/>
            <a:headEnd len="sm" w="sm" type="none"/>
            <a:tailEnd len="sm" w="sm" type="none"/>
          </a:ln>
        </p:spPr>
      </p:cxnSp>
      <p:sp>
        <p:nvSpPr>
          <p:cNvPr id="518" name="Google Shape;518;p21"/>
          <p:cNvSpPr/>
          <p:nvPr/>
        </p:nvSpPr>
        <p:spPr>
          <a:xfrm>
            <a:off x="1470660" y="5905500"/>
            <a:ext cx="106680" cy="106680"/>
          </a:xfrm>
          <a:prstGeom prst="triangle">
            <a:avLst>
              <a:gd fmla="val 50000" name="adj"/>
            </a:avLst>
          </a:prstGeom>
          <a:solidFill>
            <a:srgbClr val="006D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1"/>
          <p:cNvSpPr/>
          <p:nvPr/>
        </p:nvSpPr>
        <p:spPr>
          <a:xfrm>
            <a:off x="1722120" y="5958840"/>
            <a:ext cx="9951720" cy="441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66E"/>
              </a:buClr>
              <a:buSzPts val="2160"/>
              <a:buFont typeface="Arial Narrow"/>
              <a:buNone/>
            </a:pPr>
            <a:r>
              <a:rPr b="1" i="0" lang="en-US" sz="2160" u="none" cap="none" strike="noStrike">
                <a:solidFill>
                  <a:srgbClr val="07166E"/>
                </a:solidFill>
                <a:latin typeface="Arial Narrow"/>
                <a:ea typeface="Arial Narrow"/>
                <a:cs typeface="Arial Narrow"/>
                <a:sym typeface="Arial Narrow"/>
              </a:rPr>
              <a:t>Foco del trabajo: algoritmos de detección y clasificación, un componente del WAF.</a:t>
            </a:r>
            <a:endParaRPr/>
          </a:p>
        </p:txBody>
      </p:sp>
      <p:sp>
        <p:nvSpPr>
          <p:cNvPr id="520" name="Google Shape;520;p21"/>
          <p:cNvSpPr/>
          <p:nvPr/>
        </p:nvSpPr>
        <p:spPr>
          <a:xfrm>
            <a:off x="304800" y="6644640"/>
            <a:ext cx="10820400" cy="16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C91"/>
              </a:buClr>
              <a:buSzPts val="1080"/>
              <a:buFont typeface="Arial Narrow"/>
              <a:buNone/>
            </a:pPr>
            <a:r>
              <a:rPr b="0" i="0" lang="en-US" sz="1080" u="none" cap="none" strike="noStrike">
                <a:solidFill>
                  <a:srgbClr val="344C91"/>
                </a:solidFill>
                <a:latin typeface="Arial Narrow"/>
                <a:ea typeface="Arial Narrow"/>
                <a:cs typeface="Arial Narrow"/>
                <a:sym typeface="Arial Narrow"/>
              </a:rPr>
              <a:t>Fuentes: OWASP — Web Application Firewall; OWASP ModSecurity — Reference Manual (v3.x) .</a:t>
            </a:r>
            <a:endParaRPr/>
          </a:p>
        </p:txBody>
      </p:sp>
      <p:sp>
        <p:nvSpPr>
          <p:cNvPr id="521" name="Google Shape;521;p21"/>
          <p:cNvSpPr/>
          <p:nvPr/>
        </p:nvSpPr>
        <p:spPr>
          <a:xfrm>
            <a:off x="2809875" y="2657475"/>
            <a:ext cx="2038350" cy="552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650" u="none" cap="none" strike="noStrike">
                <a:solidFill>
                  <a:srgbClr val="070F64"/>
                </a:solidFill>
                <a:latin typeface="Arial"/>
                <a:ea typeface="Arial"/>
                <a:cs typeface="Arial"/>
                <a:sym typeface="Arial"/>
              </a:rPr>
              <a:t>Análisis y</a:t>
            </a:r>
            <a:endParaRPr/>
          </a:p>
          <a:p>
            <a:pPr indent="0" lvl="0" marL="0" marR="0" rtl="0" algn="ctr">
              <a:spcBef>
                <a:spcPts val="0"/>
              </a:spcBef>
              <a:spcAft>
                <a:spcPts val="0"/>
              </a:spcAft>
              <a:buNone/>
            </a:pPr>
            <a:r>
              <a:rPr b="0" i="0" lang="en-US" sz="1650" u="none" cap="none" strike="noStrike">
                <a:solidFill>
                  <a:srgbClr val="070F64"/>
                </a:solidFill>
                <a:latin typeface="Arial"/>
                <a:ea typeface="Arial"/>
                <a:cs typeface="Arial"/>
                <a:sym typeface="Arial"/>
              </a:rPr>
              <a:t>normalización HTTP</a:t>
            </a:r>
            <a:endParaRPr/>
          </a:p>
        </p:txBody>
      </p:sp>
      <p:sp>
        <p:nvSpPr>
          <p:cNvPr id="522" name="Google Shape;522;p21"/>
          <p:cNvSpPr/>
          <p:nvPr/>
        </p:nvSpPr>
        <p:spPr>
          <a:xfrm>
            <a:off x="5324475" y="2657475"/>
            <a:ext cx="1885950" cy="552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725" u="none" cap="none" strike="noStrike">
                <a:solidFill>
                  <a:srgbClr val="070F64"/>
                </a:solidFill>
                <a:latin typeface="Arial"/>
                <a:ea typeface="Arial"/>
                <a:cs typeface="Arial"/>
                <a:sym typeface="Arial"/>
              </a:rPr>
              <a:t>Motor de</a:t>
            </a:r>
            <a:endParaRPr/>
          </a:p>
          <a:p>
            <a:pPr indent="0" lvl="0" marL="0" marR="0" rtl="0" algn="ctr">
              <a:spcBef>
                <a:spcPts val="0"/>
              </a:spcBef>
              <a:spcAft>
                <a:spcPts val="0"/>
              </a:spcAft>
              <a:buNone/>
            </a:pPr>
            <a:r>
              <a:rPr b="0" i="0" lang="en-US" sz="1725" u="none" cap="none" strike="noStrike">
                <a:solidFill>
                  <a:srgbClr val="070F64"/>
                </a:solidFill>
                <a:latin typeface="Arial"/>
                <a:ea typeface="Arial"/>
                <a:cs typeface="Arial"/>
                <a:sym typeface="Arial"/>
              </a:rPr>
              <a:t>detección</a:t>
            </a:r>
            <a:endParaRPr/>
          </a:p>
        </p:txBody>
      </p:sp>
      <p:sp>
        <p:nvSpPr>
          <p:cNvPr id="523" name="Google Shape;523;p21"/>
          <p:cNvSpPr/>
          <p:nvPr/>
        </p:nvSpPr>
        <p:spPr>
          <a:xfrm>
            <a:off x="7686675" y="2657475"/>
            <a:ext cx="2038350" cy="552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725" u="none" cap="none" strike="noStrike">
                <a:solidFill>
                  <a:srgbClr val="070F64"/>
                </a:solidFill>
                <a:latin typeface="Arial"/>
                <a:ea typeface="Arial"/>
                <a:cs typeface="Arial"/>
                <a:sym typeface="Arial"/>
              </a:rPr>
              <a:t>Decisión y</a:t>
            </a:r>
            <a:endParaRPr/>
          </a:p>
          <a:p>
            <a:pPr indent="0" lvl="0" marL="0" marR="0" rtl="0" algn="ctr">
              <a:spcBef>
                <a:spcPts val="0"/>
              </a:spcBef>
              <a:spcAft>
                <a:spcPts val="0"/>
              </a:spcAft>
              <a:buNone/>
            </a:pPr>
            <a:r>
              <a:rPr b="0" i="0" lang="en-US" sz="1725" u="none" cap="none" strike="noStrike">
                <a:solidFill>
                  <a:srgbClr val="070F64"/>
                </a:solidFill>
                <a:latin typeface="Arial"/>
                <a:ea typeface="Arial"/>
                <a:cs typeface="Arial"/>
                <a:sym typeface="Arial"/>
              </a:rPr>
              <a:t>actuación</a:t>
            </a:r>
            <a:endParaRPr/>
          </a:p>
        </p:txBody>
      </p:sp>
      <p:sp>
        <p:nvSpPr>
          <p:cNvPr id="524" name="Google Shape;524;p21"/>
          <p:cNvSpPr/>
          <p:nvPr/>
        </p:nvSpPr>
        <p:spPr>
          <a:xfrm>
            <a:off x="5447761" y="6579054"/>
            <a:ext cx="62865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50">
                <a:solidFill>
                  <a:srgbClr val="070F64"/>
                </a:solidFill>
              </a:rPr>
              <a:t>*</a:t>
            </a:r>
            <a:r>
              <a:rPr b="0" i="0" lang="en-US" sz="1350" u="none" cap="none" strike="noStrike">
                <a:solidFill>
                  <a:srgbClr val="070F64"/>
                </a:solidFill>
                <a:latin typeface="Arial"/>
                <a:ea typeface="Arial"/>
                <a:cs typeface="Arial"/>
                <a:sym typeface="Arial"/>
              </a:rPr>
              <a:t>Las respuestas quedan fuera del análisis de este trabajo.</a:t>
            </a:r>
            <a:endParaRPr/>
          </a:p>
        </p:txBody>
      </p:sp>
      <p:sp>
        <p:nvSpPr>
          <p:cNvPr id="525" name="Google Shape;525;p2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6" name="Google Shape;526;p21" title="DEFENSA_SEGURA_V2:barra-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7" name="Google Shape;527;p21" title="DEFENSA_SEGURA_V2:avance-8"/>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8" name="Google Shape;528;p21" title="DEFENSA_SEGURA_V2:seccion-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22"/>
          <p:cNvSpPr/>
          <p:nvPr/>
        </p:nvSpPr>
        <p:spPr>
          <a:xfrm>
            <a:off x="285750" y="238125"/>
            <a:ext cx="116205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3525"/>
              <a:buFont typeface="Arial"/>
              <a:buNone/>
            </a:pPr>
            <a:r>
              <a:rPr b="1" lang="en-US" sz="3525">
                <a:solidFill>
                  <a:srgbClr val="111F5B"/>
                </a:solidFill>
              </a:rPr>
              <a:t>Algoritmos de detección de ataques</a:t>
            </a:r>
            <a:endParaRPr b="1" sz="3525">
              <a:solidFill>
                <a:srgbClr val="111F5B"/>
              </a:solidFill>
            </a:endParaRPr>
          </a:p>
        </p:txBody>
      </p:sp>
      <p:sp>
        <p:nvSpPr>
          <p:cNvPr id="535" name="Google Shape;535;p22"/>
          <p:cNvSpPr/>
          <p:nvPr/>
        </p:nvSpPr>
        <p:spPr>
          <a:xfrm>
            <a:off x="304800" y="962025"/>
            <a:ext cx="115824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1950"/>
              <a:buFont typeface="Arial"/>
              <a:buNone/>
            </a:pPr>
            <a:r>
              <a:rPr lang="en-US" sz="1950">
                <a:solidFill>
                  <a:srgbClr val="070F64"/>
                </a:solidFill>
              </a:rPr>
              <a:t>Usan reglas conocidas o buscan desviaciones del tráfico normal.</a:t>
            </a:r>
            <a:endParaRPr sz="1950">
              <a:solidFill>
                <a:srgbClr val="070F64"/>
              </a:solidFill>
            </a:endParaRPr>
          </a:p>
        </p:txBody>
      </p:sp>
      <p:sp>
        <p:nvSpPr>
          <p:cNvPr id="536" name="Google Shape;536;p22"/>
          <p:cNvSpPr/>
          <p:nvPr/>
        </p:nvSpPr>
        <p:spPr>
          <a:xfrm>
            <a:off x="266700" y="1552575"/>
            <a:ext cx="5715000" cy="4581600"/>
          </a:xfrm>
          <a:prstGeom prst="rect">
            <a:avLst/>
          </a:prstGeom>
          <a:solidFill>
            <a:srgbClr val="E5F5FC"/>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2"/>
          <p:cNvSpPr/>
          <p:nvPr/>
        </p:nvSpPr>
        <p:spPr>
          <a:xfrm>
            <a:off x="6210300" y="1552575"/>
            <a:ext cx="5715000" cy="4581600"/>
          </a:xfrm>
          <a:prstGeom prst="rect">
            <a:avLst/>
          </a:prstGeom>
          <a:solidFill>
            <a:srgbClr val="E5F5FC"/>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a:off x="414075" y="1604888"/>
            <a:ext cx="52959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250"/>
              <a:buFont typeface="Arial"/>
              <a:buNone/>
            </a:pPr>
            <a:r>
              <a:rPr b="1" lang="en-US" sz="2250">
                <a:solidFill>
                  <a:srgbClr val="070F64"/>
                </a:solidFill>
              </a:rPr>
              <a:t>Detección por firmas</a:t>
            </a:r>
            <a:endParaRPr b="1" sz="2250">
              <a:solidFill>
                <a:srgbClr val="070F64"/>
              </a:solidFill>
            </a:endParaRPr>
          </a:p>
        </p:txBody>
      </p:sp>
      <p:sp>
        <p:nvSpPr>
          <p:cNvPr id="539" name="Google Shape;539;p22"/>
          <p:cNvSpPr/>
          <p:nvPr/>
        </p:nvSpPr>
        <p:spPr>
          <a:xfrm>
            <a:off x="414075" y="1995500"/>
            <a:ext cx="52959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1875"/>
              <a:buFont typeface="Arial"/>
              <a:buNone/>
            </a:pPr>
            <a:r>
              <a:rPr lang="en-US" sz="1875">
                <a:solidFill>
                  <a:srgbClr val="070F64"/>
                </a:solidFill>
              </a:rPr>
              <a:t>Comparan la petición con condiciones definidas previamente.</a:t>
            </a:r>
            <a:endParaRPr sz="1875">
              <a:solidFill>
                <a:srgbClr val="070F64"/>
              </a:solidFill>
            </a:endParaRPr>
          </a:p>
        </p:txBody>
      </p:sp>
      <p:sp>
        <p:nvSpPr>
          <p:cNvPr id="540" name="Google Shape;540;p22"/>
          <p:cNvSpPr/>
          <p:nvPr/>
        </p:nvSpPr>
        <p:spPr>
          <a:xfrm>
            <a:off x="6419850" y="1714500"/>
            <a:ext cx="52959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250"/>
              <a:buFont typeface="Arial"/>
              <a:buNone/>
            </a:pPr>
            <a:r>
              <a:rPr b="1" lang="en-US" sz="2250">
                <a:solidFill>
                  <a:srgbClr val="070F64"/>
                </a:solidFill>
              </a:rPr>
              <a:t>Detección por anomalías</a:t>
            </a:r>
            <a:endParaRPr b="1" sz="2250">
              <a:solidFill>
                <a:srgbClr val="070F64"/>
              </a:solidFill>
            </a:endParaRPr>
          </a:p>
        </p:txBody>
      </p:sp>
      <p:sp>
        <p:nvSpPr>
          <p:cNvPr id="541" name="Google Shape;541;p22"/>
          <p:cNvSpPr/>
          <p:nvPr/>
        </p:nvSpPr>
        <p:spPr>
          <a:xfrm>
            <a:off x="6419850" y="2190750"/>
            <a:ext cx="52959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1875"/>
              <a:buFont typeface="Arial"/>
              <a:buNone/>
            </a:pPr>
            <a:r>
              <a:rPr lang="en-US" sz="1675">
                <a:solidFill>
                  <a:srgbClr val="070F64"/>
                </a:solidFill>
              </a:rPr>
              <a:t>Mide cuánto se aparta una petición del comportamiento normal aprendido.</a:t>
            </a:r>
            <a:endParaRPr sz="1675">
              <a:solidFill>
                <a:srgbClr val="070F64"/>
              </a:solidFill>
            </a:endParaRPr>
          </a:p>
        </p:txBody>
      </p:sp>
      <p:sp>
        <p:nvSpPr>
          <p:cNvPr id="542" name="Google Shape;542;p22"/>
          <p:cNvSpPr/>
          <p:nvPr/>
        </p:nvSpPr>
        <p:spPr>
          <a:xfrm>
            <a:off x="535425" y="4298125"/>
            <a:ext cx="52959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025"/>
              <a:buFont typeface="Arial"/>
              <a:buNone/>
            </a:pPr>
            <a:r>
              <a:rPr b="1" lang="en-US" sz="2025">
                <a:solidFill>
                  <a:srgbClr val="070F64"/>
                </a:solidFill>
                <a:latin typeface="Arial"/>
                <a:ea typeface="Arial"/>
                <a:cs typeface="Arial"/>
                <a:sym typeface="Arial"/>
              </a:rPr>
              <a:t>Limitaciones</a:t>
            </a:r>
            <a:endParaRPr/>
          </a:p>
        </p:txBody>
      </p:sp>
      <p:sp>
        <p:nvSpPr>
          <p:cNvPr id="543" name="Google Shape;543;p22"/>
          <p:cNvSpPr/>
          <p:nvPr/>
        </p:nvSpPr>
        <p:spPr>
          <a:xfrm>
            <a:off x="6419850" y="2809800"/>
            <a:ext cx="52959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025"/>
              <a:buFont typeface="Arial"/>
              <a:buNone/>
            </a:pPr>
            <a:r>
              <a:rPr b="1" lang="en-US" sz="2025">
                <a:solidFill>
                  <a:srgbClr val="070F64"/>
                </a:solidFill>
                <a:latin typeface="Arial"/>
                <a:ea typeface="Arial"/>
                <a:cs typeface="Arial"/>
                <a:sym typeface="Arial"/>
              </a:rPr>
              <a:t>Ventajas</a:t>
            </a:r>
            <a:endParaRPr/>
          </a:p>
        </p:txBody>
      </p:sp>
      <p:sp>
        <p:nvSpPr>
          <p:cNvPr id="544" name="Google Shape;544;p22"/>
          <p:cNvSpPr/>
          <p:nvPr/>
        </p:nvSpPr>
        <p:spPr>
          <a:xfrm>
            <a:off x="6419850" y="4298113"/>
            <a:ext cx="52959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025"/>
              <a:buFont typeface="Arial"/>
              <a:buNone/>
            </a:pPr>
            <a:r>
              <a:rPr b="1" lang="en-US" sz="2025">
                <a:solidFill>
                  <a:srgbClr val="070F64"/>
                </a:solidFill>
                <a:latin typeface="Arial"/>
                <a:ea typeface="Arial"/>
                <a:cs typeface="Arial"/>
                <a:sym typeface="Arial"/>
              </a:rPr>
              <a:t>Limitaciones</a:t>
            </a:r>
            <a:endParaRPr/>
          </a:p>
        </p:txBody>
      </p:sp>
      <p:sp>
        <p:nvSpPr>
          <p:cNvPr id="545" name="Google Shape;545;p22"/>
          <p:cNvSpPr/>
          <p:nvPr/>
        </p:nvSpPr>
        <p:spPr>
          <a:xfrm>
            <a:off x="476250" y="4562475"/>
            <a:ext cx="5295900" cy="5334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SzPts val="1400"/>
              <a:buChar char="-"/>
            </a:pPr>
            <a:r>
              <a:rPr lang="en-US" sz="1725">
                <a:solidFill>
                  <a:srgbClr val="070F64"/>
                </a:solidFill>
              </a:rPr>
              <a:t>Requiere mantener y ajustar las reglas.</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Puede omitir variantes fuera de las condiciones definidas.</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Una regla general puede marcar </a:t>
            </a:r>
            <a:r>
              <a:rPr lang="en-US" sz="1725">
                <a:solidFill>
                  <a:srgbClr val="070F64"/>
                </a:solidFill>
              </a:rPr>
              <a:t>tráfico</a:t>
            </a:r>
            <a:r>
              <a:rPr lang="en-US" sz="1725">
                <a:solidFill>
                  <a:srgbClr val="070F64"/>
                </a:solidFill>
              </a:rPr>
              <a:t> </a:t>
            </a:r>
            <a:r>
              <a:rPr lang="en-US" sz="1725">
                <a:solidFill>
                  <a:srgbClr val="070F64"/>
                </a:solidFill>
              </a:rPr>
              <a:t>legítimo</a:t>
            </a:r>
            <a:r>
              <a:rPr lang="en-US" sz="1725">
                <a:solidFill>
                  <a:srgbClr val="070F64"/>
                </a:solidFill>
              </a:rPr>
              <a:t>.</a:t>
            </a:r>
            <a:endParaRPr sz="1725">
              <a:solidFill>
                <a:srgbClr val="070F64"/>
              </a:solidFill>
            </a:endParaRPr>
          </a:p>
        </p:txBody>
      </p:sp>
      <p:sp>
        <p:nvSpPr>
          <p:cNvPr id="546" name="Google Shape;546;p22"/>
          <p:cNvSpPr/>
          <p:nvPr/>
        </p:nvSpPr>
        <p:spPr>
          <a:xfrm>
            <a:off x="6285175" y="3133800"/>
            <a:ext cx="5295900" cy="523800"/>
          </a:xfrm>
          <a:prstGeom prst="rect">
            <a:avLst/>
          </a:prstGeom>
          <a:noFill/>
          <a:ln>
            <a:noFill/>
          </a:ln>
        </p:spPr>
        <p:txBody>
          <a:bodyPr anchorCtr="0" anchor="t" bIns="0" lIns="0" spcFirstLastPara="1" rIns="0" wrap="square" tIns="0">
            <a:noAutofit/>
          </a:bodyPr>
          <a:lstStyle/>
          <a:p>
            <a:pPr indent="-330200" lvl="0" marL="457200" marR="0" rtl="0" algn="l">
              <a:spcBef>
                <a:spcPts val="0"/>
              </a:spcBef>
              <a:spcAft>
                <a:spcPts val="0"/>
              </a:spcAft>
              <a:buClr>
                <a:srgbClr val="070F64"/>
              </a:buClr>
              <a:buSzPts val="1600"/>
              <a:buChar char="-"/>
            </a:pPr>
            <a:r>
              <a:rPr lang="en-US" sz="1600">
                <a:solidFill>
                  <a:srgbClr val="070F64"/>
                </a:solidFill>
              </a:rPr>
              <a:t>Puede señalar peticiones que se apartan del perfil.</a:t>
            </a:r>
            <a:endParaRPr sz="1600">
              <a:solidFill>
                <a:srgbClr val="070F64"/>
              </a:solidFill>
            </a:endParaRPr>
          </a:p>
          <a:p>
            <a:pPr indent="-330200" lvl="0" marL="457200" marR="0" rtl="0" algn="l">
              <a:spcBef>
                <a:spcPts val="0"/>
              </a:spcBef>
              <a:spcAft>
                <a:spcPts val="0"/>
              </a:spcAft>
              <a:buClr>
                <a:srgbClr val="070F64"/>
              </a:buClr>
              <a:buSzPts val="1600"/>
              <a:buChar char="-"/>
            </a:pPr>
            <a:r>
              <a:rPr lang="en-US" sz="1600">
                <a:solidFill>
                  <a:srgbClr val="070F64"/>
                </a:solidFill>
              </a:rPr>
              <a:t>El perfil puede adaptarse al tráfico de una aplicación o entorno dinámico.</a:t>
            </a:r>
            <a:endParaRPr sz="1600">
              <a:solidFill>
                <a:srgbClr val="070F64"/>
              </a:solidFill>
            </a:endParaRPr>
          </a:p>
          <a:p>
            <a:pPr indent="-330200" lvl="0" marL="457200" marR="0" rtl="0" algn="l">
              <a:spcBef>
                <a:spcPts val="0"/>
              </a:spcBef>
              <a:spcAft>
                <a:spcPts val="0"/>
              </a:spcAft>
              <a:buClr>
                <a:srgbClr val="070F64"/>
              </a:buClr>
              <a:buSzPts val="1600"/>
              <a:buChar char="-"/>
            </a:pPr>
            <a:r>
              <a:rPr lang="en-US" sz="1600">
                <a:solidFill>
                  <a:srgbClr val="070F64"/>
                </a:solidFill>
              </a:rPr>
              <a:t>Puede señalar ataques sin firma conocida si se apartan del tráfico aprendido.</a:t>
            </a:r>
            <a:endParaRPr sz="1600">
              <a:solidFill>
                <a:srgbClr val="070F64"/>
              </a:solidFill>
            </a:endParaRPr>
          </a:p>
        </p:txBody>
      </p:sp>
      <p:sp>
        <p:nvSpPr>
          <p:cNvPr id="547" name="Google Shape;547;p22"/>
          <p:cNvSpPr/>
          <p:nvPr/>
        </p:nvSpPr>
        <p:spPr>
          <a:xfrm>
            <a:off x="6419850" y="4714875"/>
            <a:ext cx="5295900" cy="5334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SzPts val="1400"/>
              <a:buChar char="-"/>
            </a:pPr>
            <a:r>
              <a:rPr lang="en-US" sz="1725">
                <a:solidFill>
                  <a:srgbClr val="070F64"/>
                </a:solidFill>
              </a:rPr>
              <a:t>Necesita tráfico representativo</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Una petición legítima poco frecuente o no vista puede generar una falsa alarma.</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La anomalía no identifica automáticamente el tipo de ataque.</a:t>
            </a:r>
            <a:endParaRPr sz="1725">
              <a:solidFill>
                <a:srgbClr val="070F64"/>
              </a:solidFill>
            </a:endParaRPr>
          </a:p>
        </p:txBody>
      </p:sp>
      <p:sp>
        <p:nvSpPr>
          <p:cNvPr id="548" name="Google Shape;548;p22"/>
          <p:cNvSpPr/>
          <p:nvPr/>
        </p:nvSpPr>
        <p:spPr>
          <a:xfrm>
            <a:off x="285750" y="6305550"/>
            <a:ext cx="116205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175"/>
              <a:buFont typeface="Arial"/>
              <a:buNone/>
            </a:pPr>
            <a:r>
              <a:rPr b="1" lang="en-US" sz="1375">
                <a:solidFill>
                  <a:srgbClr val="070F64"/>
                </a:solidFill>
              </a:rPr>
              <a:t>Un mismo WAF puede combinar reglas para patrones conocidos y modelos de anomalías como señal complementaria.</a:t>
            </a:r>
            <a:endParaRPr sz="475"/>
          </a:p>
        </p:txBody>
      </p:sp>
      <p:sp>
        <p:nvSpPr>
          <p:cNvPr id="549" name="Google Shape;549;p22"/>
          <p:cNvSpPr/>
          <p:nvPr/>
        </p:nvSpPr>
        <p:spPr>
          <a:xfrm>
            <a:off x="266700" y="6667500"/>
            <a:ext cx="11430000" cy="1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5270"/>
              </a:buClr>
              <a:buSzPts val="975"/>
              <a:buFont typeface="Arial"/>
              <a:buNone/>
            </a:pPr>
            <a:r>
              <a:rPr lang="en-US" sz="975">
                <a:solidFill>
                  <a:srgbClr val="3F5270"/>
                </a:solidFill>
              </a:rPr>
              <a:t>En esta tesis, One-Class SVM e Isolation Forest corresponden a la rama de anomalías. Los enfoques binario, multiclase y multietiqueta posteriores utilizan aprendizaje supervisado.</a:t>
            </a:r>
            <a:endParaRPr/>
          </a:p>
        </p:txBody>
      </p:sp>
      <p:sp>
        <p:nvSpPr>
          <p:cNvPr id="550" name="Google Shape;550;p22"/>
          <p:cNvSpPr/>
          <p:nvPr/>
        </p:nvSpPr>
        <p:spPr>
          <a:xfrm>
            <a:off x="476250" y="2809788"/>
            <a:ext cx="52959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025"/>
              <a:buFont typeface="Arial"/>
              <a:buNone/>
            </a:pPr>
            <a:r>
              <a:rPr b="1" lang="en-US" sz="2025">
                <a:solidFill>
                  <a:srgbClr val="070F64"/>
                </a:solidFill>
              </a:rPr>
              <a:t>Ventajas</a:t>
            </a:r>
            <a:endParaRPr/>
          </a:p>
        </p:txBody>
      </p:sp>
      <p:sp>
        <p:nvSpPr>
          <p:cNvPr id="551" name="Google Shape;551;p22"/>
          <p:cNvSpPr/>
          <p:nvPr/>
        </p:nvSpPr>
        <p:spPr>
          <a:xfrm>
            <a:off x="535425" y="3229063"/>
            <a:ext cx="5295900" cy="533400"/>
          </a:xfrm>
          <a:prstGeom prst="rect">
            <a:avLst/>
          </a:prstGeom>
          <a:noFill/>
          <a:ln>
            <a:noFill/>
          </a:ln>
        </p:spPr>
        <p:txBody>
          <a:bodyPr anchorCtr="0" anchor="t" bIns="0" lIns="0" spcFirstLastPara="1" rIns="0" wrap="square" tIns="0">
            <a:noAutofit/>
          </a:bodyPr>
          <a:lstStyle/>
          <a:p>
            <a:pPr indent="-317500" lvl="0" marL="457200" marR="0" rtl="0" algn="l">
              <a:spcBef>
                <a:spcPts val="0"/>
              </a:spcBef>
              <a:spcAft>
                <a:spcPts val="0"/>
              </a:spcAft>
              <a:buSzPts val="1400"/>
              <a:buChar char="-"/>
            </a:pPr>
            <a:r>
              <a:rPr lang="en-US" sz="1725">
                <a:solidFill>
                  <a:srgbClr val="070F64"/>
                </a:solidFill>
              </a:rPr>
              <a:t>Decisión explicable.</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Buena cobertura de patrones conocidos.</a:t>
            </a:r>
            <a:endParaRPr sz="1725">
              <a:solidFill>
                <a:srgbClr val="070F64"/>
              </a:solidFill>
            </a:endParaRPr>
          </a:p>
          <a:p>
            <a:pPr indent="-338138" lvl="0" marL="457200" marR="0" rtl="0" algn="l">
              <a:spcBef>
                <a:spcPts val="0"/>
              </a:spcBef>
              <a:spcAft>
                <a:spcPts val="0"/>
              </a:spcAft>
              <a:buClr>
                <a:srgbClr val="070F64"/>
              </a:buClr>
              <a:buSzPts val="1725"/>
              <a:buChar char="-"/>
            </a:pPr>
            <a:r>
              <a:rPr lang="en-US" sz="1725">
                <a:solidFill>
                  <a:srgbClr val="070F64"/>
                </a:solidFill>
              </a:rPr>
              <a:t>La  secuencia de re</a:t>
            </a:r>
            <a:r>
              <a:rPr lang="en-US" sz="1725">
                <a:solidFill>
                  <a:srgbClr val="070F64"/>
                </a:solidFill>
              </a:rPr>
              <a:t>glas puede indicar una familia de ataques.</a:t>
            </a:r>
            <a:endParaRPr sz="1725">
              <a:solidFill>
                <a:srgbClr val="070F64"/>
              </a:solidFill>
            </a:endParaRPr>
          </a:p>
        </p:txBody>
      </p:sp>
      <p:sp>
        <p:nvSpPr>
          <p:cNvPr id="552" name="Google Shape;552;p2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3" name="Google Shape;553;p22" title="DEFENSA_SEGURA_V2:barra-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4" name="Google Shape;554;p22" title="DEFENSA_SEGURA_V2:avance-9"/>
          <p:cNvSpPr/>
          <p:nvPr/>
        </p:nvSpPr>
        <p:spPr>
          <a:xfrm>
            <a:off x="0" y="0"/>
            <a:ext cx="7758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5" name="Google Shape;555;p22" title="DEFENSA_SEGURA_V2:seccion-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23"/>
          <p:cNvSpPr/>
          <p:nvPr/>
        </p:nvSpPr>
        <p:spPr>
          <a:xfrm>
            <a:off x="285750" y="190500"/>
            <a:ext cx="116205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25">
                <a:solidFill>
                  <a:srgbClr val="111F5B"/>
                </a:solidFill>
              </a:rPr>
              <a:t>Ejemplo real de detección con ModSecurity</a:t>
            </a:r>
            <a:endParaRPr b="1">
              <a:solidFill>
                <a:srgbClr val="111F5B"/>
              </a:solidFill>
            </a:endParaRPr>
          </a:p>
        </p:txBody>
      </p:sp>
      <p:sp>
        <p:nvSpPr>
          <p:cNvPr id="562" name="Google Shape;562;p23"/>
          <p:cNvSpPr/>
          <p:nvPr/>
        </p:nvSpPr>
        <p:spPr>
          <a:xfrm>
            <a:off x="304800" y="838200"/>
            <a:ext cx="11582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solidFill>
                  <a:srgbClr val="070F64"/>
                </a:solidFill>
              </a:rPr>
              <a:t>Una petición activó reglas de </a:t>
            </a:r>
            <a:r>
              <a:rPr lang="en-US" sz="1950">
                <a:solidFill>
                  <a:srgbClr val="070F64"/>
                </a:solidFill>
              </a:rPr>
              <a:t>inyección SQL</a:t>
            </a:r>
            <a:r>
              <a:rPr lang="en-US" sz="1950">
                <a:solidFill>
                  <a:srgbClr val="070F64"/>
                </a:solidFill>
              </a:rPr>
              <a:t> y XSS en OWASP CRS.</a:t>
            </a:r>
            <a:endParaRPr/>
          </a:p>
        </p:txBody>
      </p:sp>
      <p:sp>
        <p:nvSpPr>
          <p:cNvPr id="563" name="Google Shape;563;p23"/>
          <p:cNvSpPr txBox="1"/>
          <p:nvPr/>
        </p:nvSpPr>
        <p:spPr>
          <a:xfrm>
            <a:off x="355600" y="1384300"/>
            <a:ext cx="5460900"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800">
                <a:solidFill>
                  <a:schemeClr val="dk1"/>
                </a:solidFill>
                <a:latin typeface="Calibri"/>
                <a:ea typeface="Calibri"/>
                <a:cs typeface="Calibri"/>
                <a:sym typeface="Calibri"/>
              </a:rPr>
              <a:t>Petición enviada al laboratorio</a:t>
            </a:r>
            <a:endParaRPr sz="2800">
              <a:solidFill>
                <a:schemeClr val="dk1"/>
              </a:solidFill>
              <a:latin typeface="Calibri"/>
              <a:ea typeface="Calibri"/>
              <a:cs typeface="Calibri"/>
              <a:sym typeface="Calibri"/>
            </a:endParaRPr>
          </a:p>
        </p:txBody>
      </p:sp>
      <p:sp>
        <p:nvSpPr>
          <p:cNvPr id="564" name="Google Shape;564;p23"/>
          <p:cNvSpPr txBox="1"/>
          <p:nvPr/>
        </p:nvSpPr>
        <p:spPr>
          <a:xfrm>
            <a:off x="358250" y="1852675"/>
            <a:ext cx="5128200" cy="1218000"/>
          </a:xfrm>
          <a:prstGeom prst="rect">
            <a:avLst/>
          </a:prstGeom>
          <a:solidFill>
            <a:schemeClr val="lt2"/>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061B6E"/>
                </a:solidFill>
              </a:rPr>
              <a:t>POST /procesar HTTP/1.1</a:t>
            </a:r>
            <a:endParaRPr>
              <a:solidFill>
                <a:srgbClr val="061B6E"/>
              </a:solidFill>
            </a:endParaRPr>
          </a:p>
          <a:p>
            <a:pPr indent="0" lvl="0" marL="0" rtl="0" algn="l">
              <a:spcBef>
                <a:spcPts val="0"/>
              </a:spcBef>
              <a:spcAft>
                <a:spcPts val="0"/>
              </a:spcAft>
              <a:buNone/>
            </a:pPr>
            <a:r>
              <a:rPr lang="en-US">
                <a:solidFill>
                  <a:srgbClr val="061B6E"/>
                </a:solidFill>
              </a:rPr>
              <a:t>Content-Type: application/x-www-form-urlencoded</a:t>
            </a:r>
            <a:endParaRPr>
              <a:solidFill>
                <a:srgbClr val="061B6E"/>
              </a:solidFill>
            </a:endParaRPr>
          </a:p>
          <a:p>
            <a:pPr indent="0" lvl="0" marL="0" rtl="0" algn="l">
              <a:spcBef>
                <a:spcPts val="0"/>
              </a:spcBef>
              <a:spcAft>
                <a:spcPts val="0"/>
              </a:spcAft>
              <a:buNone/>
            </a:pPr>
            <a:r>
              <a:t/>
            </a:r>
            <a:endParaRPr>
              <a:solidFill>
                <a:srgbClr val="061B6E"/>
              </a:solidFill>
            </a:endParaRPr>
          </a:p>
          <a:p>
            <a:pPr indent="0" lvl="0" marL="0" rtl="0" algn="l">
              <a:spcBef>
                <a:spcPts val="0"/>
              </a:spcBef>
              <a:spcAft>
                <a:spcPts val="0"/>
              </a:spcAft>
              <a:buNone/>
            </a:pPr>
            <a:r>
              <a:rPr lang="en-US">
                <a:solidFill>
                  <a:srgbClr val="061B6E"/>
                </a:solidFill>
              </a:rPr>
              <a:t>id=1 OR 1=1&amp;comentario=&lt;script&gt;alert(1)&lt;/script&gt;</a:t>
            </a:r>
            <a:endParaRPr>
              <a:solidFill>
                <a:srgbClr val="061B6E"/>
              </a:solidFill>
            </a:endParaRPr>
          </a:p>
        </p:txBody>
      </p:sp>
      <p:sp>
        <p:nvSpPr>
          <p:cNvPr id="565" name="Google Shape;565;p23"/>
          <p:cNvSpPr txBox="1"/>
          <p:nvPr/>
        </p:nvSpPr>
        <p:spPr>
          <a:xfrm>
            <a:off x="355600" y="3175000"/>
            <a:ext cx="11480700" cy="6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Tamaño de CRS 4.25.1: 620 reglas SecRule con ID propio.</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Incluye detección y control; las reglas activas dependen de la configuración.</a:t>
            </a:r>
            <a:endParaRPr sz="2000">
              <a:solidFill>
                <a:schemeClr val="dk1"/>
              </a:solidFill>
              <a:latin typeface="Calibri"/>
              <a:ea typeface="Calibri"/>
              <a:cs typeface="Calibri"/>
              <a:sym typeface="Calibri"/>
            </a:endParaRPr>
          </a:p>
        </p:txBody>
      </p:sp>
      <p:graphicFrame>
        <p:nvGraphicFramePr>
          <p:cNvPr id="566" name="Google Shape;566;p23"/>
          <p:cNvGraphicFramePr/>
          <p:nvPr/>
        </p:nvGraphicFramePr>
        <p:xfrm>
          <a:off x="962225" y="3854350"/>
          <a:ext cx="3000000" cy="3000000"/>
        </p:xfrm>
        <a:graphic>
          <a:graphicData uri="http://schemas.openxmlformats.org/drawingml/2006/table">
            <a:tbl>
              <a:tblPr>
                <a:noFill/>
                <a:tableStyleId>{49FC4E21-8C64-4725-8E31-BC7DC537305F}</a:tableStyleId>
              </a:tblPr>
              <a:tblGrid>
                <a:gridCol w="3429000"/>
                <a:gridCol w="3429000"/>
                <a:gridCol w="3429000"/>
              </a:tblGrid>
              <a:tr h="381000">
                <a:tc>
                  <a:txBody>
                    <a:bodyPr/>
                    <a:lstStyle/>
                    <a:p>
                      <a:pPr indent="0" lvl="0" marL="0" rtl="0" algn="l">
                        <a:spcBef>
                          <a:spcPts val="0"/>
                        </a:spcBef>
                        <a:spcAft>
                          <a:spcPts val="0"/>
                        </a:spcAft>
                        <a:buNone/>
                      </a:pPr>
                      <a:r>
                        <a:rPr lang="en-US"/>
                        <a:t>Familia o evaluaci</a:t>
                      </a:r>
                      <a:r>
                        <a:rPr lang="en-US"/>
                        <a:t>ón</a:t>
                      </a:r>
                      <a:endParaRPr/>
                    </a:p>
                  </a:txBody>
                  <a:tcPr marT="91425" marB="91425" marR="91425" marL="91425">
                    <a:solidFill>
                      <a:srgbClr val="9ADCEB"/>
                    </a:solidFill>
                  </a:tcPr>
                </a:tc>
                <a:tc>
                  <a:txBody>
                    <a:bodyPr/>
                    <a:lstStyle/>
                    <a:p>
                      <a:pPr indent="0" lvl="0" marL="0" rtl="0" algn="l">
                        <a:spcBef>
                          <a:spcPts val="0"/>
                        </a:spcBef>
                        <a:spcAft>
                          <a:spcPts val="0"/>
                        </a:spcAft>
                        <a:buNone/>
                      </a:pPr>
                      <a:r>
                        <a:rPr lang="en-US"/>
                        <a:t>Evidencia encontrada </a:t>
                      </a:r>
                      <a:endParaRPr/>
                    </a:p>
                  </a:txBody>
                  <a:tcPr marT="91425" marB="91425" marR="91425" marL="91425">
                    <a:solidFill>
                      <a:srgbClr val="9ADCEB"/>
                    </a:solidFill>
                  </a:tcPr>
                </a:tc>
                <a:tc>
                  <a:txBody>
                    <a:bodyPr/>
                    <a:lstStyle/>
                    <a:p>
                      <a:pPr indent="0" lvl="0" marL="0" rtl="0" algn="l">
                        <a:spcBef>
                          <a:spcPts val="0"/>
                        </a:spcBef>
                        <a:spcAft>
                          <a:spcPts val="0"/>
                        </a:spcAft>
                        <a:buNone/>
                      </a:pPr>
                      <a:r>
                        <a:rPr lang="en-US"/>
                        <a:t>Resultado</a:t>
                      </a:r>
                      <a:endParaRPr/>
                    </a:p>
                  </a:txBody>
                  <a:tcPr marT="91425" marB="91425" marR="91425" marL="91425">
                    <a:solidFill>
                      <a:srgbClr val="9ADCEB"/>
                    </a:solidFill>
                  </a:tcPr>
                </a:tc>
              </a:tr>
              <a:tr h="381000">
                <a:tc>
                  <a:txBody>
                    <a:bodyPr/>
                    <a:lstStyle/>
                    <a:p>
                      <a:pPr indent="0" lvl="0" marL="0" rtl="0" algn="l">
                        <a:spcBef>
                          <a:spcPts val="0"/>
                        </a:spcBef>
                        <a:spcAft>
                          <a:spcPts val="0"/>
                        </a:spcAft>
                        <a:buNone/>
                      </a:pPr>
                      <a:r>
                        <a:rPr lang="en-US"/>
                        <a:t>XSS</a:t>
                      </a:r>
                      <a:endParaRPr/>
                    </a:p>
                  </a:txBody>
                  <a:tcPr marT="91425" marB="91425" marR="91425" marL="91425"/>
                </a:tc>
                <a:tc>
                  <a:txBody>
                    <a:bodyPr/>
                    <a:lstStyle/>
                    <a:p>
                      <a:pPr indent="0" lvl="0" marL="0" rtl="0" algn="l">
                        <a:spcBef>
                          <a:spcPts val="0"/>
                        </a:spcBef>
                        <a:spcAft>
                          <a:spcPts val="0"/>
                        </a:spcAft>
                        <a:buNone/>
                      </a:pPr>
                      <a:r>
                        <a:rPr lang="en-US"/>
                        <a:t>Reglas </a:t>
                      </a:r>
                      <a:r>
                        <a:rPr lang="en-US"/>
                        <a:t>941100, 941110, 941160 y 941390</a:t>
                      </a:r>
                      <a:endParaRPr/>
                    </a:p>
                  </a:txBody>
                  <a:tcPr marT="91425" marB="91425" marR="91425" marL="91425"/>
                </a:tc>
                <a:tc>
                  <a:txBody>
                    <a:bodyPr/>
                    <a:lstStyle/>
                    <a:p>
                      <a:pPr indent="0" lvl="0" marL="0" rtl="0" algn="l">
                        <a:spcBef>
                          <a:spcPts val="0"/>
                        </a:spcBef>
                        <a:spcAft>
                          <a:spcPts val="0"/>
                        </a:spcAft>
                        <a:buNone/>
                      </a:pPr>
                      <a:r>
                        <a:rPr lang="en-US"/>
                        <a:t>20 puntos</a:t>
                      </a:r>
                      <a:endParaRPr/>
                    </a:p>
                  </a:txBody>
                  <a:tcPr marT="91425" marB="91425" marR="91425" marL="91425"/>
                </a:tc>
              </a:tr>
              <a:tr h="381000">
                <a:tc>
                  <a:txBody>
                    <a:bodyPr/>
                    <a:lstStyle/>
                    <a:p>
                      <a:pPr indent="0" lvl="0" marL="0" rtl="0" algn="l">
                        <a:spcBef>
                          <a:spcPts val="0"/>
                        </a:spcBef>
                        <a:spcAft>
                          <a:spcPts val="0"/>
                        </a:spcAft>
                        <a:buNone/>
                      </a:pPr>
                      <a:r>
                        <a:rPr lang="en-US"/>
                        <a:t>SQLi</a:t>
                      </a:r>
                      <a:endParaRPr/>
                    </a:p>
                  </a:txBody>
                  <a:tcPr marT="91425" marB="91425" marR="91425" marL="91425"/>
                </a:tc>
                <a:tc>
                  <a:txBody>
                    <a:bodyPr/>
                    <a:lstStyle/>
                    <a:p>
                      <a:pPr indent="0" lvl="0" marL="0" rtl="0" algn="l">
                        <a:spcBef>
                          <a:spcPts val="0"/>
                        </a:spcBef>
                        <a:spcAft>
                          <a:spcPts val="0"/>
                        </a:spcAft>
                        <a:buNone/>
                      </a:pPr>
                      <a:r>
                        <a:rPr lang="en-US"/>
                        <a:t>Regla 942100</a:t>
                      </a:r>
                      <a:endParaRPr/>
                    </a:p>
                  </a:txBody>
                  <a:tcPr marT="91425" marB="91425" marR="91425" marL="91425"/>
                </a:tc>
                <a:tc>
                  <a:txBody>
                    <a:bodyPr/>
                    <a:lstStyle/>
                    <a:p>
                      <a:pPr indent="0" lvl="0" marL="0" rtl="0" algn="l">
                        <a:spcBef>
                          <a:spcPts val="0"/>
                        </a:spcBef>
                        <a:spcAft>
                          <a:spcPts val="0"/>
                        </a:spcAft>
                        <a:buNone/>
                      </a:pPr>
                      <a:r>
                        <a:rPr lang="en-US"/>
                        <a:t>5 puntos</a:t>
                      </a:r>
                      <a:endParaRPr/>
                    </a:p>
                  </a:txBody>
                  <a:tcPr marT="91425" marB="91425" marR="91425" marL="91425"/>
                </a:tc>
              </a:tr>
              <a:tr h="381000">
                <a:tc>
                  <a:txBody>
                    <a:bodyPr/>
                    <a:lstStyle/>
                    <a:p>
                      <a:pPr indent="0" lvl="0" marL="0" rtl="0" algn="l">
                        <a:spcBef>
                          <a:spcPts val="0"/>
                        </a:spcBef>
                        <a:spcAft>
                          <a:spcPts val="0"/>
                        </a:spcAft>
                        <a:buNone/>
                      </a:pPr>
                      <a:r>
                        <a:rPr lang="en-US"/>
                        <a:t>Evaluaci</a:t>
                      </a:r>
                      <a:r>
                        <a:rPr lang="en-US"/>
                        <a:t>ón</a:t>
                      </a:r>
                      <a:endParaRPr/>
                    </a:p>
                  </a:txBody>
                  <a:tcPr marT="91425" marB="91425" marR="91425" marL="91425"/>
                </a:tc>
                <a:tc>
                  <a:txBody>
                    <a:bodyPr/>
                    <a:lstStyle/>
                    <a:p>
                      <a:pPr indent="0" lvl="0" marL="0" rtl="0" algn="l">
                        <a:spcBef>
                          <a:spcPts val="0"/>
                        </a:spcBef>
                        <a:spcAft>
                          <a:spcPts val="0"/>
                        </a:spcAft>
                        <a:buNone/>
                      </a:pPr>
                      <a:r>
                        <a:rPr lang="en-US"/>
                        <a:t>Regla 949110</a:t>
                      </a:r>
                      <a:endParaRPr/>
                    </a:p>
                  </a:txBody>
                  <a:tcPr marT="91425" marB="91425" marR="91425" marL="91425"/>
                </a:tc>
                <a:tc>
                  <a:txBody>
                    <a:bodyPr/>
                    <a:lstStyle/>
                    <a:p>
                      <a:pPr indent="0" lvl="0" marL="0" rtl="0" algn="l">
                        <a:spcBef>
                          <a:spcPts val="0"/>
                        </a:spcBef>
                        <a:spcAft>
                          <a:spcPts val="0"/>
                        </a:spcAft>
                        <a:buNone/>
                      </a:pPr>
                      <a:r>
                        <a:rPr lang="en-US"/>
                        <a:t>25 ≥ 5</a:t>
                      </a:r>
                      <a:endParaRPr/>
                    </a:p>
                  </a:txBody>
                  <a:tcPr marT="91425" marB="91425" marR="91425" marL="91425"/>
                </a:tc>
              </a:tr>
            </a:tbl>
          </a:graphicData>
        </a:graphic>
      </p:graphicFrame>
      <p:sp>
        <p:nvSpPr>
          <p:cNvPr id="567" name="Google Shape;567;p23"/>
          <p:cNvSpPr txBox="1"/>
          <p:nvPr/>
        </p:nvSpPr>
        <p:spPr>
          <a:xfrm>
            <a:off x="870050" y="5578750"/>
            <a:ext cx="10327800" cy="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Puntaje total: 25			Umbral: 5			Respuesta: HTTP 403</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US" sz="2000">
                <a:solidFill>
                  <a:schemeClr val="dk1"/>
                </a:solidFill>
                <a:latin typeface="Calibri"/>
                <a:ea typeface="Calibri"/>
                <a:cs typeface="Calibri"/>
                <a:sym typeface="Calibri"/>
              </a:rPr>
              <a:t>Las familias provienen de etiquetas predefinidas en las reglas de CRS.</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
        <p:nvSpPr>
          <p:cNvPr id="568" name="Google Shape;568;p23"/>
          <p:cNvSpPr txBox="1"/>
          <p:nvPr/>
        </p:nvSpPr>
        <p:spPr>
          <a:xfrm>
            <a:off x="833400" y="6222825"/>
            <a:ext cx="10525200" cy="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300">
                <a:solidFill>
                  <a:schemeClr val="dk1"/>
                </a:solidFill>
                <a:latin typeface="Calibri"/>
                <a:ea typeface="Calibri"/>
                <a:cs typeface="Calibri"/>
                <a:sym typeface="Calibri"/>
              </a:rPr>
              <a:t>Laboratorio propio, 2026. ModSecurity v3.0.16, OWASP CRS 4.25.1 y ModSecurity-nginx v1.0.4.</a:t>
            </a:r>
            <a:endParaRPr sz="13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1300">
                <a:solidFill>
                  <a:schemeClr val="dk1"/>
                </a:solidFill>
                <a:latin typeface="Calibri"/>
                <a:ea typeface="Calibri"/>
                <a:cs typeface="Calibri"/>
                <a:sym typeface="Calibri"/>
              </a:rPr>
              <a:t>Firma y conteo: código oficial de CRS 4.25.1. Fuentes y criterio de conteo en las notas.</a:t>
            </a:r>
            <a:endParaRPr sz="1300">
              <a:solidFill>
                <a:schemeClr val="dk1"/>
              </a:solidFill>
              <a:latin typeface="Calibri"/>
              <a:ea typeface="Calibri"/>
              <a:cs typeface="Calibri"/>
              <a:sym typeface="Calibri"/>
            </a:endParaRPr>
          </a:p>
        </p:txBody>
      </p:sp>
      <p:sp>
        <p:nvSpPr>
          <p:cNvPr id="569" name="Google Shape;569;p2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0" name="Google Shape;570;p23" title="DEFENSA_SEGURA_V2:barra-1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1" name="Google Shape;571;p23" title="DEFENSA_SEGURA_V2:avance-10"/>
          <p:cNvSpPr/>
          <p:nvPr/>
        </p:nvSpPr>
        <p:spPr>
          <a:xfrm>
            <a:off x="0" y="0"/>
            <a:ext cx="886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2" name="Google Shape;572;p23" title="DEFENSA_SEGURA_V2:seccion-1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
        <p:nvSpPr>
          <p:cNvPr id="573" name="Google Shape;573;p23"/>
          <p:cNvSpPr txBox="1"/>
          <p:nvPr/>
        </p:nvSpPr>
        <p:spPr>
          <a:xfrm>
            <a:off x="5981700" y="1384300"/>
            <a:ext cx="5867400"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2800">
                <a:solidFill>
                  <a:schemeClr val="dk1"/>
                </a:solidFill>
                <a:latin typeface="Calibri"/>
                <a:ea typeface="Calibri"/>
                <a:cs typeface="Calibri"/>
                <a:sym typeface="Calibri"/>
              </a:rPr>
              <a:t>Firma XSS: regla 941110</a:t>
            </a:r>
            <a:endParaRPr sz="2800">
              <a:solidFill>
                <a:schemeClr val="dk1"/>
              </a:solidFill>
              <a:latin typeface="Calibri"/>
              <a:ea typeface="Calibri"/>
              <a:cs typeface="Calibri"/>
              <a:sym typeface="Calibri"/>
            </a:endParaRPr>
          </a:p>
        </p:txBody>
      </p:sp>
      <p:sp>
        <p:nvSpPr>
          <p:cNvPr id="574" name="Google Shape;574;p23"/>
          <p:cNvSpPr txBox="1"/>
          <p:nvPr/>
        </p:nvSpPr>
        <p:spPr>
          <a:xfrm>
            <a:off x="5981700" y="1852675"/>
            <a:ext cx="5854800" cy="1218000"/>
          </a:xfrm>
          <a:prstGeom prst="rect">
            <a:avLst/>
          </a:prstGeom>
          <a:solidFill>
            <a:schemeClr val="lt2"/>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1800">
                <a:solidFill>
                  <a:srgbClr val="061B6E"/>
                </a:solidFill>
                <a:latin typeface="Consolas"/>
                <a:ea typeface="Consolas"/>
                <a:cs typeface="Consolas"/>
                <a:sym typeface="Consolas"/>
              </a:rPr>
              <a:t>@rx (?i)&lt;script[^&gt;]*&gt;[\s\S]*?</a:t>
            </a:r>
            <a:endParaRPr sz="1800">
              <a:solidFill>
                <a:srgbClr val="061B6E"/>
              </a:solidFill>
              <a:latin typeface="Consolas"/>
              <a:ea typeface="Consolas"/>
              <a:cs typeface="Consolas"/>
              <a:sym typeface="Consolas"/>
            </a:endParaRPr>
          </a:p>
          <a:p>
            <a:pPr indent="0" lvl="0" marL="0" marR="0" rtl="0" algn="l">
              <a:lnSpc>
                <a:spcPct val="100000"/>
              </a:lnSpc>
              <a:spcBef>
                <a:spcPts val="0"/>
              </a:spcBef>
              <a:spcAft>
                <a:spcPts val="0"/>
              </a:spcAft>
              <a:buNone/>
            </a:pPr>
            <a:r>
              <a:rPr lang="en-US" sz="1600">
                <a:solidFill>
                  <a:srgbClr val="061B6E"/>
                </a:solidFill>
              </a:rPr>
              <a:t>Revisa parámetros (ARGS), cookies y otros campos.</a:t>
            </a:r>
            <a:endParaRPr sz="1600">
              <a:solidFill>
                <a:srgbClr val="061B6E"/>
              </a:solidFill>
            </a:endParaRPr>
          </a:p>
          <a:p>
            <a:pPr indent="0" lvl="0" marL="0" marR="0" rtl="0" algn="l">
              <a:lnSpc>
                <a:spcPct val="100000"/>
              </a:lnSpc>
              <a:spcBef>
                <a:spcPts val="0"/>
              </a:spcBef>
              <a:spcAft>
                <a:spcPts val="0"/>
              </a:spcAft>
              <a:buNone/>
            </a:pPr>
            <a:r>
              <a:rPr lang="en-US" sz="1600">
                <a:solidFill>
                  <a:srgbClr val="061B6E"/>
                </a:solidFill>
              </a:rPr>
              <a:t>Busca una apertura &lt;script…&gt;,</a:t>
            </a:r>
            <a:endParaRPr sz="1600">
              <a:solidFill>
                <a:srgbClr val="061B6E"/>
              </a:solidFill>
            </a:endParaRPr>
          </a:p>
          <a:p>
            <a:pPr indent="0" lvl="0" marL="0" marR="0" rtl="0" algn="l">
              <a:lnSpc>
                <a:spcPct val="100000"/>
              </a:lnSpc>
              <a:spcBef>
                <a:spcPts val="0"/>
              </a:spcBef>
              <a:spcAft>
                <a:spcPts val="0"/>
              </a:spcAft>
              <a:buNone/>
            </a:pPr>
            <a:r>
              <a:rPr lang="en-US" sz="1600">
                <a:solidFill>
                  <a:srgbClr val="061B6E"/>
                </a:solidFill>
              </a:rPr>
              <a:t>sin distinguir mayúsculas.</a:t>
            </a:r>
            <a:endParaRPr sz="1600">
              <a:solidFill>
                <a:srgbClr val="061B6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24"/>
          <p:cNvSpPr/>
          <p:nvPr/>
        </p:nvSpPr>
        <p:spPr>
          <a:xfrm>
            <a:off x="236455" y="1107775"/>
            <a:ext cx="5888700" cy="4518600"/>
          </a:xfrm>
          <a:prstGeom prst="roundRect">
            <a:avLst>
              <a:gd fmla="val 1290" name="adj"/>
            </a:avLst>
          </a:prstGeom>
          <a:solidFill>
            <a:srgbClr val="E3F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4"/>
          <p:cNvSpPr/>
          <p:nvPr/>
        </p:nvSpPr>
        <p:spPr>
          <a:xfrm>
            <a:off x="6270912" y="1166079"/>
            <a:ext cx="5655600" cy="4460400"/>
          </a:xfrm>
          <a:prstGeom prst="roundRect">
            <a:avLst>
              <a:gd fmla="val 1307" name="adj"/>
            </a:avLst>
          </a:prstGeom>
          <a:solidFill>
            <a:srgbClr val="E3F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4"/>
          <p:cNvSpPr/>
          <p:nvPr/>
        </p:nvSpPr>
        <p:spPr>
          <a:xfrm>
            <a:off x="660109" y="5744023"/>
            <a:ext cx="11252700" cy="524700"/>
          </a:xfrm>
          <a:prstGeom prst="roundRect">
            <a:avLst>
              <a:gd fmla="val 11111" name="adj"/>
            </a:avLst>
          </a:prstGeom>
          <a:solidFill>
            <a:srgbClr val="E2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2" name="Google Shape;582;p24"/>
          <p:cNvPicPr preferRelativeResize="0"/>
          <p:nvPr/>
        </p:nvPicPr>
        <p:blipFill rotWithShape="1">
          <a:blip r:embed="rId3">
            <a:alphaModFix/>
          </a:blip>
          <a:srcRect b="0" l="0" r="0" t="0"/>
          <a:stretch/>
        </p:blipFill>
        <p:spPr>
          <a:xfrm>
            <a:off x="4973649" y="4416523"/>
            <a:ext cx="204064" cy="233216"/>
          </a:xfrm>
          <a:prstGeom prst="rect">
            <a:avLst/>
          </a:prstGeom>
          <a:noFill/>
          <a:ln>
            <a:noFill/>
          </a:ln>
        </p:spPr>
      </p:pic>
      <p:pic>
        <p:nvPicPr>
          <p:cNvPr id="583" name="Google Shape;583;p24"/>
          <p:cNvPicPr preferRelativeResize="0"/>
          <p:nvPr/>
        </p:nvPicPr>
        <p:blipFill rotWithShape="1">
          <a:blip r:embed="rId4">
            <a:alphaModFix/>
          </a:blip>
          <a:srcRect b="0" l="0" r="0" t="0"/>
          <a:stretch/>
        </p:blipFill>
        <p:spPr>
          <a:xfrm>
            <a:off x="892374" y="4533131"/>
            <a:ext cx="204064" cy="204064"/>
          </a:xfrm>
          <a:prstGeom prst="rect">
            <a:avLst/>
          </a:prstGeom>
          <a:noFill/>
          <a:ln>
            <a:noFill/>
          </a:ln>
        </p:spPr>
      </p:pic>
      <p:pic>
        <p:nvPicPr>
          <p:cNvPr id="584" name="Google Shape;584;p24"/>
          <p:cNvPicPr preferRelativeResize="0"/>
          <p:nvPr/>
        </p:nvPicPr>
        <p:blipFill rotWithShape="1">
          <a:blip r:embed="rId5">
            <a:alphaModFix/>
          </a:blip>
          <a:srcRect b="0" l="0" r="0" t="0"/>
          <a:stretch/>
        </p:blipFill>
        <p:spPr>
          <a:xfrm>
            <a:off x="192727" y="5640905"/>
            <a:ext cx="466431" cy="670495"/>
          </a:xfrm>
          <a:prstGeom prst="rect">
            <a:avLst/>
          </a:prstGeom>
          <a:noFill/>
          <a:ln>
            <a:noFill/>
          </a:ln>
        </p:spPr>
      </p:pic>
      <p:sp>
        <p:nvSpPr>
          <p:cNvPr id="585" name="Google Shape;585;p24"/>
          <p:cNvSpPr/>
          <p:nvPr/>
        </p:nvSpPr>
        <p:spPr>
          <a:xfrm>
            <a:off x="1533717" y="3767892"/>
            <a:ext cx="2929800" cy="1610700"/>
          </a:xfrm>
          <a:prstGeom prst="ellipse">
            <a:avLst/>
          </a:prstGeom>
          <a:noFill/>
          <a:ln cap="flat" cmpd="sng" w="21850">
            <a:solidFill>
              <a:srgbClr val="00C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4"/>
          <p:cNvSpPr/>
          <p:nvPr/>
        </p:nvSpPr>
        <p:spPr>
          <a:xfrm>
            <a:off x="1868965" y="4380083"/>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4"/>
          <p:cNvSpPr/>
          <p:nvPr/>
        </p:nvSpPr>
        <p:spPr>
          <a:xfrm>
            <a:off x="2145909" y="455499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4"/>
          <p:cNvSpPr/>
          <p:nvPr/>
        </p:nvSpPr>
        <p:spPr>
          <a:xfrm>
            <a:off x="2328108" y="4401947"/>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4"/>
          <p:cNvSpPr/>
          <p:nvPr/>
        </p:nvSpPr>
        <p:spPr>
          <a:xfrm>
            <a:off x="2481156" y="415415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4"/>
          <p:cNvSpPr/>
          <p:nvPr/>
        </p:nvSpPr>
        <p:spPr>
          <a:xfrm>
            <a:off x="2809116" y="4139579"/>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4"/>
          <p:cNvSpPr/>
          <p:nvPr/>
        </p:nvSpPr>
        <p:spPr>
          <a:xfrm>
            <a:off x="2976740" y="393551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4"/>
          <p:cNvSpPr/>
          <p:nvPr/>
        </p:nvSpPr>
        <p:spPr>
          <a:xfrm>
            <a:off x="3282835" y="408127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4"/>
          <p:cNvSpPr/>
          <p:nvPr/>
        </p:nvSpPr>
        <p:spPr>
          <a:xfrm>
            <a:off x="3486899" y="4183307"/>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4"/>
          <p:cNvSpPr/>
          <p:nvPr/>
        </p:nvSpPr>
        <p:spPr>
          <a:xfrm>
            <a:off x="3785707" y="433635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4"/>
          <p:cNvSpPr/>
          <p:nvPr/>
        </p:nvSpPr>
        <p:spPr>
          <a:xfrm>
            <a:off x="4069938" y="4438387"/>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4"/>
          <p:cNvSpPr/>
          <p:nvPr/>
        </p:nvSpPr>
        <p:spPr>
          <a:xfrm>
            <a:off x="3953330" y="4627875"/>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4"/>
          <p:cNvSpPr/>
          <p:nvPr/>
        </p:nvSpPr>
        <p:spPr>
          <a:xfrm>
            <a:off x="3698251" y="4620587"/>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4"/>
          <p:cNvSpPr/>
          <p:nvPr/>
        </p:nvSpPr>
        <p:spPr>
          <a:xfrm>
            <a:off x="3443171" y="4474827"/>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4"/>
          <p:cNvSpPr/>
          <p:nvPr/>
        </p:nvSpPr>
        <p:spPr>
          <a:xfrm>
            <a:off x="3231819" y="4350931"/>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4"/>
          <p:cNvSpPr/>
          <p:nvPr/>
        </p:nvSpPr>
        <p:spPr>
          <a:xfrm>
            <a:off x="3188091" y="4613299"/>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4"/>
          <p:cNvSpPr/>
          <p:nvPr/>
        </p:nvSpPr>
        <p:spPr>
          <a:xfrm>
            <a:off x="2998604" y="4773634"/>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4"/>
          <p:cNvSpPr/>
          <p:nvPr/>
        </p:nvSpPr>
        <p:spPr>
          <a:xfrm>
            <a:off x="3282835" y="4890242"/>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4"/>
          <p:cNvSpPr/>
          <p:nvPr/>
        </p:nvSpPr>
        <p:spPr>
          <a:xfrm>
            <a:off x="3683675" y="4882954"/>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4"/>
          <p:cNvSpPr/>
          <p:nvPr/>
        </p:nvSpPr>
        <p:spPr>
          <a:xfrm>
            <a:off x="2911148" y="4992274"/>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4"/>
          <p:cNvSpPr/>
          <p:nvPr/>
        </p:nvSpPr>
        <p:spPr>
          <a:xfrm>
            <a:off x="2670644" y="5087018"/>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4"/>
          <p:cNvSpPr/>
          <p:nvPr/>
        </p:nvSpPr>
        <p:spPr>
          <a:xfrm>
            <a:off x="2371836" y="4904818"/>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4"/>
          <p:cNvSpPr/>
          <p:nvPr/>
        </p:nvSpPr>
        <p:spPr>
          <a:xfrm>
            <a:off x="2043877" y="4802786"/>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4"/>
          <p:cNvSpPr/>
          <p:nvPr/>
        </p:nvSpPr>
        <p:spPr>
          <a:xfrm>
            <a:off x="1825237" y="4686179"/>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4"/>
          <p:cNvSpPr/>
          <p:nvPr/>
        </p:nvSpPr>
        <p:spPr>
          <a:xfrm>
            <a:off x="2459292" y="4598723"/>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4"/>
          <p:cNvSpPr/>
          <p:nvPr/>
        </p:nvSpPr>
        <p:spPr>
          <a:xfrm>
            <a:off x="2714372" y="4350931"/>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4"/>
          <p:cNvSpPr/>
          <p:nvPr/>
        </p:nvSpPr>
        <p:spPr>
          <a:xfrm>
            <a:off x="2911148" y="4452963"/>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4"/>
          <p:cNvSpPr/>
          <p:nvPr/>
        </p:nvSpPr>
        <p:spPr>
          <a:xfrm>
            <a:off x="2736236" y="4598723"/>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4"/>
          <p:cNvSpPr/>
          <p:nvPr/>
        </p:nvSpPr>
        <p:spPr>
          <a:xfrm>
            <a:off x="2656068" y="4875666"/>
            <a:ext cx="116700" cy="116700"/>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4"/>
          <p:cNvSpPr/>
          <p:nvPr/>
        </p:nvSpPr>
        <p:spPr>
          <a:xfrm>
            <a:off x="304800" y="114300"/>
            <a:ext cx="114300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800">
                <a:solidFill>
                  <a:srgbClr val="111F5B"/>
                </a:solidFill>
              </a:rPr>
              <a:t>Detección de anomalías</a:t>
            </a:r>
            <a:endParaRPr b="1" sz="3800">
              <a:solidFill>
                <a:srgbClr val="111F5B"/>
              </a:solidFill>
            </a:endParaRPr>
          </a:p>
        </p:txBody>
      </p:sp>
      <p:sp>
        <p:nvSpPr>
          <p:cNvPr id="615" name="Google Shape;615;p24"/>
          <p:cNvSpPr/>
          <p:nvPr/>
        </p:nvSpPr>
        <p:spPr>
          <a:xfrm>
            <a:off x="304800" y="762000"/>
            <a:ext cx="115569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707C1"/>
                </a:solidFill>
              </a:rPr>
              <a:t>Ejemplo con One-Class SVM y características HTTP</a:t>
            </a:r>
            <a:endParaRPr b="1" sz="2200">
              <a:solidFill>
                <a:srgbClr val="0707C1"/>
              </a:solidFill>
            </a:endParaRPr>
          </a:p>
        </p:txBody>
      </p:sp>
      <p:sp>
        <p:nvSpPr>
          <p:cNvPr id="616" name="Google Shape;616;p24"/>
          <p:cNvSpPr/>
          <p:nvPr/>
        </p:nvSpPr>
        <p:spPr>
          <a:xfrm>
            <a:off x="482600" y="1244600"/>
            <a:ext cx="48261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00">
                <a:solidFill>
                  <a:srgbClr val="06065A"/>
                </a:solidFill>
                <a:latin typeface="Arial Narrow"/>
                <a:ea typeface="Arial Narrow"/>
                <a:cs typeface="Arial Narrow"/>
                <a:sym typeface="Arial Narrow"/>
              </a:rPr>
              <a:t>Cómo aprende</a:t>
            </a:r>
            <a:endParaRPr b="1" sz="2900">
              <a:solidFill>
                <a:srgbClr val="06065A"/>
              </a:solidFill>
              <a:latin typeface="Arial Narrow"/>
              <a:ea typeface="Arial Narrow"/>
              <a:cs typeface="Arial Narrow"/>
              <a:sym typeface="Arial Narrow"/>
            </a:endParaRPr>
          </a:p>
        </p:txBody>
      </p:sp>
      <p:sp>
        <p:nvSpPr>
          <p:cNvPr id="617" name="Google Shape;617;p24"/>
          <p:cNvSpPr/>
          <p:nvPr/>
        </p:nvSpPr>
        <p:spPr>
          <a:xfrm>
            <a:off x="702886" y="1809851"/>
            <a:ext cx="174300" cy="39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91" u="none" cap="none" strike="noStrike">
                <a:solidFill>
                  <a:srgbClr val="080A63"/>
                </a:solidFill>
                <a:latin typeface="Arial Narrow"/>
                <a:ea typeface="Arial Narrow"/>
                <a:cs typeface="Arial Narrow"/>
                <a:sym typeface="Arial Narrow"/>
              </a:rPr>
              <a:t>1</a:t>
            </a:r>
            <a:endParaRPr/>
          </a:p>
        </p:txBody>
      </p:sp>
      <p:sp>
        <p:nvSpPr>
          <p:cNvPr id="618" name="Google Shape;618;p24"/>
          <p:cNvSpPr/>
          <p:nvPr/>
        </p:nvSpPr>
        <p:spPr>
          <a:xfrm>
            <a:off x="695598" y="2435485"/>
            <a:ext cx="181500" cy="40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71" u="none" cap="none" strike="noStrike">
                <a:solidFill>
                  <a:srgbClr val="050764"/>
                </a:solidFill>
                <a:latin typeface="Arial Narrow"/>
                <a:ea typeface="Arial Narrow"/>
                <a:cs typeface="Arial Narrow"/>
                <a:sym typeface="Arial Narrow"/>
              </a:rPr>
              <a:t>2</a:t>
            </a:r>
            <a:endParaRPr/>
          </a:p>
        </p:txBody>
      </p:sp>
      <p:sp>
        <p:nvSpPr>
          <p:cNvPr id="619" name="Google Shape;619;p24"/>
          <p:cNvSpPr/>
          <p:nvPr/>
        </p:nvSpPr>
        <p:spPr>
          <a:xfrm>
            <a:off x="688310" y="3076288"/>
            <a:ext cx="189000" cy="38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338" u="none" cap="none" strike="noStrike">
                <a:solidFill>
                  <a:srgbClr val="050765"/>
                </a:solidFill>
                <a:latin typeface="Quattrocento Sans"/>
                <a:ea typeface="Quattrocento Sans"/>
                <a:cs typeface="Quattrocento Sans"/>
                <a:sym typeface="Quattrocento Sans"/>
              </a:rPr>
              <a:t>3</a:t>
            </a:r>
            <a:endParaRPr/>
          </a:p>
        </p:txBody>
      </p:sp>
      <p:sp>
        <p:nvSpPr>
          <p:cNvPr id="620" name="Google Shape;620;p24"/>
          <p:cNvSpPr/>
          <p:nvPr/>
        </p:nvSpPr>
        <p:spPr>
          <a:xfrm>
            <a:off x="1271350" y="1726177"/>
            <a:ext cx="2083800" cy="33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0809F6"/>
                </a:solidFill>
                <a:latin typeface="Arial Narrow"/>
                <a:ea typeface="Arial Narrow"/>
                <a:cs typeface="Arial Narrow"/>
                <a:sym typeface="Arial Narrow"/>
              </a:rPr>
              <a:t>Usa características</a:t>
            </a:r>
            <a:endParaRPr sz="2000">
              <a:solidFill>
                <a:srgbClr val="0809F6"/>
              </a:solidFill>
              <a:latin typeface="Arial Narrow"/>
              <a:ea typeface="Arial Narrow"/>
              <a:cs typeface="Arial Narrow"/>
              <a:sym typeface="Arial Narrow"/>
            </a:endParaRPr>
          </a:p>
        </p:txBody>
      </p:sp>
      <p:sp>
        <p:nvSpPr>
          <p:cNvPr id="621" name="Google Shape;621;p24"/>
          <p:cNvSpPr/>
          <p:nvPr/>
        </p:nvSpPr>
        <p:spPr>
          <a:xfrm>
            <a:off x="1293214" y="2006175"/>
            <a:ext cx="2047200" cy="32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0A0CF7"/>
                </a:solidFill>
                <a:latin typeface="Arial Narrow"/>
                <a:ea typeface="Arial Narrow"/>
                <a:cs typeface="Arial Narrow"/>
                <a:sym typeface="Arial Narrow"/>
              </a:rPr>
              <a:t>de tráfico normal.</a:t>
            </a:r>
            <a:endParaRPr b="1" sz="2000">
              <a:solidFill>
                <a:srgbClr val="0A0CF7"/>
              </a:solidFill>
              <a:latin typeface="Arial Narrow"/>
              <a:ea typeface="Arial Narrow"/>
              <a:cs typeface="Arial Narrow"/>
              <a:sym typeface="Arial Narrow"/>
            </a:endParaRPr>
          </a:p>
        </p:txBody>
      </p:sp>
      <p:sp>
        <p:nvSpPr>
          <p:cNvPr id="622" name="Google Shape;622;p24"/>
          <p:cNvSpPr/>
          <p:nvPr/>
        </p:nvSpPr>
        <p:spPr>
          <a:xfrm>
            <a:off x="1278638" y="2361199"/>
            <a:ext cx="2302500" cy="336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070AF7"/>
                </a:solidFill>
                <a:latin typeface="Arial Narrow"/>
                <a:ea typeface="Arial Narrow"/>
                <a:cs typeface="Arial Narrow"/>
                <a:sym typeface="Arial Narrow"/>
              </a:rPr>
              <a:t>Aprende un límite</a:t>
            </a:r>
            <a:endParaRPr b="1" sz="2000">
              <a:solidFill>
                <a:srgbClr val="070AF7"/>
              </a:solidFill>
              <a:latin typeface="Arial Narrow"/>
              <a:ea typeface="Arial Narrow"/>
              <a:cs typeface="Arial Narrow"/>
              <a:sym typeface="Arial Narrow"/>
            </a:endParaRPr>
          </a:p>
        </p:txBody>
      </p:sp>
      <p:sp>
        <p:nvSpPr>
          <p:cNvPr id="623" name="Google Shape;623;p24"/>
          <p:cNvSpPr/>
          <p:nvPr/>
        </p:nvSpPr>
        <p:spPr>
          <a:xfrm>
            <a:off x="1282700" y="2603500"/>
            <a:ext cx="4381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0607F8"/>
                </a:solidFill>
                <a:latin typeface="Arial Narrow"/>
                <a:ea typeface="Arial Narrow"/>
                <a:cs typeface="Arial Narrow"/>
                <a:sym typeface="Arial Narrow"/>
              </a:rPr>
              <a:t>para esas combinaciones.</a:t>
            </a:r>
            <a:endParaRPr sz="2000">
              <a:solidFill>
                <a:srgbClr val="0607F8"/>
              </a:solidFill>
              <a:latin typeface="Arial Narrow"/>
              <a:ea typeface="Arial Narrow"/>
              <a:cs typeface="Arial Narrow"/>
              <a:sym typeface="Arial Narrow"/>
            </a:endParaRPr>
          </a:p>
        </p:txBody>
      </p:sp>
      <p:sp>
        <p:nvSpPr>
          <p:cNvPr id="624" name="Google Shape;624;p24"/>
          <p:cNvSpPr/>
          <p:nvPr/>
        </p:nvSpPr>
        <p:spPr>
          <a:xfrm>
            <a:off x="1293214" y="2968021"/>
            <a:ext cx="2295000" cy="35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0708F8"/>
                </a:solidFill>
                <a:latin typeface="Arial Narrow"/>
                <a:ea typeface="Arial Narrow"/>
                <a:cs typeface="Arial Narrow"/>
                <a:sym typeface="Arial Narrow"/>
              </a:rPr>
              <a:t>Señala peticiones</a:t>
            </a:r>
            <a:endParaRPr sz="2000">
              <a:solidFill>
                <a:srgbClr val="0708F8"/>
              </a:solidFill>
              <a:latin typeface="Arial Narrow"/>
              <a:ea typeface="Arial Narrow"/>
              <a:cs typeface="Arial Narrow"/>
              <a:sym typeface="Arial Narrow"/>
            </a:endParaRPr>
          </a:p>
        </p:txBody>
      </p:sp>
      <p:sp>
        <p:nvSpPr>
          <p:cNvPr id="625" name="Google Shape;625;p24"/>
          <p:cNvSpPr/>
          <p:nvPr/>
        </p:nvSpPr>
        <p:spPr>
          <a:xfrm>
            <a:off x="1293214" y="3274145"/>
            <a:ext cx="21786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0507F8"/>
                </a:solidFill>
                <a:latin typeface="Arial Narrow"/>
                <a:ea typeface="Arial Narrow"/>
                <a:cs typeface="Arial Narrow"/>
                <a:sym typeface="Arial Narrow"/>
              </a:rPr>
              <a:t>que quedan fuera.</a:t>
            </a:r>
            <a:endParaRPr b="1" sz="2000">
              <a:solidFill>
                <a:srgbClr val="0507F8"/>
              </a:solidFill>
              <a:latin typeface="Arial Narrow"/>
              <a:ea typeface="Arial Narrow"/>
              <a:cs typeface="Arial Narrow"/>
              <a:sym typeface="Arial Narrow"/>
            </a:endParaRPr>
          </a:p>
        </p:txBody>
      </p:sp>
      <p:sp>
        <p:nvSpPr>
          <p:cNvPr id="626" name="Google Shape;626;p24"/>
          <p:cNvSpPr/>
          <p:nvPr/>
        </p:nvSpPr>
        <p:spPr>
          <a:xfrm>
            <a:off x="4252138" y="3622533"/>
            <a:ext cx="1493400" cy="28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65" u="none" cap="none" strike="noStrike">
                <a:solidFill>
                  <a:srgbClr val="058F79"/>
                </a:solidFill>
                <a:latin typeface="Arial Narrow"/>
                <a:ea typeface="Arial Narrow"/>
                <a:cs typeface="Arial Narrow"/>
                <a:sym typeface="Arial Narrow"/>
              </a:rPr>
              <a:t>Límite aprendido</a:t>
            </a:r>
            <a:endParaRPr/>
          </a:p>
        </p:txBody>
      </p:sp>
      <p:sp>
        <p:nvSpPr>
          <p:cNvPr id="627" name="Google Shape;627;p24"/>
          <p:cNvSpPr/>
          <p:nvPr/>
        </p:nvSpPr>
        <p:spPr>
          <a:xfrm>
            <a:off x="6477000" y="1270000"/>
            <a:ext cx="51435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05065A"/>
                </a:solidFill>
                <a:latin typeface="Arial Narrow"/>
                <a:ea typeface="Arial Narrow"/>
                <a:cs typeface="Arial Narrow"/>
                <a:sym typeface="Arial Narrow"/>
              </a:rPr>
              <a:t>Al evaluar una petición</a:t>
            </a:r>
            <a:endParaRPr b="1" sz="2700">
              <a:solidFill>
                <a:srgbClr val="05065A"/>
              </a:solidFill>
              <a:latin typeface="Arial Narrow"/>
              <a:ea typeface="Arial Narrow"/>
              <a:cs typeface="Arial Narrow"/>
              <a:sym typeface="Arial Narrow"/>
            </a:endParaRPr>
          </a:p>
        </p:txBody>
      </p:sp>
      <p:sp>
        <p:nvSpPr>
          <p:cNvPr id="628" name="Google Shape;628;p24"/>
          <p:cNvSpPr/>
          <p:nvPr/>
        </p:nvSpPr>
        <p:spPr>
          <a:xfrm>
            <a:off x="6553200" y="2006600"/>
            <a:ext cx="5016600" cy="69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0608F5"/>
                </a:solidFill>
                <a:latin typeface="Arial Narrow"/>
                <a:ea typeface="Arial Narrow"/>
                <a:cs typeface="Arial Narrow"/>
                <a:sym typeface="Arial Narrow"/>
              </a:rPr>
              <a:t>Calculamos las mismas características.</a:t>
            </a:r>
            <a:endParaRPr sz="2100">
              <a:solidFill>
                <a:srgbClr val="0608F5"/>
              </a:solidFill>
              <a:latin typeface="Arial Narrow"/>
              <a:ea typeface="Arial Narrow"/>
              <a:cs typeface="Arial Narrow"/>
              <a:sym typeface="Arial Narrow"/>
            </a:endParaRPr>
          </a:p>
        </p:txBody>
      </p:sp>
      <p:sp>
        <p:nvSpPr>
          <p:cNvPr id="629" name="Google Shape;629;p24"/>
          <p:cNvSpPr/>
          <p:nvPr/>
        </p:nvSpPr>
        <p:spPr>
          <a:xfrm>
            <a:off x="6553200" y="2882900"/>
            <a:ext cx="50166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070AF6"/>
                </a:solidFill>
                <a:latin typeface="Arial Narrow"/>
                <a:ea typeface="Arial Narrow"/>
                <a:cs typeface="Arial Narrow"/>
                <a:sym typeface="Arial Narrow"/>
              </a:rPr>
              <a:t>El modelo compara su combinación con el perfil aprendido.</a:t>
            </a:r>
            <a:endParaRPr sz="2100">
              <a:solidFill>
                <a:srgbClr val="070AF6"/>
              </a:solidFill>
              <a:latin typeface="Arial Narrow"/>
              <a:ea typeface="Arial Narrow"/>
              <a:cs typeface="Arial Narrow"/>
              <a:sym typeface="Arial Narrow"/>
            </a:endParaRPr>
          </a:p>
        </p:txBody>
      </p:sp>
      <p:sp>
        <p:nvSpPr>
          <p:cNvPr id="630" name="Google Shape;630;p24"/>
          <p:cNvSpPr/>
          <p:nvPr/>
        </p:nvSpPr>
        <p:spPr>
          <a:xfrm>
            <a:off x="6553200" y="3873500"/>
            <a:ext cx="50166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0608F5"/>
                </a:solidFill>
                <a:latin typeface="Arial Narrow"/>
                <a:ea typeface="Arial Narrow"/>
                <a:cs typeface="Arial Narrow"/>
                <a:sym typeface="Arial Narrow"/>
              </a:rPr>
              <a:t>La longitud y la composición pueden hacer que una petición se aparte del perfil.</a:t>
            </a:r>
            <a:endParaRPr sz="2100">
              <a:solidFill>
                <a:srgbClr val="0608F5"/>
              </a:solidFill>
              <a:latin typeface="Arial Narrow"/>
              <a:ea typeface="Arial Narrow"/>
              <a:cs typeface="Arial Narrow"/>
              <a:sym typeface="Arial Narrow"/>
            </a:endParaRPr>
          </a:p>
        </p:txBody>
      </p:sp>
      <p:sp>
        <p:nvSpPr>
          <p:cNvPr id="631" name="Google Shape;631;p24"/>
          <p:cNvSpPr/>
          <p:nvPr/>
        </p:nvSpPr>
        <p:spPr>
          <a:xfrm>
            <a:off x="6553200" y="4953000"/>
            <a:ext cx="50166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00">
                <a:solidFill>
                  <a:srgbClr val="050659"/>
                </a:solidFill>
              </a:rPr>
              <a:t>Una anomalía también puede ser legítima.</a:t>
            </a:r>
            <a:endParaRPr b="1" sz="1900">
              <a:solidFill>
                <a:srgbClr val="050659"/>
              </a:solidFill>
            </a:endParaRPr>
          </a:p>
        </p:txBody>
      </p:sp>
      <p:sp>
        <p:nvSpPr>
          <p:cNvPr id="632" name="Google Shape;632;p24"/>
          <p:cNvSpPr/>
          <p:nvPr/>
        </p:nvSpPr>
        <p:spPr>
          <a:xfrm>
            <a:off x="790342" y="3825417"/>
            <a:ext cx="844800" cy="27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040BF8"/>
                </a:solidFill>
                <a:latin typeface="Arial Narrow"/>
                <a:ea typeface="Arial Narrow"/>
                <a:cs typeface="Arial Narrow"/>
                <a:sym typeface="Arial Narrow"/>
              </a:rPr>
              <a:t>Peticiones</a:t>
            </a:r>
            <a:endParaRPr/>
          </a:p>
        </p:txBody>
      </p:sp>
      <p:sp>
        <p:nvSpPr>
          <p:cNvPr id="633" name="Google Shape;633;p24"/>
          <p:cNvSpPr/>
          <p:nvPr/>
        </p:nvSpPr>
        <p:spPr>
          <a:xfrm>
            <a:off x="812206" y="4028402"/>
            <a:ext cx="771900" cy="285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4" u="none" cap="none" strike="noStrike">
                <a:solidFill>
                  <a:srgbClr val="0612F7"/>
                </a:solidFill>
                <a:latin typeface="Arial Narrow"/>
                <a:ea typeface="Arial Narrow"/>
                <a:cs typeface="Arial Narrow"/>
                <a:sym typeface="Arial Narrow"/>
              </a:rPr>
              <a:t>normales</a:t>
            </a:r>
            <a:endParaRPr/>
          </a:p>
        </p:txBody>
      </p:sp>
      <p:sp>
        <p:nvSpPr>
          <p:cNvPr id="634" name="Google Shape;634;p24"/>
          <p:cNvSpPr/>
          <p:nvPr/>
        </p:nvSpPr>
        <p:spPr>
          <a:xfrm>
            <a:off x="382215" y="5366180"/>
            <a:ext cx="1245600" cy="20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98" u="none" cap="none" strike="noStrike">
                <a:solidFill>
                  <a:srgbClr val="054ACE"/>
                </a:solidFill>
                <a:latin typeface="Arial Narrow"/>
                <a:ea typeface="Arial Narrow"/>
                <a:cs typeface="Arial Narrow"/>
                <a:sym typeface="Arial Narrow"/>
              </a:rPr>
              <a:t>Esquema ilustrativo.</a:t>
            </a:r>
            <a:endParaRPr/>
          </a:p>
        </p:txBody>
      </p:sp>
      <p:sp>
        <p:nvSpPr>
          <p:cNvPr id="635" name="Google Shape;635;p24"/>
          <p:cNvSpPr/>
          <p:nvPr/>
        </p:nvSpPr>
        <p:spPr>
          <a:xfrm>
            <a:off x="1079500" y="5842000"/>
            <a:ext cx="10413900" cy="43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606DA"/>
                </a:solidFill>
                <a:latin typeface="Arial Narrow"/>
                <a:ea typeface="Arial Narrow"/>
                <a:cs typeface="Arial Narrow"/>
                <a:sym typeface="Arial Narrow"/>
              </a:rPr>
              <a:t>Identificar el tipo de ataque requiere información adicional.</a:t>
            </a:r>
            <a:endParaRPr b="1" sz="2200">
              <a:solidFill>
                <a:srgbClr val="0606DA"/>
              </a:solidFill>
              <a:latin typeface="Arial Narrow"/>
              <a:ea typeface="Arial Narrow"/>
              <a:cs typeface="Arial Narrow"/>
              <a:sym typeface="Arial Narrow"/>
            </a:endParaRPr>
          </a:p>
        </p:txBody>
      </p:sp>
      <p:sp>
        <p:nvSpPr>
          <p:cNvPr id="636" name="Google Shape;636;p24"/>
          <p:cNvSpPr/>
          <p:nvPr/>
        </p:nvSpPr>
        <p:spPr>
          <a:xfrm>
            <a:off x="251031" y="6376993"/>
            <a:ext cx="7593600" cy="20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35" u="none" cap="none" strike="noStrike">
                <a:solidFill>
                  <a:srgbClr val="252594"/>
                </a:solidFill>
                <a:latin typeface="Arial Narrow"/>
                <a:ea typeface="Arial Narrow"/>
                <a:cs typeface="Arial Narrow"/>
                <a:sym typeface="Arial Narrow"/>
              </a:rPr>
              <a:t>* Scikit-learn developers. (s. f.). OneClassSVM. https://scikit-learn.org/stable/modules/generated/sklearn.svm.</a:t>
            </a:r>
            <a:r>
              <a:rPr lang="en-US" sz="1235">
                <a:solidFill>
                  <a:srgbClr val="252594"/>
                </a:solidFill>
                <a:latin typeface="Arial Narrow"/>
                <a:ea typeface="Arial Narrow"/>
                <a:cs typeface="Arial Narrow"/>
                <a:sym typeface="Arial Narrow"/>
              </a:rPr>
              <a:t>OneClassSVM</a:t>
            </a:r>
            <a:r>
              <a:rPr b="0" i="0" lang="en-US" sz="1235" u="none" cap="none" strike="noStrike">
                <a:solidFill>
                  <a:srgbClr val="252594"/>
                </a:solidFill>
                <a:latin typeface="Arial Narrow"/>
                <a:ea typeface="Arial Narrow"/>
                <a:cs typeface="Arial Narrow"/>
                <a:sym typeface="Arial Narrow"/>
              </a:rPr>
              <a:t>.html</a:t>
            </a:r>
            <a:endParaRPr/>
          </a:p>
        </p:txBody>
      </p:sp>
      <p:sp>
        <p:nvSpPr>
          <p:cNvPr id="637" name="Google Shape;637;p24"/>
          <p:cNvSpPr/>
          <p:nvPr/>
        </p:nvSpPr>
        <p:spPr>
          <a:xfrm>
            <a:off x="5046529" y="4897530"/>
            <a:ext cx="888600" cy="26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CC1018"/>
                </a:solidFill>
                <a:latin typeface="Arial Narrow"/>
                <a:ea typeface="Arial Narrow"/>
                <a:cs typeface="Arial Narrow"/>
                <a:sym typeface="Arial Narrow"/>
              </a:rPr>
              <a:t>Anomalía</a:t>
            </a:r>
            <a:endParaRPr/>
          </a:p>
        </p:txBody>
      </p:sp>
      <p:sp>
        <p:nvSpPr>
          <p:cNvPr id="638" name="Google Shape;638;p24"/>
          <p:cNvSpPr/>
          <p:nvPr/>
        </p:nvSpPr>
        <p:spPr>
          <a:xfrm>
            <a:off x="2138621" y="3709588"/>
            <a:ext cx="116700" cy="116700"/>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4"/>
          <p:cNvSpPr/>
          <p:nvPr/>
        </p:nvSpPr>
        <p:spPr>
          <a:xfrm>
            <a:off x="1213046" y="4955834"/>
            <a:ext cx="116700" cy="116700"/>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4"/>
          <p:cNvSpPr/>
          <p:nvPr/>
        </p:nvSpPr>
        <p:spPr>
          <a:xfrm>
            <a:off x="3960618" y="5349386"/>
            <a:ext cx="116700" cy="116700"/>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2" name="Google Shape;642;p24" title="DEFENSA_SEGURA_V2:barra-3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3" name="Google Shape;643;p24" title="DEFENSA_SEGURA_V2:avance-31"/>
          <p:cNvSpPr/>
          <p:nvPr/>
        </p:nvSpPr>
        <p:spPr>
          <a:xfrm>
            <a:off x="0" y="0"/>
            <a:ext cx="8534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4" name="Google Shape;644;p24" title="DEFENSA_SEGURA_V2:seccion-3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25"/>
          <p:cNvSpPr/>
          <p:nvPr/>
        </p:nvSpPr>
        <p:spPr>
          <a:xfrm>
            <a:off x="355600" y="1422400"/>
            <a:ext cx="5410200" cy="4584600"/>
          </a:xfrm>
          <a:prstGeom prst="rect">
            <a:avLst/>
          </a:prstGeom>
          <a:solidFill>
            <a:srgbClr val="F1F8FF"/>
          </a:solidFill>
          <a:ln cap="flat" cmpd="sng" w="9525">
            <a:solidFill>
              <a:srgbClr val="B3D7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1" name="Google Shape;651;p25"/>
          <p:cNvSpPr/>
          <p:nvPr/>
        </p:nvSpPr>
        <p:spPr>
          <a:xfrm>
            <a:off x="495300" y="3086100"/>
            <a:ext cx="5105400" cy="1422300"/>
          </a:xfrm>
          <a:prstGeom prst="rect">
            <a:avLst/>
          </a:prstGeom>
          <a:solidFill>
            <a:srgbClr val="D0F6EF"/>
          </a:solidFill>
          <a:ln cap="flat" cmpd="sng" w="9525">
            <a:solidFill>
              <a:srgbClr val="D0F6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2" name="Google Shape;652;p25"/>
          <p:cNvSpPr txBox="1"/>
          <p:nvPr>
            <p:ph type="title"/>
          </p:nvPr>
        </p:nvSpPr>
        <p:spPr>
          <a:xfrm>
            <a:off x="304800" y="279400"/>
            <a:ext cx="11582400" cy="660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111F5B"/>
                </a:solidFill>
                <a:latin typeface="Arial"/>
                <a:ea typeface="Arial"/>
                <a:cs typeface="Arial"/>
                <a:sym typeface="Arial"/>
              </a:rPr>
              <a:t>Características de una petición HTTP</a:t>
            </a:r>
            <a:endParaRPr b="1" sz="3600">
              <a:solidFill>
                <a:srgbClr val="111F5B"/>
              </a:solidFill>
              <a:latin typeface="Arial"/>
              <a:ea typeface="Arial"/>
              <a:cs typeface="Arial"/>
              <a:sym typeface="Arial"/>
            </a:endParaRPr>
          </a:p>
        </p:txBody>
      </p:sp>
      <p:sp>
        <p:nvSpPr>
          <p:cNvPr id="653" name="Google Shape;653;p25"/>
          <p:cNvSpPr txBox="1"/>
          <p:nvPr>
            <p:ph idx="1" type="body"/>
          </p:nvPr>
        </p:nvSpPr>
        <p:spPr>
          <a:xfrm>
            <a:off x="355600" y="990600"/>
            <a:ext cx="11455500" cy="355500"/>
          </a:xfrm>
          <a:prstGeom prst="rect">
            <a:avLst/>
          </a:prstGeom>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solidFill>
                  <a:srgbClr val="111F5B"/>
                </a:solidFill>
                <a:latin typeface="Arial"/>
                <a:ea typeface="Arial"/>
                <a:cs typeface="Arial"/>
                <a:sym typeface="Arial"/>
              </a:rPr>
              <a:t>Ejemplos de variables y del componente del mensaje del que se obtienen</a:t>
            </a:r>
            <a:endParaRPr sz="1800">
              <a:solidFill>
                <a:srgbClr val="111F5B"/>
              </a:solidFill>
              <a:latin typeface="Arial"/>
              <a:ea typeface="Arial"/>
              <a:cs typeface="Arial"/>
              <a:sym typeface="Arial"/>
            </a:endParaRPr>
          </a:p>
        </p:txBody>
      </p:sp>
      <p:graphicFrame>
        <p:nvGraphicFramePr>
          <p:cNvPr id="654" name="Google Shape;654;p25"/>
          <p:cNvGraphicFramePr/>
          <p:nvPr/>
        </p:nvGraphicFramePr>
        <p:xfrm>
          <a:off x="6108600" y="2507625"/>
          <a:ext cx="3000000" cy="3000000"/>
        </p:xfrm>
        <a:graphic>
          <a:graphicData uri="http://schemas.openxmlformats.org/drawingml/2006/table">
            <a:tbl>
              <a:tblPr>
                <a:noFill/>
                <a:tableStyleId>{49FC4E21-8C64-4725-8E31-BC7DC537305F}</a:tableStyleId>
              </a:tblPr>
              <a:tblGrid>
                <a:gridCol w="1600200"/>
                <a:gridCol w="4127500"/>
              </a:tblGrid>
              <a:tr h="406400">
                <a:tc>
                  <a:txBody>
                    <a:bodyPr/>
                    <a:lstStyle/>
                    <a:p>
                      <a:pPr indent="0" lvl="0" marL="0" marR="0" rtl="0" algn="l">
                        <a:lnSpc>
                          <a:spcPct val="100000"/>
                        </a:lnSpc>
                        <a:spcBef>
                          <a:spcPts val="0"/>
                        </a:spcBef>
                        <a:spcAft>
                          <a:spcPts val="0"/>
                        </a:spcAft>
                        <a:buNone/>
                      </a:pPr>
                      <a:r>
                        <a:rPr b="1" lang="en-US">
                          <a:solidFill>
                            <a:srgbClr val="FFFFFF"/>
                          </a:solidFill>
                        </a:rPr>
                        <a:t>Tipo de señal</a:t>
                      </a:r>
                      <a:endParaRPr b="1">
                        <a:solidFill>
                          <a:srgbClr val="FFFFFF"/>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111F5B"/>
                    </a:solidFill>
                  </a:tcPr>
                </a:tc>
                <a:tc>
                  <a:txBody>
                    <a:bodyPr/>
                    <a:lstStyle/>
                    <a:p>
                      <a:pPr indent="0" lvl="0" marL="0" marR="0" rtl="0" algn="l">
                        <a:lnSpc>
                          <a:spcPct val="100000"/>
                        </a:lnSpc>
                        <a:spcBef>
                          <a:spcPts val="0"/>
                        </a:spcBef>
                        <a:spcAft>
                          <a:spcPts val="0"/>
                        </a:spcAft>
                        <a:buNone/>
                      </a:pPr>
                      <a:r>
                        <a:rPr b="1" lang="en-US">
                          <a:solidFill>
                            <a:srgbClr val="FFFFFF"/>
                          </a:solidFill>
                        </a:rPr>
                        <a:t>Ejemplo y componente</a:t>
                      </a:r>
                      <a:endParaRPr b="1">
                        <a:solidFill>
                          <a:srgbClr val="FFFFFF"/>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111F5B"/>
                    </a:solidFill>
                  </a:tcPr>
                </a:tc>
              </a:tr>
              <a:tr h="595625">
                <a:tc>
                  <a:txBody>
                    <a:bodyPr/>
                    <a:lstStyle/>
                    <a:p>
                      <a:pPr indent="0" lvl="0" marL="0" marR="0" rtl="0" algn="l">
                        <a:lnSpc>
                          <a:spcPct val="100000"/>
                        </a:lnSpc>
                        <a:spcBef>
                          <a:spcPts val="0"/>
                        </a:spcBef>
                        <a:spcAft>
                          <a:spcPts val="0"/>
                        </a:spcAft>
                        <a:buNone/>
                      </a:pPr>
                      <a:r>
                        <a:rPr b="1" lang="en-US" sz="1450">
                          <a:solidFill>
                            <a:srgbClr val="111F5B"/>
                          </a:solidFill>
                        </a:rPr>
                        <a:t>Indicadores</a:t>
                      </a:r>
                      <a:endParaRPr b="1"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D1E7FF"/>
                    </a:solidFill>
                  </a:tcPr>
                </a:tc>
                <a:tc>
                  <a:txBody>
                    <a:bodyPr/>
                    <a:lstStyle/>
                    <a:p>
                      <a:pPr indent="0" lvl="0" marL="0" marR="0" rtl="0" algn="l">
                        <a:lnSpc>
                          <a:spcPct val="100000"/>
                        </a:lnSpc>
                        <a:spcBef>
                          <a:spcPts val="0"/>
                        </a:spcBef>
                        <a:spcAft>
                          <a:spcPts val="0"/>
                        </a:spcAft>
                        <a:buNone/>
                      </a:pPr>
                      <a:r>
                        <a:rPr b="1" lang="en-US" sz="1450">
                          <a:solidFill>
                            <a:srgbClr val="111F5B"/>
                          </a:solidFill>
                          <a:latin typeface="Consolas"/>
                          <a:ea typeface="Consolas"/>
                          <a:cs typeface="Consolas"/>
                          <a:sym typeface="Consolas"/>
                        </a:rPr>
                        <a:t>method_is_post = 1</a:t>
                      </a:r>
                      <a:endParaRPr b="1" sz="1450">
                        <a:solidFill>
                          <a:srgbClr val="111F5B"/>
                        </a:solidFill>
                        <a:latin typeface="Consolas"/>
                        <a:ea typeface="Consolas"/>
                        <a:cs typeface="Consolas"/>
                        <a:sym typeface="Consolas"/>
                      </a:endParaRPr>
                    </a:p>
                    <a:p>
                      <a:pPr indent="0" lvl="0" marL="0" marR="0" rtl="0" algn="l">
                        <a:lnSpc>
                          <a:spcPct val="100000"/>
                        </a:lnSpc>
                        <a:spcBef>
                          <a:spcPts val="0"/>
                        </a:spcBef>
                        <a:spcAft>
                          <a:spcPts val="0"/>
                        </a:spcAft>
                        <a:buNone/>
                      </a:pPr>
                      <a:r>
                        <a:rPr lang="en-US" sz="1450">
                          <a:solidFill>
                            <a:srgbClr val="111F5B"/>
                          </a:solidFill>
                        </a:rPr>
                        <a:t>Línea de petición: método POST</a:t>
                      </a:r>
                      <a:endParaRPr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D1E7FF"/>
                    </a:solidFill>
                  </a:tcPr>
                </a:tc>
              </a:tr>
              <a:tr h="595625">
                <a:tc>
                  <a:txBody>
                    <a:bodyPr/>
                    <a:lstStyle/>
                    <a:p>
                      <a:pPr indent="0" lvl="0" marL="0" marR="0" rtl="0" algn="l">
                        <a:lnSpc>
                          <a:spcPct val="100000"/>
                        </a:lnSpc>
                        <a:spcBef>
                          <a:spcPts val="0"/>
                        </a:spcBef>
                        <a:spcAft>
                          <a:spcPts val="0"/>
                        </a:spcAft>
                        <a:buNone/>
                      </a:pPr>
                      <a:r>
                        <a:rPr b="1" lang="en-US" sz="1450">
                          <a:solidFill>
                            <a:srgbClr val="111F5B"/>
                          </a:solidFill>
                        </a:rPr>
                        <a:t>Longitud</a:t>
                      </a:r>
                      <a:endParaRPr b="1"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E5DBFF"/>
                    </a:solidFill>
                  </a:tcPr>
                </a:tc>
                <a:tc>
                  <a:txBody>
                    <a:bodyPr/>
                    <a:lstStyle/>
                    <a:p>
                      <a:pPr indent="0" lvl="0" marL="0" marR="0" rtl="0" algn="l">
                        <a:lnSpc>
                          <a:spcPct val="100000"/>
                        </a:lnSpc>
                        <a:spcBef>
                          <a:spcPts val="0"/>
                        </a:spcBef>
                        <a:spcAft>
                          <a:spcPts val="0"/>
                        </a:spcAft>
                        <a:buNone/>
                      </a:pPr>
                      <a:r>
                        <a:rPr b="1" lang="en-US" sz="1450">
                          <a:solidFill>
                            <a:srgbClr val="111F5B"/>
                          </a:solidFill>
                          <a:latin typeface="Consolas"/>
                          <a:ea typeface="Consolas"/>
                          <a:cs typeface="Consolas"/>
                          <a:sym typeface="Consolas"/>
                        </a:rPr>
                        <a:t>body_len = 13</a:t>
                      </a:r>
                      <a:endParaRPr b="1" sz="1450">
                        <a:solidFill>
                          <a:srgbClr val="111F5B"/>
                        </a:solidFill>
                        <a:latin typeface="Consolas"/>
                        <a:ea typeface="Consolas"/>
                        <a:cs typeface="Consolas"/>
                        <a:sym typeface="Consolas"/>
                      </a:endParaRPr>
                    </a:p>
                    <a:p>
                      <a:pPr indent="0" lvl="0" marL="0" marR="0" rtl="0" algn="l">
                        <a:lnSpc>
                          <a:spcPct val="100000"/>
                        </a:lnSpc>
                        <a:spcBef>
                          <a:spcPts val="0"/>
                        </a:spcBef>
                        <a:spcAft>
                          <a:spcPts val="0"/>
                        </a:spcAft>
                        <a:buNone/>
                      </a:pPr>
                      <a:r>
                        <a:rPr lang="en-US" sz="1450">
                          <a:solidFill>
                            <a:srgbClr val="111F5B"/>
                          </a:solidFill>
                        </a:rPr>
                        <a:t>Cuerpo: 13 caracteres</a:t>
                      </a:r>
                      <a:endParaRPr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E5DBFF"/>
                    </a:solidFill>
                  </a:tcPr>
                </a:tc>
              </a:tr>
              <a:tr h="595625">
                <a:tc>
                  <a:txBody>
                    <a:bodyPr/>
                    <a:lstStyle/>
                    <a:p>
                      <a:pPr indent="0" lvl="0" marL="0" marR="0" rtl="0" algn="l">
                        <a:lnSpc>
                          <a:spcPct val="100000"/>
                        </a:lnSpc>
                        <a:spcBef>
                          <a:spcPts val="0"/>
                        </a:spcBef>
                        <a:spcAft>
                          <a:spcPts val="0"/>
                        </a:spcAft>
                        <a:buNone/>
                      </a:pPr>
                      <a:r>
                        <a:rPr b="1" lang="en-US" sz="1450">
                          <a:solidFill>
                            <a:srgbClr val="111F5B"/>
                          </a:solidFill>
                        </a:rPr>
                        <a:t>Estructura</a:t>
                      </a:r>
                      <a:endParaRPr b="1"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D0F6EF"/>
                    </a:solidFill>
                  </a:tcPr>
                </a:tc>
                <a:tc>
                  <a:txBody>
                    <a:bodyPr/>
                    <a:lstStyle/>
                    <a:p>
                      <a:pPr indent="0" lvl="0" marL="0" marR="0" rtl="0" algn="l">
                        <a:lnSpc>
                          <a:spcPct val="100000"/>
                        </a:lnSpc>
                        <a:spcBef>
                          <a:spcPts val="0"/>
                        </a:spcBef>
                        <a:spcAft>
                          <a:spcPts val="0"/>
                        </a:spcAft>
                        <a:buNone/>
                      </a:pPr>
                      <a:r>
                        <a:rPr b="1" lang="en-US" sz="1450">
                          <a:solidFill>
                            <a:srgbClr val="111F5B"/>
                          </a:solidFill>
                          <a:latin typeface="Consolas"/>
                          <a:ea typeface="Consolas"/>
                          <a:cs typeface="Consolas"/>
                          <a:sym typeface="Consolas"/>
                        </a:rPr>
                        <a:t>cookie_pair_count = 2</a:t>
                      </a:r>
                      <a:endParaRPr b="1" sz="1450">
                        <a:solidFill>
                          <a:srgbClr val="111F5B"/>
                        </a:solidFill>
                        <a:latin typeface="Consolas"/>
                        <a:ea typeface="Consolas"/>
                        <a:cs typeface="Consolas"/>
                        <a:sym typeface="Consolas"/>
                      </a:endParaRPr>
                    </a:p>
                    <a:p>
                      <a:pPr indent="0" lvl="0" marL="0" marR="0" rtl="0" algn="l">
                        <a:lnSpc>
                          <a:spcPct val="100000"/>
                        </a:lnSpc>
                        <a:spcBef>
                          <a:spcPts val="0"/>
                        </a:spcBef>
                        <a:spcAft>
                          <a:spcPts val="0"/>
                        </a:spcAft>
                        <a:buNone/>
                      </a:pPr>
                      <a:r>
                        <a:rPr lang="en-US" sz="1450">
                          <a:solidFill>
                            <a:srgbClr val="111F5B"/>
                          </a:solidFill>
                        </a:rPr>
                        <a:t>Encabezado Cookie: dos pares</a:t>
                      </a:r>
                      <a:endParaRPr sz="1450">
                        <a:solidFill>
                          <a:srgbClr val="111F5B"/>
                        </a:solidFill>
                      </a:endParaRPr>
                    </a:p>
                  </a:txBody>
                  <a:tcPr marT="91425" marB="91425" marR="91425" marL="91425" anchor="ctr">
                    <a:lnL cap="flat" cmpd="sng" w="16500">
                      <a:solidFill>
                        <a:srgbClr val="FFFFFF"/>
                      </a:solidFill>
                      <a:prstDash val="solid"/>
                      <a:round/>
                      <a:headEnd len="sm" w="sm" type="none"/>
                      <a:tailEnd len="sm" w="sm" type="none"/>
                    </a:lnL>
                    <a:lnR cap="flat" cmpd="sng" w="16500">
                      <a:solidFill>
                        <a:srgbClr val="FFFFFF"/>
                      </a:solidFill>
                      <a:prstDash val="solid"/>
                      <a:round/>
                      <a:headEnd len="sm" w="sm" type="none"/>
                      <a:tailEnd len="sm" w="sm" type="none"/>
                    </a:lnR>
                    <a:lnT cap="flat" cmpd="sng" w="16500">
                      <a:solidFill>
                        <a:srgbClr val="FFFFFF"/>
                      </a:solidFill>
                      <a:prstDash val="solid"/>
                      <a:round/>
                      <a:headEnd len="sm" w="sm" type="none"/>
                      <a:tailEnd len="sm" w="sm" type="none"/>
                    </a:lnT>
                    <a:lnB cap="flat" cmpd="sng" w="16500">
                      <a:solidFill>
                        <a:srgbClr val="FFFFFF"/>
                      </a:solidFill>
                      <a:prstDash val="solid"/>
                      <a:round/>
                      <a:headEnd len="sm" w="sm" type="none"/>
                      <a:tailEnd len="sm" w="sm" type="none"/>
                    </a:lnB>
                    <a:solidFill>
                      <a:srgbClr val="D0F6EF"/>
                    </a:solidFill>
                  </a:tcPr>
                </a:tc>
              </a:tr>
            </a:tbl>
          </a:graphicData>
        </a:graphic>
      </p:graphicFrame>
      <p:sp>
        <p:nvSpPr>
          <p:cNvPr id="655" name="Google Shape;655;p25"/>
          <p:cNvSpPr txBox="1"/>
          <p:nvPr/>
        </p:nvSpPr>
        <p:spPr>
          <a:xfrm>
            <a:off x="355600" y="6108700"/>
            <a:ext cx="11480700" cy="34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700">
                <a:solidFill>
                  <a:srgbClr val="111F5B"/>
                </a:solidFill>
                <a:latin typeface="Calibri"/>
                <a:ea typeface="Calibri"/>
                <a:cs typeface="Calibri"/>
                <a:sym typeface="Calibri"/>
              </a:rPr>
              <a:t>Las variables utilizadas dependen de la prueba.</a:t>
            </a:r>
            <a:r>
              <a:rPr lang="en-US" sz="1700">
                <a:solidFill>
                  <a:srgbClr val="111F5B"/>
                </a:solidFill>
                <a:latin typeface="Calibri"/>
                <a:ea typeface="Calibri"/>
                <a:cs typeface="Calibri"/>
                <a:sym typeface="Calibri"/>
              </a:rPr>
              <a:t> Un valor aislado no confirma un ataque.</a:t>
            </a:r>
            <a:endParaRPr sz="1700">
              <a:solidFill>
                <a:srgbClr val="111F5B"/>
              </a:solidFill>
              <a:latin typeface="Calibri"/>
              <a:ea typeface="Calibri"/>
              <a:cs typeface="Calibri"/>
              <a:sym typeface="Calibri"/>
            </a:endParaRPr>
          </a:p>
        </p:txBody>
      </p:sp>
      <p:sp>
        <p:nvSpPr>
          <p:cNvPr id="656" name="Google Shape;656;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57" name="Google Shape;657;p25" title="DEFENSA_SEGURA_V2:barra-1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8" name="Google Shape;658;p25" title="DEFENSA_SEGURA_V2:avance-11"/>
          <p:cNvSpPr/>
          <p:nvPr/>
        </p:nvSpPr>
        <p:spPr>
          <a:xfrm>
            <a:off x="0" y="0"/>
            <a:ext cx="99753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9" name="Google Shape;659;p25" title="DEFENSA_SEGURA_V2:seccion-1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
        <p:nvSpPr>
          <p:cNvPr id="660" name="Google Shape;660;p25"/>
          <p:cNvSpPr/>
          <p:nvPr/>
        </p:nvSpPr>
        <p:spPr>
          <a:xfrm>
            <a:off x="355600" y="1422400"/>
            <a:ext cx="5410200" cy="368400"/>
          </a:xfrm>
          <a:prstGeom prst="roundRect">
            <a:avLst>
              <a:gd fmla="val 16667" name="adj"/>
            </a:avLst>
          </a:prstGeom>
          <a:solidFill>
            <a:srgbClr val="234251"/>
          </a:solidFill>
          <a:ln cap="flat" cmpd="sng" w="9525">
            <a:solidFill>
              <a:srgbClr val="23425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1" name="Google Shape;661;p25"/>
          <p:cNvSpPr/>
          <p:nvPr/>
        </p:nvSpPr>
        <p:spPr>
          <a:xfrm>
            <a:off x="508000" y="1473200"/>
            <a:ext cx="51054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600">
                <a:solidFill>
                  <a:srgbClr val="FFFFFF"/>
                </a:solidFill>
                <a:latin typeface="Arial Narrow"/>
                <a:ea typeface="Arial Narrow"/>
                <a:cs typeface="Arial Narrow"/>
                <a:sym typeface="Arial Narrow"/>
              </a:rPr>
              <a:t>Petición HTTP/1.1 · ejemplo didáctico</a:t>
            </a:r>
            <a:endParaRPr sz="1600">
              <a:solidFill>
                <a:srgbClr val="FFFFFF"/>
              </a:solidFill>
              <a:latin typeface="Arial Narrow"/>
              <a:ea typeface="Arial Narrow"/>
              <a:cs typeface="Arial Narrow"/>
              <a:sym typeface="Arial Narrow"/>
            </a:endParaRPr>
          </a:p>
        </p:txBody>
      </p:sp>
      <p:sp>
        <p:nvSpPr>
          <p:cNvPr id="662" name="Google Shape;662;p25"/>
          <p:cNvSpPr/>
          <p:nvPr/>
        </p:nvSpPr>
        <p:spPr>
          <a:xfrm>
            <a:off x="508000" y="1905000"/>
            <a:ext cx="5041800" cy="2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500">
                <a:solidFill>
                  <a:srgbClr val="05074F"/>
                </a:solidFill>
              </a:rPr>
              <a:t>Línea de petición</a:t>
            </a:r>
            <a:endParaRPr b="1" sz="1500">
              <a:solidFill>
                <a:srgbClr val="05074F"/>
              </a:solidFill>
            </a:endParaRPr>
          </a:p>
        </p:txBody>
      </p:sp>
      <p:sp>
        <p:nvSpPr>
          <p:cNvPr id="663" name="Google Shape;663;p25"/>
          <p:cNvSpPr/>
          <p:nvPr/>
        </p:nvSpPr>
        <p:spPr>
          <a:xfrm>
            <a:off x="495300" y="2222500"/>
            <a:ext cx="5105400" cy="393600"/>
          </a:xfrm>
          <a:prstGeom prst="roundRect">
            <a:avLst>
              <a:gd fmla="val 16667" name="adj"/>
            </a:avLst>
          </a:prstGeom>
          <a:solidFill>
            <a:srgbClr val="D1E7FF"/>
          </a:solidFill>
          <a:ln cap="flat" cmpd="sng" w="9525">
            <a:solidFill>
              <a:srgbClr val="D1E7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4" name="Google Shape;664;p25"/>
          <p:cNvSpPr/>
          <p:nvPr/>
        </p:nvSpPr>
        <p:spPr>
          <a:xfrm>
            <a:off x="558800" y="2286000"/>
            <a:ext cx="4991100" cy="33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POST /index.php?id=1%20OR%201=1 HTTP/1.1</a:t>
            </a:r>
            <a:endParaRPr b="1" sz="1442">
              <a:solidFill>
                <a:srgbClr val="08125F"/>
              </a:solidFill>
              <a:latin typeface="Consolas"/>
              <a:ea typeface="Consolas"/>
              <a:cs typeface="Consolas"/>
              <a:sym typeface="Consolas"/>
            </a:endParaRPr>
          </a:p>
        </p:txBody>
      </p:sp>
      <p:sp>
        <p:nvSpPr>
          <p:cNvPr id="665" name="Google Shape;665;p25"/>
          <p:cNvSpPr/>
          <p:nvPr/>
        </p:nvSpPr>
        <p:spPr>
          <a:xfrm>
            <a:off x="508000" y="2768600"/>
            <a:ext cx="5041800" cy="2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500">
                <a:solidFill>
                  <a:srgbClr val="060B52"/>
                </a:solidFill>
              </a:rPr>
              <a:t>Encabezados</a:t>
            </a:r>
            <a:endParaRPr b="1" sz="1500">
              <a:solidFill>
                <a:srgbClr val="060B52"/>
              </a:solidFill>
            </a:endParaRPr>
          </a:p>
        </p:txBody>
      </p:sp>
      <p:sp>
        <p:nvSpPr>
          <p:cNvPr id="666" name="Google Shape;666;p25"/>
          <p:cNvSpPr/>
          <p:nvPr/>
        </p:nvSpPr>
        <p:spPr>
          <a:xfrm>
            <a:off x="558800" y="3136900"/>
            <a:ext cx="49911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Host: ejemplo.test</a:t>
            </a:r>
            <a:endParaRPr b="1" sz="1442">
              <a:solidFill>
                <a:srgbClr val="08125F"/>
              </a:solidFill>
              <a:latin typeface="Consolas"/>
              <a:ea typeface="Consolas"/>
              <a:cs typeface="Consolas"/>
              <a:sym typeface="Consolas"/>
            </a:endParaRPr>
          </a:p>
        </p:txBody>
      </p:sp>
      <p:sp>
        <p:nvSpPr>
          <p:cNvPr id="667" name="Google Shape;667;p25"/>
          <p:cNvSpPr/>
          <p:nvPr/>
        </p:nvSpPr>
        <p:spPr>
          <a:xfrm>
            <a:off x="558800" y="3403600"/>
            <a:ext cx="49911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User-Agent: curl/8.5</a:t>
            </a:r>
            <a:endParaRPr b="1" sz="1442">
              <a:solidFill>
                <a:srgbClr val="08125F"/>
              </a:solidFill>
              <a:latin typeface="Consolas"/>
              <a:ea typeface="Consolas"/>
              <a:cs typeface="Consolas"/>
              <a:sym typeface="Consolas"/>
            </a:endParaRPr>
          </a:p>
        </p:txBody>
      </p:sp>
      <p:sp>
        <p:nvSpPr>
          <p:cNvPr id="668" name="Google Shape;668;p25"/>
          <p:cNvSpPr/>
          <p:nvPr/>
        </p:nvSpPr>
        <p:spPr>
          <a:xfrm>
            <a:off x="558800" y="3670300"/>
            <a:ext cx="49911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Cookie: sid=abc; tema=claro</a:t>
            </a:r>
            <a:endParaRPr b="1" sz="1442">
              <a:solidFill>
                <a:srgbClr val="08125F"/>
              </a:solidFill>
              <a:latin typeface="Consolas"/>
              <a:ea typeface="Consolas"/>
              <a:cs typeface="Consolas"/>
              <a:sym typeface="Consolas"/>
            </a:endParaRPr>
          </a:p>
        </p:txBody>
      </p:sp>
      <p:sp>
        <p:nvSpPr>
          <p:cNvPr id="669" name="Google Shape;669;p25"/>
          <p:cNvSpPr/>
          <p:nvPr/>
        </p:nvSpPr>
        <p:spPr>
          <a:xfrm>
            <a:off x="558800" y="3937000"/>
            <a:ext cx="49911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Content-Type: application/json</a:t>
            </a:r>
            <a:endParaRPr b="1" sz="1442">
              <a:solidFill>
                <a:srgbClr val="08125F"/>
              </a:solidFill>
              <a:latin typeface="Consolas"/>
              <a:ea typeface="Consolas"/>
              <a:cs typeface="Consolas"/>
              <a:sym typeface="Consolas"/>
            </a:endParaRPr>
          </a:p>
        </p:txBody>
      </p:sp>
      <p:sp>
        <p:nvSpPr>
          <p:cNvPr id="670" name="Google Shape;670;p25"/>
          <p:cNvSpPr/>
          <p:nvPr/>
        </p:nvSpPr>
        <p:spPr>
          <a:xfrm>
            <a:off x="558800" y="4203700"/>
            <a:ext cx="49911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Content-Length: 13</a:t>
            </a:r>
            <a:endParaRPr b="1" sz="1442">
              <a:solidFill>
                <a:srgbClr val="08125F"/>
              </a:solidFill>
              <a:latin typeface="Consolas"/>
              <a:ea typeface="Consolas"/>
              <a:cs typeface="Consolas"/>
              <a:sym typeface="Consolas"/>
            </a:endParaRPr>
          </a:p>
        </p:txBody>
      </p:sp>
      <p:sp>
        <p:nvSpPr>
          <p:cNvPr id="671" name="Google Shape;671;p25"/>
          <p:cNvSpPr/>
          <p:nvPr/>
        </p:nvSpPr>
        <p:spPr>
          <a:xfrm>
            <a:off x="495300" y="4622800"/>
            <a:ext cx="5105400" cy="292200"/>
          </a:xfrm>
          <a:prstGeom prst="roundRect">
            <a:avLst>
              <a:gd fmla="val 16667" name="adj"/>
            </a:avLst>
          </a:prstGeom>
          <a:solidFill>
            <a:srgbClr val="FFF2D5"/>
          </a:solidFill>
          <a:ln cap="flat" cmpd="sng" w="9525">
            <a:solidFill>
              <a:srgbClr val="FFF2D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2" name="Google Shape;672;p25"/>
          <p:cNvSpPr/>
          <p:nvPr/>
        </p:nvSpPr>
        <p:spPr>
          <a:xfrm>
            <a:off x="558800" y="4635500"/>
            <a:ext cx="4991100" cy="29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300">
                <a:solidFill>
                  <a:srgbClr val="0A0C52"/>
                </a:solidFill>
              </a:rPr>
              <a:t>Línea vacía: separa encabezados y cuerpo</a:t>
            </a:r>
            <a:endParaRPr sz="1300">
              <a:solidFill>
                <a:srgbClr val="0A0C52"/>
              </a:solidFill>
            </a:endParaRPr>
          </a:p>
        </p:txBody>
      </p:sp>
      <p:sp>
        <p:nvSpPr>
          <p:cNvPr id="673" name="Google Shape;673;p25"/>
          <p:cNvSpPr/>
          <p:nvPr/>
        </p:nvSpPr>
        <p:spPr>
          <a:xfrm>
            <a:off x="508000" y="5080000"/>
            <a:ext cx="5041800" cy="2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500">
                <a:solidFill>
                  <a:srgbClr val="060853"/>
                </a:solidFill>
              </a:rPr>
              <a:t>Cuerpo</a:t>
            </a:r>
            <a:endParaRPr b="1" sz="1500">
              <a:solidFill>
                <a:srgbClr val="060853"/>
              </a:solidFill>
            </a:endParaRPr>
          </a:p>
        </p:txBody>
      </p:sp>
      <p:sp>
        <p:nvSpPr>
          <p:cNvPr id="674" name="Google Shape;674;p25"/>
          <p:cNvSpPr/>
          <p:nvPr/>
        </p:nvSpPr>
        <p:spPr>
          <a:xfrm>
            <a:off x="495300" y="5410200"/>
            <a:ext cx="5105400" cy="393600"/>
          </a:xfrm>
          <a:prstGeom prst="roundRect">
            <a:avLst>
              <a:gd fmla="val 16667" name="adj"/>
            </a:avLst>
          </a:prstGeom>
          <a:solidFill>
            <a:srgbClr val="E5DBFF"/>
          </a:solidFill>
          <a:ln cap="flat" cmpd="sng" w="9525">
            <a:solidFill>
              <a:srgbClr val="E5DB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5" name="Google Shape;675;p25"/>
          <p:cNvSpPr/>
          <p:nvPr/>
        </p:nvSpPr>
        <p:spPr>
          <a:xfrm>
            <a:off x="558800" y="5486400"/>
            <a:ext cx="4991100" cy="33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442">
                <a:solidFill>
                  <a:srgbClr val="08125F"/>
                </a:solidFill>
                <a:latin typeface="Consolas"/>
                <a:ea typeface="Consolas"/>
                <a:cs typeface="Consolas"/>
                <a:sym typeface="Consolas"/>
              </a:rPr>
              <a:t>{"q":"libro"}</a:t>
            </a:r>
            <a:endParaRPr b="1" sz="1442">
              <a:solidFill>
                <a:srgbClr val="08125F"/>
              </a:solidFill>
              <a:latin typeface="Consolas"/>
              <a:ea typeface="Consolas"/>
              <a:cs typeface="Consolas"/>
              <a:sym typeface="Consolas"/>
            </a:endParaRPr>
          </a:p>
        </p:txBody>
      </p:sp>
      <p:sp>
        <p:nvSpPr>
          <p:cNvPr id="676" name="Google Shape;676;p25"/>
          <p:cNvSpPr/>
          <p:nvPr/>
        </p:nvSpPr>
        <p:spPr>
          <a:xfrm>
            <a:off x="381000" y="6502400"/>
            <a:ext cx="107568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000">
                <a:solidFill>
                  <a:srgbClr val="232897"/>
                </a:solidFill>
              </a:rPr>
              <a:t>Fuente: tesis, §2.5, §6.4 y tablas 6.3, A.1–A.2. Petición creada para ilustrar las variables.</a:t>
            </a:r>
            <a:endParaRPr sz="1000">
              <a:solidFill>
                <a:srgbClr val="23289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26"/>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111F5B"/>
                </a:solidFill>
                <a:latin typeface="Arial"/>
                <a:ea typeface="Arial"/>
                <a:cs typeface="Arial"/>
                <a:sym typeface="Arial"/>
              </a:rPr>
              <a:t>Problema de investigaci</a:t>
            </a:r>
            <a:r>
              <a:rPr b="1" lang="en-US">
                <a:solidFill>
                  <a:srgbClr val="111F5B"/>
                </a:solidFill>
                <a:latin typeface="Arial"/>
                <a:ea typeface="Arial"/>
                <a:cs typeface="Arial"/>
                <a:sym typeface="Arial"/>
              </a:rPr>
              <a:t>ón</a:t>
            </a:r>
            <a:endParaRPr b="1">
              <a:solidFill>
                <a:srgbClr val="111F5B"/>
              </a:solidFill>
              <a:latin typeface="Arial"/>
              <a:ea typeface="Arial"/>
              <a:cs typeface="Arial"/>
              <a:sym typeface="Arial"/>
            </a:endParaRPr>
          </a:p>
        </p:txBody>
      </p:sp>
      <p:sp>
        <p:nvSpPr>
          <p:cNvPr id="683" name="Google Shape;683;p26"/>
          <p:cNvSpPr txBox="1"/>
          <p:nvPr>
            <p:ph idx="1" type="body"/>
          </p:nvPr>
        </p:nvSpPr>
        <p:spPr>
          <a:xfrm>
            <a:off x="838200" y="16908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2500"/>
              <a:t>¿Qué resultados ofrecen los modelos para detectar ataques y sus tipos? ¿Cómo influyen las características HTTP y cuánto tiempo requiere procesar cada petición?</a:t>
            </a:r>
            <a:endParaRPr sz="2500"/>
          </a:p>
        </p:txBody>
      </p:sp>
      <p:graphicFrame>
        <p:nvGraphicFramePr>
          <p:cNvPr id="684" name="Google Shape;684;p26"/>
          <p:cNvGraphicFramePr/>
          <p:nvPr/>
        </p:nvGraphicFramePr>
        <p:xfrm>
          <a:off x="778500" y="2966350"/>
          <a:ext cx="3000000" cy="3000000"/>
        </p:xfrm>
        <a:graphic>
          <a:graphicData uri="http://schemas.openxmlformats.org/drawingml/2006/table">
            <a:tbl>
              <a:tblPr>
                <a:noFill/>
                <a:tableStyleId>{49FC4E21-8C64-4725-8E31-BC7DC537305F}</a:tableStyleId>
              </a:tblPr>
              <a:tblGrid>
                <a:gridCol w="5143500"/>
                <a:gridCol w="5143500"/>
              </a:tblGrid>
              <a:tr h="619125">
                <a:tc>
                  <a:txBody>
                    <a:bodyPr/>
                    <a:lstStyle/>
                    <a:p>
                      <a:pPr indent="0" lvl="0" marL="0" rtl="0" algn="l">
                        <a:spcBef>
                          <a:spcPts val="0"/>
                        </a:spcBef>
                        <a:spcAft>
                          <a:spcPts val="0"/>
                        </a:spcAft>
                        <a:buNone/>
                      </a:pPr>
                      <a:r>
                        <a:rPr lang="en-US">
                          <a:solidFill>
                            <a:schemeClr val="dk1"/>
                          </a:solidFill>
                        </a:rPr>
                        <a:t>Nivel de información</a:t>
                      </a:r>
                      <a:endParaRPr>
                        <a:solidFill>
                          <a:schemeClr val="dk1"/>
                        </a:solidFill>
                      </a:endParaRPr>
                    </a:p>
                  </a:txBody>
                  <a:tcPr marT="91425" marB="91425" marR="91425" marL="91425">
                    <a:solidFill>
                      <a:srgbClr val="9ADCEB"/>
                    </a:solidFill>
                  </a:tcPr>
                </a:tc>
                <a:tc>
                  <a:txBody>
                    <a:bodyPr/>
                    <a:lstStyle/>
                    <a:p>
                      <a:pPr indent="0" lvl="0" marL="0" rtl="0" algn="l">
                        <a:spcBef>
                          <a:spcPts val="0"/>
                        </a:spcBef>
                        <a:spcAft>
                          <a:spcPts val="0"/>
                        </a:spcAft>
                        <a:buNone/>
                      </a:pPr>
                      <a:r>
                        <a:rPr lang="en-US">
                          <a:solidFill>
                            <a:schemeClr val="dk1"/>
                          </a:solidFill>
                        </a:rPr>
                        <a:t>Pregunta que responde</a:t>
                      </a:r>
                      <a:endParaRPr>
                        <a:solidFill>
                          <a:schemeClr val="dk1"/>
                        </a:solidFill>
                      </a:endParaRPr>
                    </a:p>
                  </a:txBody>
                  <a:tcPr marT="91425" marB="91425" marR="91425" marL="91425">
                    <a:solidFill>
                      <a:srgbClr val="9ADCEB"/>
                    </a:solidFill>
                  </a:tcPr>
                </a:tc>
              </a:tr>
              <a:tr h="619125">
                <a:tc>
                  <a:txBody>
                    <a:bodyPr/>
                    <a:lstStyle/>
                    <a:p>
                      <a:pPr indent="0" lvl="0" marL="0" rtl="0" algn="l">
                        <a:spcBef>
                          <a:spcPts val="0"/>
                        </a:spcBef>
                        <a:spcAft>
                          <a:spcPts val="0"/>
                        </a:spcAft>
                        <a:buNone/>
                      </a:pPr>
                      <a:r>
                        <a:rPr lang="en-US"/>
                        <a:t>Detección</a:t>
                      </a:r>
                      <a:endParaRPr/>
                    </a:p>
                  </a:txBody>
                  <a:tcPr marT="91425" marB="91425" marR="91425" marL="91425"/>
                </a:tc>
                <a:tc>
                  <a:txBody>
                    <a:bodyPr/>
                    <a:lstStyle/>
                    <a:p>
                      <a:pPr indent="0" lvl="0" marL="0" rtl="0" algn="l">
                        <a:spcBef>
                          <a:spcPts val="0"/>
                        </a:spcBef>
                        <a:spcAft>
                          <a:spcPts val="0"/>
                        </a:spcAft>
                        <a:buNone/>
                      </a:pPr>
                      <a:r>
                        <a:rPr lang="en-US"/>
                        <a:t>¿La petici</a:t>
                      </a:r>
                      <a:r>
                        <a:rPr lang="en-US"/>
                        <a:t>ón debe tratarse como normal o ataque?</a:t>
                      </a:r>
                      <a:endParaRPr/>
                    </a:p>
                  </a:txBody>
                  <a:tcPr marT="91425" marB="91425" marR="91425" marL="91425"/>
                </a:tc>
              </a:tr>
              <a:tr h="651225">
                <a:tc>
                  <a:txBody>
                    <a:bodyPr/>
                    <a:lstStyle/>
                    <a:p>
                      <a:pPr indent="0" lvl="0" marL="0" rtl="0" algn="l">
                        <a:spcBef>
                          <a:spcPts val="0"/>
                        </a:spcBef>
                        <a:spcAft>
                          <a:spcPts val="0"/>
                        </a:spcAft>
                        <a:buNone/>
                      </a:pPr>
                      <a:r>
                        <a:rPr lang="en-US"/>
                        <a:t>Tipificaci</a:t>
                      </a:r>
                      <a:r>
                        <a:rPr lang="en-US"/>
                        <a:t>ón</a:t>
                      </a:r>
                      <a:endParaRPr/>
                    </a:p>
                  </a:txBody>
                  <a:tcPr marT="91425" marB="91425" marR="91425" marL="91425"/>
                </a:tc>
                <a:tc>
                  <a:txBody>
                    <a:bodyPr/>
                    <a:lstStyle/>
                    <a:p>
                      <a:pPr indent="0" lvl="0" marL="0" rtl="0" algn="l">
                        <a:spcBef>
                          <a:spcPts val="0"/>
                        </a:spcBef>
                        <a:spcAft>
                          <a:spcPts val="0"/>
                        </a:spcAft>
                        <a:buNone/>
                      </a:pPr>
                      <a:r>
                        <a:rPr lang="en-US"/>
                        <a:t>¿Qué clase predefinida corresponde a la petición?</a:t>
                      </a:r>
                      <a:endParaRPr/>
                    </a:p>
                  </a:txBody>
                  <a:tcPr marT="91425" marB="91425" marR="91425" marL="91425"/>
                </a:tc>
              </a:tr>
              <a:tr h="832125">
                <a:tc>
                  <a:txBody>
                    <a:bodyPr/>
                    <a:lstStyle/>
                    <a:p>
                      <a:pPr indent="0" lvl="0" marL="0" rtl="0" algn="l">
                        <a:spcBef>
                          <a:spcPts val="0"/>
                        </a:spcBef>
                        <a:spcAft>
                          <a:spcPts val="0"/>
                        </a:spcAft>
                        <a:buNone/>
                      </a:pPr>
                      <a:r>
                        <a:rPr lang="en-US"/>
                        <a:t>Patrones simult</a:t>
                      </a:r>
                      <a:r>
                        <a:rPr lang="en-US"/>
                        <a:t>áneos</a:t>
                      </a:r>
                      <a:endParaRPr/>
                    </a:p>
                  </a:txBody>
                  <a:tcPr marT="91425" marB="91425" marR="91425" marL="91425"/>
                </a:tc>
                <a:tc>
                  <a:txBody>
                    <a:bodyPr/>
                    <a:lstStyle/>
                    <a:p>
                      <a:pPr indent="0" lvl="0" marL="0" rtl="0" algn="l">
                        <a:spcBef>
                          <a:spcPts val="0"/>
                        </a:spcBef>
                        <a:spcAft>
                          <a:spcPts val="0"/>
                        </a:spcAft>
                        <a:buNone/>
                      </a:pPr>
                      <a:r>
                        <a:rPr lang="en-US"/>
                        <a:t>¿Qu</a:t>
                      </a:r>
                      <a:r>
                        <a:rPr lang="en-US"/>
                        <a:t>é etiquetas CAPEC pueden coexistir en una misma petición?</a:t>
                      </a:r>
                      <a:endParaRPr/>
                    </a:p>
                  </a:txBody>
                  <a:tcPr marT="91425" marB="91425" marR="91425" marL="91425"/>
                </a:tc>
              </a:tr>
            </a:tbl>
          </a:graphicData>
        </a:graphic>
      </p:graphicFrame>
      <p:sp>
        <p:nvSpPr>
          <p:cNvPr id="685" name="Google Shape;685;p26"/>
          <p:cNvSpPr txBox="1"/>
          <p:nvPr/>
        </p:nvSpPr>
        <p:spPr>
          <a:xfrm>
            <a:off x="737550" y="5834425"/>
            <a:ext cx="104712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Evaluamos aciertos, errores y tiempo de procesamiento dentro de cada conjunto de datos y protocolo.</a:t>
            </a:r>
            <a:endParaRPr sz="1700">
              <a:solidFill>
                <a:schemeClr val="dk1"/>
              </a:solidFill>
              <a:latin typeface="Calibri"/>
              <a:ea typeface="Calibri"/>
              <a:cs typeface="Calibri"/>
              <a:sym typeface="Calibri"/>
            </a:endParaRPr>
          </a:p>
        </p:txBody>
      </p:sp>
      <p:sp>
        <p:nvSpPr>
          <p:cNvPr id="686" name="Google Shape;686;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87" name="Google Shape;687;p26" title="DEFENSA_SEGURA_V2:barra-1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88" name="Google Shape;688;p26" title="DEFENSA_SEGURA_V2:avance-11"/>
          <p:cNvSpPr/>
          <p:nvPr/>
        </p:nvSpPr>
        <p:spPr>
          <a:xfrm>
            <a:off x="0" y="0"/>
            <a:ext cx="99753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89" name="Google Shape;689;p26" title="DEFENSA_SEGURA_V2:seccion-1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3" name="Shape 693"/>
        <p:cNvGrpSpPr/>
        <p:nvPr/>
      </p:nvGrpSpPr>
      <p:grpSpPr>
        <a:xfrm>
          <a:off x="0" y="0"/>
          <a:ext cx="0" cy="0"/>
          <a:chOff x="0" y="0"/>
          <a:chExt cx="0" cy="0"/>
        </a:xfrm>
      </p:grpSpPr>
      <p:sp>
        <p:nvSpPr>
          <p:cNvPr id="694" name="Google Shape;694;p27"/>
          <p:cNvSpPr/>
          <p:nvPr/>
        </p:nvSpPr>
        <p:spPr>
          <a:xfrm>
            <a:off x="203150" y="1275700"/>
            <a:ext cx="11684100" cy="4508400"/>
          </a:xfrm>
          <a:prstGeom prst="roundRect">
            <a:avLst>
              <a:gd fmla="val 4545" name="adj"/>
            </a:avLst>
          </a:prstGeom>
          <a:solidFill>
            <a:srgbClr val="DC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7"/>
          <p:cNvSpPr/>
          <p:nvPr/>
        </p:nvSpPr>
        <p:spPr>
          <a:xfrm>
            <a:off x="3458697" y="687431"/>
            <a:ext cx="7804800" cy="731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000">
                <a:solidFill>
                  <a:srgbClr val="111F5B"/>
                </a:solidFill>
              </a:rPr>
              <a:t>Objetivo general</a:t>
            </a:r>
            <a:endParaRPr b="1" sz="4000">
              <a:solidFill>
                <a:srgbClr val="111F5B"/>
              </a:solidFill>
            </a:endParaRPr>
          </a:p>
        </p:txBody>
      </p:sp>
      <p:sp>
        <p:nvSpPr>
          <p:cNvPr id="696" name="Google Shape;696;p27"/>
          <p:cNvSpPr/>
          <p:nvPr/>
        </p:nvSpPr>
        <p:spPr>
          <a:xfrm>
            <a:off x="889000" y="2057950"/>
            <a:ext cx="105411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600">
                <a:solidFill>
                  <a:srgbClr val="051574"/>
                </a:solidFill>
                <a:latin typeface="Quattrocento Sans"/>
                <a:ea typeface="Quattrocento Sans"/>
                <a:cs typeface="Quattrocento Sans"/>
                <a:sym typeface="Quattrocento Sans"/>
              </a:rPr>
              <a:t>Detección, clasificación y costo de ejecución</a:t>
            </a:r>
            <a:endParaRPr sz="2600">
              <a:solidFill>
                <a:srgbClr val="051574"/>
              </a:solidFill>
              <a:latin typeface="Quattrocento Sans"/>
              <a:ea typeface="Quattrocento Sans"/>
              <a:cs typeface="Quattrocento Sans"/>
              <a:sym typeface="Quattrocento Sans"/>
            </a:endParaRPr>
          </a:p>
        </p:txBody>
      </p:sp>
      <p:sp>
        <p:nvSpPr>
          <p:cNvPr id="697" name="Google Shape;697;p27"/>
          <p:cNvSpPr/>
          <p:nvPr/>
        </p:nvSpPr>
        <p:spPr>
          <a:xfrm>
            <a:off x="920800" y="2616013"/>
            <a:ext cx="104775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400">
                <a:solidFill>
                  <a:srgbClr val="1423A0"/>
                </a:solidFill>
                <a:latin typeface="Arial Narrow"/>
                <a:ea typeface="Arial Narrow"/>
                <a:cs typeface="Arial Narrow"/>
                <a:sym typeface="Arial Narrow"/>
              </a:rPr>
              <a:t>Diseñar, documentar y evaluar un flujo reproducible de aprendizaje automático para detectar anomalías y clasificar ataques HTTP.</a:t>
            </a:r>
            <a:endParaRPr sz="2400">
              <a:solidFill>
                <a:srgbClr val="1423A0"/>
              </a:solidFill>
              <a:latin typeface="Arial Narrow"/>
              <a:ea typeface="Arial Narrow"/>
              <a:cs typeface="Arial Narrow"/>
              <a:sym typeface="Arial Narrow"/>
            </a:endParaRPr>
          </a:p>
        </p:txBody>
      </p:sp>
      <p:sp>
        <p:nvSpPr>
          <p:cNvPr id="698" name="Google Shape;698;p27"/>
          <p:cNvSpPr/>
          <p:nvPr/>
        </p:nvSpPr>
        <p:spPr>
          <a:xfrm>
            <a:off x="920800" y="3537800"/>
            <a:ext cx="10477500" cy="1066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400">
                <a:solidFill>
                  <a:srgbClr val="10229F"/>
                </a:solidFill>
                <a:latin typeface="Arial Narrow"/>
                <a:ea typeface="Arial Narrow"/>
                <a:cs typeface="Arial Narrow"/>
                <a:sym typeface="Arial Narrow"/>
              </a:rPr>
              <a:t>Comparar enfoques one-class y supervisados (binarios, multiclase y multietiqueta) por corpus y protocolo, y analizar el costo medido para un posible uso tipo WAF.</a:t>
            </a:r>
            <a:endParaRPr sz="2400">
              <a:solidFill>
                <a:srgbClr val="10229F"/>
              </a:solidFill>
              <a:latin typeface="Arial Narrow"/>
              <a:ea typeface="Arial Narrow"/>
              <a:cs typeface="Arial Narrow"/>
              <a:sym typeface="Arial Narrow"/>
            </a:endParaRPr>
          </a:p>
        </p:txBody>
      </p:sp>
      <p:sp>
        <p:nvSpPr>
          <p:cNvPr id="699" name="Google Shape;699;p27"/>
          <p:cNvSpPr/>
          <p:nvPr/>
        </p:nvSpPr>
        <p:spPr>
          <a:xfrm>
            <a:off x="806450" y="5883900"/>
            <a:ext cx="104775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1325A2"/>
                </a:solidFill>
                <a:latin typeface="Arial Narrow"/>
                <a:ea typeface="Arial Narrow"/>
                <a:cs typeface="Arial Narrow"/>
                <a:sym typeface="Arial Narrow"/>
              </a:rPr>
              <a:t>El análisis usa las mediciones disponibles. No se evaluó un WAF desplegado ni la estabilidad bajo carga.</a:t>
            </a:r>
            <a:endParaRPr sz="1900">
              <a:solidFill>
                <a:srgbClr val="1325A2"/>
              </a:solidFill>
              <a:latin typeface="Arial Narrow"/>
              <a:ea typeface="Arial Narrow"/>
              <a:cs typeface="Arial Narrow"/>
              <a:sym typeface="Arial Narrow"/>
            </a:endParaRPr>
          </a:p>
        </p:txBody>
      </p:sp>
      <p:sp>
        <p:nvSpPr>
          <p:cNvPr id="700" name="Google Shape;700;p2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01" name="Google Shape;701;p27" title="DEFENSA_SEGURA_V2:barra-1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02" name="Google Shape;702;p27" title="DEFENSA_SEGURA_V2:avance-12"/>
          <p:cNvSpPr/>
          <p:nvPr/>
        </p:nvSpPr>
        <p:spPr>
          <a:xfrm>
            <a:off x="0" y="0"/>
            <a:ext cx="110835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03" name="Google Shape;703;p27" title="DEFENSA_SEGURA_V2:seccion-1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8"/>
          <p:cNvSpPr/>
          <p:nvPr/>
        </p:nvSpPr>
        <p:spPr>
          <a:xfrm>
            <a:off x="84025" y="4928324"/>
            <a:ext cx="11964000" cy="687900"/>
          </a:xfrm>
          <a:prstGeom prst="roundRect">
            <a:avLst>
              <a:gd fmla="val 8696" name="adj"/>
            </a:avLst>
          </a:prstGeom>
          <a:solidFill>
            <a:srgbClr val="D6EFFD"/>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0" name="Google Shape;710;p28"/>
          <p:cNvSpPr/>
          <p:nvPr/>
        </p:nvSpPr>
        <p:spPr>
          <a:xfrm>
            <a:off x="84025" y="2565432"/>
            <a:ext cx="5952000" cy="1226400"/>
          </a:xfrm>
          <a:prstGeom prst="roundRect">
            <a:avLst>
              <a:gd fmla="val 4878" name="adj"/>
            </a:avLst>
          </a:prstGeom>
          <a:solidFill>
            <a:srgbClr val="E7F5FE"/>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1" name="Google Shape;711;p28"/>
          <p:cNvSpPr/>
          <p:nvPr/>
        </p:nvSpPr>
        <p:spPr>
          <a:xfrm>
            <a:off x="6155792" y="2565432"/>
            <a:ext cx="5952000" cy="1226400"/>
          </a:xfrm>
          <a:prstGeom prst="roundRect">
            <a:avLst>
              <a:gd fmla="val 4878" name="adj"/>
            </a:avLst>
          </a:prstGeom>
          <a:solidFill>
            <a:srgbClr val="E5F9FA"/>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2" name="Google Shape;712;p28"/>
          <p:cNvSpPr/>
          <p:nvPr/>
        </p:nvSpPr>
        <p:spPr>
          <a:xfrm>
            <a:off x="6095972" y="1458761"/>
            <a:ext cx="6012000" cy="1046700"/>
          </a:xfrm>
          <a:prstGeom prst="roundRect">
            <a:avLst>
              <a:gd fmla="val 5714" name="adj"/>
            </a:avLst>
          </a:prstGeom>
          <a:solidFill>
            <a:srgbClr val="EAFAFC"/>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3" name="Google Shape;713;p28"/>
          <p:cNvSpPr/>
          <p:nvPr/>
        </p:nvSpPr>
        <p:spPr>
          <a:xfrm>
            <a:off x="84025" y="1458761"/>
            <a:ext cx="5952000" cy="1046700"/>
          </a:xfrm>
          <a:prstGeom prst="roundRect">
            <a:avLst>
              <a:gd fmla="val 5714" name="adj"/>
            </a:avLst>
          </a:prstGeom>
          <a:solidFill>
            <a:srgbClr val="E7F5FD"/>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4" name="Google Shape;714;p28"/>
          <p:cNvSpPr/>
          <p:nvPr/>
        </p:nvSpPr>
        <p:spPr>
          <a:xfrm>
            <a:off x="6095972" y="3851563"/>
            <a:ext cx="6012000" cy="1017000"/>
          </a:xfrm>
          <a:prstGeom prst="roundRect">
            <a:avLst>
              <a:gd fmla="val 5882" name="adj"/>
            </a:avLst>
          </a:prstGeom>
          <a:solidFill>
            <a:srgbClr val="EBFBFB"/>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5" name="Google Shape;715;p28"/>
          <p:cNvSpPr/>
          <p:nvPr/>
        </p:nvSpPr>
        <p:spPr>
          <a:xfrm>
            <a:off x="84025" y="3851563"/>
            <a:ext cx="5952000" cy="1017000"/>
          </a:xfrm>
          <a:prstGeom prst="roundRect">
            <a:avLst>
              <a:gd fmla="val 5882" name="adj"/>
            </a:avLst>
          </a:prstGeom>
          <a:solidFill>
            <a:srgbClr val="E7F6FE"/>
          </a:solidFill>
          <a:ln cap="flat" cmpd="sng" w="9775">
            <a:solidFill>
              <a:srgbClr val="32B5E8"/>
            </a:solidFill>
            <a:prstDash val="solid"/>
            <a:round/>
            <a:headEnd len="sm" w="sm" type="none"/>
            <a:tailEnd len="sm" w="sm" type="none"/>
          </a:ln>
        </p:spPr>
        <p:txBody>
          <a:bodyPr anchorCtr="0" anchor="ctr" bIns="93800" lIns="93800" spcFirstLastPara="1" rIns="93800" wrap="square" tIns="93800">
            <a:noAutofit/>
          </a:bodyPr>
          <a:lstStyle/>
          <a:p>
            <a:pPr indent="0" lvl="0" marL="0" rtl="0" algn="l">
              <a:spcBef>
                <a:spcPts val="0"/>
              </a:spcBef>
              <a:spcAft>
                <a:spcPts val="0"/>
              </a:spcAft>
              <a:buNone/>
            </a:pPr>
            <a:r>
              <a:t/>
            </a:r>
            <a:endParaRPr/>
          </a:p>
        </p:txBody>
      </p:sp>
      <p:sp>
        <p:nvSpPr>
          <p:cNvPr id="716" name="Google Shape;716;p28"/>
          <p:cNvSpPr/>
          <p:nvPr/>
        </p:nvSpPr>
        <p:spPr>
          <a:xfrm>
            <a:off x="1086016" y="1555969"/>
            <a:ext cx="418500" cy="418500"/>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1</a:t>
            </a:r>
            <a:endParaRPr sz="1436"/>
          </a:p>
        </p:txBody>
      </p:sp>
      <p:sp>
        <p:nvSpPr>
          <p:cNvPr id="717" name="Google Shape;717;p28"/>
          <p:cNvSpPr/>
          <p:nvPr/>
        </p:nvSpPr>
        <p:spPr>
          <a:xfrm>
            <a:off x="7008232" y="1563446"/>
            <a:ext cx="418500" cy="418500"/>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2</a:t>
            </a:r>
            <a:endParaRPr sz="1436"/>
          </a:p>
        </p:txBody>
      </p:sp>
      <p:sp>
        <p:nvSpPr>
          <p:cNvPr id="718" name="Google Shape;718;p28"/>
          <p:cNvSpPr/>
          <p:nvPr/>
        </p:nvSpPr>
        <p:spPr>
          <a:xfrm>
            <a:off x="1086016" y="2707505"/>
            <a:ext cx="418500" cy="418500"/>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3</a:t>
            </a:r>
            <a:endParaRPr sz="1436"/>
          </a:p>
        </p:txBody>
      </p:sp>
      <p:sp>
        <p:nvSpPr>
          <p:cNvPr id="719" name="Google Shape;719;p28"/>
          <p:cNvSpPr/>
          <p:nvPr/>
        </p:nvSpPr>
        <p:spPr>
          <a:xfrm>
            <a:off x="7008232" y="2632730"/>
            <a:ext cx="418500" cy="418500"/>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4</a:t>
            </a:r>
            <a:endParaRPr sz="1436"/>
          </a:p>
        </p:txBody>
      </p:sp>
      <p:sp>
        <p:nvSpPr>
          <p:cNvPr id="720" name="Google Shape;720;p28"/>
          <p:cNvSpPr/>
          <p:nvPr/>
        </p:nvSpPr>
        <p:spPr>
          <a:xfrm>
            <a:off x="1086016" y="3971203"/>
            <a:ext cx="418500" cy="418500"/>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5</a:t>
            </a:r>
            <a:endParaRPr sz="1436"/>
          </a:p>
        </p:txBody>
      </p:sp>
      <p:sp>
        <p:nvSpPr>
          <p:cNvPr id="721" name="Google Shape;721;p28"/>
          <p:cNvSpPr/>
          <p:nvPr/>
        </p:nvSpPr>
        <p:spPr>
          <a:xfrm>
            <a:off x="7008232" y="3956248"/>
            <a:ext cx="418500" cy="418500"/>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6</a:t>
            </a:r>
            <a:endParaRPr sz="1436"/>
          </a:p>
        </p:txBody>
      </p:sp>
      <p:sp>
        <p:nvSpPr>
          <p:cNvPr id="722" name="Google Shape;722;p28"/>
          <p:cNvSpPr/>
          <p:nvPr/>
        </p:nvSpPr>
        <p:spPr>
          <a:xfrm>
            <a:off x="1661787" y="5025532"/>
            <a:ext cx="418500" cy="418500"/>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847" u="none" cap="none" strike="noStrike">
                <a:solidFill>
                  <a:srgbClr val="FFFFFF"/>
                </a:solidFill>
                <a:latin typeface="Arial"/>
                <a:ea typeface="Arial"/>
                <a:cs typeface="Arial"/>
                <a:sym typeface="Arial"/>
              </a:rPr>
              <a:t>7</a:t>
            </a:r>
            <a:endParaRPr sz="1436"/>
          </a:p>
        </p:txBody>
      </p:sp>
      <p:sp>
        <p:nvSpPr>
          <p:cNvPr id="723" name="Google Shape;723;p28"/>
          <p:cNvSpPr/>
          <p:nvPr/>
        </p:nvSpPr>
        <p:spPr>
          <a:xfrm>
            <a:off x="304800" y="546100"/>
            <a:ext cx="11175900" cy="63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400">
                <a:solidFill>
                  <a:srgbClr val="06156F"/>
                </a:solidFill>
                <a:latin typeface="Quattrocento Sans"/>
                <a:ea typeface="Quattrocento Sans"/>
                <a:cs typeface="Quattrocento Sans"/>
                <a:sym typeface="Quattrocento Sans"/>
              </a:rPr>
              <a:t>Objetivos específicos</a:t>
            </a:r>
            <a:endParaRPr sz="3400">
              <a:solidFill>
                <a:srgbClr val="06156F"/>
              </a:solidFill>
              <a:latin typeface="Quattrocento Sans"/>
              <a:ea typeface="Quattrocento Sans"/>
              <a:cs typeface="Quattrocento Sans"/>
              <a:sym typeface="Quattrocento Sans"/>
            </a:endParaRPr>
          </a:p>
        </p:txBody>
      </p:sp>
      <p:sp>
        <p:nvSpPr>
          <p:cNvPr id="724" name="Google Shape;724;p28"/>
          <p:cNvSpPr/>
          <p:nvPr/>
        </p:nvSpPr>
        <p:spPr>
          <a:xfrm>
            <a:off x="1676742" y="1625115"/>
            <a:ext cx="3633600" cy="26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00">
                <a:solidFill>
                  <a:srgbClr val="17229B"/>
                </a:solidFill>
                <a:latin typeface="Arial Narrow"/>
                <a:ea typeface="Arial Narrow"/>
                <a:cs typeface="Arial Narrow"/>
                <a:sym typeface="Arial Narrow"/>
              </a:rPr>
              <a:t>Construir un esquema común para representar las</a:t>
            </a:r>
            <a:endParaRPr sz="1500">
              <a:solidFill>
                <a:srgbClr val="17229B"/>
              </a:solidFill>
              <a:latin typeface="Arial Narrow"/>
              <a:ea typeface="Arial Narrow"/>
              <a:cs typeface="Arial Narrow"/>
              <a:sym typeface="Arial Narrow"/>
            </a:endParaRPr>
          </a:p>
        </p:txBody>
      </p:sp>
      <p:sp>
        <p:nvSpPr>
          <p:cNvPr id="725" name="Google Shape;725;p28"/>
          <p:cNvSpPr/>
          <p:nvPr/>
        </p:nvSpPr>
        <p:spPr>
          <a:xfrm>
            <a:off x="1684220" y="1843563"/>
            <a:ext cx="4127100" cy="24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60">
                <a:solidFill>
                  <a:srgbClr val="1F289B"/>
                </a:solidFill>
                <a:latin typeface="Arial Narrow"/>
                <a:ea typeface="Arial Narrow"/>
                <a:cs typeface="Arial Narrow"/>
                <a:sym typeface="Arial Narrow"/>
              </a:rPr>
              <a:t>peticiones HTTP de los corpus estudiados,</a:t>
            </a:r>
            <a:endParaRPr b="1" sz="1460">
              <a:solidFill>
                <a:srgbClr val="1F289B"/>
              </a:solidFill>
              <a:latin typeface="Arial Narrow"/>
              <a:ea typeface="Arial Narrow"/>
              <a:cs typeface="Arial Narrow"/>
              <a:sym typeface="Arial Narrow"/>
            </a:endParaRPr>
          </a:p>
        </p:txBody>
      </p:sp>
      <p:sp>
        <p:nvSpPr>
          <p:cNvPr id="726" name="Google Shape;726;p28"/>
          <p:cNvSpPr/>
          <p:nvPr/>
        </p:nvSpPr>
        <p:spPr>
          <a:xfrm>
            <a:off x="1676742" y="2052189"/>
            <a:ext cx="4142100" cy="25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71">
                <a:solidFill>
                  <a:srgbClr val="141D98"/>
                </a:solidFill>
                <a:latin typeface="Arial Narrow"/>
                <a:ea typeface="Arial Narrow"/>
                <a:cs typeface="Arial Narrow"/>
                <a:sym typeface="Arial Narrow"/>
              </a:rPr>
              <a:t>e identificar las diferencias de características</a:t>
            </a:r>
            <a:endParaRPr sz="1471">
              <a:solidFill>
                <a:srgbClr val="141D98"/>
              </a:solidFill>
              <a:latin typeface="Arial Narrow"/>
              <a:ea typeface="Arial Narrow"/>
              <a:cs typeface="Arial Narrow"/>
              <a:sym typeface="Arial Narrow"/>
            </a:endParaRPr>
          </a:p>
        </p:txBody>
      </p:sp>
      <p:sp>
        <p:nvSpPr>
          <p:cNvPr id="727" name="Google Shape;727;p28"/>
          <p:cNvSpPr/>
          <p:nvPr/>
        </p:nvSpPr>
        <p:spPr>
          <a:xfrm>
            <a:off x="1676742" y="2269140"/>
            <a:ext cx="2796000" cy="25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47">
                <a:solidFill>
                  <a:srgbClr val="1E2A9E"/>
                </a:solidFill>
                <a:latin typeface="Arial Narrow"/>
                <a:ea typeface="Arial Narrow"/>
                <a:cs typeface="Arial Narrow"/>
                <a:sym typeface="Arial Narrow"/>
              </a:rPr>
              <a:t>entre las tareas y las pruebas.</a:t>
            </a:r>
            <a:endParaRPr sz="1547">
              <a:solidFill>
                <a:srgbClr val="1E2A9E"/>
              </a:solidFill>
              <a:latin typeface="Arial Narrow"/>
              <a:ea typeface="Arial Narrow"/>
              <a:cs typeface="Arial Narrow"/>
              <a:sym typeface="Arial Narrow"/>
            </a:endParaRPr>
          </a:p>
        </p:txBody>
      </p:sp>
      <p:sp>
        <p:nvSpPr>
          <p:cNvPr id="728" name="Google Shape;728;p28"/>
          <p:cNvSpPr/>
          <p:nvPr/>
        </p:nvSpPr>
        <p:spPr>
          <a:xfrm>
            <a:off x="1691697" y="2763596"/>
            <a:ext cx="4082100" cy="25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36">
                <a:solidFill>
                  <a:srgbClr val="111A95"/>
                </a:solidFill>
                <a:latin typeface="Arial Narrow"/>
                <a:ea typeface="Arial Narrow"/>
                <a:cs typeface="Arial Narrow"/>
                <a:sym typeface="Arial Narrow"/>
              </a:rPr>
              <a:t>Implementar y comparar modelos adecuados</a:t>
            </a:r>
            <a:endParaRPr b="1" sz="1436">
              <a:solidFill>
                <a:srgbClr val="111A95"/>
              </a:solidFill>
              <a:latin typeface="Arial Narrow"/>
              <a:ea typeface="Arial Narrow"/>
              <a:cs typeface="Arial Narrow"/>
              <a:sym typeface="Arial Narrow"/>
            </a:endParaRPr>
          </a:p>
        </p:txBody>
      </p:sp>
      <p:sp>
        <p:nvSpPr>
          <p:cNvPr id="729" name="Google Shape;729;p28"/>
          <p:cNvSpPr/>
          <p:nvPr/>
        </p:nvSpPr>
        <p:spPr>
          <a:xfrm>
            <a:off x="1684220" y="2978545"/>
            <a:ext cx="3888000" cy="26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36">
                <a:solidFill>
                  <a:srgbClr val="141F9B"/>
                </a:solidFill>
                <a:latin typeface="Arial Narrow"/>
                <a:ea typeface="Arial Narrow"/>
                <a:cs typeface="Arial Narrow"/>
                <a:sym typeface="Arial Narrow"/>
              </a:rPr>
              <a:t>para detectar anomalías y clasificar ataques,</a:t>
            </a:r>
            <a:endParaRPr sz="1436">
              <a:solidFill>
                <a:srgbClr val="141F9B"/>
              </a:solidFill>
              <a:latin typeface="Arial Narrow"/>
              <a:ea typeface="Arial Narrow"/>
              <a:cs typeface="Arial Narrow"/>
              <a:sym typeface="Arial Narrow"/>
            </a:endParaRPr>
          </a:p>
        </p:txBody>
      </p:sp>
      <p:sp>
        <p:nvSpPr>
          <p:cNvPr id="730" name="Google Shape;730;p28"/>
          <p:cNvSpPr/>
          <p:nvPr/>
        </p:nvSpPr>
        <p:spPr>
          <a:xfrm>
            <a:off x="1676742" y="3195617"/>
            <a:ext cx="3888000" cy="250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36">
                <a:solidFill>
                  <a:srgbClr val="17219A"/>
                </a:solidFill>
                <a:latin typeface="Arial Narrow"/>
                <a:ea typeface="Arial Narrow"/>
                <a:cs typeface="Arial Narrow"/>
                <a:sym typeface="Arial Narrow"/>
              </a:rPr>
              <a:t>considerando los datos, las características</a:t>
            </a:r>
            <a:endParaRPr b="1" sz="1436">
              <a:solidFill>
                <a:srgbClr val="17219A"/>
              </a:solidFill>
              <a:latin typeface="Arial Narrow"/>
              <a:ea typeface="Arial Narrow"/>
              <a:cs typeface="Arial Narrow"/>
              <a:sym typeface="Arial Narrow"/>
            </a:endParaRPr>
          </a:p>
        </p:txBody>
      </p:sp>
      <p:sp>
        <p:nvSpPr>
          <p:cNvPr id="731" name="Google Shape;731;p28"/>
          <p:cNvSpPr/>
          <p:nvPr/>
        </p:nvSpPr>
        <p:spPr>
          <a:xfrm>
            <a:off x="1676742" y="3413305"/>
            <a:ext cx="4039200" cy="24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36">
                <a:solidFill>
                  <a:srgbClr val="1D279E"/>
                </a:solidFill>
                <a:latin typeface="Arial Narrow"/>
                <a:ea typeface="Arial Narrow"/>
                <a:cs typeface="Arial Narrow"/>
                <a:sym typeface="Arial Narrow"/>
              </a:rPr>
              <a:t>y el protocolo de cada experimento.</a:t>
            </a:r>
            <a:endParaRPr b="1" sz="1436">
              <a:solidFill>
                <a:srgbClr val="1D279E"/>
              </a:solidFill>
              <a:latin typeface="Arial Narrow"/>
              <a:ea typeface="Arial Narrow"/>
              <a:cs typeface="Arial Narrow"/>
              <a:sym typeface="Arial Narrow"/>
            </a:endParaRPr>
          </a:p>
        </p:txBody>
      </p:sp>
      <p:sp>
        <p:nvSpPr>
          <p:cNvPr id="732" name="Google Shape;732;p28"/>
          <p:cNvSpPr/>
          <p:nvPr/>
        </p:nvSpPr>
        <p:spPr>
          <a:xfrm>
            <a:off x="1684220" y="4144162"/>
            <a:ext cx="3588600" cy="26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u="none" cap="none" strike="noStrike">
                <a:solidFill>
                  <a:srgbClr val="16229E"/>
                </a:solidFill>
                <a:latin typeface="Arial Narrow"/>
                <a:ea typeface="Arial Narrow"/>
                <a:cs typeface="Arial Narrow"/>
                <a:sym typeface="Arial Narrow"/>
              </a:rPr>
              <a:t>Evaluar el desempeño con métricas adecuadas</a:t>
            </a:r>
            <a:endParaRPr sz="1436"/>
          </a:p>
        </p:txBody>
      </p:sp>
      <p:sp>
        <p:nvSpPr>
          <p:cNvPr id="733" name="Google Shape;733;p28"/>
          <p:cNvSpPr/>
          <p:nvPr/>
        </p:nvSpPr>
        <p:spPr>
          <a:xfrm>
            <a:off x="1676742" y="4375964"/>
            <a:ext cx="1577100" cy="26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1" u="none" cap="none" strike="noStrike">
                <a:solidFill>
                  <a:srgbClr val="141D9F"/>
                </a:solidFill>
                <a:latin typeface="Arial Narrow"/>
                <a:ea typeface="Arial Narrow"/>
                <a:cs typeface="Arial Narrow"/>
                <a:sym typeface="Arial Narrow"/>
              </a:rPr>
              <a:t>a cada tipo de tarea.</a:t>
            </a:r>
            <a:endParaRPr sz="1436"/>
          </a:p>
        </p:txBody>
      </p:sp>
      <p:sp>
        <p:nvSpPr>
          <p:cNvPr id="734" name="Google Shape;734;p28"/>
          <p:cNvSpPr/>
          <p:nvPr/>
        </p:nvSpPr>
        <p:spPr>
          <a:xfrm>
            <a:off x="7606436" y="1666279"/>
            <a:ext cx="3820500" cy="24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46">
                <a:solidFill>
                  <a:srgbClr val="192299"/>
                </a:solidFill>
                <a:latin typeface="Arial Narrow"/>
                <a:ea typeface="Arial Narrow"/>
                <a:cs typeface="Arial Narrow"/>
                <a:sym typeface="Arial Narrow"/>
              </a:rPr>
              <a:t>Definir tareas de detección binaria y clasificación</a:t>
            </a:r>
            <a:endParaRPr b="1" sz="1446">
              <a:solidFill>
                <a:srgbClr val="192299"/>
              </a:solidFill>
              <a:latin typeface="Arial Narrow"/>
              <a:ea typeface="Arial Narrow"/>
              <a:cs typeface="Arial Narrow"/>
              <a:sym typeface="Arial Narrow"/>
            </a:endParaRPr>
          </a:p>
        </p:txBody>
      </p:sp>
      <p:sp>
        <p:nvSpPr>
          <p:cNvPr id="735" name="Google Shape;735;p28"/>
          <p:cNvSpPr/>
          <p:nvPr/>
        </p:nvSpPr>
        <p:spPr>
          <a:xfrm>
            <a:off x="7606436" y="1893692"/>
            <a:ext cx="3932400" cy="25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47">
                <a:solidFill>
                  <a:srgbClr val="222E9D"/>
                </a:solidFill>
                <a:latin typeface="Arial Narrow"/>
                <a:ea typeface="Arial Narrow"/>
                <a:cs typeface="Arial Narrow"/>
                <a:sym typeface="Arial Narrow"/>
              </a:rPr>
              <a:t>multiclase o multietiqueta según las etiquetas</a:t>
            </a:r>
            <a:endParaRPr b="1" sz="1447">
              <a:solidFill>
                <a:srgbClr val="222E9D"/>
              </a:solidFill>
              <a:latin typeface="Arial Narrow"/>
              <a:ea typeface="Arial Narrow"/>
              <a:cs typeface="Arial Narrow"/>
              <a:sym typeface="Arial Narrow"/>
            </a:endParaRPr>
          </a:p>
        </p:txBody>
      </p:sp>
      <p:sp>
        <p:nvSpPr>
          <p:cNvPr id="736" name="Google Shape;736;p28"/>
          <p:cNvSpPr/>
          <p:nvPr/>
        </p:nvSpPr>
        <p:spPr>
          <a:xfrm>
            <a:off x="7598958" y="2111746"/>
            <a:ext cx="2908200" cy="24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46">
                <a:solidFill>
                  <a:srgbClr val="1A289B"/>
                </a:solidFill>
                <a:latin typeface="Arial Narrow"/>
                <a:ea typeface="Arial Narrow"/>
                <a:cs typeface="Arial Narrow"/>
                <a:sym typeface="Arial Narrow"/>
              </a:rPr>
              <a:t>disponibles en cada corpus.</a:t>
            </a:r>
            <a:endParaRPr b="1" sz="1446">
              <a:solidFill>
                <a:srgbClr val="1A289B"/>
              </a:solidFill>
              <a:latin typeface="Arial Narrow"/>
              <a:ea typeface="Arial Narrow"/>
              <a:cs typeface="Arial Narrow"/>
              <a:sym typeface="Arial Narrow"/>
            </a:endParaRPr>
          </a:p>
        </p:txBody>
      </p:sp>
      <p:sp>
        <p:nvSpPr>
          <p:cNvPr id="737" name="Google Shape;737;p28"/>
          <p:cNvSpPr/>
          <p:nvPr/>
        </p:nvSpPr>
        <p:spPr>
          <a:xfrm>
            <a:off x="7606436" y="2674539"/>
            <a:ext cx="4329000" cy="24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121E95"/>
                </a:solidFill>
                <a:latin typeface="Arial Narrow"/>
                <a:ea typeface="Arial Narrow"/>
                <a:cs typeface="Arial Narrow"/>
                <a:sym typeface="Arial Narrow"/>
              </a:rPr>
              <a:t>Documentar y auditar las particiones utilizadas:</a:t>
            </a:r>
            <a:endParaRPr b="1" sz="1425">
              <a:solidFill>
                <a:srgbClr val="121E95"/>
              </a:solidFill>
              <a:latin typeface="Arial Narrow"/>
              <a:ea typeface="Arial Narrow"/>
              <a:cs typeface="Arial Narrow"/>
              <a:sym typeface="Arial Narrow"/>
            </a:endParaRPr>
          </a:p>
        </p:txBody>
      </p:sp>
      <p:sp>
        <p:nvSpPr>
          <p:cNvPr id="738" name="Google Shape;738;p28"/>
          <p:cNvSpPr/>
          <p:nvPr/>
        </p:nvSpPr>
        <p:spPr>
          <a:xfrm>
            <a:off x="7606436" y="2889670"/>
            <a:ext cx="4336200" cy="25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56">
                <a:solidFill>
                  <a:srgbClr val="1A2997"/>
                </a:solidFill>
                <a:latin typeface="Arial Narrow"/>
                <a:ea typeface="Arial Narrow"/>
                <a:cs typeface="Arial Narrow"/>
                <a:sym typeface="Arial Narrow"/>
              </a:rPr>
              <a:t>coincidencias entre conjuntos y uso previo de prueba.</a:t>
            </a:r>
            <a:endParaRPr sz="1456">
              <a:solidFill>
                <a:srgbClr val="1A2997"/>
              </a:solidFill>
              <a:latin typeface="Arial Narrow"/>
              <a:ea typeface="Arial Narrow"/>
              <a:cs typeface="Arial Narrow"/>
              <a:sym typeface="Arial Narrow"/>
            </a:endParaRPr>
          </a:p>
        </p:txBody>
      </p:sp>
      <p:sp>
        <p:nvSpPr>
          <p:cNvPr id="739" name="Google Shape;739;p28"/>
          <p:cNvSpPr/>
          <p:nvPr/>
        </p:nvSpPr>
        <p:spPr>
          <a:xfrm>
            <a:off x="7598958" y="3107118"/>
            <a:ext cx="43587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2">
                <a:solidFill>
                  <a:srgbClr val="202C9C"/>
                </a:solidFill>
                <a:latin typeface="Arial Narrow"/>
                <a:ea typeface="Arial Narrow"/>
                <a:cs typeface="Arial Narrow"/>
                <a:sym typeface="Arial Narrow"/>
              </a:rPr>
              <a:t>En multietiqueta, agrupar las peticiones</a:t>
            </a:r>
            <a:endParaRPr b="1" sz="1422">
              <a:solidFill>
                <a:srgbClr val="202C9C"/>
              </a:solidFill>
              <a:latin typeface="Arial Narrow"/>
              <a:ea typeface="Arial Narrow"/>
              <a:cs typeface="Arial Narrow"/>
              <a:sym typeface="Arial Narrow"/>
            </a:endParaRPr>
          </a:p>
        </p:txBody>
      </p:sp>
      <p:sp>
        <p:nvSpPr>
          <p:cNvPr id="740" name="Google Shape;740;p28"/>
          <p:cNvSpPr/>
          <p:nvPr/>
        </p:nvSpPr>
        <p:spPr>
          <a:xfrm>
            <a:off x="7598958" y="3323458"/>
            <a:ext cx="4007400" cy="24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41">
                <a:solidFill>
                  <a:srgbClr val="1C2997"/>
                </a:solidFill>
                <a:latin typeface="Arial Narrow"/>
                <a:ea typeface="Arial Narrow"/>
                <a:cs typeface="Arial Narrow"/>
                <a:sym typeface="Arial Narrow"/>
              </a:rPr>
              <a:t>según una regla de identidad reproducible,</a:t>
            </a:r>
            <a:endParaRPr b="1" sz="1441">
              <a:solidFill>
                <a:srgbClr val="1C2997"/>
              </a:solidFill>
              <a:latin typeface="Arial Narrow"/>
              <a:ea typeface="Arial Narrow"/>
              <a:cs typeface="Arial Narrow"/>
              <a:sym typeface="Arial Narrow"/>
            </a:endParaRPr>
          </a:p>
        </p:txBody>
      </p:sp>
      <p:sp>
        <p:nvSpPr>
          <p:cNvPr id="741" name="Google Shape;741;p28"/>
          <p:cNvSpPr/>
          <p:nvPr/>
        </p:nvSpPr>
        <p:spPr>
          <a:xfrm>
            <a:off x="7598958" y="3531880"/>
            <a:ext cx="3341700" cy="26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64">
                <a:solidFill>
                  <a:srgbClr val="162796"/>
                </a:solidFill>
                <a:latin typeface="Arial Narrow"/>
                <a:ea typeface="Arial Narrow"/>
                <a:cs typeface="Arial Narrow"/>
                <a:sym typeface="Arial Narrow"/>
              </a:rPr>
              <a:t>con un bloque de prueba reservado.</a:t>
            </a:r>
            <a:endParaRPr sz="1564">
              <a:solidFill>
                <a:srgbClr val="162796"/>
              </a:solidFill>
              <a:latin typeface="Arial Narrow"/>
              <a:ea typeface="Arial Narrow"/>
              <a:cs typeface="Arial Narrow"/>
              <a:sym typeface="Arial Narrow"/>
            </a:endParaRPr>
          </a:p>
        </p:txBody>
      </p:sp>
      <p:sp>
        <p:nvSpPr>
          <p:cNvPr id="742" name="Google Shape;742;p28"/>
          <p:cNvSpPr/>
          <p:nvPr/>
        </p:nvSpPr>
        <p:spPr>
          <a:xfrm>
            <a:off x="7606436" y="3974099"/>
            <a:ext cx="4201800" cy="24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39">
                <a:solidFill>
                  <a:srgbClr val="202D9D"/>
                </a:solidFill>
                <a:latin typeface="Arial Narrow"/>
                <a:ea typeface="Arial Narrow"/>
                <a:cs typeface="Arial Narrow"/>
                <a:sym typeface="Arial Narrow"/>
              </a:rPr>
              <a:t>Caracterizar el costo con mediciones disponibles:</a:t>
            </a:r>
            <a:endParaRPr b="1" sz="1439">
              <a:solidFill>
                <a:srgbClr val="202D9D"/>
              </a:solidFill>
              <a:latin typeface="Arial Narrow"/>
              <a:ea typeface="Arial Narrow"/>
              <a:cs typeface="Arial Narrow"/>
              <a:sym typeface="Arial Narrow"/>
            </a:endParaRPr>
          </a:p>
        </p:txBody>
      </p:sp>
      <p:sp>
        <p:nvSpPr>
          <p:cNvPr id="743" name="Google Shape;743;p28"/>
          <p:cNvSpPr/>
          <p:nvPr/>
        </p:nvSpPr>
        <p:spPr>
          <a:xfrm>
            <a:off x="7598958" y="4189900"/>
            <a:ext cx="4381200" cy="26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71">
                <a:solidFill>
                  <a:srgbClr val="182599"/>
                </a:solidFill>
                <a:latin typeface="Arial Narrow"/>
                <a:ea typeface="Arial Narrow"/>
                <a:cs typeface="Arial Narrow"/>
                <a:sym typeface="Arial Narrow"/>
              </a:rPr>
              <a:t>tiempos, tasa de procesamiento, CPU, memoria</a:t>
            </a:r>
            <a:endParaRPr sz="1571">
              <a:solidFill>
                <a:srgbClr val="182599"/>
              </a:solidFill>
              <a:latin typeface="Arial Narrow"/>
              <a:ea typeface="Arial Narrow"/>
              <a:cs typeface="Arial Narrow"/>
              <a:sym typeface="Arial Narrow"/>
            </a:endParaRPr>
          </a:p>
        </p:txBody>
      </p:sp>
      <p:sp>
        <p:nvSpPr>
          <p:cNvPr id="744" name="Google Shape;744;p28"/>
          <p:cNvSpPr/>
          <p:nvPr/>
        </p:nvSpPr>
        <p:spPr>
          <a:xfrm>
            <a:off x="7598958" y="4414882"/>
            <a:ext cx="4231800" cy="24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44">
                <a:solidFill>
                  <a:srgbClr val="1B2A9A"/>
                </a:solidFill>
                <a:latin typeface="Arial Narrow"/>
                <a:ea typeface="Arial Narrow"/>
                <a:cs typeface="Arial Narrow"/>
                <a:sym typeface="Arial Narrow"/>
              </a:rPr>
              <a:t>y tamaño del modelo; delimitar su alcance</a:t>
            </a:r>
            <a:endParaRPr b="1" sz="1444">
              <a:solidFill>
                <a:srgbClr val="1B2A9A"/>
              </a:solidFill>
              <a:latin typeface="Arial Narrow"/>
              <a:ea typeface="Arial Narrow"/>
              <a:cs typeface="Arial Narrow"/>
              <a:sym typeface="Arial Narrow"/>
            </a:endParaRPr>
          </a:p>
        </p:txBody>
      </p:sp>
      <p:sp>
        <p:nvSpPr>
          <p:cNvPr id="745" name="Google Shape;745;p28"/>
          <p:cNvSpPr/>
          <p:nvPr/>
        </p:nvSpPr>
        <p:spPr>
          <a:xfrm>
            <a:off x="7598958" y="4632496"/>
            <a:ext cx="7548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91" u="none" cap="none" strike="noStrike">
                <a:solidFill>
                  <a:srgbClr val="18299D"/>
                </a:solidFill>
                <a:latin typeface="Arial Narrow"/>
                <a:ea typeface="Arial Narrow"/>
                <a:cs typeface="Arial Narrow"/>
                <a:sym typeface="Arial Narrow"/>
              </a:rPr>
              <a:t>tipo WAF.</a:t>
            </a:r>
            <a:endParaRPr sz="1436"/>
          </a:p>
        </p:txBody>
      </p:sp>
      <p:sp>
        <p:nvSpPr>
          <p:cNvPr id="746" name="Google Shape;746;p28"/>
          <p:cNvSpPr/>
          <p:nvPr/>
        </p:nvSpPr>
        <p:spPr>
          <a:xfrm>
            <a:off x="2372154" y="5117394"/>
            <a:ext cx="8830200" cy="289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731">
                <a:solidFill>
                  <a:srgbClr val="1125AD"/>
                </a:solidFill>
                <a:latin typeface="Arial Narrow"/>
                <a:ea typeface="Arial Narrow"/>
                <a:cs typeface="Arial Narrow"/>
                <a:sym typeface="Arial Narrow"/>
              </a:rPr>
              <a:t>Contrastar los resultados con antecedentes relevantes y examinar el aporte de los grupos de características,</a:t>
            </a:r>
            <a:endParaRPr sz="1731">
              <a:solidFill>
                <a:srgbClr val="1125AD"/>
              </a:solidFill>
              <a:latin typeface="Arial Narrow"/>
              <a:ea typeface="Arial Narrow"/>
              <a:cs typeface="Arial Narrow"/>
              <a:sym typeface="Arial Narrow"/>
            </a:endParaRPr>
          </a:p>
        </p:txBody>
      </p:sp>
      <p:sp>
        <p:nvSpPr>
          <p:cNvPr id="747" name="Google Shape;747;p28"/>
          <p:cNvSpPr/>
          <p:nvPr/>
        </p:nvSpPr>
        <p:spPr>
          <a:xfrm>
            <a:off x="2364676" y="5357057"/>
            <a:ext cx="4725000" cy="26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80">
                <a:solidFill>
                  <a:srgbClr val="0B21AD"/>
                </a:solidFill>
                <a:latin typeface="Arial Narrow"/>
                <a:ea typeface="Arial Narrow"/>
                <a:cs typeface="Arial Narrow"/>
                <a:sym typeface="Arial Narrow"/>
              </a:rPr>
              <a:t>considerando las diferencias de datos y protocolos.</a:t>
            </a:r>
            <a:endParaRPr b="1" sz="1580">
              <a:solidFill>
                <a:srgbClr val="0B21AD"/>
              </a:solidFill>
              <a:latin typeface="Arial Narrow"/>
              <a:ea typeface="Arial Narrow"/>
              <a:cs typeface="Arial Narrow"/>
              <a:sym typeface="Arial Narrow"/>
            </a:endParaRPr>
          </a:p>
        </p:txBody>
      </p:sp>
      <p:sp>
        <p:nvSpPr>
          <p:cNvPr id="748" name="Google Shape;748;p28"/>
          <p:cNvSpPr txBox="1"/>
          <p:nvPr>
            <p:ph idx="12" type="sldNum"/>
          </p:nvPr>
        </p:nvSpPr>
        <p:spPr>
          <a:xfrm>
            <a:off x="11534945" y="64177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29"/>
          <p:cNvSpPr/>
          <p:nvPr/>
        </p:nvSpPr>
        <p:spPr>
          <a:xfrm>
            <a:off x="342900" y="266700"/>
            <a:ext cx="115062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111F5B"/>
                </a:solidFill>
              </a:rPr>
              <a:t>Motivación y alcance</a:t>
            </a:r>
            <a:endParaRPr b="1" sz="3600">
              <a:solidFill>
                <a:srgbClr val="111F5B"/>
              </a:solidFill>
            </a:endParaRPr>
          </a:p>
        </p:txBody>
      </p:sp>
      <p:sp>
        <p:nvSpPr>
          <p:cNvPr id="755" name="Google Shape;755;p29"/>
          <p:cNvSpPr/>
          <p:nvPr/>
        </p:nvSpPr>
        <p:spPr>
          <a:xfrm>
            <a:off x="361950" y="1181100"/>
            <a:ext cx="11468100" cy="11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50">
                <a:solidFill>
                  <a:srgbClr val="070F64"/>
                </a:solidFill>
              </a:rPr>
              <a:t>Buscamos detectar ataques, identificar sus tipos y reconocer etiquetas que coexisten. Evaluamos los modelos, las características HTTP y su costo de ejecución.</a:t>
            </a:r>
            <a:endParaRPr sz="2250">
              <a:solidFill>
                <a:srgbClr val="070F64"/>
              </a:solidFill>
            </a:endParaRPr>
          </a:p>
        </p:txBody>
      </p:sp>
      <p:sp>
        <p:nvSpPr>
          <p:cNvPr id="756" name="Google Shape;756;p29"/>
          <p:cNvSpPr/>
          <p:nvPr/>
        </p:nvSpPr>
        <p:spPr>
          <a:xfrm>
            <a:off x="361950" y="2771775"/>
            <a:ext cx="53625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70F64"/>
                </a:solidFill>
                <a:latin typeface="Arial"/>
                <a:ea typeface="Arial"/>
                <a:cs typeface="Arial"/>
                <a:sym typeface="Arial"/>
              </a:rPr>
              <a:t>Qué se estudió</a:t>
            </a:r>
            <a:endParaRPr/>
          </a:p>
        </p:txBody>
      </p:sp>
      <p:sp>
        <p:nvSpPr>
          <p:cNvPr id="757" name="Google Shape;757;p29"/>
          <p:cNvSpPr/>
          <p:nvPr/>
        </p:nvSpPr>
        <p:spPr>
          <a:xfrm>
            <a:off x="361950" y="3181350"/>
            <a:ext cx="5362500" cy="2724300"/>
          </a:xfrm>
          <a:prstGeom prst="rect">
            <a:avLst/>
          </a:prstGeom>
          <a:noFill/>
          <a:ln>
            <a:noFill/>
          </a:ln>
        </p:spPr>
        <p:txBody>
          <a:bodyPr anchorCtr="0" anchor="t" bIns="0" lIns="0" spcFirstLastPara="1" rIns="0" wrap="square" tIns="0">
            <a:noAutofit/>
          </a:bodyPr>
          <a:lstStyle/>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Peticiones HTTP guardadas en archivos.</a:t>
            </a:r>
            <a:endParaRPr b="0" sz="1875">
              <a:solidFill>
                <a:srgbClr val="070F64"/>
              </a:solidFill>
              <a:latin typeface="Arial"/>
              <a:ea typeface="Arial"/>
              <a:cs typeface="Arial"/>
              <a:sym typeface="Arial"/>
            </a:endParaRPr>
          </a:p>
          <a:p>
            <a:pPr indent="-347663" lvl="0" marL="457200" marR="0" rtl="0" algn="l">
              <a:spcBef>
                <a:spcPts val="0"/>
              </a:spcBef>
              <a:spcAft>
                <a:spcPts val="0"/>
              </a:spcAft>
              <a:buClr>
                <a:srgbClr val="070F64"/>
              </a:buClr>
              <a:buSzPts val="1875"/>
              <a:buChar char="-"/>
            </a:pPr>
            <a:r>
              <a:rPr lang="en-US" sz="1875">
                <a:solidFill>
                  <a:srgbClr val="070F64"/>
                </a:solidFill>
              </a:rPr>
              <a:t>Exploración one-class y clasificación binaria, multiclase y multietiqueta.</a:t>
            </a:r>
            <a:endParaRPr/>
          </a:p>
          <a:p>
            <a:pPr indent="-347663" lvl="0" marL="457200" marR="0" rtl="0" algn="l">
              <a:spcBef>
                <a:spcPts val="0"/>
              </a:spcBef>
              <a:spcAft>
                <a:spcPts val="0"/>
              </a:spcAft>
              <a:buClr>
                <a:srgbClr val="070F64"/>
              </a:buClr>
              <a:buSzPts val="1875"/>
              <a:buChar char="-"/>
            </a:pPr>
            <a:r>
              <a:rPr lang="en-US" sz="1875">
                <a:solidFill>
                  <a:srgbClr val="070F64"/>
                </a:solidFill>
              </a:rPr>
              <a:t>Entrenamiento y prueba por conjunto; en multietiqueta, agrupación de peticiones equivalentes.</a:t>
            </a:r>
            <a:endParaRPr b="0" sz="1875">
              <a:solidFill>
                <a:srgbClr val="070F64"/>
              </a:solidFill>
              <a:latin typeface="Arial"/>
              <a:ea typeface="Arial"/>
              <a:cs typeface="Arial"/>
              <a:sym typeface="Arial"/>
            </a:endParaRPr>
          </a:p>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Tiempo y recursos de preparación y predicción.</a:t>
            </a:r>
            <a:endParaRPr/>
          </a:p>
        </p:txBody>
      </p:sp>
      <p:sp>
        <p:nvSpPr>
          <p:cNvPr id="758" name="Google Shape;758;p29"/>
          <p:cNvSpPr/>
          <p:nvPr/>
        </p:nvSpPr>
        <p:spPr>
          <a:xfrm>
            <a:off x="6448425" y="2771775"/>
            <a:ext cx="53817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70F64"/>
                </a:solidFill>
                <a:latin typeface="Arial"/>
                <a:ea typeface="Arial"/>
                <a:cs typeface="Arial"/>
                <a:sym typeface="Arial"/>
              </a:rPr>
              <a:t>Qué quedó fuera</a:t>
            </a:r>
            <a:endParaRPr/>
          </a:p>
        </p:txBody>
      </p:sp>
      <p:sp>
        <p:nvSpPr>
          <p:cNvPr id="759" name="Google Shape;759;p29"/>
          <p:cNvSpPr/>
          <p:nvPr/>
        </p:nvSpPr>
        <p:spPr>
          <a:xfrm>
            <a:off x="6448425" y="3181350"/>
            <a:ext cx="5381700" cy="2724300"/>
          </a:xfrm>
          <a:prstGeom prst="rect">
            <a:avLst/>
          </a:prstGeom>
          <a:noFill/>
          <a:ln>
            <a:noFill/>
          </a:ln>
        </p:spPr>
        <p:txBody>
          <a:bodyPr anchorCtr="0" anchor="t" bIns="0" lIns="0" spcFirstLastPara="1" rIns="0" wrap="square" tIns="0">
            <a:noAutofit/>
          </a:bodyPr>
          <a:lstStyle/>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Construir un WAF completo.</a:t>
            </a:r>
            <a:endParaRPr/>
          </a:p>
          <a:p>
            <a:pPr indent="0" lvl="0" marL="0" marR="0" rtl="0" algn="l">
              <a:spcBef>
                <a:spcPts val="0"/>
              </a:spcBef>
              <a:spcAft>
                <a:spcPts val="0"/>
              </a:spcAft>
              <a:buNone/>
            </a:pPr>
            <a:r>
              <a:t/>
            </a:r>
            <a:endParaRPr b="0" sz="1875">
              <a:solidFill>
                <a:srgbClr val="070F64"/>
              </a:solidFill>
              <a:latin typeface="Arial"/>
              <a:ea typeface="Arial"/>
              <a:cs typeface="Arial"/>
              <a:sym typeface="Arial"/>
            </a:endParaRPr>
          </a:p>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Analizar tráfico HTTP en vivo.</a:t>
            </a:r>
            <a:endParaRPr/>
          </a:p>
          <a:p>
            <a:pPr indent="0" lvl="0" marL="0" marR="0" rtl="0" algn="l">
              <a:spcBef>
                <a:spcPts val="0"/>
              </a:spcBef>
              <a:spcAft>
                <a:spcPts val="0"/>
              </a:spcAft>
              <a:buNone/>
            </a:pPr>
            <a:r>
              <a:t/>
            </a:r>
            <a:endParaRPr b="0" sz="1875">
              <a:solidFill>
                <a:srgbClr val="070F64"/>
              </a:solidFill>
              <a:latin typeface="Arial"/>
              <a:ea typeface="Arial"/>
              <a:cs typeface="Arial"/>
              <a:sym typeface="Arial"/>
            </a:endParaRPr>
          </a:p>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Entrenar con un conjunto y evaluar ese mismo modelo con otro.</a:t>
            </a:r>
            <a:endParaRPr/>
          </a:p>
          <a:p>
            <a:pPr indent="0" lvl="0" marL="0" marR="0" rtl="0" algn="l">
              <a:spcBef>
                <a:spcPts val="0"/>
              </a:spcBef>
              <a:spcAft>
                <a:spcPts val="0"/>
              </a:spcAft>
              <a:buNone/>
            </a:pPr>
            <a:r>
              <a:t/>
            </a:r>
            <a:endParaRPr b="0" sz="1875">
              <a:solidFill>
                <a:srgbClr val="070F64"/>
              </a:solidFill>
              <a:latin typeface="Arial"/>
              <a:ea typeface="Arial"/>
              <a:cs typeface="Arial"/>
              <a:sym typeface="Arial"/>
            </a:endParaRPr>
          </a:p>
          <a:p>
            <a:pPr indent="-347663" lvl="0" marL="457200" marR="0" rtl="0" algn="l">
              <a:spcBef>
                <a:spcPts val="0"/>
              </a:spcBef>
              <a:spcAft>
                <a:spcPts val="0"/>
              </a:spcAft>
              <a:buClr>
                <a:srgbClr val="070F64"/>
              </a:buClr>
              <a:buSzPts val="1875"/>
              <a:buFont typeface="Arial"/>
              <a:buChar char="-"/>
            </a:pPr>
            <a:r>
              <a:rPr b="0" lang="en-US" sz="1875">
                <a:solidFill>
                  <a:srgbClr val="070F64"/>
                </a:solidFill>
                <a:latin typeface="Arial"/>
                <a:ea typeface="Arial"/>
                <a:cs typeface="Arial"/>
                <a:sym typeface="Arial"/>
              </a:rPr>
              <a:t>Medir tráfico concurrente en producción.</a:t>
            </a:r>
            <a:endParaRPr/>
          </a:p>
        </p:txBody>
      </p:sp>
      <p:sp>
        <p:nvSpPr>
          <p:cNvPr id="760" name="Google Shape;760;p29"/>
          <p:cNvSpPr/>
          <p:nvPr/>
        </p:nvSpPr>
        <p:spPr>
          <a:xfrm>
            <a:off x="361950" y="5938338"/>
            <a:ext cx="114681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70F64"/>
                </a:solidFill>
                <a:latin typeface="Arial"/>
                <a:ea typeface="Arial"/>
                <a:cs typeface="Arial"/>
                <a:sym typeface="Arial"/>
              </a:rPr>
              <a:t>Los resultados corresponden a los datos y condiciones evaluad</a:t>
            </a:r>
            <a:r>
              <a:rPr b="1" lang="en-US" sz="2025">
                <a:solidFill>
                  <a:srgbClr val="070F64"/>
                </a:solidFill>
              </a:rPr>
              <a:t>a</a:t>
            </a:r>
            <a:r>
              <a:rPr b="1" lang="en-US" sz="2025">
                <a:solidFill>
                  <a:srgbClr val="070F64"/>
                </a:solidFill>
                <a:latin typeface="Arial"/>
                <a:ea typeface="Arial"/>
                <a:cs typeface="Arial"/>
                <a:sym typeface="Arial"/>
              </a:rPr>
              <a:t>s.</a:t>
            </a:r>
            <a:endParaRPr/>
          </a:p>
        </p:txBody>
      </p:sp>
      <p:sp>
        <p:nvSpPr>
          <p:cNvPr id="761" name="Google Shape;761;p2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62" name="Google Shape;762;p29" title="DEFENSA_SEGURA_V2:barra-1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3" name="Google Shape;763;p29" title="DEFENSA_SEGURA_V2:avance-13"/>
          <p:cNvSpPr/>
          <p:nvPr/>
        </p:nvSpPr>
        <p:spPr>
          <a:xfrm>
            <a:off x="0" y="0"/>
            <a:ext cx="12192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4" name="Google Shape;764;p29" title="DEFENSA_SEGURA_V2:seccion-1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INTRODUCCIÓN</a:t>
            </a:r>
            <a:endParaRPr b="1" sz="650">
              <a:solidFill>
                <a:srgbClr val="647184"/>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3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71" name="Google Shape;771;p30"/>
          <p:cNvSpPr txBox="1"/>
          <p:nvPr/>
        </p:nvSpPr>
        <p:spPr>
          <a:xfrm>
            <a:off x="889000" y="1016000"/>
            <a:ext cx="10477500" cy="4953000"/>
          </a:xfrm>
          <a:prstGeom prst="rect">
            <a:avLst/>
          </a:prstGeom>
          <a:solidFill>
            <a:srgbClr val="ECF5FD"/>
          </a:solidFill>
          <a:ln cap="flat" cmpd="sng" w="12700">
            <a:solidFill>
              <a:srgbClr val="8CB8E3"/>
            </a:solidFill>
            <a:prstDash val="solid"/>
            <a:round/>
            <a:headEnd len="sm" w="sm" type="none"/>
            <a:tailEnd len="sm" w="sm" type="none"/>
          </a:ln>
        </p:spPr>
        <p:txBody>
          <a:bodyPr anchorCtr="0" anchor="t" bIns="91425" lIns="91425" spcFirstLastPara="1" rIns="91425" wrap="square" tIns="91425">
            <a:noAutofit/>
          </a:bodyPr>
          <a:lstStyle/>
          <a:p>
            <a:pPr indent="457200" lvl="0" marL="3200400" rtl="0" algn="l">
              <a:spcBef>
                <a:spcPts val="0"/>
              </a:spcBef>
              <a:spcAft>
                <a:spcPts val="0"/>
              </a:spcAft>
              <a:buNone/>
            </a:pPr>
            <a:r>
              <a:rPr b="1" lang="en-US" sz="4200">
                <a:solidFill>
                  <a:srgbClr val="063CA5"/>
                </a:solidFill>
                <a:latin typeface="Calibri"/>
                <a:ea typeface="Calibri"/>
                <a:cs typeface="Calibri"/>
                <a:sym typeface="Calibri"/>
              </a:rPr>
              <a:t>Fundamentos</a:t>
            </a:r>
            <a:endParaRPr b="1" sz="4200">
              <a:solidFill>
                <a:srgbClr val="063CA5"/>
              </a:solidFill>
              <a:latin typeface="Calibri"/>
              <a:ea typeface="Calibri"/>
              <a:cs typeface="Calibri"/>
              <a:sym typeface="Calibri"/>
            </a:endParaRPr>
          </a:p>
          <a:p>
            <a:pPr indent="0" lvl="0" marL="0" rtl="0" algn="l">
              <a:spcBef>
                <a:spcPts val="0"/>
              </a:spcBef>
              <a:spcAft>
                <a:spcPts val="0"/>
              </a:spcAft>
              <a:buNone/>
            </a:pPr>
            <a:r>
              <a:t/>
            </a:r>
            <a:endParaRPr sz="2500">
              <a:solidFill>
                <a:srgbClr val="111F5B"/>
              </a:solidFill>
              <a:latin typeface="Calibri"/>
              <a:ea typeface="Calibri"/>
              <a:cs typeface="Calibri"/>
              <a:sym typeface="Calibri"/>
            </a:endParaRPr>
          </a:p>
          <a:p>
            <a:pPr indent="0" lvl="0" marL="0" rtl="0" algn="l">
              <a:spcBef>
                <a:spcPts val="0"/>
              </a:spcBef>
              <a:spcAft>
                <a:spcPts val="0"/>
              </a:spcAft>
              <a:buNone/>
            </a:pPr>
            <a:r>
              <a:rPr lang="en-US" sz="2500">
                <a:solidFill>
                  <a:srgbClr val="111F5B"/>
                </a:solidFill>
                <a:latin typeface="Calibri"/>
                <a:ea typeface="Calibri"/>
                <a:cs typeface="Calibri"/>
                <a:sym typeface="Calibri"/>
              </a:rPr>
              <a:t>Cómo aprenden los modelos</a:t>
            </a:r>
            <a:endParaRPr sz="2500">
              <a:solidFill>
                <a:srgbClr val="111F5B"/>
              </a:solidFill>
              <a:latin typeface="Calibri"/>
              <a:ea typeface="Calibri"/>
              <a:cs typeface="Calibri"/>
              <a:sym typeface="Calibri"/>
            </a:endParaRPr>
          </a:p>
          <a:p>
            <a:pPr indent="0" lvl="0" marL="0" rtl="0" algn="l">
              <a:spcBef>
                <a:spcPts val="0"/>
              </a:spcBef>
              <a:spcAft>
                <a:spcPts val="0"/>
              </a:spcAft>
              <a:buNone/>
            </a:pPr>
            <a:r>
              <a:t/>
            </a:r>
            <a:endParaRPr sz="2500">
              <a:solidFill>
                <a:srgbClr val="111F5B"/>
              </a:solidFill>
              <a:latin typeface="Calibri"/>
              <a:ea typeface="Calibri"/>
              <a:cs typeface="Calibri"/>
              <a:sym typeface="Calibri"/>
            </a:endParaRPr>
          </a:p>
          <a:p>
            <a:pPr indent="0" lvl="0" marL="0" rtl="0" algn="l">
              <a:spcBef>
                <a:spcPts val="0"/>
              </a:spcBef>
              <a:spcAft>
                <a:spcPts val="0"/>
              </a:spcAft>
              <a:buNone/>
            </a:pPr>
            <a:r>
              <a:rPr lang="en-US" sz="2500">
                <a:solidFill>
                  <a:srgbClr val="111F5B"/>
                </a:solidFill>
                <a:latin typeface="Calibri"/>
                <a:ea typeface="Calibri"/>
                <a:cs typeface="Calibri"/>
                <a:sym typeface="Calibri"/>
              </a:rPr>
              <a:t>El ejemplo anterior usó tráfico normal como referencia.</a:t>
            </a:r>
            <a:endParaRPr sz="2500">
              <a:solidFill>
                <a:srgbClr val="111F5B"/>
              </a:solidFill>
              <a:latin typeface="Calibri"/>
              <a:ea typeface="Calibri"/>
              <a:cs typeface="Calibri"/>
              <a:sym typeface="Calibri"/>
            </a:endParaRPr>
          </a:p>
          <a:p>
            <a:pPr indent="0" lvl="0" marL="0" rtl="0" algn="l">
              <a:spcBef>
                <a:spcPts val="0"/>
              </a:spcBef>
              <a:spcAft>
                <a:spcPts val="0"/>
              </a:spcAft>
              <a:buNone/>
            </a:pPr>
            <a:r>
              <a:rPr lang="en-US" sz="2500">
                <a:solidFill>
                  <a:srgbClr val="111F5B"/>
                </a:solidFill>
                <a:latin typeface="Calibri"/>
                <a:ea typeface="Calibri"/>
                <a:cs typeface="Calibri"/>
                <a:sym typeface="Calibri"/>
              </a:rPr>
              <a:t>Ahora distinguimos ese aprendizaje del que usa etiquetas de normales y ataques.</a:t>
            </a:r>
            <a:endParaRPr sz="2500">
              <a:solidFill>
                <a:srgbClr val="111F5B"/>
              </a:solidFill>
              <a:latin typeface="Calibri"/>
              <a:ea typeface="Calibri"/>
              <a:cs typeface="Calibri"/>
              <a:sym typeface="Calibri"/>
            </a:endParaRPr>
          </a:p>
          <a:p>
            <a:pPr indent="0" lvl="0" marL="0" rtl="0" algn="l">
              <a:spcBef>
                <a:spcPts val="0"/>
              </a:spcBef>
              <a:spcAft>
                <a:spcPts val="0"/>
              </a:spcAft>
              <a:buNone/>
            </a:pPr>
            <a:r>
              <a:t/>
            </a:r>
            <a:endParaRPr sz="2500">
              <a:solidFill>
                <a:srgbClr val="111F5B"/>
              </a:solidFill>
              <a:latin typeface="Calibri"/>
              <a:ea typeface="Calibri"/>
              <a:cs typeface="Calibri"/>
              <a:sym typeface="Calibri"/>
            </a:endParaRPr>
          </a:p>
          <a:p>
            <a:pPr indent="0" lvl="0" marL="0" rtl="0" algn="l">
              <a:spcBef>
                <a:spcPts val="0"/>
              </a:spcBef>
              <a:spcAft>
                <a:spcPts val="0"/>
              </a:spcAft>
              <a:buNone/>
            </a:pPr>
            <a:r>
              <a:rPr lang="en-US" sz="2500">
                <a:solidFill>
                  <a:srgbClr val="111F5B"/>
                </a:solidFill>
                <a:latin typeface="Calibri"/>
                <a:ea typeface="Calibri"/>
                <a:cs typeface="Calibri"/>
                <a:sym typeface="Calibri"/>
              </a:rPr>
              <a:t>También definimos las salidas binaria, multiclase y multietiqueta.</a:t>
            </a:r>
            <a:endParaRPr sz="2500">
              <a:solidFill>
                <a:srgbClr val="111F5B"/>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31"/>
          <p:cNvSpPr/>
          <p:nvPr/>
        </p:nvSpPr>
        <p:spPr>
          <a:xfrm>
            <a:off x="285750" y="219075"/>
            <a:ext cx="11620500" cy="5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11F5B"/>
                </a:solidFill>
              </a:rPr>
              <a:t>Aprendizaje automático aplicado a HTTP</a:t>
            </a:r>
            <a:endParaRPr b="1" sz="3300">
              <a:solidFill>
                <a:srgbClr val="111F5B"/>
              </a:solidFill>
            </a:endParaRPr>
          </a:p>
        </p:txBody>
      </p:sp>
      <p:sp>
        <p:nvSpPr>
          <p:cNvPr id="778" name="Google Shape;778;p31"/>
          <p:cNvSpPr/>
          <p:nvPr/>
        </p:nvSpPr>
        <p:spPr>
          <a:xfrm>
            <a:off x="304800" y="800100"/>
            <a:ext cx="115824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75">
                <a:solidFill>
                  <a:srgbClr val="070F64"/>
                </a:solidFill>
              </a:rPr>
              <a:t>Ejemplo: aprender una referencia de tráfico normal</a:t>
            </a:r>
            <a:endParaRPr sz="1875">
              <a:solidFill>
                <a:srgbClr val="070F64"/>
              </a:solidFill>
            </a:endParaRPr>
          </a:p>
        </p:txBody>
      </p:sp>
      <p:sp>
        <p:nvSpPr>
          <p:cNvPr id="779" name="Google Shape;779;p31"/>
          <p:cNvSpPr/>
          <p:nvPr/>
        </p:nvSpPr>
        <p:spPr>
          <a:xfrm>
            <a:off x="266700" y="1304925"/>
            <a:ext cx="11658600" cy="1562100"/>
          </a:xfrm>
          <a:prstGeom prst="rect">
            <a:avLst/>
          </a:prstGeom>
          <a:solidFill>
            <a:srgbClr val="E8F5FC"/>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1"/>
          <p:cNvSpPr/>
          <p:nvPr/>
        </p:nvSpPr>
        <p:spPr>
          <a:xfrm>
            <a:off x="447675" y="1438275"/>
            <a:ext cx="57627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070F64"/>
                </a:solidFill>
                <a:latin typeface="Arial"/>
                <a:ea typeface="Arial"/>
                <a:cs typeface="Arial"/>
                <a:sym typeface="Arial"/>
              </a:rPr>
              <a:t>Definición</a:t>
            </a:r>
            <a:endParaRPr b="1" sz="1875">
              <a:solidFill>
                <a:srgbClr val="070F64"/>
              </a:solidFill>
              <a:latin typeface="Arial"/>
              <a:ea typeface="Arial"/>
              <a:cs typeface="Arial"/>
              <a:sym typeface="Arial"/>
            </a:endParaRPr>
          </a:p>
        </p:txBody>
      </p:sp>
      <p:sp>
        <p:nvSpPr>
          <p:cNvPr id="781" name="Google Shape;781;p31"/>
          <p:cNvSpPr/>
          <p:nvPr/>
        </p:nvSpPr>
        <p:spPr>
          <a:xfrm>
            <a:off x="7562850" y="1457325"/>
            <a:ext cx="41814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3F5270"/>
                </a:solidFill>
                <a:latin typeface="Arial"/>
                <a:ea typeface="Arial"/>
                <a:cs typeface="Arial"/>
                <a:sym typeface="Arial"/>
              </a:rPr>
              <a:t>Mitchell (1997, p. 2)</a:t>
            </a:r>
            <a:endParaRPr/>
          </a:p>
        </p:txBody>
      </p:sp>
      <p:sp>
        <p:nvSpPr>
          <p:cNvPr id="782" name="Google Shape;782;p31"/>
          <p:cNvSpPr/>
          <p:nvPr/>
        </p:nvSpPr>
        <p:spPr>
          <a:xfrm>
            <a:off x="447675" y="1866900"/>
            <a:ext cx="112872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070F64"/>
                </a:solidFill>
              </a:rPr>
              <a:t>Un modelo aprende de ejemplos para resolver una tarea. Evaluamos su desempeño con peticiones que no usamos para entrenarlo.</a:t>
            </a:r>
            <a:endParaRPr sz="2100">
              <a:solidFill>
                <a:srgbClr val="070F64"/>
              </a:solidFill>
            </a:endParaRPr>
          </a:p>
        </p:txBody>
      </p:sp>
      <p:sp>
        <p:nvSpPr>
          <p:cNvPr id="783" name="Google Shape;783;p31"/>
          <p:cNvSpPr/>
          <p:nvPr/>
        </p:nvSpPr>
        <p:spPr>
          <a:xfrm>
            <a:off x="447675" y="3143250"/>
            <a:ext cx="35244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70F64"/>
                </a:solidFill>
                <a:latin typeface="Arial"/>
                <a:ea typeface="Arial"/>
                <a:cs typeface="Arial"/>
                <a:sym typeface="Arial"/>
              </a:rPr>
              <a:t>Tarea (T)</a:t>
            </a:r>
            <a:endParaRPr/>
          </a:p>
        </p:txBody>
      </p:sp>
      <p:sp>
        <p:nvSpPr>
          <p:cNvPr id="784" name="Google Shape;784;p31"/>
          <p:cNvSpPr/>
          <p:nvPr/>
        </p:nvSpPr>
        <p:spPr>
          <a:xfrm>
            <a:off x="447675" y="3552825"/>
            <a:ext cx="3524400" cy="63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Detectar peticiones que</a:t>
            </a:r>
            <a:endParaRPr sz="1800">
              <a:solidFill>
                <a:srgbClr val="070F64"/>
              </a:solidFill>
            </a:endParaRPr>
          </a:p>
          <a:p>
            <a:pPr indent="0" lvl="0" marL="0" marR="0" rtl="0" algn="l">
              <a:spcBef>
                <a:spcPts val="0"/>
              </a:spcBef>
              <a:spcAft>
                <a:spcPts val="0"/>
              </a:spcAft>
              <a:buNone/>
            </a:pPr>
            <a:r>
              <a:rPr lang="en-US" sz="1800">
                <a:solidFill>
                  <a:srgbClr val="070F64"/>
                </a:solidFill>
              </a:rPr>
              <a:t>se apartan de lo normal.</a:t>
            </a:r>
            <a:endParaRPr sz="1800">
              <a:solidFill>
                <a:srgbClr val="070F64"/>
              </a:solidFill>
            </a:endParaRPr>
          </a:p>
        </p:txBody>
      </p:sp>
      <p:sp>
        <p:nvSpPr>
          <p:cNvPr id="785" name="Google Shape;785;p31"/>
          <p:cNvSpPr/>
          <p:nvPr/>
        </p:nvSpPr>
        <p:spPr>
          <a:xfrm>
            <a:off x="4352925" y="3143250"/>
            <a:ext cx="35244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70F64"/>
                </a:solidFill>
                <a:latin typeface="Arial"/>
                <a:ea typeface="Arial"/>
                <a:cs typeface="Arial"/>
                <a:sym typeface="Arial"/>
              </a:rPr>
              <a:t>Experiencia (E)</a:t>
            </a:r>
            <a:endParaRPr/>
          </a:p>
        </p:txBody>
      </p:sp>
      <p:sp>
        <p:nvSpPr>
          <p:cNvPr id="786" name="Google Shape;786;p31"/>
          <p:cNvSpPr/>
          <p:nvPr/>
        </p:nvSpPr>
        <p:spPr>
          <a:xfrm>
            <a:off x="4352925" y="3552825"/>
            <a:ext cx="3524400" cy="63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Características de peticiones</a:t>
            </a:r>
            <a:endParaRPr sz="1800">
              <a:solidFill>
                <a:srgbClr val="070F64"/>
              </a:solidFill>
            </a:endParaRPr>
          </a:p>
          <a:p>
            <a:pPr indent="0" lvl="0" marL="0" marR="0" rtl="0" algn="l">
              <a:spcBef>
                <a:spcPts val="0"/>
              </a:spcBef>
              <a:spcAft>
                <a:spcPts val="0"/>
              </a:spcAft>
              <a:buNone/>
            </a:pPr>
            <a:r>
              <a:rPr lang="en-US" sz="1800">
                <a:solidFill>
                  <a:srgbClr val="070F64"/>
                </a:solidFill>
              </a:rPr>
              <a:t>normales de entrenamiento.</a:t>
            </a:r>
            <a:endParaRPr sz="1800">
              <a:solidFill>
                <a:srgbClr val="070F64"/>
              </a:solidFill>
            </a:endParaRPr>
          </a:p>
        </p:txBody>
      </p:sp>
      <p:sp>
        <p:nvSpPr>
          <p:cNvPr id="787" name="Google Shape;787;p31"/>
          <p:cNvSpPr/>
          <p:nvPr/>
        </p:nvSpPr>
        <p:spPr>
          <a:xfrm>
            <a:off x="8258175" y="3143250"/>
            <a:ext cx="35052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070F64"/>
                </a:solidFill>
                <a:latin typeface="Arial"/>
                <a:ea typeface="Arial"/>
                <a:cs typeface="Arial"/>
                <a:sym typeface="Arial"/>
              </a:rPr>
              <a:t>Medida de desempeño (P)</a:t>
            </a:r>
            <a:endParaRPr/>
          </a:p>
        </p:txBody>
      </p:sp>
      <p:sp>
        <p:nvSpPr>
          <p:cNvPr id="788" name="Google Shape;788;p31"/>
          <p:cNvSpPr/>
          <p:nvPr/>
        </p:nvSpPr>
        <p:spPr>
          <a:xfrm>
            <a:off x="8258175" y="3552825"/>
            <a:ext cx="3495600" cy="63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Ataques detectados</a:t>
            </a:r>
            <a:endParaRPr sz="1800">
              <a:solidFill>
                <a:srgbClr val="070F64"/>
              </a:solidFill>
            </a:endParaRPr>
          </a:p>
          <a:p>
            <a:pPr indent="0" lvl="0" marL="0" marR="0" rtl="0" algn="l">
              <a:spcBef>
                <a:spcPts val="0"/>
              </a:spcBef>
              <a:spcAft>
                <a:spcPts val="0"/>
              </a:spcAft>
              <a:buNone/>
            </a:pPr>
            <a:r>
              <a:rPr lang="en-US" sz="1800">
                <a:solidFill>
                  <a:srgbClr val="070F64"/>
                </a:solidFill>
              </a:rPr>
              <a:t>y falsas alarmas en prueba.</a:t>
            </a:r>
            <a:endParaRPr sz="1800">
              <a:solidFill>
                <a:srgbClr val="070F64"/>
              </a:solidFill>
            </a:endParaRPr>
          </a:p>
        </p:txBody>
      </p:sp>
      <p:sp>
        <p:nvSpPr>
          <p:cNvPr id="789" name="Google Shape;789;p31"/>
          <p:cNvSpPr/>
          <p:nvPr/>
        </p:nvSpPr>
        <p:spPr>
          <a:xfrm>
            <a:off x="304800" y="4391025"/>
            <a:ext cx="115824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70F64"/>
                </a:solidFill>
              </a:rPr>
              <a:t>Conceptos en este ejemplo</a:t>
            </a:r>
            <a:endParaRPr b="1" sz="2175">
              <a:solidFill>
                <a:srgbClr val="070F64"/>
              </a:solidFill>
            </a:endParaRPr>
          </a:p>
        </p:txBody>
      </p:sp>
      <p:sp>
        <p:nvSpPr>
          <p:cNvPr id="790" name="Google Shape;790;p31"/>
          <p:cNvSpPr/>
          <p:nvPr/>
        </p:nvSpPr>
        <p:spPr>
          <a:xfrm>
            <a:off x="447675" y="4876800"/>
            <a:ext cx="30480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070F64"/>
                </a:solidFill>
                <a:latin typeface="Arial"/>
                <a:ea typeface="Arial"/>
                <a:cs typeface="Arial"/>
                <a:sym typeface="Arial"/>
              </a:rPr>
              <a:t>Algoritmo de aprendizaje</a:t>
            </a:r>
            <a:endParaRPr/>
          </a:p>
        </p:txBody>
      </p:sp>
      <p:sp>
        <p:nvSpPr>
          <p:cNvPr id="791" name="Google Shape;791;p31"/>
          <p:cNvSpPr/>
          <p:nvPr/>
        </p:nvSpPr>
        <p:spPr>
          <a:xfrm>
            <a:off x="3619500" y="4876800"/>
            <a:ext cx="81153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One-Class SVM ajusta el límite usando las características HTTP.</a:t>
            </a:r>
            <a:endParaRPr sz="1800">
              <a:solidFill>
                <a:srgbClr val="070F64"/>
              </a:solidFill>
            </a:endParaRPr>
          </a:p>
        </p:txBody>
      </p:sp>
      <p:sp>
        <p:nvSpPr>
          <p:cNvPr id="792" name="Google Shape;792;p31"/>
          <p:cNvSpPr/>
          <p:nvPr/>
        </p:nvSpPr>
        <p:spPr>
          <a:xfrm>
            <a:off x="447675" y="5295900"/>
            <a:ext cx="30480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070F64"/>
                </a:solidFill>
                <a:latin typeface="Arial"/>
                <a:ea typeface="Arial"/>
                <a:cs typeface="Arial"/>
                <a:sym typeface="Arial"/>
              </a:rPr>
              <a:t>Modelo</a:t>
            </a:r>
            <a:endParaRPr/>
          </a:p>
        </p:txBody>
      </p:sp>
      <p:sp>
        <p:nvSpPr>
          <p:cNvPr id="793" name="Google Shape;793;p31"/>
          <p:cNvSpPr/>
          <p:nvPr/>
        </p:nvSpPr>
        <p:spPr>
          <a:xfrm>
            <a:off x="3619500" y="5295900"/>
            <a:ext cx="81153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El límite aprendido permite evaluar una nueva petición.</a:t>
            </a:r>
            <a:endParaRPr sz="1800">
              <a:solidFill>
                <a:srgbClr val="070F64"/>
              </a:solidFill>
            </a:endParaRPr>
          </a:p>
        </p:txBody>
      </p:sp>
      <p:sp>
        <p:nvSpPr>
          <p:cNvPr id="794" name="Google Shape;794;p31"/>
          <p:cNvSpPr/>
          <p:nvPr/>
        </p:nvSpPr>
        <p:spPr>
          <a:xfrm>
            <a:off x="447675" y="5715000"/>
            <a:ext cx="30480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070F64"/>
                </a:solidFill>
                <a:latin typeface="Arial"/>
                <a:ea typeface="Arial"/>
                <a:cs typeface="Arial"/>
                <a:sym typeface="Arial"/>
              </a:rPr>
              <a:t>Generalización</a:t>
            </a:r>
            <a:endParaRPr/>
          </a:p>
        </p:txBody>
      </p:sp>
      <p:sp>
        <p:nvSpPr>
          <p:cNvPr id="795" name="Google Shape;795;p31"/>
          <p:cNvSpPr/>
          <p:nvPr/>
        </p:nvSpPr>
        <p:spPr>
          <a:xfrm>
            <a:off x="3619500" y="5715000"/>
            <a:ext cx="8115300" cy="3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Comprobamos si el modelo funciona con peticiones nuevas.</a:t>
            </a:r>
            <a:endParaRPr sz="1800">
              <a:solidFill>
                <a:srgbClr val="070F64"/>
              </a:solidFill>
            </a:endParaRPr>
          </a:p>
        </p:txBody>
      </p:sp>
      <p:sp>
        <p:nvSpPr>
          <p:cNvPr id="796" name="Google Shape;796;p31"/>
          <p:cNvSpPr/>
          <p:nvPr/>
        </p:nvSpPr>
        <p:spPr>
          <a:xfrm>
            <a:off x="304800" y="6172200"/>
            <a:ext cx="115824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00">
                <a:solidFill>
                  <a:srgbClr val="070F64"/>
                </a:solidFill>
              </a:rPr>
              <a:t>Las etiquetas de prueba permiten medir errores aunque el detector aprenda solo con normales.</a:t>
            </a:r>
            <a:endParaRPr b="1" sz="1700">
              <a:solidFill>
                <a:srgbClr val="070F64"/>
              </a:solidFill>
            </a:endParaRPr>
          </a:p>
        </p:txBody>
      </p:sp>
      <p:sp>
        <p:nvSpPr>
          <p:cNvPr id="797" name="Google Shape;797;p31"/>
          <p:cNvSpPr/>
          <p:nvPr/>
        </p:nvSpPr>
        <p:spPr>
          <a:xfrm>
            <a:off x="304800" y="6657975"/>
            <a:ext cx="11582400" cy="18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3F5270"/>
                </a:solidFill>
                <a:latin typeface="Arial"/>
                <a:ea typeface="Arial"/>
                <a:cs typeface="Arial"/>
                <a:sym typeface="Arial"/>
              </a:rPr>
              <a:t>Referencia: Mitchell, T. M. (1997). Machine Learning. McGraw-Hill. Capítulo 1, p. 2.</a:t>
            </a:r>
            <a:endParaRPr/>
          </a:p>
        </p:txBody>
      </p:sp>
      <p:sp>
        <p:nvSpPr>
          <p:cNvPr id="798" name="Google Shape;798;p3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99" name="Google Shape;799;p31" title="DEFENSA_SEGURA_V2:barra-1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0" name="Google Shape;800;p31" title="DEFENSA_SEGURA_V2:avance-17"/>
          <p:cNvSpPr/>
          <p:nvPr/>
        </p:nvSpPr>
        <p:spPr>
          <a:xfrm>
            <a:off x="0" y="0"/>
            <a:ext cx="4433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1" name="Google Shape;801;p31" title="DEFENSA_SEGURA_V2:seccion-1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FUNDAMENTOS</a:t>
            </a:r>
            <a:endParaRPr b="1" sz="650">
              <a:solidFill>
                <a:srgbClr val="64718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32"/>
          <p:cNvSpPr/>
          <p:nvPr/>
        </p:nvSpPr>
        <p:spPr>
          <a:xfrm>
            <a:off x="214935" y="230225"/>
            <a:ext cx="116586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11F5B"/>
                </a:solidFill>
              </a:rPr>
              <a:t>Qué aprende y qué responde cada enfoque</a:t>
            </a:r>
            <a:endParaRPr b="1" sz="3300">
              <a:solidFill>
                <a:srgbClr val="111F5B"/>
              </a:solidFill>
            </a:endParaRPr>
          </a:p>
        </p:txBody>
      </p:sp>
      <p:sp>
        <p:nvSpPr>
          <p:cNvPr id="808" name="Google Shape;808;p32"/>
          <p:cNvSpPr/>
          <p:nvPr/>
        </p:nvSpPr>
        <p:spPr>
          <a:xfrm>
            <a:off x="233985" y="849350"/>
            <a:ext cx="116205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070F64"/>
                </a:solidFill>
              </a:rPr>
              <a:t>El aprendizaje depende de los ejemplos disponibles. La salida depende de la pregunta que queremos responder.</a:t>
            </a:r>
            <a:endParaRPr sz="1900">
              <a:solidFill>
                <a:srgbClr val="070F64"/>
              </a:solidFill>
            </a:endParaRPr>
          </a:p>
        </p:txBody>
      </p:sp>
      <p:graphicFrame>
        <p:nvGraphicFramePr>
          <p:cNvPr id="809" name="Google Shape;809;p32"/>
          <p:cNvGraphicFramePr/>
          <p:nvPr/>
        </p:nvGraphicFramePr>
        <p:xfrm>
          <a:off x="786750" y="1461275"/>
          <a:ext cx="3000000" cy="3000000"/>
        </p:xfrm>
        <a:graphic>
          <a:graphicData uri="http://schemas.openxmlformats.org/drawingml/2006/table">
            <a:tbl>
              <a:tblPr>
                <a:noFill/>
                <a:tableStyleId>{49FC4E21-8C64-4725-8E31-BC7DC537305F}</a:tableStyleId>
              </a:tblPr>
              <a:tblGrid>
                <a:gridCol w="2571750"/>
                <a:gridCol w="2571750"/>
                <a:gridCol w="2571750"/>
                <a:gridCol w="2571750"/>
              </a:tblGrid>
              <a:tr h="381000">
                <a:tc>
                  <a:txBody>
                    <a:bodyPr/>
                    <a:lstStyle/>
                    <a:p>
                      <a:pPr indent="0" lvl="0" marL="0" rtl="0" algn="l">
                        <a:spcBef>
                          <a:spcPts val="0"/>
                        </a:spcBef>
                        <a:spcAft>
                          <a:spcPts val="0"/>
                        </a:spcAft>
                        <a:buNone/>
                      </a:pPr>
                      <a:r>
                        <a:rPr lang="en-US"/>
                        <a:t>Enfoque</a:t>
                      </a:r>
                      <a:endParaRPr/>
                    </a:p>
                  </a:txBody>
                  <a:tcPr marT="91425" marB="91425" marR="91425" marL="91425">
                    <a:solidFill>
                      <a:srgbClr val="9ADCEB"/>
                    </a:solidFill>
                  </a:tcPr>
                </a:tc>
                <a:tc>
                  <a:txBody>
                    <a:bodyPr/>
                    <a:lstStyle/>
                    <a:p>
                      <a:pPr indent="0" lvl="0" marL="0" rtl="0" algn="l">
                        <a:spcBef>
                          <a:spcPts val="0"/>
                        </a:spcBef>
                        <a:spcAft>
                          <a:spcPts val="0"/>
                        </a:spcAft>
                        <a:buNone/>
                      </a:pPr>
                      <a:r>
                        <a:rPr lang="en-US"/>
                        <a:t>Datos para aprender</a:t>
                      </a:r>
                      <a:endParaRPr/>
                    </a:p>
                  </a:txBody>
                  <a:tcPr marT="91425" marB="91425" marR="91425" marL="91425">
                    <a:solidFill>
                      <a:srgbClr val="9ADCEB"/>
                    </a:solidFill>
                  </a:tcPr>
                </a:tc>
                <a:tc>
                  <a:txBody>
                    <a:bodyPr/>
                    <a:lstStyle/>
                    <a:p>
                      <a:pPr indent="0" lvl="0" marL="0" rtl="0" algn="l">
                        <a:spcBef>
                          <a:spcPts val="0"/>
                        </a:spcBef>
                        <a:spcAft>
                          <a:spcPts val="0"/>
                        </a:spcAft>
                        <a:buNone/>
                      </a:pPr>
                      <a:r>
                        <a:rPr lang="en-US"/>
                        <a:t>Salida</a:t>
                      </a:r>
                      <a:endParaRPr/>
                    </a:p>
                  </a:txBody>
                  <a:tcPr marT="91425" marB="91425" marR="91425" marL="91425">
                    <a:solidFill>
                      <a:srgbClr val="9ADCEB"/>
                    </a:solidFill>
                  </a:tcPr>
                </a:tc>
                <a:tc>
                  <a:txBody>
                    <a:bodyPr/>
                    <a:lstStyle/>
                    <a:p>
                      <a:pPr indent="0" lvl="0" marL="0" rtl="0" algn="l">
                        <a:spcBef>
                          <a:spcPts val="0"/>
                        </a:spcBef>
                        <a:spcAft>
                          <a:spcPts val="0"/>
                        </a:spcAft>
                        <a:buNone/>
                      </a:pPr>
                      <a:r>
                        <a:rPr lang="en-US"/>
                        <a:t>Modelos usados</a:t>
                      </a:r>
                      <a:endParaRPr/>
                    </a:p>
                  </a:txBody>
                  <a:tcPr marT="91425" marB="91425" marR="91425" marL="91425">
                    <a:solidFill>
                      <a:srgbClr val="9ADCEB"/>
                    </a:solidFill>
                  </a:tcPr>
                </a:tc>
              </a:tr>
              <a:tr h="381000">
                <a:tc>
                  <a:txBody>
                    <a:bodyPr/>
                    <a:lstStyle/>
                    <a:p>
                      <a:pPr indent="0" lvl="0" marL="0" rtl="0" algn="l">
                        <a:spcBef>
                          <a:spcPts val="0"/>
                        </a:spcBef>
                        <a:spcAft>
                          <a:spcPts val="0"/>
                        </a:spcAft>
                        <a:buNone/>
                      </a:pPr>
                      <a:r>
                        <a:rPr lang="en-US"/>
                        <a:t>One-class</a:t>
                      </a:r>
                      <a:endParaRPr/>
                    </a:p>
                  </a:txBody>
                  <a:tcPr marT="91425" marB="91425" marR="91425" marL="91425"/>
                </a:tc>
                <a:tc>
                  <a:txBody>
                    <a:bodyPr/>
                    <a:lstStyle/>
                    <a:p>
                      <a:pPr indent="0" lvl="0" marL="0" rtl="0" algn="l">
                        <a:spcBef>
                          <a:spcPts val="0"/>
                        </a:spcBef>
                        <a:spcAft>
                          <a:spcPts val="0"/>
                        </a:spcAft>
                        <a:buNone/>
                      </a:pPr>
                      <a:r>
                        <a:rPr lang="en-US"/>
                        <a:t>Peticiones normales</a:t>
                      </a:r>
                      <a:endParaRPr/>
                    </a:p>
                  </a:txBody>
                  <a:tcPr marT="91425" marB="91425" marR="91425" marL="91425"/>
                </a:tc>
                <a:tc>
                  <a:txBody>
                    <a:bodyPr/>
                    <a:lstStyle/>
                    <a:p>
                      <a:pPr indent="0" lvl="0" marL="0" rtl="0" algn="l">
                        <a:spcBef>
                          <a:spcPts val="0"/>
                        </a:spcBef>
                        <a:spcAft>
                          <a:spcPts val="0"/>
                        </a:spcAft>
                        <a:buNone/>
                      </a:pPr>
                      <a:r>
                        <a:rPr lang="en-US"/>
                        <a:t>Normal o anómala</a:t>
                      </a:r>
                      <a:endParaRPr/>
                    </a:p>
                  </a:txBody>
                  <a:tcPr marT="91425" marB="91425" marR="91425" marL="91425"/>
                </a:tc>
                <a:tc>
                  <a:txBody>
                    <a:bodyPr/>
                    <a:lstStyle/>
                    <a:p>
                      <a:pPr indent="0" lvl="0" marL="0" rtl="0" algn="l">
                        <a:spcBef>
                          <a:spcPts val="0"/>
                        </a:spcBef>
                        <a:spcAft>
                          <a:spcPts val="0"/>
                        </a:spcAft>
                        <a:buNone/>
                      </a:pPr>
                      <a:r>
                        <a:rPr lang="en-US"/>
                        <a:t>One-Class SVM (OCSVM)</a:t>
                      </a:r>
                      <a:endParaRPr/>
                    </a:p>
                    <a:p>
                      <a:pPr indent="0" lvl="0" marL="0" rtl="0" algn="l">
                        <a:spcBef>
                          <a:spcPts val="0"/>
                        </a:spcBef>
                        <a:spcAft>
                          <a:spcPts val="0"/>
                        </a:spcAft>
                        <a:buNone/>
                      </a:pPr>
                      <a:r>
                        <a:rPr lang="en-US"/>
                        <a:t>Isolation Forest (IF)</a:t>
                      </a:r>
                      <a:endParaRPr/>
                    </a:p>
                  </a:txBody>
                  <a:tcPr marT="91425" marB="91425" marR="91425" marL="91425"/>
                </a:tc>
              </a:tr>
              <a:tr h="381000">
                <a:tc>
                  <a:txBody>
                    <a:bodyPr/>
                    <a:lstStyle/>
                    <a:p>
                      <a:pPr indent="0" lvl="0" marL="0" rtl="0" algn="l">
                        <a:spcBef>
                          <a:spcPts val="0"/>
                        </a:spcBef>
                        <a:spcAft>
                          <a:spcPts val="0"/>
                        </a:spcAft>
                        <a:buNone/>
                      </a:pPr>
                      <a:r>
                        <a:rPr lang="en-US"/>
                        <a:t>Binario supervisado</a:t>
                      </a:r>
                      <a:endParaRPr/>
                    </a:p>
                  </a:txBody>
                  <a:tcPr marT="91425" marB="91425" marR="91425" marL="91425"/>
                </a:tc>
                <a:tc>
                  <a:txBody>
                    <a:bodyPr/>
                    <a:lstStyle/>
                    <a:p>
                      <a:pPr indent="0" lvl="0" marL="0" rtl="0" algn="l">
                        <a:spcBef>
                          <a:spcPts val="0"/>
                        </a:spcBef>
                        <a:spcAft>
                          <a:spcPts val="0"/>
                        </a:spcAft>
                        <a:buNone/>
                      </a:pPr>
                      <a:r>
                        <a:rPr lang="en-US"/>
                        <a:t>Normales y ataques etiquetados</a:t>
                      </a:r>
                      <a:endParaRPr/>
                    </a:p>
                  </a:txBody>
                  <a:tcPr marT="91425" marB="91425" marR="91425" marL="91425"/>
                </a:tc>
                <a:tc>
                  <a:txBody>
                    <a:bodyPr/>
                    <a:lstStyle/>
                    <a:p>
                      <a:pPr indent="0" lvl="0" marL="0" rtl="0" algn="l">
                        <a:spcBef>
                          <a:spcPts val="0"/>
                        </a:spcBef>
                        <a:spcAft>
                          <a:spcPts val="0"/>
                        </a:spcAft>
                        <a:buNone/>
                      </a:pPr>
                      <a:r>
                        <a:rPr lang="en-US"/>
                        <a:t>Normal o ataque</a:t>
                      </a:r>
                      <a:endParaRPr/>
                    </a:p>
                  </a:txBody>
                  <a:tcPr marT="91425" marB="91425" marR="91425" marL="91425"/>
                </a:tc>
                <a:tc>
                  <a:txBody>
                    <a:bodyPr/>
                    <a:lstStyle/>
                    <a:p>
                      <a:pPr indent="0" lvl="0" marL="0" rtl="0" algn="l">
                        <a:spcBef>
                          <a:spcPts val="0"/>
                        </a:spcBef>
                        <a:spcAft>
                          <a:spcPts val="0"/>
                        </a:spcAft>
                        <a:buNone/>
                      </a:pPr>
                      <a:r>
                        <a:rPr lang="en-US"/>
                        <a:t>Random Forest (RF)</a:t>
                      </a:r>
                      <a:endParaRPr/>
                    </a:p>
                  </a:txBody>
                  <a:tcPr marT="91425" marB="91425" marR="91425" marL="91425"/>
                </a:tc>
              </a:tr>
              <a:tr h="381000">
                <a:tc>
                  <a:txBody>
                    <a:bodyPr/>
                    <a:lstStyle/>
                    <a:p>
                      <a:pPr indent="0" lvl="0" marL="0" rtl="0" algn="l">
                        <a:spcBef>
                          <a:spcPts val="0"/>
                        </a:spcBef>
                        <a:spcAft>
                          <a:spcPts val="0"/>
                        </a:spcAft>
                        <a:buNone/>
                      </a:pPr>
                      <a:r>
                        <a:rPr lang="en-US"/>
                        <a:t>Multiclase supervisado</a:t>
                      </a:r>
                      <a:endParaRPr/>
                    </a:p>
                  </a:txBody>
                  <a:tcPr marT="91425" marB="91425" marR="91425" marL="91425"/>
                </a:tc>
                <a:tc>
                  <a:txBody>
                    <a:bodyPr/>
                    <a:lstStyle/>
                    <a:p>
                      <a:pPr indent="0" lvl="0" marL="0" rtl="0" algn="l">
                        <a:spcBef>
                          <a:spcPts val="0"/>
                        </a:spcBef>
                        <a:spcAft>
                          <a:spcPts val="0"/>
                        </a:spcAft>
                        <a:buNone/>
                      </a:pPr>
                      <a:r>
                        <a:rPr lang="en-US"/>
                        <a:t>Una clase por petición</a:t>
                      </a:r>
                      <a:endParaRPr/>
                    </a:p>
                  </a:txBody>
                  <a:tcPr marT="91425" marB="91425" marR="91425" marL="91425"/>
                </a:tc>
                <a:tc>
                  <a:txBody>
                    <a:bodyPr/>
                    <a:lstStyle/>
                    <a:p>
                      <a:pPr indent="0" lvl="0" marL="0" rtl="0" algn="l">
                        <a:spcBef>
                          <a:spcPts val="0"/>
                        </a:spcBef>
                        <a:spcAft>
                          <a:spcPts val="0"/>
                        </a:spcAft>
                        <a:buNone/>
                      </a:pPr>
                      <a:r>
                        <a:rPr lang="en-US"/>
                        <a:t>Una clase predefinida</a:t>
                      </a:r>
                      <a:endParaRPr/>
                    </a:p>
                  </a:txBody>
                  <a:tcPr marT="91425" marB="91425" marR="91425" marL="91425"/>
                </a:tc>
                <a:tc>
                  <a:txBody>
                    <a:bodyPr/>
                    <a:lstStyle/>
                    <a:p>
                      <a:pPr indent="0" lvl="0" marL="0" rtl="0" algn="l">
                        <a:spcBef>
                          <a:spcPts val="0"/>
                        </a:spcBef>
                        <a:spcAft>
                          <a:spcPts val="0"/>
                        </a:spcAft>
                        <a:buNone/>
                      </a:pPr>
                      <a:r>
                        <a:rPr lang="en-US"/>
                        <a:t>HistGradientBoosting (HGB)</a:t>
                      </a:r>
                      <a:endParaRPr/>
                    </a:p>
                  </a:txBody>
                  <a:tcPr marT="91425" marB="91425" marR="91425" marL="91425"/>
                </a:tc>
              </a:tr>
              <a:tr h="381000">
                <a:tc>
                  <a:txBody>
                    <a:bodyPr/>
                    <a:lstStyle/>
                    <a:p>
                      <a:pPr indent="0" lvl="0" marL="0" rtl="0" algn="l">
                        <a:spcBef>
                          <a:spcPts val="0"/>
                        </a:spcBef>
                        <a:spcAft>
                          <a:spcPts val="0"/>
                        </a:spcAft>
                        <a:buNone/>
                      </a:pPr>
                      <a:r>
                        <a:rPr lang="en-US"/>
                        <a:t>Multietiqueta supervisado</a:t>
                      </a:r>
                      <a:endParaRPr/>
                    </a:p>
                  </a:txBody>
                  <a:tcPr marT="91425" marB="91425" marR="91425" marL="91425"/>
                </a:tc>
                <a:tc>
                  <a:txBody>
                    <a:bodyPr/>
                    <a:lstStyle/>
                    <a:p>
                      <a:pPr indent="0" lvl="0" marL="0" rtl="0" algn="l">
                        <a:spcBef>
                          <a:spcPts val="0"/>
                        </a:spcBef>
                        <a:spcAft>
                          <a:spcPts val="0"/>
                        </a:spcAft>
                        <a:buNone/>
                      </a:pPr>
                      <a:r>
                        <a:rPr lang="en-US"/>
                        <a:t>Presencia o ausencia de cada CAPEC</a:t>
                      </a:r>
                      <a:endParaRPr/>
                    </a:p>
                  </a:txBody>
                  <a:tcPr marT="91425" marB="91425" marR="91425" marL="91425"/>
                </a:tc>
                <a:tc>
                  <a:txBody>
                    <a:bodyPr/>
                    <a:lstStyle/>
                    <a:p>
                      <a:pPr indent="0" lvl="0" marL="0" rtl="0" algn="l">
                        <a:spcBef>
                          <a:spcPts val="0"/>
                        </a:spcBef>
                        <a:spcAft>
                          <a:spcPts val="0"/>
                        </a:spcAft>
                        <a:buNone/>
                      </a:pPr>
                      <a:r>
                        <a:rPr lang="en-US"/>
                        <a:t>Cero, una o varias CAPEC</a:t>
                      </a:r>
                      <a:endParaRPr/>
                    </a:p>
                  </a:txBody>
                  <a:tcPr marT="91425" marB="91425" marR="91425" marL="91425"/>
                </a:tc>
                <a:tc>
                  <a:txBody>
                    <a:bodyPr/>
                    <a:lstStyle/>
                    <a:p>
                      <a:pPr indent="0" lvl="0" marL="0" rtl="0" algn="l">
                        <a:spcBef>
                          <a:spcPts val="0"/>
                        </a:spcBef>
                        <a:spcAft>
                          <a:spcPts val="0"/>
                        </a:spcAft>
                        <a:buNone/>
                      </a:pPr>
                      <a:r>
                        <a:rPr lang="en-US"/>
                        <a:t>XGBoost, un clasificador por etiqueta</a:t>
                      </a:r>
                      <a:endParaRPr/>
                    </a:p>
                  </a:txBody>
                  <a:tcPr marT="91425" marB="91425" marR="91425" marL="91425"/>
                </a:tc>
              </a:tr>
            </a:tbl>
          </a:graphicData>
        </a:graphic>
      </p:graphicFrame>
      <p:sp>
        <p:nvSpPr>
          <p:cNvPr id="810" name="Google Shape;810;p32"/>
          <p:cNvSpPr txBox="1"/>
          <p:nvPr/>
        </p:nvSpPr>
        <p:spPr>
          <a:xfrm>
            <a:off x="800100" y="5334000"/>
            <a:ext cx="104139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Una clase multiclase puede ser normal o una categoría de ataque, incluso una combinación predefinida.</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En multietiqueta, ninguna CAPEC activa se interpreta como NORMAL.</a:t>
            </a:r>
            <a:endParaRPr sz="1600">
              <a:solidFill>
                <a:schemeClr val="dk1"/>
              </a:solidFill>
              <a:latin typeface="Calibri"/>
              <a:ea typeface="Calibri"/>
              <a:cs typeface="Calibri"/>
              <a:sym typeface="Calibri"/>
            </a:endParaRPr>
          </a:p>
        </p:txBody>
      </p:sp>
      <p:sp>
        <p:nvSpPr>
          <p:cNvPr id="811" name="Google Shape;811;p3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2" name="Google Shape;812;p32" title="DEFENSA_SEGURA_V2:barra-1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13" name="Google Shape;813;p32" title="DEFENSA_SEGURA_V2:avance-18"/>
          <p:cNvSpPr/>
          <p:nvPr/>
        </p:nvSpPr>
        <p:spPr>
          <a:xfrm>
            <a:off x="0" y="0"/>
            <a:ext cx="55419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14" name="Google Shape;814;p32" title="DEFENSA_SEGURA_V2:seccion-1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FUNDAMENTOS</a:t>
            </a:r>
            <a:endParaRPr b="1" sz="650">
              <a:solidFill>
                <a:srgbClr val="647184"/>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33"/>
          <p:cNvSpPr/>
          <p:nvPr/>
        </p:nvSpPr>
        <p:spPr>
          <a:xfrm>
            <a:off x="265607" y="5480570"/>
            <a:ext cx="11689938" cy="641343"/>
          </a:xfrm>
          <a:prstGeom prst="roundRect">
            <a:avLst>
              <a:gd fmla="val 9091" name="adj"/>
            </a:avLst>
          </a:prstGeom>
          <a:solidFill>
            <a:srgbClr val="E0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1" name="Google Shape;821;p33"/>
          <p:cNvPicPr preferRelativeResize="0"/>
          <p:nvPr/>
        </p:nvPicPr>
        <p:blipFill rotWithShape="1">
          <a:blip r:embed="rId3">
            <a:alphaModFix/>
          </a:blip>
          <a:srcRect b="0" l="0" r="0" t="0"/>
          <a:stretch/>
        </p:blipFill>
        <p:spPr>
          <a:xfrm>
            <a:off x="513399" y="5495146"/>
            <a:ext cx="641343" cy="583039"/>
          </a:xfrm>
          <a:prstGeom prst="rect">
            <a:avLst/>
          </a:prstGeom>
          <a:noFill/>
          <a:ln>
            <a:noFill/>
          </a:ln>
        </p:spPr>
      </p:pic>
      <p:pic>
        <p:nvPicPr>
          <p:cNvPr id="822" name="Google Shape;822;p33"/>
          <p:cNvPicPr preferRelativeResize="0"/>
          <p:nvPr/>
        </p:nvPicPr>
        <p:blipFill rotWithShape="1">
          <a:blip r:embed="rId4">
            <a:alphaModFix/>
          </a:blip>
          <a:srcRect b="0" l="0" r="0" t="0"/>
          <a:stretch/>
        </p:blipFill>
        <p:spPr>
          <a:xfrm>
            <a:off x="1446261" y="5495146"/>
            <a:ext cx="116608" cy="612191"/>
          </a:xfrm>
          <a:prstGeom prst="rect">
            <a:avLst/>
          </a:prstGeom>
          <a:noFill/>
          <a:ln>
            <a:noFill/>
          </a:ln>
        </p:spPr>
      </p:pic>
      <p:sp>
        <p:nvSpPr>
          <p:cNvPr id="823" name="Google Shape;823;p33"/>
          <p:cNvSpPr/>
          <p:nvPr/>
        </p:nvSpPr>
        <p:spPr>
          <a:xfrm>
            <a:off x="309335" y="131184"/>
            <a:ext cx="6172352" cy="8551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179" u="none" cap="none" strike="noStrike">
                <a:solidFill>
                  <a:srgbClr val="111F5B"/>
                </a:solidFill>
              </a:rPr>
              <a:t>Conjuntos de datos</a:t>
            </a:r>
            <a:endParaRPr b="1">
              <a:solidFill>
                <a:srgbClr val="111F5B"/>
              </a:solidFill>
            </a:endParaRPr>
          </a:p>
        </p:txBody>
      </p:sp>
      <p:sp>
        <p:nvSpPr>
          <p:cNvPr id="824" name="Google Shape;824;p33"/>
          <p:cNvSpPr/>
          <p:nvPr/>
        </p:nvSpPr>
        <p:spPr>
          <a:xfrm>
            <a:off x="1774221" y="5593011"/>
            <a:ext cx="9699740" cy="30724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5">
                <a:solidFill>
                  <a:srgbClr val="07097F"/>
                </a:solidFill>
                <a:latin typeface="Arial Narrow"/>
                <a:ea typeface="Arial Narrow"/>
                <a:cs typeface="Arial Narrow"/>
                <a:sym typeface="Arial Narrow"/>
              </a:rPr>
              <a:t>Binario: normal o ataque. Multiclase: una categoría. Multietiqueta: varias CAPEC.</a:t>
            </a:r>
            <a:endParaRPr b="1" sz="1805">
              <a:solidFill>
                <a:srgbClr val="07097F"/>
              </a:solidFill>
              <a:latin typeface="Arial Narrow"/>
              <a:ea typeface="Arial Narrow"/>
              <a:cs typeface="Arial Narrow"/>
              <a:sym typeface="Arial Narrow"/>
            </a:endParaRPr>
          </a:p>
        </p:txBody>
      </p:sp>
      <p:sp>
        <p:nvSpPr>
          <p:cNvPr id="825" name="Google Shape;825;p33"/>
          <p:cNvSpPr/>
          <p:nvPr/>
        </p:nvSpPr>
        <p:spPr>
          <a:xfrm>
            <a:off x="1774221" y="5847701"/>
            <a:ext cx="6908439" cy="3085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90" u="none" cap="none" strike="noStrike">
                <a:solidFill>
                  <a:srgbClr val="06097F"/>
                </a:solidFill>
                <a:latin typeface="Arial Narrow"/>
                <a:ea typeface="Arial Narrow"/>
                <a:cs typeface="Arial Narrow"/>
                <a:sym typeface="Arial Narrow"/>
              </a:rPr>
              <a:t>Los modelos se entrenaron y evaluaron por separado para cada conjunto.</a:t>
            </a:r>
            <a:endParaRPr/>
          </a:p>
        </p:txBody>
      </p:sp>
      <p:sp>
        <p:nvSpPr>
          <p:cNvPr id="826" name="Google Shape;826;p33"/>
          <p:cNvSpPr/>
          <p:nvPr/>
        </p:nvSpPr>
        <p:spPr>
          <a:xfrm>
            <a:off x="304800" y="6259245"/>
            <a:ext cx="11620500" cy="19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70">
                <a:solidFill>
                  <a:srgbClr val="1A1A91"/>
                </a:solidFill>
                <a:latin typeface="Quattrocento Sans"/>
                <a:ea typeface="Quattrocento Sans"/>
                <a:cs typeface="Quattrocento Sans"/>
                <a:sym typeface="Quattrocento Sans"/>
              </a:rPr>
              <a:t>* CSIC (s. f.). HTTP Dataset CSIC 2010. doi:10.23721/100/1478804 • Sureda Riera et al. (2022). SR-BH 2020. doi:10.7910/DVN/OGOIXX</a:t>
            </a:r>
            <a:endParaRPr/>
          </a:p>
        </p:txBody>
      </p:sp>
      <p:sp>
        <p:nvSpPr>
          <p:cNvPr id="827" name="Google Shape;827;p33"/>
          <p:cNvSpPr/>
          <p:nvPr/>
        </p:nvSpPr>
        <p:spPr>
          <a:xfrm>
            <a:off x="309335" y="6431389"/>
            <a:ext cx="8963653" cy="2116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16" u="none" cap="none" strike="noStrike">
                <a:solidFill>
                  <a:srgbClr val="272895"/>
                </a:solidFill>
                <a:latin typeface="Arial Narrow"/>
                <a:ea typeface="Arial Narrow"/>
                <a:cs typeface="Arial Narrow"/>
                <a:sym typeface="Arial Narrow"/>
              </a:rPr>
              <a:t>* Torrano-Giménez et al. (2012). TORPEDA. https://recsi2012.mondragon.edu/es/programa/recsi2012_submission_73.pdf/at_download/file</a:t>
            </a:r>
            <a:endParaRPr/>
          </a:p>
        </p:txBody>
      </p:sp>
      <p:sp>
        <p:nvSpPr>
          <p:cNvPr id="828" name="Google Shape;828;p33"/>
          <p:cNvSpPr/>
          <p:nvPr/>
        </p:nvSpPr>
        <p:spPr>
          <a:xfrm>
            <a:off x="309335" y="6617496"/>
            <a:ext cx="7870454" cy="1893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47" u="none" cap="none" strike="noStrike">
                <a:solidFill>
                  <a:srgbClr val="1F2093"/>
                </a:solidFill>
                <a:latin typeface="Quattrocento Sans"/>
                <a:ea typeface="Quattrocento Sans"/>
                <a:cs typeface="Quattrocento Sans"/>
                <a:sym typeface="Quattrocento Sans"/>
              </a:rPr>
              <a:t>* Osama et al. (2026). Enhanced Web Payload Classification Using WAMM... https://doi.org/10.1109/ACCESS.2026.3685450</a:t>
            </a:r>
            <a:endParaRPr/>
          </a:p>
        </p:txBody>
      </p:sp>
      <p:graphicFrame>
        <p:nvGraphicFramePr>
          <p:cNvPr id="829" name="Google Shape;829;p33"/>
          <p:cNvGraphicFramePr/>
          <p:nvPr/>
        </p:nvGraphicFramePr>
        <p:xfrm>
          <a:off x="258319" y="889135"/>
          <a:ext cx="3000000" cy="3000000"/>
        </p:xfrm>
        <a:graphic>
          <a:graphicData uri="http://schemas.openxmlformats.org/drawingml/2006/table">
            <a:tbl>
              <a:tblPr>
                <a:noFill/>
                <a:tableStyleId>{F1B291AF-9CB1-4793-AFE8-E70834C1BA4F}</a:tableStyleId>
              </a:tblPr>
              <a:tblGrid>
                <a:gridCol w="3541975"/>
                <a:gridCol w="3833475"/>
                <a:gridCol w="4299925"/>
              </a:tblGrid>
              <a:tr h="932875">
                <a:tc>
                  <a:txBody>
                    <a:bodyPr/>
                    <a:lstStyle/>
                    <a:p>
                      <a:pPr indent="0" lvl="0" marL="0" marR="0" rtl="0" algn="l">
                        <a:spcBef>
                          <a:spcPts val="0"/>
                        </a:spcBef>
                        <a:spcAft>
                          <a:spcPts val="0"/>
                        </a:spcAft>
                        <a:buNone/>
                      </a:pPr>
                      <a:r>
                        <a:rPr b="1" lang="en-US" sz="2043" u="none" cap="none" strike="noStrike">
                          <a:solidFill>
                            <a:srgbClr val="070F64"/>
                          </a:solidFill>
                          <a:latin typeface="Arial"/>
                          <a:ea typeface="Arial"/>
                          <a:cs typeface="Arial"/>
                          <a:sym typeface="Arial"/>
                        </a:rPr>
                        <a:t>Conjunto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2043" u="none" cap="none" strike="noStrike">
                          <a:solidFill>
                            <a:srgbClr val="070F64"/>
                          </a:solidFill>
                          <a:latin typeface="Arial"/>
                          <a:ea typeface="Arial"/>
                          <a:cs typeface="Arial"/>
                          <a:sym typeface="Arial"/>
                        </a:rPr>
                        <a:t>Origen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2043" u="none" cap="none" strike="noStrike">
                          <a:solidFill>
                            <a:srgbClr val="070F64"/>
                          </a:solidFill>
                          <a:latin typeface="Arial"/>
                          <a:ea typeface="Arial"/>
                          <a:cs typeface="Arial"/>
                          <a:sym typeface="Arial"/>
                        </a:rPr>
                        <a:t>Uso en el trabajo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r>
              <a:tr h="911000">
                <a:tc>
                  <a:txBody>
                    <a:bodyPr/>
                    <a:lstStyle/>
                    <a:p>
                      <a:pPr indent="0" lvl="0" marL="0" marR="0" rtl="0" algn="l">
                        <a:spcBef>
                          <a:spcPts val="0"/>
                        </a:spcBef>
                        <a:spcAft>
                          <a:spcPts val="0"/>
                        </a:spcAft>
                        <a:buNone/>
                      </a:pPr>
                      <a:r>
                        <a:rPr b="1" lang="en-US" sz="1583" u="none" cap="none" strike="noStrike">
                          <a:solidFill>
                            <a:srgbClr val="070F64"/>
                          </a:solidFill>
                          <a:latin typeface="Arial"/>
                          <a:ea typeface="Arial"/>
                          <a:cs typeface="Arial"/>
                          <a:sym typeface="Arial"/>
                        </a:rPr>
                        <a:t>CSIC 2010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Tienda en línea simulada.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lnSpc>
                          <a:spcPct val="100000"/>
                        </a:lnSpc>
                        <a:spcBef>
                          <a:spcPts val="0"/>
                        </a:spcBef>
                        <a:spcAft>
                          <a:spcPts val="0"/>
                        </a:spcAft>
                        <a:buNone/>
                      </a:pPr>
                      <a:r>
                        <a:rPr lang="en-US" sz="1583">
                          <a:solidFill>
                            <a:srgbClr val="070F64"/>
                          </a:solidFill>
                        </a:rPr>
                        <a:t>One-class, clasificación binaria</a:t>
                      </a:r>
                      <a:endParaRPr sz="1583">
                        <a:solidFill>
                          <a:srgbClr val="070F64"/>
                        </a:solidFill>
                      </a:endParaRPr>
                    </a:p>
                    <a:p>
                      <a:pPr indent="0" lvl="0" marL="0" marR="0" rtl="0" algn="ctr">
                        <a:lnSpc>
                          <a:spcPct val="100000"/>
                        </a:lnSpc>
                        <a:spcBef>
                          <a:spcPts val="0"/>
                        </a:spcBef>
                        <a:spcAft>
                          <a:spcPts val="0"/>
                        </a:spcAft>
                        <a:buNone/>
                      </a:pPr>
                      <a:r>
                        <a:rPr lang="en-US" sz="1583">
                          <a:solidFill>
                            <a:srgbClr val="070F64"/>
                          </a:solidFill>
                        </a:rPr>
                        <a:t>y comparación de características.</a:t>
                      </a:r>
                      <a:endParaRPr sz="1583">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903700">
                <a:tc>
                  <a:txBody>
                    <a:bodyPr/>
                    <a:lstStyle/>
                    <a:p>
                      <a:pPr indent="0" lvl="0" marL="0" marR="0" rtl="0" algn="l">
                        <a:spcBef>
                          <a:spcPts val="0"/>
                        </a:spcBef>
                        <a:spcAft>
                          <a:spcPts val="0"/>
                        </a:spcAft>
                        <a:buNone/>
                      </a:pPr>
                      <a:r>
                        <a:rPr b="1" lang="en-US" sz="1583" u="none" cap="none" strike="noStrike">
                          <a:solidFill>
                            <a:srgbClr val="070F64"/>
                          </a:solidFill>
                          <a:latin typeface="Arial"/>
                          <a:ea typeface="Arial"/>
                          <a:cs typeface="Arial"/>
                          <a:sym typeface="Arial"/>
                        </a:rPr>
                        <a:t>TorpEda 2012</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Peticiones identificadas</a:t>
                      </a:r>
                      <a:endParaRPr/>
                    </a:p>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por tipo de ataque.</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lnSpc>
                          <a:spcPct val="100000"/>
                        </a:lnSpc>
                        <a:spcBef>
                          <a:spcPts val="0"/>
                        </a:spcBef>
                        <a:spcAft>
                          <a:spcPts val="0"/>
                        </a:spcAft>
                        <a:buNone/>
                      </a:pPr>
                      <a:r>
                        <a:rPr lang="en-US" sz="1583">
                          <a:solidFill>
                            <a:srgbClr val="070F64"/>
                          </a:solidFill>
                        </a:rPr>
                        <a:t>Binaria y multiclase</a:t>
                      </a:r>
                      <a:endParaRPr sz="1583">
                        <a:solidFill>
                          <a:srgbClr val="070F64"/>
                        </a:solidFill>
                      </a:endParaRPr>
                    </a:p>
                    <a:p>
                      <a:pPr indent="0" lvl="0" marL="0" marR="0" rtl="0" algn="ctr">
                        <a:lnSpc>
                          <a:spcPct val="100000"/>
                        </a:lnSpc>
                        <a:spcBef>
                          <a:spcPts val="0"/>
                        </a:spcBef>
                        <a:spcAft>
                          <a:spcPts val="0"/>
                        </a:spcAft>
                        <a:buNone/>
                      </a:pPr>
                      <a:r>
                        <a:rPr lang="en-US" sz="1583">
                          <a:solidFill>
                            <a:srgbClr val="070F64"/>
                          </a:solidFill>
                        </a:rPr>
                        <a:t>(10 clases nativas).</a:t>
                      </a:r>
                      <a:endParaRPr sz="1583">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896425">
                <a:tc>
                  <a:txBody>
                    <a:bodyPr/>
                    <a:lstStyle/>
                    <a:p>
                      <a:pPr indent="0" lvl="0" marL="0" marR="0" rtl="0" algn="l">
                        <a:spcBef>
                          <a:spcPts val="0"/>
                        </a:spcBef>
                        <a:spcAft>
                          <a:spcPts val="0"/>
                        </a:spcAft>
                        <a:buNone/>
                      </a:pPr>
                      <a:r>
                        <a:rPr b="1" lang="en-US" sz="1583">
                          <a:solidFill>
                            <a:srgbClr val="070F64"/>
                          </a:solidFill>
                        </a:rPr>
                        <a:t>SR-BH 2020</a:t>
                      </a:r>
                      <a:endParaRPr b="1" sz="1583">
                        <a:solidFill>
                          <a:srgbClr val="070F64"/>
                        </a:solidFill>
                      </a:endParaRPr>
                    </a:p>
                    <a:p>
                      <a:pPr indent="0" lvl="0" marL="0" marR="0" rtl="0" algn="l">
                        <a:spcBef>
                          <a:spcPts val="0"/>
                        </a:spcBef>
                        <a:spcAft>
                          <a:spcPts val="0"/>
                        </a:spcAft>
                        <a:buNone/>
                      </a:pPr>
                      <a:r>
                        <a:rPr b="1" lang="en-US" sz="1583">
                          <a:solidFill>
                            <a:srgbClr val="070F64"/>
                          </a:solidFill>
                        </a:rPr>
                        <a:t>(Harvard Dataverse)</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Sitio WordPress preparado</a:t>
                      </a:r>
                      <a:endParaRPr/>
                    </a:p>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para registrar ataques.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lnSpc>
                          <a:spcPct val="100000"/>
                        </a:lnSpc>
                        <a:spcBef>
                          <a:spcPts val="0"/>
                        </a:spcBef>
                        <a:spcAft>
                          <a:spcPts val="0"/>
                        </a:spcAft>
                        <a:buNone/>
                      </a:pPr>
                      <a:r>
                        <a:rPr lang="en-US" sz="1583">
                          <a:solidFill>
                            <a:srgbClr val="070F64"/>
                          </a:solidFill>
                        </a:rPr>
                        <a:t>Binaria y multiclase (10 clases).</a:t>
                      </a:r>
                      <a:endParaRPr sz="1583">
                        <a:solidFill>
                          <a:srgbClr val="070F64"/>
                        </a:solidFill>
                      </a:endParaRPr>
                    </a:p>
                    <a:p>
                      <a:pPr indent="0" lvl="0" marL="0" marR="0" rtl="0" algn="ctr">
                        <a:lnSpc>
                          <a:spcPct val="100000"/>
                        </a:lnSpc>
                        <a:spcBef>
                          <a:spcPts val="0"/>
                        </a:spcBef>
                        <a:spcAft>
                          <a:spcPts val="0"/>
                        </a:spcAft>
                        <a:buNone/>
                      </a:pPr>
                      <a:r>
                        <a:rPr lang="en-US" sz="1583">
                          <a:solidFill>
                            <a:srgbClr val="070F64"/>
                          </a:solidFill>
                        </a:rPr>
                        <a:t>Multietiqueta (12 CAPEC).</a:t>
                      </a:r>
                      <a:endParaRPr sz="1583">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838125">
                <a:tc>
                  <a:txBody>
                    <a:bodyPr/>
                    <a:lstStyle/>
                    <a:p>
                      <a:pPr indent="0" lvl="0" marL="0" marR="0" rtl="0" algn="l">
                        <a:spcBef>
                          <a:spcPts val="0"/>
                        </a:spcBef>
                        <a:spcAft>
                          <a:spcPts val="0"/>
                        </a:spcAft>
                        <a:buNone/>
                      </a:pPr>
                      <a:r>
                        <a:rPr b="1" lang="en-US" sz="1583" u="none" cap="none" strike="noStrike">
                          <a:solidFill>
                            <a:srgbClr val="070F64"/>
                          </a:solidFill>
                          <a:latin typeface="Arial"/>
                          <a:ea typeface="Arial"/>
                          <a:cs typeface="Arial"/>
                          <a:sym typeface="Arial"/>
                        </a:rPr>
                        <a:t>DS-Augmented-v2</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Datos de peticiones revisados</a:t>
                      </a:r>
                      <a:endParaRPr/>
                    </a:p>
                    <a:p>
                      <a:pPr indent="0" lvl="0" marL="0" marR="0" rtl="0" algn="ctr">
                        <a:spcBef>
                          <a:spcPts val="0"/>
                        </a:spcBef>
                        <a:spcAft>
                          <a:spcPts val="0"/>
                        </a:spcAft>
                        <a:buNone/>
                      </a:pPr>
                      <a:r>
                        <a:rPr b="0" lang="en-US" sz="1583" u="none" cap="none" strike="noStrike">
                          <a:solidFill>
                            <a:srgbClr val="070F64"/>
                          </a:solidFill>
                          <a:latin typeface="Arial"/>
                          <a:ea typeface="Arial"/>
                          <a:cs typeface="Arial"/>
                          <a:sym typeface="Arial"/>
                        </a:rPr>
                        <a:t>y ampliados.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lnSpc>
                          <a:spcPct val="100000"/>
                        </a:lnSpc>
                        <a:spcBef>
                          <a:spcPts val="0"/>
                        </a:spcBef>
                        <a:spcAft>
                          <a:spcPts val="0"/>
                        </a:spcAft>
                        <a:buNone/>
                      </a:pPr>
                      <a:r>
                        <a:rPr lang="en-US" sz="1583">
                          <a:solidFill>
                            <a:srgbClr val="070F64"/>
                          </a:solidFill>
                        </a:rPr>
                        <a:t>Multiclase</a:t>
                      </a:r>
                      <a:endParaRPr sz="1583">
                        <a:solidFill>
                          <a:srgbClr val="070F64"/>
                        </a:solidFill>
                      </a:endParaRPr>
                    </a:p>
                    <a:p>
                      <a:pPr indent="0" lvl="0" marL="0" marR="0" rtl="0" algn="ctr">
                        <a:lnSpc>
                          <a:spcPct val="100000"/>
                        </a:lnSpc>
                        <a:spcBef>
                          <a:spcPts val="0"/>
                        </a:spcBef>
                        <a:spcAft>
                          <a:spcPts val="0"/>
                        </a:spcAft>
                        <a:buNone/>
                      </a:pPr>
                      <a:r>
                        <a:rPr lang="en-US" sz="1583">
                          <a:solidFill>
                            <a:srgbClr val="070F64"/>
                          </a:solidFill>
                        </a:rPr>
                        <a:t>(8 clases tras agrupar).</a:t>
                      </a:r>
                      <a:endParaRPr sz="1583">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830" name="Google Shape;830;p3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31" name="Google Shape;831;p33" title="DEFENSA_SEGURA_V2:barra-2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32" name="Google Shape;832;p33" title="DEFENSA_SEGURA_V2:avance-23"/>
          <p:cNvSpPr/>
          <p:nvPr/>
        </p:nvSpPr>
        <p:spPr>
          <a:xfrm>
            <a:off x="0" y="0"/>
            <a:ext cx="110835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33" name="Google Shape;833;p33" title="DEFENSA_SEGURA_V2:seccion-2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8" name="Shape 838"/>
        <p:cNvGrpSpPr/>
        <p:nvPr/>
      </p:nvGrpSpPr>
      <p:grpSpPr>
        <a:xfrm>
          <a:off x="0" y="0"/>
          <a:ext cx="0" cy="0"/>
          <a:chOff x="0" y="0"/>
          <a:chExt cx="0" cy="0"/>
        </a:xfrm>
      </p:grpSpPr>
      <p:sp>
        <p:nvSpPr>
          <p:cNvPr id="839" name="Google Shape;839;p34"/>
          <p:cNvSpPr/>
          <p:nvPr/>
        </p:nvSpPr>
        <p:spPr>
          <a:xfrm>
            <a:off x="207303" y="4868378"/>
            <a:ext cx="11719090" cy="1545054"/>
          </a:xfrm>
          <a:prstGeom prst="roundRect">
            <a:avLst>
              <a:gd fmla="val 3774" name="adj"/>
            </a:avLst>
          </a:prstGeom>
          <a:solidFill>
            <a:srgbClr val="E4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4"/>
          <p:cNvSpPr/>
          <p:nvPr/>
        </p:nvSpPr>
        <p:spPr>
          <a:xfrm>
            <a:off x="207303" y="787103"/>
            <a:ext cx="11719090" cy="1370142"/>
          </a:xfrm>
          <a:prstGeom prst="roundRect">
            <a:avLst>
              <a:gd fmla="val 4255" name="adj"/>
            </a:avLst>
          </a:prstGeom>
          <a:solidFill>
            <a:srgbClr val="E0F2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4"/>
          <p:cNvSpPr/>
          <p:nvPr/>
        </p:nvSpPr>
        <p:spPr>
          <a:xfrm>
            <a:off x="265607" y="2390461"/>
            <a:ext cx="4022971" cy="1924030"/>
          </a:xfrm>
          <a:prstGeom prst="roundRect">
            <a:avLst>
              <a:gd fmla="val 3030" name="adj"/>
            </a:avLst>
          </a:prstGeom>
          <a:solidFill>
            <a:srgbClr val="DFF2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4"/>
          <p:cNvSpPr/>
          <p:nvPr/>
        </p:nvSpPr>
        <p:spPr>
          <a:xfrm>
            <a:off x="4813313" y="2273853"/>
            <a:ext cx="4022971" cy="670495"/>
          </a:xfrm>
          <a:prstGeom prst="roundRect">
            <a:avLst>
              <a:gd fmla="val 8696" name="adj"/>
            </a:avLst>
          </a:prstGeom>
          <a:solidFill>
            <a:srgbClr val="E5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4"/>
          <p:cNvSpPr/>
          <p:nvPr/>
        </p:nvSpPr>
        <p:spPr>
          <a:xfrm>
            <a:off x="4813313" y="2973501"/>
            <a:ext cx="4022971" cy="670495"/>
          </a:xfrm>
          <a:prstGeom prst="roundRect">
            <a:avLst>
              <a:gd fmla="val 8696" name="adj"/>
            </a:avLst>
          </a:prstGeom>
          <a:solidFill>
            <a:srgbClr val="E4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4"/>
          <p:cNvSpPr/>
          <p:nvPr/>
        </p:nvSpPr>
        <p:spPr>
          <a:xfrm>
            <a:off x="4842465" y="3673148"/>
            <a:ext cx="3993819" cy="670495"/>
          </a:xfrm>
          <a:prstGeom prst="roundRect">
            <a:avLst>
              <a:gd fmla="val 8696" name="adj"/>
            </a:avLst>
          </a:prstGeom>
          <a:solidFill>
            <a:srgbClr val="E4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5" name="Google Shape;845;p34"/>
          <p:cNvPicPr preferRelativeResize="0"/>
          <p:nvPr/>
        </p:nvPicPr>
        <p:blipFill rotWithShape="1">
          <a:blip r:embed="rId3">
            <a:alphaModFix/>
          </a:blip>
          <a:srcRect b="0" l="0" r="0" t="0"/>
          <a:stretch/>
        </p:blipFill>
        <p:spPr>
          <a:xfrm>
            <a:off x="8850861" y="2259277"/>
            <a:ext cx="408128" cy="2128094"/>
          </a:xfrm>
          <a:prstGeom prst="rect">
            <a:avLst/>
          </a:prstGeom>
          <a:noFill/>
          <a:ln>
            <a:noFill/>
          </a:ln>
        </p:spPr>
      </p:pic>
      <p:pic>
        <p:nvPicPr>
          <p:cNvPr id="846" name="Google Shape;846;p34"/>
          <p:cNvPicPr preferRelativeResize="0"/>
          <p:nvPr/>
        </p:nvPicPr>
        <p:blipFill rotWithShape="1">
          <a:blip r:embed="rId4">
            <a:alphaModFix/>
          </a:blip>
          <a:srcRect b="0" l="0" r="0" t="0"/>
          <a:stretch/>
        </p:blipFill>
        <p:spPr>
          <a:xfrm>
            <a:off x="4944497" y="2375885"/>
            <a:ext cx="233216" cy="466431"/>
          </a:xfrm>
          <a:prstGeom prst="rect">
            <a:avLst/>
          </a:prstGeom>
          <a:noFill/>
          <a:ln>
            <a:noFill/>
          </a:ln>
        </p:spPr>
      </p:pic>
      <p:pic>
        <p:nvPicPr>
          <p:cNvPr id="847" name="Google Shape;847;p34"/>
          <p:cNvPicPr preferRelativeResize="0"/>
          <p:nvPr/>
        </p:nvPicPr>
        <p:blipFill rotWithShape="1">
          <a:blip r:embed="rId5">
            <a:alphaModFix/>
          </a:blip>
          <a:srcRect b="0" l="0" r="0" t="0"/>
          <a:stretch/>
        </p:blipFill>
        <p:spPr>
          <a:xfrm>
            <a:off x="5527537" y="2375885"/>
            <a:ext cx="204064" cy="466431"/>
          </a:xfrm>
          <a:prstGeom prst="rect">
            <a:avLst/>
          </a:prstGeom>
          <a:noFill/>
          <a:ln>
            <a:noFill/>
          </a:ln>
        </p:spPr>
      </p:pic>
      <p:pic>
        <p:nvPicPr>
          <p:cNvPr id="848" name="Google Shape;848;p34"/>
          <p:cNvPicPr preferRelativeResize="0"/>
          <p:nvPr/>
        </p:nvPicPr>
        <p:blipFill rotWithShape="1">
          <a:blip r:embed="rId6">
            <a:alphaModFix/>
          </a:blip>
          <a:srcRect b="0" l="0" r="0" t="0"/>
          <a:stretch/>
        </p:blipFill>
        <p:spPr>
          <a:xfrm>
            <a:off x="5877360" y="2375885"/>
            <a:ext cx="116608" cy="466431"/>
          </a:xfrm>
          <a:prstGeom prst="rect">
            <a:avLst/>
          </a:prstGeom>
          <a:noFill/>
          <a:ln>
            <a:noFill/>
          </a:ln>
        </p:spPr>
      </p:pic>
      <p:pic>
        <p:nvPicPr>
          <p:cNvPr id="849" name="Google Shape;849;p34"/>
          <p:cNvPicPr preferRelativeResize="0"/>
          <p:nvPr/>
        </p:nvPicPr>
        <p:blipFill rotWithShape="1">
          <a:blip r:embed="rId7">
            <a:alphaModFix/>
          </a:blip>
          <a:srcRect b="0" l="0" r="0" t="0"/>
          <a:stretch/>
        </p:blipFill>
        <p:spPr>
          <a:xfrm>
            <a:off x="5148561" y="2405037"/>
            <a:ext cx="204064" cy="437279"/>
          </a:xfrm>
          <a:prstGeom prst="rect">
            <a:avLst/>
          </a:prstGeom>
          <a:noFill/>
          <a:ln>
            <a:noFill/>
          </a:ln>
        </p:spPr>
      </p:pic>
      <p:pic>
        <p:nvPicPr>
          <p:cNvPr id="850" name="Google Shape;850;p34"/>
          <p:cNvPicPr preferRelativeResize="0"/>
          <p:nvPr/>
        </p:nvPicPr>
        <p:blipFill rotWithShape="1">
          <a:blip r:embed="rId8">
            <a:alphaModFix/>
          </a:blip>
          <a:srcRect b="0" l="0" r="0" t="0"/>
          <a:stretch/>
        </p:blipFill>
        <p:spPr>
          <a:xfrm>
            <a:off x="5352625" y="2405037"/>
            <a:ext cx="204064" cy="437279"/>
          </a:xfrm>
          <a:prstGeom prst="rect">
            <a:avLst/>
          </a:prstGeom>
          <a:noFill/>
          <a:ln>
            <a:noFill/>
          </a:ln>
        </p:spPr>
      </p:pic>
      <p:pic>
        <p:nvPicPr>
          <p:cNvPr id="851" name="Google Shape;851;p34"/>
          <p:cNvPicPr preferRelativeResize="0"/>
          <p:nvPr/>
        </p:nvPicPr>
        <p:blipFill rotWithShape="1">
          <a:blip r:embed="rId9">
            <a:alphaModFix/>
          </a:blip>
          <a:srcRect b="0" l="0" r="0" t="0"/>
          <a:stretch/>
        </p:blipFill>
        <p:spPr>
          <a:xfrm>
            <a:off x="9521356" y="2463341"/>
            <a:ext cx="816255" cy="757951"/>
          </a:xfrm>
          <a:prstGeom prst="rect">
            <a:avLst/>
          </a:prstGeom>
          <a:noFill/>
          <a:ln>
            <a:noFill/>
          </a:ln>
        </p:spPr>
      </p:pic>
      <p:pic>
        <p:nvPicPr>
          <p:cNvPr id="852" name="Google Shape;852;p34"/>
          <p:cNvPicPr preferRelativeResize="0"/>
          <p:nvPr/>
        </p:nvPicPr>
        <p:blipFill rotWithShape="1">
          <a:blip r:embed="rId10">
            <a:alphaModFix/>
          </a:blip>
          <a:srcRect b="0" l="0" r="0" t="0"/>
          <a:stretch/>
        </p:blipFill>
        <p:spPr>
          <a:xfrm>
            <a:off x="4944497" y="3017228"/>
            <a:ext cx="874559" cy="553887"/>
          </a:xfrm>
          <a:prstGeom prst="rect">
            <a:avLst/>
          </a:prstGeom>
          <a:noFill/>
          <a:ln>
            <a:noFill/>
          </a:ln>
        </p:spPr>
      </p:pic>
      <p:pic>
        <p:nvPicPr>
          <p:cNvPr id="853" name="Google Shape;853;p34"/>
          <p:cNvPicPr preferRelativeResize="0"/>
          <p:nvPr/>
        </p:nvPicPr>
        <p:blipFill rotWithShape="1">
          <a:blip r:embed="rId11">
            <a:alphaModFix/>
          </a:blip>
          <a:srcRect b="0" l="0" r="0" t="0"/>
          <a:stretch/>
        </p:blipFill>
        <p:spPr>
          <a:xfrm>
            <a:off x="5877360" y="3075532"/>
            <a:ext cx="145760" cy="466431"/>
          </a:xfrm>
          <a:prstGeom prst="rect">
            <a:avLst/>
          </a:prstGeom>
          <a:noFill/>
          <a:ln>
            <a:noFill/>
          </a:ln>
        </p:spPr>
      </p:pic>
      <p:pic>
        <p:nvPicPr>
          <p:cNvPr id="854" name="Google Shape;854;p34"/>
          <p:cNvPicPr preferRelativeResize="0"/>
          <p:nvPr/>
        </p:nvPicPr>
        <p:blipFill rotWithShape="1">
          <a:blip r:embed="rId12">
            <a:alphaModFix/>
          </a:blip>
          <a:srcRect b="0" l="0" r="0" t="0"/>
          <a:stretch/>
        </p:blipFill>
        <p:spPr>
          <a:xfrm>
            <a:off x="4944497" y="3716876"/>
            <a:ext cx="874559" cy="583039"/>
          </a:xfrm>
          <a:prstGeom prst="rect">
            <a:avLst/>
          </a:prstGeom>
          <a:noFill/>
          <a:ln>
            <a:noFill/>
          </a:ln>
        </p:spPr>
      </p:pic>
      <p:pic>
        <p:nvPicPr>
          <p:cNvPr id="855" name="Google Shape;855;p34"/>
          <p:cNvPicPr preferRelativeResize="0"/>
          <p:nvPr/>
        </p:nvPicPr>
        <p:blipFill rotWithShape="1">
          <a:blip r:embed="rId13">
            <a:alphaModFix/>
          </a:blip>
          <a:srcRect b="0" l="0" r="0" t="0"/>
          <a:stretch/>
        </p:blipFill>
        <p:spPr>
          <a:xfrm>
            <a:off x="5877360" y="3775180"/>
            <a:ext cx="116608" cy="495583"/>
          </a:xfrm>
          <a:prstGeom prst="rect">
            <a:avLst/>
          </a:prstGeom>
          <a:noFill/>
          <a:ln>
            <a:noFill/>
          </a:ln>
        </p:spPr>
      </p:pic>
      <p:pic>
        <p:nvPicPr>
          <p:cNvPr id="856" name="Google Shape;856;p34"/>
          <p:cNvPicPr preferRelativeResize="0"/>
          <p:nvPr/>
        </p:nvPicPr>
        <p:blipFill rotWithShape="1">
          <a:blip r:embed="rId14">
            <a:alphaModFix/>
          </a:blip>
          <a:srcRect b="0" l="0" r="0" t="0"/>
          <a:stretch/>
        </p:blipFill>
        <p:spPr>
          <a:xfrm>
            <a:off x="892374" y="4912106"/>
            <a:ext cx="670495" cy="641343"/>
          </a:xfrm>
          <a:prstGeom prst="rect">
            <a:avLst/>
          </a:prstGeom>
          <a:noFill/>
          <a:ln>
            <a:noFill/>
          </a:ln>
        </p:spPr>
      </p:pic>
      <p:pic>
        <p:nvPicPr>
          <p:cNvPr id="857" name="Google Shape;857;p34"/>
          <p:cNvPicPr preferRelativeResize="0"/>
          <p:nvPr/>
        </p:nvPicPr>
        <p:blipFill rotWithShape="1">
          <a:blip r:embed="rId15">
            <a:alphaModFix/>
          </a:blip>
          <a:srcRect b="0" l="0" r="0" t="0"/>
          <a:stretch/>
        </p:blipFill>
        <p:spPr>
          <a:xfrm>
            <a:off x="4798738" y="4912106"/>
            <a:ext cx="670495" cy="641343"/>
          </a:xfrm>
          <a:prstGeom prst="rect">
            <a:avLst/>
          </a:prstGeom>
          <a:noFill/>
          <a:ln>
            <a:noFill/>
          </a:ln>
        </p:spPr>
      </p:pic>
      <p:pic>
        <p:nvPicPr>
          <p:cNvPr id="858" name="Google Shape;858;p34"/>
          <p:cNvPicPr preferRelativeResize="0"/>
          <p:nvPr/>
        </p:nvPicPr>
        <p:blipFill rotWithShape="1">
          <a:blip r:embed="rId16">
            <a:alphaModFix/>
          </a:blip>
          <a:srcRect b="0" l="0" r="0" t="0"/>
          <a:stretch/>
        </p:blipFill>
        <p:spPr>
          <a:xfrm>
            <a:off x="8559341" y="4912106"/>
            <a:ext cx="787103" cy="553887"/>
          </a:xfrm>
          <a:prstGeom prst="rect">
            <a:avLst/>
          </a:prstGeom>
          <a:noFill/>
          <a:ln>
            <a:noFill/>
          </a:ln>
        </p:spPr>
      </p:pic>
      <p:pic>
        <p:nvPicPr>
          <p:cNvPr id="859" name="Google Shape;859;p34"/>
          <p:cNvPicPr preferRelativeResize="0"/>
          <p:nvPr/>
        </p:nvPicPr>
        <p:blipFill rotWithShape="1">
          <a:blip r:embed="rId17">
            <a:alphaModFix/>
          </a:blip>
          <a:srcRect b="0" l="0" r="0" t="0"/>
          <a:stretch/>
        </p:blipFill>
        <p:spPr>
          <a:xfrm>
            <a:off x="10541675" y="4912106"/>
            <a:ext cx="874559" cy="612191"/>
          </a:xfrm>
          <a:prstGeom prst="rect">
            <a:avLst/>
          </a:prstGeom>
          <a:noFill/>
          <a:ln>
            <a:noFill/>
          </a:ln>
        </p:spPr>
      </p:pic>
      <p:pic>
        <p:nvPicPr>
          <p:cNvPr id="860" name="Google Shape;860;p34"/>
          <p:cNvPicPr preferRelativeResize="0"/>
          <p:nvPr/>
        </p:nvPicPr>
        <p:blipFill rotWithShape="1">
          <a:blip r:embed="rId18">
            <a:alphaModFix/>
          </a:blip>
          <a:srcRect b="0" l="0" r="0" t="0"/>
          <a:stretch/>
        </p:blipFill>
        <p:spPr>
          <a:xfrm>
            <a:off x="1912693" y="5116170"/>
            <a:ext cx="349824" cy="320672"/>
          </a:xfrm>
          <a:prstGeom prst="rect">
            <a:avLst/>
          </a:prstGeom>
          <a:noFill/>
          <a:ln>
            <a:noFill/>
          </a:ln>
        </p:spPr>
      </p:pic>
      <p:pic>
        <p:nvPicPr>
          <p:cNvPr id="861" name="Google Shape;861;p34"/>
          <p:cNvPicPr preferRelativeResize="0"/>
          <p:nvPr/>
        </p:nvPicPr>
        <p:blipFill rotWithShape="1">
          <a:blip r:embed="rId19">
            <a:alphaModFix/>
          </a:blip>
          <a:srcRect b="0" l="0" r="0" t="0"/>
          <a:stretch/>
        </p:blipFill>
        <p:spPr>
          <a:xfrm>
            <a:off x="4040786" y="5116170"/>
            <a:ext cx="349824" cy="320672"/>
          </a:xfrm>
          <a:prstGeom prst="rect">
            <a:avLst/>
          </a:prstGeom>
          <a:noFill/>
          <a:ln>
            <a:noFill/>
          </a:ln>
        </p:spPr>
      </p:pic>
      <p:pic>
        <p:nvPicPr>
          <p:cNvPr id="862" name="Google Shape;862;p34"/>
          <p:cNvPicPr preferRelativeResize="0"/>
          <p:nvPr/>
        </p:nvPicPr>
        <p:blipFill rotWithShape="1">
          <a:blip r:embed="rId20">
            <a:alphaModFix/>
          </a:blip>
          <a:srcRect b="0" l="0" r="0" t="0"/>
          <a:stretch/>
        </p:blipFill>
        <p:spPr>
          <a:xfrm>
            <a:off x="5935664" y="5116170"/>
            <a:ext cx="320672" cy="320672"/>
          </a:xfrm>
          <a:prstGeom prst="rect">
            <a:avLst/>
          </a:prstGeom>
          <a:noFill/>
          <a:ln>
            <a:noFill/>
          </a:ln>
        </p:spPr>
      </p:pic>
      <p:pic>
        <p:nvPicPr>
          <p:cNvPr id="863" name="Google Shape;863;p34"/>
          <p:cNvPicPr preferRelativeResize="0"/>
          <p:nvPr/>
        </p:nvPicPr>
        <p:blipFill rotWithShape="1">
          <a:blip r:embed="rId21">
            <a:alphaModFix/>
          </a:blip>
          <a:srcRect b="0" l="0" r="0" t="0"/>
          <a:stretch/>
        </p:blipFill>
        <p:spPr>
          <a:xfrm>
            <a:off x="7772238" y="5116170"/>
            <a:ext cx="320672" cy="320672"/>
          </a:xfrm>
          <a:prstGeom prst="rect">
            <a:avLst/>
          </a:prstGeom>
          <a:noFill/>
          <a:ln>
            <a:noFill/>
          </a:ln>
        </p:spPr>
      </p:pic>
      <p:pic>
        <p:nvPicPr>
          <p:cNvPr id="864" name="Google Shape;864;p34"/>
          <p:cNvPicPr preferRelativeResize="0"/>
          <p:nvPr/>
        </p:nvPicPr>
        <p:blipFill rotWithShape="1">
          <a:blip r:embed="rId22">
            <a:alphaModFix/>
          </a:blip>
          <a:srcRect b="0" l="0" r="0" t="0"/>
          <a:stretch/>
        </p:blipFill>
        <p:spPr>
          <a:xfrm>
            <a:off x="9783724" y="5116170"/>
            <a:ext cx="349824" cy="320672"/>
          </a:xfrm>
          <a:prstGeom prst="rect">
            <a:avLst/>
          </a:prstGeom>
          <a:noFill/>
          <a:ln>
            <a:noFill/>
          </a:ln>
        </p:spPr>
      </p:pic>
      <p:pic>
        <p:nvPicPr>
          <p:cNvPr id="865" name="Google Shape;865;p34"/>
          <p:cNvPicPr preferRelativeResize="0"/>
          <p:nvPr/>
        </p:nvPicPr>
        <p:blipFill rotWithShape="1">
          <a:blip r:embed="rId23">
            <a:alphaModFix/>
          </a:blip>
          <a:srcRect b="0" l="0" r="0" t="0"/>
          <a:stretch/>
        </p:blipFill>
        <p:spPr>
          <a:xfrm>
            <a:off x="367639" y="5932425"/>
            <a:ext cx="466431" cy="437279"/>
          </a:xfrm>
          <a:prstGeom prst="rect">
            <a:avLst/>
          </a:prstGeom>
          <a:noFill/>
          <a:ln>
            <a:noFill/>
          </a:ln>
        </p:spPr>
      </p:pic>
      <p:pic>
        <p:nvPicPr>
          <p:cNvPr id="866" name="Google Shape;866;p34"/>
          <p:cNvPicPr preferRelativeResize="0"/>
          <p:nvPr/>
        </p:nvPicPr>
        <p:blipFill rotWithShape="1">
          <a:blip r:embed="rId24">
            <a:alphaModFix/>
          </a:blip>
          <a:srcRect b="0" l="0" r="0" t="0"/>
          <a:stretch/>
        </p:blipFill>
        <p:spPr>
          <a:xfrm>
            <a:off x="2881996" y="4933970"/>
            <a:ext cx="517447" cy="546599"/>
          </a:xfrm>
          <a:prstGeom prst="rect">
            <a:avLst/>
          </a:prstGeom>
          <a:noFill/>
          <a:ln>
            <a:noFill/>
          </a:ln>
        </p:spPr>
      </p:pic>
      <p:pic>
        <p:nvPicPr>
          <p:cNvPr id="867" name="Google Shape;867;p34"/>
          <p:cNvPicPr preferRelativeResize="0"/>
          <p:nvPr/>
        </p:nvPicPr>
        <p:blipFill rotWithShape="1">
          <a:blip r:embed="rId25">
            <a:alphaModFix/>
          </a:blip>
          <a:srcRect b="0" l="0" r="0" t="0"/>
          <a:stretch/>
        </p:blipFill>
        <p:spPr>
          <a:xfrm>
            <a:off x="6686327" y="4926682"/>
            <a:ext cx="663207" cy="604903"/>
          </a:xfrm>
          <a:prstGeom prst="rect">
            <a:avLst/>
          </a:prstGeom>
          <a:noFill/>
          <a:ln>
            <a:noFill/>
          </a:ln>
        </p:spPr>
      </p:pic>
      <p:sp>
        <p:nvSpPr>
          <p:cNvPr id="868" name="Google Shape;868;p34"/>
          <p:cNvSpPr/>
          <p:nvPr/>
        </p:nvSpPr>
        <p:spPr>
          <a:xfrm>
            <a:off x="4303154" y="2499781"/>
            <a:ext cx="488295" cy="225928"/>
          </a:xfrm>
          <a:prstGeom prst="rightArrow">
            <a:avLst>
              <a:gd fmla="val 50000" name="adj1"/>
              <a:gd fmla="val 50000" name="adj2"/>
            </a:avLst>
          </a:prstGeom>
          <a:solidFill>
            <a:srgbClr val="009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4"/>
          <p:cNvSpPr/>
          <p:nvPr/>
        </p:nvSpPr>
        <p:spPr>
          <a:xfrm>
            <a:off x="4303154" y="3199428"/>
            <a:ext cx="488295" cy="225928"/>
          </a:xfrm>
          <a:prstGeom prst="rightArrow">
            <a:avLst>
              <a:gd fmla="val 50000" name="adj1"/>
              <a:gd fmla="val 50000" name="adj2"/>
            </a:avLst>
          </a:prstGeom>
          <a:solidFill>
            <a:srgbClr val="009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4"/>
          <p:cNvSpPr/>
          <p:nvPr/>
        </p:nvSpPr>
        <p:spPr>
          <a:xfrm>
            <a:off x="4303154" y="3899075"/>
            <a:ext cx="488295" cy="225928"/>
          </a:xfrm>
          <a:prstGeom prst="rightArrow">
            <a:avLst>
              <a:gd fmla="val 50000" name="adj1"/>
              <a:gd fmla="val 50000" name="adj2"/>
            </a:avLst>
          </a:prstGeom>
          <a:solidFill>
            <a:srgbClr val="009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4"/>
          <p:cNvSpPr/>
          <p:nvPr/>
        </p:nvSpPr>
        <p:spPr>
          <a:xfrm>
            <a:off x="302047" y="58304"/>
            <a:ext cx="6850135" cy="8326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043" u="none" cap="none" strike="noStrike">
                <a:solidFill>
                  <a:srgbClr val="111F5B"/>
                </a:solidFill>
              </a:rPr>
              <a:t>Diseño de las pruebas</a:t>
            </a:r>
            <a:endParaRPr b="1">
              <a:solidFill>
                <a:srgbClr val="111F5B"/>
              </a:solidFill>
            </a:endParaRPr>
          </a:p>
        </p:txBody>
      </p:sp>
      <p:sp>
        <p:nvSpPr>
          <p:cNvPr id="872" name="Google Shape;872;p34"/>
          <p:cNvSpPr/>
          <p:nvPr/>
        </p:nvSpPr>
        <p:spPr>
          <a:xfrm>
            <a:off x="1985573" y="878975"/>
            <a:ext cx="3220715" cy="6156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668" u="none" cap="none" strike="noStrike">
                <a:solidFill>
                  <a:srgbClr val="050558"/>
                </a:solidFill>
                <a:latin typeface="Arial Narrow"/>
                <a:ea typeface="Arial Narrow"/>
                <a:cs typeface="Arial Narrow"/>
                <a:sym typeface="Arial Narrow"/>
              </a:rPr>
              <a:t>Pruebas iniciales</a:t>
            </a:r>
            <a:endParaRPr/>
          </a:p>
        </p:txBody>
      </p:sp>
      <p:sp>
        <p:nvSpPr>
          <p:cNvPr id="873" name="Google Shape;873;p34"/>
          <p:cNvSpPr/>
          <p:nvPr/>
        </p:nvSpPr>
        <p:spPr>
          <a:xfrm>
            <a:off x="1985573" y="1392593"/>
            <a:ext cx="9153140" cy="448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70" u="none" cap="none" strike="noStrike">
                <a:solidFill>
                  <a:srgbClr val="0607F6"/>
                </a:solidFill>
                <a:latin typeface="Arial Narrow"/>
                <a:ea typeface="Arial Narrow"/>
                <a:cs typeface="Arial Narrow"/>
                <a:sym typeface="Arial Narrow"/>
              </a:rPr>
              <a:t>Modelos que aprenden de peticiones normales y modelos que usan</a:t>
            </a:r>
            <a:endParaRPr/>
          </a:p>
        </p:txBody>
      </p:sp>
      <p:sp>
        <p:nvSpPr>
          <p:cNvPr id="874" name="Google Shape;874;p34"/>
          <p:cNvSpPr/>
          <p:nvPr/>
        </p:nvSpPr>
        <p:spPr>
          <a:xfrm>
            <a:off x="1978285" y="1755406"/>
            <a:ext cx="4029682" cy="44380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68" u="none" cap="none" strike="noStrike">
                <a:solidFill>
                  <a:srgbClr val="0405F5"/>
                </a:solidFill>
                <a:latin typeface="Arial Narrow"/>
                <a:ea typeface="Arial Narrow"/>
                <a:cs typeface="Arial Narrow"/>
                <a:sym typeface="Arial Narrow"/>
              </a:rPr>
              <a:t>ejemplos normales y ataques.</a:t>
            </a:r>
            <a:endParaRPr/>
          </a:p>
        </p:txBody>
      </p:sp>
      <p:sp>
        <p:nvSpPr>
          <p:cNvPr id="875" name="Google Shape;875;p34"/>
          <p:cNvSpPr/>
          <p:nvPr/>
        </p:nvSpPr>
        <p:spPr>
          <a:xfrm>
            <a:off x="491535" y="2479003"/>
            <a:ext cx="3614267" cy="3849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66">
                <a:solidFill>
                  <a:srgbClr val="07086C"/>
                </a:solidFill>
                <a:latin typeface="Arial Narrow"/>
                <a:ea typeface="Arial Narrow"/>
                <a:cs typeface="Arial Narrow"/>
                <a:sym typeface="Arial Narrow"/>
              </a:rPr>
              <a:t>Corridas: etapas de las pruebas</a:t>
            </a:r>
            <a:endParaRPr/>
          </a:p>
        </p:txBody>
      </p:sp>
      <p:sp>
        <p:nvSpPr>
          <p:cNvPr id="876" name="Google Shape;876;p34"/>
          <p:cNvSpPr/>
          <p:nvPr/>
        </p:nvSpPr>
        <p:spPr>
          <a:xfrm>
            <a:off x="513399" y="2807828"/>
            <a:ext cx="3220715" cy="5715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462" u="none" cap="none" strike="noStrike">
                <a:solidFill>
                  <a:srgbClr val="040563"/>
                </a:solidFill>
                <a:latin typeface="Arial"/>
                <a:ea typeface="Arial"/>
                <a:cs typeface="Arial"/>
                <a:sym typeface="Arial"/>
              </a:rPr>
              <a:t>Letra + número</a:t>
            </a:r>
            <a:endParaRPr/>
          </a:p>
        </p:txBody>
      </p:sp>
      <p:sp>
        <p:nvSpPr>
          <p:cNvPr id="877" name="Google Shape;877;p34"/>
          <p:cNvSpPr/>
          <p:nvPr/>
        </p:nvSpPr>
        <p:spPr>
          <a:xfrm>
            <a:off x="520687" y="3319342"/>
            <a:ext cx="1384141" cy="2971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26" u="none" cap="none" strike="noStrike">
                <a:solidFill>
                  <a:srgbClr val="0708B0"/>
                </a:solidFill>
                <a:latin typeface="Arial Narrow"/>
                <a:ea typeface="Arial Narrow"/>
                <a:cs typeface="Arial Narrow"/>
                <a:sym typeface="Arial Narrow"/>
              </a:rPr>
              <a:t>Letra: enfoque.</a:t>
            </a:r>
            <a:endParaRPr/>
          </a:p>
        </p:txBody>
      </p:sp>
      <p:sp>
        <p:nvSpPr>
          <p:cNvPr id="878" name="Google Shape;878;p34"/>
          <p:cNvSpPr/>
          <p:nvPr/>
        </p:nvSpPr>
        <p:spPr>
          <a:xfrm>
            <a:off x="520687" y="3559755"/>
            <a:ext cx="3140547" cy="2974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82" u="none" cap="none" strike="noStrike">
                <a:solidFill>
                  <a:srgbClr val="090BEC"/>
                </a:solidFill>
                <a:latin typeface="Arial Narrow"/>
                <a:ea typeface="Arial Narrow"/>
                <a:cs typeface="Arial Narrow"/>
                <a:sym typeface="Arial Narrow"/>
              </a:rPr>
              <a:t>Número: etapa dentro del enfoque.</a:t>
            </a:r>
            <a:endParaRPr/>
          </a:p>
        </p:txBody>
      </p:sp>
      <p:sp>
        <p:nvSpPr>
          <p:cNvPr id="879" name="Google Shape;879;p34"/>
          <p:cNvSpPr/>
          <p:nvPr/>
        </p:nvSpPr>
        <p:spPr>
          <a:xfrm>
            <a:off x="615430" y="3920939"/>
            <a:ext cx="3147835" cy="3264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21" u="none" cap="none" strike="noStrike">
                <a:solidFill>
                  <a:srgbClr val="070BF4"/>
                </a:solidFill>
                <a:latin typeface="Arial Narrow"/>
                <a:ea typeface="Arial Narrow"/>
                <a:cs typeface="Arial Narrow"/>
                <a:sym typeface="Arial Narrow"/>
              </a:rPr>
              <a:t>L2: segunda corrida multietiqueta.</a:t>
            </a:r>
            <a:endParaRPr/>
          </a:p>
        </p:txBody>
      </p:sp>
      <p:sp>
        <p:nvSpPr>
          <p:cNvPr id="880" name="Google Shape;880;p34"/>
          <p:cNvSpPr/>
          <p:nvPr/>
        </p:nvSpPr>
        <p:spPr>
          <a:xfrm>
            <a:off x="6117864" y="2379737"/>
            <a:ext cx="976014" cy="319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17" u="none" cap="none" strike="noStrike">
                <a:solidFill>
                  <a:srgbClr val="080875"/>
                </a:solidFill>
                <a:latin typeface="Arial Narrow"/>
                <a:ea typeface="Arial Narrow"/>
                <a:cs typeface="Arial Narrow"/>
                <a:sym typeface="Arial Narrow"/>
              </a:rPr>
              <a:t>B • Binaria</a:t>
            </a:r>
            <a:endParaRPr/>
          </a:p>
        </p:txBody>
      </p:sp>
      <p:sp>
        <p:nvSpPr>
          <p:cNvPr id="881" name="Google Shape;881;p34"/>
          <p:cNvSpPr/>
          <p:nvPr/>
        </p:nvSpPr>
        <p:spPr>
          <a:xfrm>
            <a:off x="6117864" y="2642607"/>
            <a:ext cx="1318549" cy="2653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3" u="none" cap="none" strike="noStrike">
                <a:solidFill>
                  <a:srgbClr val="0C0DF4"/>
                </a:solidFill>
                <a:latin typeface="Arial Narrow"/>
                <a:ea typeface="Arial Narrow"/>
                <a:cs typeface="Arial Narrow"/>
                <a:sym typeface="Arial Narrow"/>
              </a:rPr>
              <a:t>Normal o ataque.</a:t>
            </a:r>
            <a:endParaRPr/>
          </a:p>
        </p:txBody>
      </p:sp>
      <p:sp>
        <p:nvSpPr>
          <p:cNvPr id="882" name="Google Shape;882;p34"/>
          <p:cNvSpPr/>
          <p:nvPr/>
        </p:nvSpPr>
        <p:spPr>
          <a:xfrm>
            <a:off x="6117864" y="3078287"/>
            <a:ext cx="1289398" cy="3226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42" u="none" cap="none" strike="noStrike">
                <a:solidFill>
                  <a:srgbClr val="070673"/>
                </a:solidFill>
                <a:latin typeface="Arial Narrow"/>
                <a:ea typeface="Arial Narrow"/>
                <a:cs typeface="Arial Narrow"/>
                <a:sym typeface="Arial Narrow"/>
              </a:rPr>
              <a:t>M • Multiclase</a:t>
            </a:r>
            <a:endParaRPr/>
          </a:p>
        </p:txBody>
      </p:sp>
      <p:sp>
        <p:nvSpPr>
          <p:cNvPr id="883" name="Google Shape;883;p34"/>
          <p:cNvSpPr/>
          <p:nvPr/>
        </p:nvSpPr>
        <p:spPr>
          <a:xfrm>
            <a:off x="6117864" y="3359764"/>
            <a:ext cx="1777693" cy="2296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77" u="none" cap="none" strike="noStrike">
                <a:solidFill>
                  <a:srgbClr val="1013F5"/>
                </a:solidFill>
                <a:latin typeface="Arial Narrow"/>
                <a:ea typeface="Arial Narrow"/>
                <a:cs typeface="Arial Narrow"/>
                <a:sym typeface="Arial Narrow"/>
              </a:rPr>
              <a:t>Una categoría por petición.</a:t>
            </a:r>
            <a:endParaRPr/>
          </a:p>
        </p:txBody>
      </p:sp>
      <p:sp>
        <p:nvSpPr>
          <p:cNvPr id="884" name="Google Shape;884;p34"/>
          <p:cNvSpPr/>
          <p:nvPr/>
        </p:nvSpPr>
        <p:spPr>
          <a:xfrm>
            <a:off x="6117864" y="3819545"/>
            <a:ext cx="1559053" cy="315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78" u="none" cap="none" strike="noStrike">
                <a:solidFill>
                  <a:srgbClr val="080874"/>
                </a:solidFill>
                <a:latin typeface="Arial Narrow"/>
                <a:ea typeface="Arial Narrow"/>
                <a:cs typeface="Arial Narrow"/>
                <a:sym typeface="Arial Narrow"/>
              </a:rPr>
              <a:t>L • Multietiqueta</a:t>
            </a:r>
            <a:endParaRPr/>
          </a:p>
        </p:txBody>
      </p:sp>
      <p:sp>
        <p:nvSpPr>
          <p:cNvPr id="885" name="Google Shape;885;p34"/>
          <p:cNvSpPr/>
          <p:nvPr/>
        </p:nvSpPr>
        <p:spPr>
          <a:xfrm>
            <a:off x="6110576" y="4073987"/>
            <a:ext cx="1777693" cy="213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7" u="none" cap="none" strike="noStrike">
                <a:solidFill>
                  <a:srgbClr val="0F11F3"/>
                </a:solidFill>
                <a:latin typeface="Arial Narrow"/>
                <a:ea typeface="Arial Narrow"/>
                <a:cs typeface="Arial Narrow"/>
                <a:sym typeface="Arial Narrow"/>
              </a:rPr>
              <a:t>Varias etiquetas por petición.</a:t>
            </a:r>
            <a:endParaRPr/>
          </a:p>
        </p:txBody>
      </p:sp>
      <p:sp>
        <p:nvSpPr>
          <p:cNvPr id="886" name="Google Shape;886;p34"/>
          <p:cNvSpPr/>
          <p:nvPr/>
        </p:nvSpPr>
        <p:spPr>
          <a:xfrm>
            <a:off x="9477628" y="3305871"/>
            <a:ext cx="2134805" cy="3267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53" u="none" cap="none" strike="noStrike">
                <a:solidFill>
                  <a:srgbClr val="0608F5"/>
                </a:solidFill>
                <a:latin typeface="Arial Narrow"/>
                <a:ea typeface="Arial Narrow"/>
                <a:cs typeface="Arial Narrow"/>
                <a:sym typeface="Arial Narrow"/>
              </a:rPr>
              <a:t>Se analizaron aciertos,</a:t>
            </a:r>
            <a:endParaRPr/>
          </a:p>
        </p:txBody>
      </p:sp>
      <p:sp>
        <p:nvSpPr>
          <p:cNvPr id="887" name="Google Shape;887;p34"/>
          <p:cNvSpPr/>
          <p:nvPr/>
        </p:nvSpPr>
        <p:spPr>
          <a:xfrm>
            <a:off x="9484916" y="3572647"/>
            <a:ext cx="2047349" cy="3313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87" u="none" cap="none" strike="noStrike">
                <a:solidFill>
                  <a:srgbClr val="090AF5"/>
                </a:solidFill>
                <a:latin typeface="Arial Narrow"/>
                <a:ea typeface="Arial Narrow"/>
                <a:cs typeface="Arial Narrow"/>
                <a:sym typeface="Arial Narrow"/>
              </a:rPr>
              <a:t>errores por categoría,</a:t>
            </a:r>
            <a:endParaRPr/>
          </a:p>
        </p:txBody>
      </p:sp>
      <p:sp>
        <p:nvSpPr>
          <p:cNvPr id="888" name="Google Shape;888;p34"/>
          <p:cNvSpPr/>
          <p:nvPr/>
        </p:nvSpPr>
        <p:spPr>
          <a:xfrm>
            <a:off x="9484916" y="3833750"/>
            <a:ext cx="2346156" cy="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54" u="none" cap="none" strike="noStrike">
                <a:solidFill>
                  <a:srgbClr val="080BF5"/>
                </a:solidFill>
                <a:latin typeface="Arial Narrow"/>
                <a:ea typeface="Arial Narrow"/>
                <a:cs typeface="Arial Narrow"/>
                <a:sym typeface="Arial Narrow"/>
              </a:rPr>
              <a:t>características y tiempos</a:t>
            </a:r>
            <a:endParaRPr/>
          </a:p>
        </p:txBody>
      </p:sp>
      <p:sp>
        <p:nvSpPr>
          <p:cNvPr id="889" name="Google Shape;889;p34"/>
          <p:cNvSpPr/>
          <p:nvPr/>
        </p:nvSpPr>
        <p:spPr>
          <a:xfrm>
            <a:off x="9484916" y="4083992"/>
            <a:ext cx="1252958" cy="327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74" u="none" cap="none" strike="noStrike">
                <a:solidFill>
                  <a:srgbClr val="0507F5"/>
                </a:solidFill>
                <a:latin typeface="Arial Narrow"/>
                <a:ea typeface="Arial Narrow"/>
                <a:cs typeface="Arial Narrow"/>
                <a:sym typeface="Arial Narrow"/>
              </a:rPr>
              <a:t>de ejecución.</a:t>
            </a:r>
            <a:endParaRPr/>
          </a:p>
        </p:txBody>
      </p:sp>
      <p:sp>
        <p:nvSpPr>
          <p:cNvPr id="890" name="Google Shape;890;p34"/>
          <p:cNvSpPr/>
          <p:nvPr/>
        </p:nvSpPr>
        <p:spPr>
          <a:xfrm>
            <a:off x="280183" y="4425660"/>
            <a:ext cx="6361840" cy="5908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463" u="none" cap="none" strike="noStrike">
                <a:solidFill>
                  <a:srgbClr val="050550"/>
                </a:solidFill>
                <a:latin typeface="Arial Narrow"/>
                <a:ea typeface="Arial Narrow"/>
                <a:cs typeface="Arial Narrow"/>
                <a:sym typeface="Arial Narrow"/>
              </a:rPr>
              <a:t>Qué se tuvo en cuenta al comparar</a:t>
            </a:r>
            <a:endParaRPr/>
          </a:p>
        </p:txBody>
      </p:sp>
      <p:sp>
        <p:nvSpPr>
          <p:cNvPr id="891" name="Google Shape;891;p34"/>
          <p:cNvSpPr/>
          <p:nvPr/>
        </p:nvSpPr>
        <p:spPr>
          <a:xfrm>
            <a:off x="987118" y="5561037"/>
            <a:ext cx="487718" cy="2595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2" u="none" cap="none" strike="noStrike">
                <a:solidFill>
                  <a:srgbClr val="090880"/>
                </a:solidFill>
                <a:latin typeface="Arial Narrow"/>
                <a:ea typeface="Arial Narrow"/>
                <a:cs typeface="Arial Narrow"/>
                <a:sym typeface="Arial Narrow"/>
              </a:rPr>
              <a:t>Datos</a:t>
            </a:r>
            <a:endParaRPr/>
          </a:p>
        </p:txBody>
      </p:sp>
      <p:sp>
        <p:nvSpPr>
          <p:cNvPr id="892" name="Google Shape;892;p34"/>
          <p:cNvSpPr/>
          <p:nvPr/>
        </p:nvSpPr>
        <p:spPr>
          <a:xfrm>
            <a:off x="2430140" y="5486841"/>
            <a:ext cx="1471597" cy="2448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483">
                <a:solidFill>
                  <a:srgbClr val="07077C"/>
                </a:solidFill>
                <a:latin typeface="Arial Narrow"/>
                <a:ea typeface="Arial Narrow"/>
                <a:cs typeface="Arial Narrow"/>
                <a:sym typeface="Arial Narrow"/>
              </a:rPr>
              <a:t>CARACTERÍSTICAS</a:t>
            </a:r>
            <a:endParaRPr/>
          </a:p>
        </p:txBody>
      </p:sp>
      <p:sp>
        <p:nvSpPr>
          <p:cNvPr id="893" name="Google Shape;893;p34"/>
          <p:cNvSpPr/>
          <p:nvPr/>
        </p:nvSpPr>
        <p:spPr>
          <a:xfrm>
            <a:off x="2634204" y="5695349"/>
            <a:ext cx="1063470" cy="2304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96" u="none" cap="none" strike="noStrike">
                <a:solidFill>
                  <a:srgbClr val="08077C"/>
                </a:solidFill>
                <a:latin typeface="Arial Narrow"/>
                <a:ea typeface="Arial Narrow"/>
                <a:cs typeface="Arial Narrow"/>
                <a:sym typeface="Arial Narrow"/>
              </a:rPr>
              <a:t>CALCULADAS</a:t>
            </a:r>
            <a:endParaRPr/>
          </a:p>
        </p:txBody>
      </p:sp>
      <p:sp>
        <p:nvSpPr>
          <p:cNvPr id="894" name="Google Shape;894;p34"/>
          <p:cNvSpPr/>
          <p:nvPr/>
        </p:nvSpPr>
        <p:spPr>
          <a:xfrm>
            <a:off x="4769586" y="5568469"/>
            <a:ext cx="786526" cy="2780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46" u="none" cap="none" strike="noStrike">
                <a:solidFill>
                  <a:srgbClr val="06077E"/>
                </a:solidFill>
                <a:latin typeface="Arial Narrow"/>
                <a:ea typeface="Arial Narrow"/>
                <a:cs typeface="Arial Narrow"/>
                <a:sym typeface="Arial Narrow"/>
              </a:rPr>
              <a:t>Etiquetas</a:t>
            </a:r>
            <a:endParaRPr/>
          </a:p>
        </p:txBody>
      </p:sp>
      <p:sp>
        <p:nvSpPr>
          <p:cNvPr id="895" name="Google Shape;895;p34"/>
          <p:cNvSpPr/>
          <p:nvPr/>
        </p:nvSpPr>
        <p:spPr>
          <a:xfrm>
            <a:off x="6722767" y="5553241"/>
            <a:ext cx="626190" cy="2706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23" u="none" cap="none" strike="noStrike">
                <a:solidFill>
                  <a:srgbClr val="08077B"/>
                </a:solidFill>
                <a:latin typeface="Arial Narrow"/>
                <a:ea typeface="Arial Narrow"/>
                <a:cs typeface="Arial Narrow"/>
                <a:sym typeface="Arial Narrow"/>
              </a:rPr>
              <a:t>Modelo</a:t>
            </a:r>
            <a:endParaRPr/>
          </a:p>
        </p:txBody>
      </p:sp>
      <p:sp>
        <p:nvSpPr>
          <p:cNvPr id="896" name="Google Shape;896;p34"/>
          <p:cNvSpPr/>
          <p:nvPr/>
        </p:nvSpPr>
        <p:spPr>
          <a:xfrm>
            <a:off x="8347989" y="5483767"/>
            <a:ext cx="1260246" cy="2691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44" u="none" cap="none" strike="noStrike">
                <a:solidFill>
                  <a:srgbClr val="070680"/>
                </a:solidFill>
                <a:latin typeface="Arial Narrow"/>
                <a:ea typeface="Arial Narrow"/>
                <a:cs typeface="Arial Narrow"/>
                <a:sym typeface="Arial Narrow"/>
              </a:rPr>
              <a:t>Cómo se decide</a:t>
            </a:r>
            <a:endParaRPr/>
          </a:p>
        </p:txBody>
      </p:sp>
      <p:sp>
        <p:nvSpPr>
          <p:cNvPr id="897" name="Google Shape;897;p34"/>
          <p:cNvSpPr/>
          <p:nvPr/>
        </p:nvSpPr>
        <p:spPr>
          <a:xfrm>
            <a:off x="8646797" y="5680074"/>
            <a:ext cx="655342" cy="2611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50" u="none" cap="none" strike="noStrike">
                <a:solidFill>
                  <a:srgbClr val="070580"/>
                </a:solidFill>
                <a:latin typeface="Arial Narrow"/>
                <a:ea typeface="Arial Narrow"/>
                <a:cs typeface="Arial Narrow"/>
                <a:sym typeface="Arial Narrow"/>
              </a:rPr>
              <a:t>la </a:t>
            </a:r>
            <a:r>
              <a:rPr lang="en-US" sz="1550">
                <a:solidFill>
                  <a:srgbClr val="070580"/>
                </a:solidFill>
                <a:latin typeface="Arial Narrow"/>
                <a:ea typeface="Arial Narrow"/>
                <a:cs typeface="Arial Narrow"/>
                <a:sym typeface="Arial Narrow"/>
              </a:rPr>
              <a:t>salida</a:t>
            </a:r>
            <a:endParaRPr/>
          </a:p>
        </p:txBody>
      </p:sp>
      <p:sp>
        <p:nvSpPr>
          <p:cNvPr id="898" name="Google Shape;898;p34"/>
          <p:cNvSpPr/>
          <p:nvPr/>
        </p:nvSpPr>
        <p:spPr>
          <a:xfrm>
            <a:off x="10541675" y="5541565"/>
            <a:ext cx="888558" cy="2517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25" u="none" cap="none" strike="noStrike">
                <a:solidFill>
                  <a:srgbClr val="070785"/>
                </a:solidFill>
                <a:latin typeface="Arial Narrow"/>
                <a:ea typeface="Arial Narrow"/>
                <a:cs typeface="Arial Narrow"/>
                <a:sym typeface="Arial Narrow"/>
              </a:rPr>
              <a:t>Separación</a:t>
            </a:r>
            <a:endParaRPr/>
          </a:p>
        </p:txBody>
      </p:sp>
      <p:sp>
        <p:nvSpPr>
          <p:cNvPr id="899" name="Google Shape;899;p34"/>
          <p:cNvSpPr/>
          <p:nvPr/>
        </p:nvSpPr>
        <p:spPr>
          <a:xfrm>
            <a:off x="10650995" y="5707317"/>
            <a:ext cx="699070" cy="2578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49" u="none" cap="none" strike="noStrike">
                <a:solidFill>
                  <a:srgbClr val="090682"/>
                </a:solidFill>
                <a:latin typeface="Arial Narrow"/>
                <a:ea typeface="Arial Narrow"/>
                <a:cs typeface="Arial Narrow"/>
                <a:sym typeface="Arial Narrow"/>
              </a:rPr>
              <a:t>de datos</a:t>
            </a:r>
            <a:endParaRPr/>
          </a:p>
        </p:txBody>
      </p:sp>
      <p:sp>
        <p:nvSpPr>
          <p:cNvPr id="900" name="Google Shape;900;p34"/>
          <p:cNvSpPr/>
          <p:nvPr/>
        </p:nvSpPr>
        <p:spPr>
          <a:xfrm>
            <a:off x="1059998" y="6049928"/>
            <a:ext cx="7469614" cy="32395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20" u="none" cap="none" strike="noStrike">
                <a:solidFill>
                  <a:srgbClr val="070CF9"/>
                </a:solidFill>
                <a:latin typeface="Arial Narrow"/>
                <a:ea typeface="Arial Narrow"/>
                <a:cs typeface="Arial Narrow"/>
                <a:sym typeface="Arial Narrow"/>
              </a:rPr>
              <a:t>Si cambian varios componentes, no se puede atribuir la diferencia solo al modelo.</a:t>
            </a:r>
            <a:endParaRPr/>
          </a:p>
        </p:txBody>
      </p:sp>
      <p:sp>
        <p:nvSpPr>
          <p:cNvPr id="901" name="Google Shape;901;p34"/>
          <p:cNvSpPr/>
          <p:nvPr/>
        </p:nvSpPr>
        <p:spPr>
          <a:xfrm>
            <a:off x="243743" y="6613775"/>
            <a:ext cx="6901151" cy="2015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14" u="none" cap="none" strike="noStrike">
                <a:solidFill>
                  <a:srgbClr val="1D22A4"/>
                </a:solidFill>
                <a:latin typeface="Arial Narrow"/>
                <a:ea typeface="Arial Narrow"/>
                <a:cs typeface="Arial Narrow"/>
                <a:sym typeface="Arial Narrow"/>
              </a:rPr>
              <a:t>* Tsoumakas, G. y Katakis, I. (2007). Multi-Label Classification: An Overview. https://doi.org/10.4018/jdwm.2007070101</a:t>
            </a:r>
            <a:endParaRPr/>
          </a:p>
        </p:txBody>
      </p:sp>
      <p:sp>
        <p:nvSpPr>
          <p:cNvPr id="902" name="Google Shape;902;p34"/>
          <p:cNvSpPr/>
          <p:nvPr/>
        </p:nvSpPr>
        <p:spPr>
          <a:xfrm>
            <a:off x="7925286" y="2507069"/>
            <a:ext cx="764662" cy="284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22" u="none" cap="none" strike="noStrike">
                <a:solidFill>
                  <a:srgbClr val="08125F"/>
                </a:solidFill>
                <a:latin typeface="Arial Narrow"/>
                <a:ea typeface="Arial Narrow"/>
                <a:cs typeface="Arial Narrow"/>
                <a:sym typeface="Arial Narrow"/>
              </a:rPr>
              <a:t>B1–B2</a:t>
            </a:r>
            <a:endParaRPr/>
          </a:p>
        </p:txBody>
      </p:sp>
      <p:sp>
        <p:nvSpPr>
          <p:cNvPr id="903" name="Google Shape;903;p34"/>
          <p:cNvSpPr/>
          <p:nvPr/>
        </p:nvSpPr>
        <p:spPr>
          <a:xfrm>
            <a:off x="8005454" y="3221292"/>
            <a:ext cx="669918" cy="284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15" u="none" cap="none" strike="noStrike">
                <a:solidFill>
                  <a:srgbClr val="08125F"/>
                </a:solidFill>
                <a:latin typeface="Arial Narrow"/>
                <a:ea typeface="Arial Narrow"/>
                <a:cs typeface="Arial Narrow"/>
                <a:sym typeface="Arial Narrow"/>
              </a:rPr>
              <a:t>M1–M8</a:t>
            </a:r>
            <a:endParaRPr/>
          </a:p>
        </p:txBody>
      </p:sp>
      <p:sp>
        <p:nvSpPr>
          <p:cNvPr id="904" name="Google Shape;904;p34"/>
          <p:cNvSpPr/>
          <p:nvPr/>
        </p:nvSpPr>
        <p:spPr>
          <a:xfrm>
            <a:off x="8027318" y="3942803"/>
            <a:ext cx="626190" cy="284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22" u="none" cap="none" strike="noStrike">
                <a:solidFill>
                  <a:srgbClr val="08125F"/>
                </a:solidFill>
                <a:latin typeface="Arial Narrow"/>
                <a:ea typeface="Arial Narrow"/>
                <a:cs typeface="Arial Narrow"/>
                <a:sym typeface="Arial Narrow"/>
              </a:rPr>
              <a:t>L1–L2</a:t>
            </a:r>
            <a:endParaRPr/>
          </a:p>
        </p:txBody>
      </p:sp>
      <p:sp>
        <p:nvSpPr>
          <p:cNvPr id="905" name="Google Shape;905;p3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06" name="Google Shape;906;p34" title="DEFENSA_SEGURA_V2:barra-25"/>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07" name="Google Shape;907;p34" title="DEFENSA_SEGURA_V2:avance-25"/>
          <p:cNvSpPr/>
          <p:nvPr/>
        </p:nvSpPr>
        <p:spPr>
          <a:xfrm>
            <a:off x="0" y="0"/>
            <a:ext cx="1219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08" name="Google Shape;908;p34" title="DEFENSA_SEGURA_V2:seccion-25"/>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3" name="Shape 913"/>
        <p:cNvGrpSpPr/>
        <p:nvPr/>
      </p:nvGrpSpPr>
      <p:grpSpPr>
        <a:xfrm>
          <a:off x="0" y="0"/>
          <a:ext cx="0" cy="0"/>
          <a:chOff x="0" y="0"/>
          <a:chExt cx="0" cy="0"/>
        </a:xfrm>
      </p:grpSpPr>
      <p:sp>
        <p:nvSpPr>
          <p:cNvPr id="914" name="Google Shape;914;p35"/>
          <p:cNvSpPr/>
          <p:nvPr/>
        </p:nvSpPr>
        <p:spPr>
          <a:xfrm>
            <a:off x="254000" y="1206500"/>
            <a:ext cx="6997800" cy="4343400"/>
          </a:xfrm>
          <a:prstGeom prst="roundRect">
            <a:avLst>
              <a:gd fmla="val 1361" name="adj"/>
            </a:avLst>
          </a:prstGeom>
          <a:solidFill>
            <a:srgbClr val="E8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5"/>
          <p:cNvSpPr/>
          <p:nvPr/>
        </p:nvSpPr>
        <p:spPr>
          <a:xfrm>
            <a:off x="7404100" y="1206500"/>
            <a:ext cx="4533900" cy="4343400"/>
          </a:xfrm>
          <a:prstGeom prst="roundRect">
            <a:avLst>
              <a:gd fmla="val 1370" name="adj"/>
            </a:avLst>
          </a:prstGeom>
          <a:solidFill>
            <a:srgbClr val="EAFBF9"/>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5"/>
          <p:cNvSpPr/>
          <p:nvPr/>
        </p:nvSpPr>
        <p:spPr>
          <a:xfrm>
            <a:off x="254000" y="5676900"/>
            <a:ext cx="11684100" cy="571500"/>
          </a:xfrm>
          <a:prstGeom prst="roundRect">
            <a:avLst>
              <a:gd fmla="val 7407" name="adj"/>
            </a:avLst>
          </a:prstGeom>
          <a:solidFill>
            <a:srgbClr val="E8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5"/>
          <p:cNvSpPr/>
          <p:nvPr/>
        </p:nvSpPr>
        <p:spPr>
          <a:xfrm>
            <a:off x="304800" y="215900"/>
            <a:ext cx="11430000" cy="74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800">
                <a:solidFill>
                  <a:srgbClr val="111F5B"/>
                </a:solidFill>
              </a:rPr>
              <a:t>Métricas de los resultados</a:t>
            </a:r>
            <a:endParaRPr b="1" sz="3800">
              <a:solidFill>
                <a:srgbClr val="111F5B"/>
              </a:solidFill>
            </a:endParaRPr>
          </a:p>
        </p:txBody>
      </p:sp>
      <p:sp>
        <p:nvSpPr>
          <p:cNvPr id="918" name="Google Shape;918;p35"/>
          <p:cNvSpPr/>
          <p:nvPr/>
        </p:nvSpPr>
        <p:spPr>
          <a:xfrm>
            <a:off x="571500" y="1371600"/>
            <a:ext cx="63246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700">
                <a:solidFill>
                  <a:srgbClr val="050751"/>
                </a:solidFill>
              </a:rPr>
              <a:t>Qué significa cada métrica</a:t>
            </a:r>
            <a:endParaRPr b="1" sz="2700">
              <a:solidFill>
                <a:srgbClr val="050751"/>
              </a:solidFill>
            </a:endParaRPr>
          </a:p>
        </p:txBody>
      </p:sp>
      <p:sp>
        <p:nvSpPr>
          <p:cNvPr id="919" name="Google Shape;919;p35"/>
          <p:cNvSpPr/>
          <p:nvPr/>
        </p:nvSpPr>
        <p:spPr>
          <a:xfrm>
            <a:off x="533400" y="20193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A0A68"/>
                </a:solidFill>
                <a:latin typeface="Arial Narrow"/>
                <a:ea typeface="Arial Narrow"/>
                <a:cs typeface="Arial Narrow"/>
                <a:sym typeface="Arial Narrow"/>
              </a:rPr>
              <a:t>F1:</a:t>
            </a:r>
            <a:r>
              <a:rPr lang="en-US" sz="1800">
                <a:solidFill>
                  <a:srgbClr val="0A0A68"/>
                </a:solidFill>
                <a:latin typeface="Arial Narrow"/>
                <a:ea typeface="Arial Narrow"/>
                <a:cs typeface="Arial Narrow"/>
                <a:sym typeface="Arial Narrow"/>
              </a:rPr>
              <a:t> combina precisión y recall: aciertos al señalar</a:t>
            </a:r>
            <a:endParaRPr sz="1800">
              <a:solidFill>
                <a:srgbClr val="0A0A68"/>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A0A68"/>
                </a:solidFill>
                <a:latin typeface="Arial Narrow"/>
                <a:ea typeface="Arial Narrow"/>
                <a:cs typeface="Arial Narrow"/>
                <a:sym typeface="Arial Narrow"/>
              </a:rPr>
              <a:t>una clase y casos de esa clase que se detectan.</a:t>
            </a:r>
            <a:endParaRPr sz="1800">
              <a:solidFill>
                <a:srgbClr val="0A0A68"/>
              </a:solidFill>
              <a:latin typeface="Arial Narrow"/>
              <a:ea typeface="Arial Narrow"/>
              <a:cs typeface="Arial Narrow"/>
              <a:sym typeface="Arial Narrow"/>
            </a:endParaRPr>
          </a:p>
        </p:txBody>
      </p:sp>
      <p:sp>
        <p:nvSpPr>
          <p:cNvPr id="920" name="Google Shape;920;p35"/>
          <p:cNvSpPr/>
          <p:nvPr/>
        </p:nvSpPr>
        <p:spPr>
          <a:xfrm>
            <a:off x="533400" y="25781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D0E71"/>
                </a:solidFill>
                <a:latin typeface="Arial Narrow"/>
                <a:ea typeface="Arial Narrow"/>
                <a:cs typeface="Arial Narrow"/>
                <a:sym typeface="Arial Narrow"/>
              </a:rPr>
              <a:t>Recall:</a:t>
            </a:r>
            <a:r>
              <a:rPr lang="en-US" sz="1800">
                <a:solidFill>
                  <a:srgbClr val="0D0E71"/>
                </a:solidFill>
                <a:latin typeface="Arial Narrow"/>
                <a:ea typeface="Arial Narrow"/>
                <a:cs typeface="Arial Narrow"/>
                <a:sym typeface="Arial Narrow"/>
              </a:rPr>
              <a:t> ataques detectados entre todos</a:t>
            </a:r>
            <a:endParaRPr sz="1800">
              <a:solidFill>
                <a:srgbClr val="0D0E7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D0E71"/>
                </a:solidFill>
                <a:latin typeface="Arial Narrow"/>
                <a:ea typeface="Arial Narrow"/>
                <a:cs typeface="Arial Narrow"/>
                <a:sym typeface="Arial Narrow"/>
              </a:rPr>
              <a:t>los ataques reales.</a:t>
            </a:r>
            <a:endParaRPr sz="1800">
              <a:solidFill>
                <a:srgbClr val="0D0E71"/>
              </a:solidFill>
              <a:latin typeface="Arial Narrow"/>
              <a:ea typeface="Arial Narrow"/>
              <a:cs typeface="Arial Narrow"/>
              <a:sym typeface="Arial Narrow"/>
            </a:endParaRPr>
          </a:p>
        </p:txBody>
      </p:sp>
      <p:sp>
        <p:nvSpPr>
          <p:cNvPr id="921" name="Google Shape;921;p35"/>
          <p:cNvSpPr/>
          <p:nvPr/>
        </p:nvSpPr>
        <p:spPr>
          <a:xfrm>
            <a:off x="533400" y="31369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101074"/>
                </a:solidFill>
                <a:latin typeface="Arial Narrow"/>
                <a:ea typeface="Arial Narrow"/>
                <a:cs typeface="Arial Narrow"/>
                <a:sym typeface="Arial Narrow"/>
              </a:rPr>
              <a:t>FPR:</a:t>
            </a:r>
            <a:r>
              <a:rPr lang="en-US" sz="1800">
                <a:solidFill>
                  <a:srgbClr val="101074"/>
                </a:solidFill>
                <a:latin typeface="Arial Narrow"/>
                <a:ea typeface="Arial Narrow"/>
                <a:cs typeface="Arial Narrow"/>
                <a:sym typeface="Arial Narrow"/>
              </a:rPr>
              <a:t> peticiones normales marcadas como ataque</a:t>
            </a:r>
            <a:endParaRPr sz="1800">
              <a:solidFill>
                <a:srgbClr val="101074"/>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101074"/>
                </a:solidFill>
                <a:latin typeface="Arial Narrow"/>
                <a:ea typeface="Arial Narrow"/>
                <a:cs typeface="Arial Narrow"/>
                <a:sym typeface="Arial Narrow"/>
              </a:rPr>
              <a:t>entre todas las normales. Son las falsas alarmas.</a:t>
            </a:r>
            <a:endParaRPr sz="1800">
              <a:solidFill>
                <a:srgbClr val="101074"/>
              </a:solidFill>
              <a:latin typeface="Arial Narrow"/>
              <a:ea typeface="Arial Narrow"/>
              <a:cs typeface="Arial Narrow"/>
              <a:sym typeface="Arial Narrow"/>
            </a:endParaRPr>
          </a:p>
        </p:txBody>
      </p:sp>
      <p:sp>
        <p:nvSpPr>
          <p:cNvPr id="922" name="Google Shape;922;p35"/>
          <p:cNvSpPr/>
          <p:nvPr/>
        </p:nvSpPr>
        <p:spPr>
          <a:xfrm>
            <a:off x="533400" y="36957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F1174"/>
                </a:solidFill>
                <a:latin typeface="Arial Narrow"/>
                <a:ea typeface="Arial Narrow"/>
                <a:cs typeface="Arial Narrow"/>
                <a:sym typeface="Arial Narrow"/>
              </a:rPr>
              <a:t>Exactitud:</a:t>
            </a:r>
            <a:r>
              <a:rPr lang="en-US" sz="1800">
                <a:solidFill>
                  <a:srgbClr val="0F1174"/>
                </a:solidFill>
                <a:latin typeface="Arial Narrow"/>
                <a:ea typeface="Arial Narrow"/>
                <a:cs typeface="Arial Narrow"/>
                <a:sym typeface="Arial Narrow"/>
              </a:rPr>
              <a:t> casos clasificados correctamente</a:t>
            </a:r>
            <a:endParaRPr sz="1800">
              <a:solidFill>
                <a:srgbClr val="0F1174"/>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F1174"/>
                </a:solidFill>
                <a:latin typeface="Arial Narrow"/>
                <a:ea typeface="Arial Narrow"/>
                <a:cs typeface="Arial Narrow"/>
                <a:sym typeface="Arial Narrow"/>
              </a:rPr>
              <a:t>entre todos los casos evaluados.</a:t>
            </a:r>
            <a:endParaRPr sz="1800">
              <a:solidFill>
                <a:srgbClr val="0F1174"/>
              </a:solidFill>
              <a:latin typeface="Arial Narrow"/>
              <a:ea typeface="Arial Narrow"/>
              <a:cs typeface="Arial Narrow"/>
              <a:sym typeface="Arial Narrow"/>
            </a:endParaRPr>
          </a:p>
        </p:txBody>
      </p:sp>
      <p:sp>
        <p:nvSpPr>
          <p:cNvPr id="923" name="Google Shape;923;p35"/>
          <p:cNvSpPr/>
          <p:nvPr/>
        </p:nvSpPr>
        <p:spPr>
          <a:xfrm>
            <a:off x="533400" y="42545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F106E"/>
                </a:solidFill>
                <a:latin typeface="Arial Narrow"/>
                <a:ea typeface="Arial Narrow"/>
                <a:cs typeface="Arial Narrow"/>
                <a:sym typeface="Arial Narrow"/>
              </a:rPr>
              <a:t>Coincidencia exacta:</a:t>
            </a:r>
            <a:r>
              <a:rPr lang="en-US" sz="1800">
                <a:solidFill>
                  <a:srgbClr val="0F106E"/>
                </a:solidFill>
                <a:latin typeface="Arial Narrow"/>
                <a:ea typeface="Arial Narrow"/>
                <a:cs typeface="Arial Narrow"/>
                <a:sym typeface="Arial Narrow"/>
              </a:rPr>
              <a:t> grupos con todas sus</a:t>
            </a:r>
            <a:endParaRPr sz="1800">
              <a:solidFill>
                <a:srgbClr val="0F106E"/>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F106E"/>
                </a:solidFill>
                <a:latin typeface="Arial Narrow"/>
                <a:ea typeface="Arial Narrow"/>
                <a:cs typeface="Arial Narrow"/>
                <a:sym typeface="Arial Narrow"/>
              </a:rPr>
              <a:t>etiquetas correctas entre todos los grupos.</a:t>
            </a:r>
            <a:endParaRPr sz="1800">
              <a:solidFill>
                <a:srgbClr val="0F106E"/>
              </a:solidFill>
              <a:latin typeface="Arial Narrow"/>
              <a:ea typeface="Arial Narrow"/>
              <a:cs typeface="Arial Narrow"/>
              <a:sym typeface="Arial Narrow"/>
            </a:endParaRPr>
          </a:p>
        </p:txBody>
      </p:sp>
      <p:sp>
        <p:nvSpPr>
          <p:cNvPr id="924" name="Google Shape;924;p35"/>
          <p:cNvSpPr/>
          <p:nvPr/>
        </p:nvSpPr>
        <p:spPr>
          <a:xfrm>
            <a:off x="533400" y="48133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E0F75"/>
                </a:solidFill>
                <a:latin typeface="Arial Narrow"/>
                <a:ea typeface="Arial Narrow"/>
                <a:cs typeface="Arial Narrow"/>
                <a:sym typeface="Arial Narrow"/>
              </a:rPr>
              <a:t>Pérdida de Hamming:</a:t>
            </a:r>
            <a:r>
              <a:rPr lang="en-US" sz="1800">
                <a:solidFill>
                  <a:srgbClr val="0E0F75"/>
                </a:solidFill>
                <a:latin typeface="Arial Narrow"/>
                <a:ea typeface="Arial Narrow"/>
                <a:cs typeface="Arial Narrow"/>
                <a:sym typeface="Arial Narrow"/>
              </a:rPr>
              <a:t> decisiones incorrectas</a:t>
            </a:r>
            <a:endParaRPr sz="1800">
              <a:solidFill>
                <a:srgbClr val="0E0F75"/>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E0F75"/>
                </a:solidFill>
                <a:latin typeface="Arial Narrow"/>
                <a:ea typeface="Arial Narrow"/>
                <a:cs typeface="Arial Narrow"/>
                <a:sym typeface="Arial Narrow"/>
              </a:rPr>
              <a:t>sobre etiquetas entre todas esas decisiones.</a:t>
            </a:r>
            <a:endParaRPr sz="1800">
              <a:solidFill>
                <a:srgbClr val="0E0F75"/>
              </a:solidFill>
              <a:latin typeface="Arial Narrow"/>
              <a:ea typeface="Arial Narrow"/>
              <a:cs typeface="Arial Narrow"/>
              <a:sym typeface="Arial Narrow"/>
            </a:endParaRPr>
          </a:p>
        </p:txBody>
      </p:sp>
      <p:sp>
        <p:nvSpPr>
          <p:cNvPr id="925" name="Google Shape;925;p35"/>
          <p:cNvSpPr/>
          <p:nvPr/>
        </p:nvSpPr>
        <p:spPr>
          <a:xfrm>
            <a:off x="7645500" y="1141600"/>
            <a:ext cx="40131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700">
                <a:solidFill>
                  <a:srgbClr val="060751"/>
                </a:solidFill>
                <a:latin typeface="Arial Narrow"/>
                <a:ea typeface="Arial Narrow"/>
                <a:cs typeface="Arial Narrow"/>
                <a:sym typeface="Arial Narrow"/>
              </a:rPr>
              <a:t>Principales metricas consideradas por enfoque</a:t>
            </a:r>
            <a:endParaRPr b="1" sz="2700">
              <a:solidFill>
                <a:srgbClr val="060751"/>
              </a:solidFill>
              <a:latin typeface="Arial Narrow"/>
              <a:ea typeface="Arial Narrow"/>
              <a:cs typeface="Arial Narrow"/>
              <a:sym typeface="Arial Narrow"/>
            </a:endParaRPr>
          </a:p>
        </p:txBody>
      </p:sp>
      <p:sp>
        <p:nvSpPr>
          <p:cNvPr id="926" name="Google Shape;926;p35"/>
          <p:cNvSpPr/>
          <p:nvPr/>
        </p:nvSpPr>
        <p:spPr>
          <a:xfrm>
            <a:off x="7658100" y="20320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90967"/>
                </a:solidFill>
                <a:latin typeface="Arial Narrow"/>
                <a:ea typeface="Arial Narrow"/>
                <a:cs typeface="Arial Narrow"/>
                <a:sym typeface="Arial Narrow"/>
              </a:rPr>
              <a:t>One-class</a:t>
            </a:r>
            <a:endParaRPr b="1" sz="1800">
              <a:solidFill>
                <a:srgbClr val="090967"/>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90967"/>
                </a:solidFill>
                <a:latin typeface="Arial Narrow"/>
                <a:ea typeface="Arial Narrow"/>
                <a:cs typeface="Arial Narrow"/>
                <a:sym typeface="Arial Narrow"/>
              </a:rPr>
              <a:t>F1, recall y FPR.</a:t>
            </a:r>
            <a:endParaRPr sz="1800">
              <a:solidFill>
                <a:srgbClr val="090967"/>
              </a:solidFill>
              <a:latin typeface="Arial Narrow"/>
              <a:ea typeface="Arial Narrow"/>
              <a:cs typeface="Arial Narrow"/>
              <a:sym typeface="Arial Narrow"/>
            </a:endParaRPr>
          </a:p>
        </p:txBody>
      </p:sp>
      <p:sp>
        <p:nvSpPr>
          <p:cNvPr id="927" name="Google Shape;927;p35"/>
          <p:cNvSpPr/>
          <p:nvPr/>
        </p:nvSpPr>
        <p:spPr>
          <a:xfrm>
            <a:off x="7658100" y="27686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E117D"/>
                </a:solidFill>
                <a:latin typeface="Arial Narrow"/>
                <a:ea typeface="Arial Narrow"/>
                <a:cs typeface="Arial Narrow"/>
                <a:sym typeface="Arial Narrow"/>
              </a:rPr>
              <a:t>Binario</a:t>
            </a:r>
            <a:endParaRPr b="1" sz="1800">
              <a:solidFill>
                <a:srgbClr val="0E117D"/>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E117D"/>
                </a:solidFill>
                <a:latin typeface="Arial Narrow"/>
                <a:ea typeface="Arial Narrow"/>
                <a:cs typeface="Arial Narrow"/>
                <a:sym typeface="Arial Narrow"/>
              </a:rPr>
              <a:t>F1 y FPR.</a:t>
            </a:r>
            <a:endParaRPr sz="1800">
              <a:solidFill>
                <a:srgbClr val="0E117D"/>
              </a:solidFill>
              <a:latin typeface="Arial Narrow"/>
              <a:ea typeface="Arial Narrow"/>
              <a:cs typeface="Arial Narrow"/>
              <a:sym typeface="Arial Narrow"/>
            </a:endParaRPr>
          </a:p>
        </p:txBody>
      </p:sp>
      <p:sp>
        <p:nvSpPr>
          <p:cNvPr id="928" name="Google Shape;928;p35"/>
          <p:cNvSpPr/>
          <p:nvPr/>
        </p:nvSpPr>
        <p:spPr>
          <a:xfrm>
            <a:off x="7658100" y="35052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7065C"/>
                </a:solidFill>
                <a:latin typeface="Arial Narrow"/>
                <a:ea typeface="Arial Narrow"/>
                <a:cs typeface="Arial Narrow"/>
                <a:sym typeface="Arial Narrow"/>
              </a:rPr>
              <a:t>Multiclase</a:t>
            </a:r>
            <a:endParaRPr b="1" sz="1800">
              <a:solidFill>
                <a:srgbClr val="07065C"/>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7065C"/>
                </a:solidFill>
                <a:latin typeface="Arial Narrow"/>
                <a:ea typeface="Arial Narrow"/>
                <a:cs typeface="Arial Narrow"/>
                <a:sym typeface="Arial Narrow"/>
              </a:rPr>
              <a:t>Exactitud, F1 macro y F1 por clase.</a:t>
            </a:r>
            <a:endParaRPr sz="1800">
              <a:solidFill>
                <a:srgbClr val="07065C"/>
              </a:solidFill>
              <a:latin typeface="Arial Narrow"/>
              <a:ea typeface="Arial Narrow"/>
              <a:cs typeface="Arial Narrow"/>
              <a:sym typeface="Arial Narrow"/>
            </a:endParaRPr>
          </a:p>
        </p:txBody>
      </p:sp>
      <p:sp>
        <p:nvSpPr>
          <p:cNvPr id="929" name="Google Shape;929;p35"/>
          <p:cNvSpPr/>
          <p:nvPr/>
        </p:nvSpPr>
        <p:spPr>
          <a:xfrm>
            <a:off x="7658100" y="4305300"/>
            <a:ext cx="39879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6086F"/>
                </a:solidFill>
                <a:latin typeface="Arial Narrow"/>
                <a:ea typeface="Arial Narrow"/>
                <a:cs typeface="Arial Narrow"/>
                <a:sym typeface="Arial Narrow"/>
              </a:rPr>
              <a:t>Multietiqueta</a:t>
            </a:r>
            <a:endParaRPr b="1" sz="1800">
              <a:solidFill>
                <a:srgbClr val="06086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6086F"/>
                </a:solidFill>
                <a:latin typeface="Arial Narrow"/>
                <a:ea typeface="Arial Narrow"/>
                <a:cs typeface="Arial Narrow"/>
                <a:sym typeface="Arial Narrow"/>
              </a:rPr>
              <a:t>F1 micro y macro; F1 por etiqueta.</a:t>
            </a:r>
            <a:endParaRPr sz="1800">
              <a:solidFill>
                <a:srgbClr val="06086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6086F"/>
                </a:solidFill>
                <a:latin typeface="Arial Narrow"/>
                <a:ea typeface="Arial Narrow"/>
                <a:cs typeface="Arial Narrow"/>
                <a:sym typeface="Arial Narrow"/>
              </a:rPr>
              <a:t>Coincidencia exacta y Hamming.</a:t>
            </a:r>
            <a:endParaRPr sz="1800">
              <a:solidFill>
                <a:srgbClr val="06086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6086F"/>
                </a:solidFill>
                <a:latin typeface="Arial Narrow"/>
                <a:ea typeface="Arial Narrow"/>
                <a:cs typeface="Arial Narrow"/>
                <a:sym typeface="Arial Narrow"/>
              </a:rPr>
              <a:t>Grupos normales reconocidos.</a:t>
            </a:r>
            <a:endParaRPr sz="1800">
              <a:solidFill>
                <a:srgbClr val="06086F"/>
              </a:solidFill>
              <a:latin typeface="Arial Narrow"/>
              <a:ea typeface="Arial Narrow"/>
              <a:cs typeface="Arial Narrow"/>
              <a:sym typeface="Arial Narrow"/>
            </a:endParaRPr>
          </a:p>
        </p:txBody>
      </p:sp>
      <p:sp>
        <p:nvSpPr>
          <p:cNvPr id="930" name="Google Shape;930;p35"/>
          <p:cNvSpPr/>
          <p:nvPr/>
        </p:nvSpPr>
        <p:spPr>
          <a:xfrm>
            <a:off x="419100" y="5727700"/>
            <a:ext cx="113538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700">
                <a:solidFill>
                  <a:srgbClr val="09095F"/>
                </a:solidFill>
                <a:latin typeface="Arial Narrow"/>
                <a:ea typeface="Arial Narrow"/>
                <a:cs typeface="Arial Narrow"/>
                <a:sym typeface="Arial Narrow"/>
              </a:rPr>
              <a:t>Normales reconocidos:</a:t>
            </a:r>
            <a:r>
              <a:rPr lang="en-US" sz="1700">
                <a:solidFill>
                  <a:srgbClr val="09095F"/>
                </a:solidFill>
                <a:latin typeface="Arial Narrow"/>
                <a:ea typeface="Arial Narrow"/>
                <a:cs typeface="Arial Narrow"/>
                <a:sym typeface="Arial Narrow"/>
              </a:rPr>
              <a:t> grupos normales sin etiquetas de ataque predichas, entre todos los grupos normales.</a:t>
            </a:r>
            <a:endParaRPr sz="1700">
              <a:solidFill>
                <a:srgbClr val="09095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700">
                <a:solidFill>
                  <a:srgbClr val="09095F"/>
                </a:solidFill>
                <a:latin typeface="Arial Narrow"/>
                <a:ea typeface="Arial Narrow"/>
                <a:cs typeface="Arial Narrow"/>
                <a:sym typeface="Arial Narrow"/>
              </a:rPr>
              <a:t>Más alto es mejor en estas métricas, salvo FPR y Hamming: en ellas, más bajo es mejor.</a:t>
            </a:r>
            <a:endParaRPr sz="1700">
              <a:solidFill>
                <a:srgbClr val="09095F"/>
              </a:solidFill>
              <a:latin typeface="Arial Narrow"/>
              <a:ea typeface="Arial Narrow"/>
              <a:cs typeface="Arial Narrow"/>
              <a:sym typeface="Arial Narrow"/>
            </a:endParaRPr>
          </a:p>
        </p:txBody>
      </p:sp>
      <p:sp>
        <p:nvSpPr>
          <p:cNvPr id="931" name="Google Shape;931;p35"/>
          <p:cNvSpPr/>
          <p:nvPr/>
        </p:nvSpPr>
        <p:spPr>
          <a:xfrm>
            <a:off x="229167" y="6395099"/>
            <a:ext cx="9226020" cy="2301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49">
                <a:solidFill>
                  <a:srgbClr val="2535A3"/>
                </a:solidFill>
                <a:latin typeface="Arial Narrow"/>
                <a:ea typeface="Arial Narrow"/>
                <a:cs typeface="Arial Narrow"/>
                <a:sym typeface="Arial Narrow"/>
              </a:rPr>
              <a:t>Fuentes: resultados del trabajo y definiciones de scikit-learn. Detalle y fórmulas en las notas.</a:t>
            </a:r>
            <a:endParaRPr sz="1349">
              <a:solidFill>
                <a:srgbClr val="2535A3"/>
              </a:solidFill>
              <a:latin typeface="Arial Narrow"/>
              <a:ea typeface="Arial Narrow"/>
              <a:cs typeface="Arial Narrow"/>
              <a:sym typeface="Arial Narrow"/>
            </a:endParaRPr>
          </a:p>
        </p:txBody>
      </p:sp>
      <p:sp>
        <p:nvSpPr>
          <p:cNvPr id="932" name="Google Shape;932;p3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3" name="Google Shape;933;p35" title="DEFENSA_SEGURA_V2:barra-2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34" name="Google Shape;934;p35" title="DEFENSA_SEGURA_V2:avance-27"/>
          <p:cNvSpPr/>
          <p:nvPr/>
        </p:nvSpPr>
        <p:spPr>
          <a:xfrm>
            <a:off x="0" y="0"/>
            <a:ext cx="3657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35" name="Google Shape;935;p35" title="DEFENSA_SEGURA_V2:seccion-2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0" name="Shape 940"/>
        <p:cNvGrpSpPr/>
        <p:nvPr/>
      </p:nvGrpSpPr>
      <p:grpSpPr>
        <a:xfrm>
          <a:off x="0" y="0"/>
          <a:ext cx="0" cy="0"/>
          <a:chOff x="0" y="0"/>
          <a:chExt cx="0" cy="0"/>
        </a:xfrm>
      </p:grpSpPr>
      <p:sp>
        <p:nvSpPr>
          <p:cNvPr id="941" name="Google Shape;941;p36"/>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Macro, micro y ponderado</a:t>
            </a:r>
            <a:endParaRPr b="1" sz="3300">
              <a:solidFill>
                <a:srgbClr val="111F5B"/>
              </a:solidFill>
            </a:endParaRPr>
          </a:p>
        </p:txBody>
      </p:sp>
      <p:sp>
        <p:nvSpPr>
          <p:cNvPr id="942" name="Google Shape;942;p36"/>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800"/>
              <a:buFont typeface="Arial"/>
              <a:buNone/>
            </a:pPr>
            <a:r>
              <a:rPr lang="en-US" sz="1800">
                <a:solidFill>
                  <a:srgbClr val="070F64"/>
                </a:solidFill>
              </a:rPr>
              <a:t>Son formas de resumir precisión, recall y F1. Aquí usamos F1 como ejemplo.</a:t>
            </a:r>
            <a:endParaRPr sz="1800">
              <a:solidFill>
                <a:srgbClr val="070F64"/>
              </a:solidFill>
            </a:endParaRPr>
          </a:p>
        </p:txBody>
      </p:sp>
      <p:graphicFrame>
        <p:nvGraphicFramePr>
          <p:cNvPr id="943" name="Google Shape;943;p36"/>
          <p:cNvGraphicFramePr/>
          <p:nvPr/>
        </p:nvGraphicFramePr>
        <p:xfrm>
          <a:off x="285750" y="1447800"/>
          <a:ext cx="3000000" cy="3000000"/>
        </p:xfrm>
        <a:graphic>
          <a:graphicData uri="http://schemas.openxmlformats.org/drawingml/2006/table">
            <a:tbl>
              <a:tblPr>
                <a:noFill/>
                <a:tableStyleId>{F1B291AF-9CB1-4793-AFE8-E70834C1BA4F}</a:tableStyleId>
              </a:tblPr>
              <a:tblGrid>
                <a:gridCol w="1841500"/>
                <a:gridCol w="4826000"/>
                <a:gridCol w="4953000"/>
              </a:tblGrid>
              <a:tr h="419100">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Promedio</a:t>
                      </a:r>
                      <a:endParaRPr b="1" sz="1575">
                        <a:solidFill>
                          <a:srgbClr val="FFFFFF"/>
                        </a:solidFill>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Cómo se calcula</a:t>
                      </a:r>
                      <a:endParaRPr b="1" sz="1575">
                        <a:solidFill>
                          <a:srgbClr val="FFFFFF"/>
                        </a:solidFill>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Cuándo lo usamos</a:t>
                      </a:r>
                      <a:endParaRPr b="1" sz="1575">
                        <a:solidFill>
                          <a:srgbClr val="FFFFFF"/>
                        </a:solidFill>
                      </a:endParaRPr>
                    </a:p>
                  </a:txBody>
                  <a:tcPr marT="76200" marB="76200" marR="95250" marL="114300" anchor="ctr">
                    <a:solidFill>
                      <a:srgbClr val="083672"/>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070F64"/>
                          </a:solidFill>
                        </a:rPr>
                        <a:t>Macro</a:t>
                      </a:r>
                      <a:endParaRPr b="1"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Calcula F1 por clase o etiqueta</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y promedia con el mismo peso.</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Resumen principal en multiclase.</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En multietiqueta, ayuda a observar</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las etiquetas menos frecuentes.</a:t>
                      </a:r>
                      <a:endParaRPr sz="1575">
                        <a:solidFill>
                          <a:srgbClr val="070F64"/>
                        </a:solidFill>
                      </a:endParaRPr>
                    </a:p>
                  </a:txBody>
                  <a:tcPr marT="76200" marB="76200" marR="95250" marL="114300" anchor="ctr">
                    <a:solidFill>
                      <a:srgbClr val="DFF4FC"/>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070F64"/>
                          </a:solidFill>
                        </a:rPr>
                        <a:t>Micro</a:t>
                      </a:r>
                      <a:endParaRPr b="1" sz="1575">
                        <a:solidFill>
                          <a:srgbClr val="070F64"/>
                        </a:solidFill>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Suma detecciones correctas, falsas alarmas</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y omisiones de todas las clases o etiquetas.</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 esos totales calcula F1.</a:t>
                      </a:r>
                      <a:endParaRPr sz="1575">
                        <a:solidFill>
                          <a:srgbClr val="070F64"/>
                        </a:solidFill>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Resumen global en multietiqueta.</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Las etiquetas frecuentes influyen más.</a:t>
                      </a:r>
                      <a:endParaRPr sz="1575">
                        <a:solidFill>
                          <a:srgbClr val="070F64"/>
                        </a:solidFill>
                      </a:endParaRPr>
                    </a:p>
                  </a:txBody>
                  <a:tcPr marT="76200" marB="76200" marR="95250" marL="114300" anchor="ctr">
                    <a:solidFill>
                      <a:srgbClr val="F6FBFD"/>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070F64"/>
                          </a:solidFill>
                        </a:rPr>
                        <a:t>Ponderado</a:t>
                      </a:r>
                      <a:endParaRPr b="1"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b="1" lang="en-US" sz="1575">
                          <a:solidFill>
                            <a:srgbClr val="070F64"/>
                          </a:solidFill>
                        </a:rPr>
                        <a:t>(weighted)</a:t>
                      </a:r>
                      <a:endParaRPr b="1"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Promedia F1 por clase o etiqueta,</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 más peso si tiene más casos reales.</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Complemento en multiclase y multietiqueta.</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Puede ocultar errores en categorías</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 pocos casos.</a:t>
                      </a:r>
                      <a:endParaRPr sz="1575">
                        <a:solidFill>
                          <a:srgbClr val="070F64"/>
                        </a:solidFill>
                      </a:endParaRPr>
                    </a:p>
                  </a:txBody>
                  <a:tcPr marT="76200" marB="76200" marR="95250" marL="114300" anchor="ctr">
                    <a:solidFill>
                      <a:srgbClr val="DFF4FC"/>
                    </a:solidFill>
                  </a:tcPr>
                </a:tc>
              </a:tr>
            </a:tbl>
          </a:graphicData>
        </a:graphic>
      </p:graphicFrame>
      <p:sp>
        <p:nvSpPr>
          <p:cNvPr id="944" name="Google Shape;944;p36"/>
          <p:cNvSpPr/>
          <p:nvPr/>
        </p:nvSpPr>
        <p:spPr>
          <a:xfrm>
            <a:off x="304800" y="5638800"/>
            <a:ext cx="11525400" cy="838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500"/>
              <a:buFont typeface="Arial"/>
              <a:buNone/>
            </a:pPr>
            <a:r>
              <a:rPr lang="en-US" sz="1600">
                <a:solidFill>
                  <a:srgbClr val="070F64"/>
                </a:solidFill>
              </a:rPr>
              <a:t>Ejemplo: 90 normales y 10 ataques. El modelo marca todo como normal.</a:t>
            </a:r>
            <a:endParaRPr sz="1600">
              <a:solidFill>
                <a:srgbClr val="070F64"/>
              </a:solidFill>
            </a:endParaRPr>
          </a:p>
          <a:p>
            <a:pPr indent="0" lvl="0" marL="0" marR="0" rtl="0" algn="l">
              <a:spcBef>
                <a:spcPts val="0"/>
              </a:spcBef>
              <a:spcAft>
                <a:spcPts val="0"/>
              </a:spcAft>
              <a:buClr>
                <a:srgbClr val="070F64"/>
              </a:buClr>
              <a:buSzPts val="1500"/>
              <a:buFont typeface="Arial"/>
              <a:buNone/>
            </a:pPr>
            <a:r>
              <a:rPr lang="en-US" sz="1600">
                <a:solidFill>
                  <a:srgbClr val="070F64"/>
                </a:solidFill>
              </a:rPr>
              <a:t>F1 normal: 94,7 %. F1 ataque: 0 %. Macro: 47,4 %. Micro: 90 %. Ponderado: 85,3 %.</a:t>
            </a:r>
            <a:endParaRPr sz="1600">
              <a:solidFill>
                <a:srgbClr val="070F64"/>
              </a:solidFill>
            </a:endParaRPr>
          </a:p>
          <a:p>
            <a:pPr indent="0" lvl="0" marL="0" marR="0" rtl="0" algn="l">
              <a:spcBef>
                <a:spcPts val="0"/>
              </a:spcBef>
              <a:spcAft>
                <a:spcPts val="0"/>
              </a:spcAft>
              <a:buClr>
                <a:srgbClr val="070F64"/>
              </a:buClr>
              <a:buSzPts val="1500"/>
              <a:buFont typeface="Arial"/>
              <a:buNone/>
            </a:pPr>
            <a:r>
              <a:rPr lang="en-US" sz="1600">
                <a:solidFill>
                  <a:srgbClr val="070F64"/>
                </a:solidFill>
              </a:rPr>
              <a:t>Un promedio alto puede ocultar que no se detectó ningún ataque.</a:t>
            </a:r>
            <a:endParaRPr sz="1600">
              <a:solidFill>
                <a:srgbClr val="070F64"/>
              </a:solidFill>
            </a:endParaRPr>
          </a:p>
        </p:txBody>
      </p:sp>
      <p:sp>
        <p:nvSpPr>
          <p:cNvPr id="945" name="Google Shape;945;p3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46" name="Google Shape;946;p36" title="DEFENSA_SEGURA_V2:barra-4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7" name="Google Shape;947;p36" title="DEFENSA_SEGURA_V2:avance-40"/>
          <p:cNvSpPr/>
          <p:nvPr/>
        </p:nvSpPr>
        <p:spPr>
          <a:xfrm>
            <a:off x="0" y="0"/>
            <a:ext cx="3657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8" name="Google Shape;948;p36" title="DEFENSA_SEGURA_V2:seccion-4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37"/>
          <p:cNvSpPr/>
          <p:nvPr/>
        </p:nvSpPr>
        <p:spPr>
          <a:xfrm>
            <a:off x="254000" y="1206500"/>
            <a:ext cx="6997800" cy="4343400"/>
          </a:xfrm>
          <a:prstGeom prst="roundRect">
            <a:avLst>
              <a:gd fmla="val 1361" name="adj"/>
            </a:avLst>
          </a:prstGeom>
          <a:solidFill>
            <a:srgbClr val="E8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7"/>
          <p:cNvSpPr/>
          <p:nvPr/>
        </p:nvSpPr>
        <p:spPr>
          <a:xfrm>
            <a:off x="7404100" y="1206500"/>
            <a:ext cx="4533900" cy="4343400"/>
          </a:xfrm>
          <a:prstGeom prst="roundRect">
            <a:avLst>
              <a:gd fmla="val 1370" name="adj"/>
            </a:avLst>
          </a:prstGeom>
          <a:solidFill>
            <a:srgbClr val="EAFBF9"/>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7"/>
          <p:cNvSpPr/>
          <p:nvPr/>
        </p:nvSpPr>
        <p:spPr>
          <a:xfrm>
            <a:off x="254000" y="5676900"/>
            <a:ext cx="11684100" cy="571500"/>
          </a:xfrm>
          <a:prstGeom prst="roundRect">
            <a:avLst>
              <a:gd fmla="val 7407" name="adj"/>
            </a:avLst>
          </a:prstGeom>
          <a:solidFill>
            <a:srgbClr val="E8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7"/>
          <p:cNvSpPr/>
          <p:nvPr/>
        </p:nvSpPr>
        <p:spPr>
          <a:xfrm>
            <a:off x="304800" y="215900"/>
            <a:ext cx="11430000" cy="74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800">
                <a:solidFill>
                  <a:srgbClr val="111F5B"/>
                </a:solidFill>
              </a:rPr>
              <a:t>Tiempo y recursos</a:t>
            </a:r>
            <a:endParaRPr b="1" sz="3800">
              <a:solidFill>
                <a:srgbClr val="111F5B"/>
              </a:solidFill>
            </a:endParaRPr>
          </a:p>
        </p:txBody>
      </p:sp>
      <p:sp>
        <p:nvSpPr>
          <p:cNvPr id="958" name="Google Shape;958;p37"/>
          <p:cNvSpPr/>
          <p:nvPr/>
        </p:nvSpPr>
        <p:spPr>
          <a:xfrm>
            <a:off x="571500" y="1371600"/>
            <a:ext cx="63246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700">
                <a:solidFill>
                  <a:srgbClr val="050751"/>
                </a:solidFill>
              </a:rPr>
              <a:t>Tiempo de ejecución</a:t>
            </a:r>
            <a:endParaRPr b="1" sz="2700">
              <a:solidFill>
                <a:srgbClr val="050751"/>
              </a:solidFill>
            </a:endParaRPr>
          </a:p>
        </p:txBody>
      </p:sp>
      <p:sp>
        <p:nvSpPr>
          <p:cNvPr id="959" name="Google Shape;959;p37"/>
          <p:cNvSpPr/>
          <p:nvPr/>
        </p:nvSpPr>
        <p:spPr>
          <a:xfrm>
            <a:off x="533400" y="20193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A0A68"/>
                </a:solidFill>
                <a:latin typeface="Arial Narrow"/>
                <a:ea typeface="Arial Narrow"/>
                <a:cs typeface="Arial Narrow"/>
                <a:sym typeface="Arial Narrow"/>
              </a:rPr>
              <a:t>Tiempo de ajuste:</a:t>
            </a:r>
            <a:r>
              <a:rPr lang="en-US" sz="1800">
                <a:solidFill>
                  <a:srgbClr val="0A0A68"/>
                </a:solidFill>
                <a:latin typeface="Arial Narrow"/>
                <a:ea typeface="Arial Narrow"/>
                <a:cs typeface="Arial Narrow"/>
                <a:sym typeface="Arial Narrow"/>
              </a:rPr>
              <a:t> preparar y entrenar el modelo.</a:t>
            </a:r>
            <a:endParaRPr sz="1800">
              <a:solidFill>
                <a:srgbClr val="0A0A68"/>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A0A68"/>
                </a:solidFill>
                <a:latin typeface="Arial Narrow"/>
                <a:ea typeface="Arial Narrow"/>
                <a:cs typeface="Arial Narrow"/>
                <a:sym typeface="Arial Narrow"/>
              </a:rPr>
              <a:t>Permite conocer el costo de dejarlo listo.</a:t>
            </a:r>
            <a:endParaRPr sz="1800">
              <a:solidFill>
                <a:srgbClr val="0A0A68"/>
              </a:solidFill>
              <a:latin typeface="Arial Narrow"/>
              <a:ea typeface="Arial Narrow"/>
              <a:cs typeface="Arial Narrow"/>
              <a:sym typeface="Arial Narrow"/>
            </a:endParaRPr>
          </a:p>
        </p:txBody>
      </p:sp>
      <p:sp>
        <p:nvSpPr>
          <p:cNvPr id="960" name="Google Shape;960;p37"/>
          <p:cNvSpPr/>
          <p:nvPr/>
        </p:nvSpPr>
        <p:spPr>
          <a:xfrm>
            <a:off x="533400" y="25781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D0E71"/>
                </a:solidFill>
                <a:latin typeface="Arial Narrow"/>
                <a:ea typeface="Arial Narrow"/>
                <a:cs typeface="Arial Narrow"/>
                <a:sym typeface="Arial Narrow"/>
              </a:rPr>
              <a:t>Tiempo por caso:</a:t>
            </a:r>
            <a:r>
              <a:rPr lang="en-US" sz="1800">
                <a:solidFill>
                  <a:srgbClr val="0D0E71"/>
                </a:solidFill>
                <a:latin typeface="Arial Narrow"/>
                <a:ea typeface="Arial Narrow"/>
                <a:cs typeface="Arial Narrow"/>
                <a:sym typeface="Arial Narrow"/>
              </a:rPr>
              <a:t> cuánto tarda procesarlo.</a:t>
            </a:r>
            <a:endParaRPr sz="1800">
              <a:solidFill>
                <a:srgbClr val="0D0E7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D0E71"/>
                </a:solidFill>
                <a:latin typeface="Arial Narrow"/>
                <a:ea typeface="Arial Narrow"/>
                <a:cs typeface="Arial Narrow"/>
                <a:sym typeface="Arial Narrow"/>
              </a:rPr>
              <a:t>Muestra la demora al usar el modelo.</a:t>
            </a:r>
            <a:endParaRPr sz="1800">
              <a:solidFill>
                <a:srgbClr val="0D0E71"/>
              </a:solidFill>
              <a:latin typeface="Arial Narrow"/>
              <a:ea typeface="Arial Narrow"/>
              <a:cs typeface="Arial Narrow"/>
              <a:sym typeface="Arial Narrow"/>
            </a:endParaRPr>
          </a:p>
        </p:txBody>
      </p:sp>
      <p:sp>
        <p:nvSpPr>
          <p:cNvPr id="961" name="Google Shape;961;p37"/>
          <p:cNvSpPr/>
          <p:nvPr/>
        </p:nvSpPr>
        <p:spPr>
          <a:xfrm>
            <a:off x="533400" y="31369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101074"/>
                </a:solidFill>
                <a:latin typeface="Arial Narrow"/>
                <a:ea typeface="Arial Narrow"/>
                <a:cs typeface="Arial Narrow"/>
                <a:sym typeface="Arial Narrow"/>
              </a:rPr>
              <a:t>p50:</a:t>
            </a:r>
            <a:r>
              <a:rPr lang="en-US" sz="1800">
                <a:solidFill>
                  <a:srgbClr val="101074"/>
                </a:solidFill>
                <a:latin typeface="Arial Narrow"/>
                <a:ea typeface="Arial Narrow"/>
                <a:cs typeface="Arial Narrow"/>
                <a:sym typeface="Arial Narrow"/>
              </a:rPr>
              <a:t> la mitad de los casos tarda hasta ese valor.</a:t>
            </a:r>
            <a:endParaRPr sz="1800">
              <a:solidFill>
                <a:srgbClr val="101074"/>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101074"/>
                </a:solidFill>
                <a:latin typeface="Arial Narrow"/>
                <a:ea typeface="Arial Narrow"/>
                <a:cs typeface="Arial Narrow"/>
                <a:sym typeface="Arial Narrow"/>
              </a:rPr>
              <a:t>p95 y p99 cubren al 95 % y 99 % de los casos.</a:t>
            </a:r>
            <a:endParaRPr sz="1800">
              <a:solidFill>
                <a:srgbClr val="101074"/>
              </a:solidFill>
              <a:latin typeface="Arial Narrow"/>
              <a:ea typeface="Arial Narrow"/>
              <a:cs typeface="Arial Narrow"/>
              <a:sym typeface="Arial Narrow"/>
            </a:endParaRPr>
          </a:p>
        </p:txBody>
      </p:sp>
      <p:sp>
        <p:nvSpPr>
          <p:cNvPr id="962" name="Google Shape;962;p37"/>
          <p:cNvSpPr/>
          <p:nvPr/>
        </p:nvSpPr>
        <p:spPr>
          <a:xfrm>
            <a:off x="533400" y="36957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F1174"/>
                </a:solidFill>
                <a:latin typeface="Arial Narrow"/>
                <a:ea typeface="Arial Narrow"/>
                <a:cs typeface="Arial Narrow"/>
                <a:sym typeface="Arial Narrow"/>
              </a:rPr>
              <a:t>Casos/s:</a:t>
            </a:r>
            <a:r>
              <a:rPr lang="en-US" sz="1800">
                <a:solidFill>
                  <a:srgbClr val="0F1174"/>
                </a:solidFill>
                <a:latin typeface="Arial Narrow"/>
                <a:ea typeface="Arial Narrow"/>
                <a:cs typeface="Arial Narrow"/>
                <a:sym typeface="Arial Narrow"/>
              </a:rPr>
              <a:t> cuántos casos procesa en un segundo.</a:t>
            </a:r>
            <a:endParaRPr sz="1800">
              <a:solidFill>
                <a:srgbClr val="0F1174"/>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F1174"/>
                </a:solidFill>
                <a:latin typeface="Arial Narrow"/>
                <a:ea typeface="Arial Narrow"/>
                <a:cs typeface="Arial Narrow"/>
                <a:sym typeface="Arial Narrow"/>
              </a:rPr>
              <a:t>Mide la capacidad de procesamiento.</a:t>
            </a:r>
            <a:endParaRPr sz="1800">
              <a:solidFill>
                <a:srgbClr val="0F1174"/>
              </a:solidFill>
              <a:latin typeface="Arial Narrow"/>
              <a:ea typeface="Arial Narrow"/>
              <a:cs typeface="Arial Narrow"/>
              <a:sym typeface="Arial Narrow"/>
            </a:endParaRPr>
          </a:p>
        </p:txBody>
      </p:sp>
      <p:sp>
        <p:nvSpPr>
          <p:cNvPr id="963" name="Google Shape;963;p37"/>
          <p:cNvSpPr/>
          <p:nvPr/>
        </p:nvSpPr>
        <p:spPr>
          <a:xfrm>
            <a:off x="533400" y="42545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F106E"/>
                </a:solidFill>
                <a:latin typeface="Arial Narrow"/>
                <a:ea typeface="Arial Narrow"/>
                <a:cs typeface="Arial Narrow"/>
                <a:sym typeface="Arial Narrow"/>
              </a:rPr>
              <a:t>Duración del trabajo:</a:t>
            </a:r>
            <a:r>
              <a:rPr lang="en-US" sz="1800">
                <a:solidFill>
                  <a:srgbClr val="0F106E"/>
                </a:solidFill>
                <a:latin typeface="Arial Narrow"/>
                <a:ea typeface="Arial Narrow"/>
                <a:cs typeface="Arial Narrow"/>
                <a:sym typeface="Arial Narrow"/>
              </a:rPr>
              <a:t> tiempo total en Slurm.</a:t>
            </a:r>
            <a:endParaRPr sz="1800">
              <a:solidFill>
                <a:srgbClr val="0F106E"/>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F106E"/>
                </a:solidFill>
                <a:latin typeface="Arial Narrow"/>
                <a:ea typeface="Arial Narrow"/>
                <a:cs typeface="Arial Narrow"/>
                <a:sym typeface="Arial Narrow"/>
              </a:rPr>
              <a:t>Incluye todas las etapas ejecutadas.</a:t>
            </a:r>
            <a:endParaRPr sz="1800">
              <a:solidFill>
                <a:srgbClr val="0F106E"/>
              </a:solidFill>
              <a:latin typeface="Arial Narrow"/>
              <a:ea typeface="Arial Narrow"/>
              <a:cs typeface="Arial Narrow"/>
              <a:sym typeface="Arial Narrow"/>
            </a:endParaRPr>
          </a:p>
        </p:txBody>
      </p:sp>
      <p:sp>
        <p:nvSpPr>
          <p:cNvPr id="964" name="Google Shape;964;p37"/>
          <p:cNvSpPr/>
          <p:nvPr/>
        </p:nvSpPr>
        <p:spPr>
          <a:xfrm>
            <a:off x="533400" y="4813300"/>
            <a:ext cx="65406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rgbClr val="0E0F75"/>
                </a:solidFill>
                <a:latin typeface="Arial Narrow"/>
                <a:ea typeface="Arial Narrow"/>
                <a:cs typeface="Arial Narrow"/>
                <a:sym typeface="Arial Narrow"/>
              </a:rPr>
              <a:t>Ejemplo didáctico: p95 = 8 ms significa que</a:t>
            </a:r>
            <a:endParaRPr sz="1800">
              <a:solidFill>
                <a:srgbClr val="0E0F75"/>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E0F75"/>
                </a:solidFill>
                <a:latin typeface="Arial Narrow"/>
                <a:ea typeface="Arial Narrow"/>
                <a:cs typeface="Arial Narrow"/>
                <a:sym typeface="Arial Narrow"/>
              </a:rPr>
              <a:t>el 95 % de los casos tardó como máximo 8 ms.</a:t>
            </a:r>
            <a:endParaRPr sz="1800">
              <a:solidFill>
                <a:srgbClr val="0E0F75"/>
              </a:solidFill>
              <a:latin typeface="Arial Narrow"/>
              <a:ea typeface="Arial Narrow"/>
              <a:cs typeface="Arial Narrow"/>
              <a:sym typeface="Arial Narrow"/>
            </a:endParaRPr>
          </a:p>
        </p:txBody>
      </p:sp>
      <p:sp>
        <p:nvSpPr>
          <p:cNvPr id="965" name="Google Shape;965;p37"/>
          <p:cNvSpPr/>
          <p:nvPr/>
        </p:nvSpPr>
        <p:spPr>
          <a:xfrm>
            <a:off x="7670800" y="1371600"/>
            <a:ext cx="40131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700">
                <a:solidFill>
                  <a:srgbClr val="060751"/>
                </a:solidFill>
                <a:latin typeface="Arial Narrow"/>
                <a:ea typeface="Arial Narrow"/>
                <a:cs typeface="Arial Narrow"/>
                <a:sym typeface="Arial Narrow"/>
              </a:rPr>
              <a:t>Recursos utilizados</a:t>
            </a:r>
            <a:endParaRPr b="1" sz="2700">
              <a:solidFill>
                <a:srgbClr val="060751"/>
              </a:solidFill>
              <a:latin typeface="Arial Narrow"/>
              <a:ea typeface="Arial Narrow"/>
              <a:cs typeface="Arial Narrow"/>
              <a:sym typeface="Arial Narrow"/>
            </a:endParaRPr>
          </a:p>
        </p:txBody>
      </p:sp>
      <p:sp>
        <p:nvSpPr>
          <p:cNvPr id="966" name="Google Shape;966;p37"/>
          <p:cNvSpPr/>
          <p:nvPr/>
        </p:nvSpPr>
        <p:spPr>
          <a:xfrm>
            <a:off x="7658100" y="20828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90967"/>
                </a:solidFill>
                <a:latin typeface="Arial Narrow"/>
                <a:ea typeface="Arial Narrow"/>
                <a:cs typeface="Arial Narrow"/>
                <a:sym typeface="Arial Narrow"/>
              </a:rPr>
              <a:t>CPU:</a:t>
            </a:r>
            <a:r>
              <a:rPr lang="en-US" sz="1800">
                <a:solidFill>
                  <a:srgbClr val="090967"/>
                </a:solidFill>
                <a:latin typeface="Arial Narrow"/>
                <a:ea typeface="Arial Narrow"/>
                <a:cs typeface="Arial Narrow"/>
                <a:sym typeface="Arial Narrow"/>
              </a:rPr>
              <a:t> recursos de cálculo.</a:t>
            </a:r>
            <a:endParaRPr sz="1800">
              <a:solidFill>
                <a:srgbClr val="090967"/>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90967"/>
                </a:solidFill>
                <a:latin typeface="Arial Narrow"/>
                <a:ea typeface="Arial Narrow"/>
                <a:cs typeface="Arial Narrow"/>
                <a:sym typeface="Arial Narrow"/>
              </a:rPr>
              <a:t>Indicamos núcleos o hilos asignados.</a:t>
            </a:r>
            <a:endParaRPr sz="1800">
              <a:solidFill>
                <a:srgbClr val="090967"/>
              </a:solidFill>
              <a:latin typeface="Arial Narrow"/>
              <a:ea typeface="Arial Narrow"/>
              <a:cs typeface="Arial Narrow"/>
              <a:sym typeface="Arial Narrow"/>
            </a:endParaRPr>
          </a:p>
        </p:txBody>
      </p:sp>
      <p:sp>
        <p:nvSpPr>
          <p:cNvPr id="967" name="Google Shape;967;p37"/>
          <p:cNvSpPr/>
          <p:nvPr/>
        </p:nvSpPr>
        <p:spPr>
          <a:xfrm>
            <a:off x="7658100" y="29083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E117D"/>
                </a:solidFill>
                <a:latin typeface="Arial Narrow"/>
                <a:ea typeface="Arial Narrow"/>
                <a:cs typeface="Arial Narrow"/>
                <a:sym typeface="Arial Narrow"/>
              </a:rPr>
              <a:t>Memoria (MiB):</a:t>
            </a:r>
            <a:r>
              <a:rPr lang="en-US" sz="1800">
                <a:solidFill>
                  <a:srgbClr val="0E117D"/>
                </a:solidFill>
                <a:latin typeface="Arial Narrow"/>
                <a:ea typeface="Arial Narrow"/>
                <a:cs typeface="Arial Narrow"/>
                <a:sym typeface="Arial Narrow"/>
              </a:rPr>
              <a:t> RAM ocupada.</a:t>
            </a:r>
            <a:endParaRPr sz="1800">
              <a:solidFill>
                <a:srgbClr val="0E117D"/>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E117D"/>
                </a:solidFill>
                <a:latin typeface="Arial Narrow"/>
                <a:ea typeface="Arial Narrow"/>
                <a:cs typeface="Arial Narrow"/>
                <a:sym typeface="Arial Narrow"/>
              </a:rPr>
              <a:t>MaxRSS: máximo observado en un paso.</a:t>
            </a:r>
            <a:endParaRPr sz="1800">
              <a:solidFill>
                <a:srgbClr val="0E117D"/>
              </a:solidFill>
              <a:latin typeface="Arial Narrow"/>
              <a:ea typeface="Arial Narrow"/>
              <a:cs typeface="Arial Narrow"/>
              <a:sym typeface="Arial Narrow"/>
            </a:endParaRPr>
          </a:p>
        </p:txBody>
      </p:sp>
      <p:sp>
        <p:nvSpPr>
          <p:cNvPr id="968" name="Google Shape;968;p37"/>
          <p:cNvSpPr/>
          <p:nvPr/>
        </p:nvSpPr>
        <p:spPr>
          <a:xfrm>
            <a:off x="7658100" y="37338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7065C"/>
                </a:solidFill>
                <a:latin typeface="Arial Narrow"/>
                <a:ea typeface="Arial Narrow"/>
                <a:cs typeface="Arial Narrow"/>
                <a:sym typeface="Arial Narrow"/>
              </a:rPr>
              <a:t>Tamaño del modelo (MiB):</a:t>
            </a:r>
            <a:r>
              <a:rPr lang="en-US" sz="1800">
                <a:solidFill>
                  <a:srgbClr val="07065C"/>
                </a:solidFill>
                <a:latin typeface="Arial Narrow"/>
                <a:ea typeface="Arial Narrow"/>
                <a:cs typeface="Arial Narrow"/>
                <a:sym typeface="Arial Narrow"/>
              </a:rPr>
              <a:t> espacio</a:t>
            </a:r>
            <a:endParaRPr sz="1800">
              <a:solidFill>
                <a:srgbClr val="07065C"/>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7065C"/>
                </a:solidFill>
                <a:latin typeface="Arial Narrow"/>
                <a:ea typeface="Arial Narrow"/>
                <a:cs typeface="Arial Narrow"/>
                <a:sym typeface="Arial Narrow"/>
              </a:rPr>
              <a:t>que ocupa el archivo guardado.</a:t>
            </a:r>
            <a:endParaRPr sz="1800">
              <a:solidFill>
                <a:srgbClr val="07065C"/>
              </a:solidFill>
              <a:latin typeface="Arial Narrow"/>
              <a:ea typeface="Arial Narrow"/>
              <a:cs typeface="Arial Narrow"/>
              <a:sym typeface="Arial Narrow"/>
            </a:endParaRPr>
          </a:p>
        </p:txBody>
      </p:sp>
      <p:sp>
        <p:nvSpPr>
          <p:cNvPr id="969" name="Google Shape;969;p37"/>
          <p:cNvSpPr/>
          <p:nvPr/>
        </p:nvSpPr>
        <p:spPr>
          <a:xfrm>
            <a:off x="7658100" y="4559300"/>
            <a:ext cx="3987900" cy="647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rgbClr val="06086F"/>
                </a:solidFill>
                <a:latin typeface="Arial Narrow"/>
                <a:ea typeface="Arial Narrow"/>
                <a:cs typeface="Arial Narrow"/>
                <a:sym typeface="Arial Narrow"/>
              </a:rPr>
              <a:t>Permiten revisar los recursos necesarios</a:t>
            </a:r>
            <a:endParaRPr sz="1800">
              <a:solidFill>
                <a:srgbClr val="06086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6086F"/>
                </a:solidFill>
                <a:latin typeface="Arial Narrow"/>
                <a:ea typeface="Arial Narrow"/>
                <a:cs typeface="Arial Narrow"/>
                <a:sym typeface="Arial Narrow"/>
              </a:rPr>
              <a:t>para ejecutar y guardar el modelo.</a:t>
            </a:r>
            <a:endParaRPr sz="1800">
              <a:solidFill>
                <a:srgbClr val="06086F"/>
              </a:solidFill>
              <a:latin typeface="Arial Narrow"/>
              <a:ea typeface="Arial Narrow"/>
              <a:cs typeface="Arial Narrow"/>
              <a:sym typeface="Arial Narrow"/>
            </a:endParaRPr>
          </a:p>
        </p:txBody>
      </p:sp>
      <p:sp>
        <p:nvSpPr>
          <p:cNvPr id="970" name="Google Shape;970;p37"/>
          <p:cNvSpPr/>
          <p:nvPr/>
        </p:nvSpPr>
        <p:spPr>
          <a:xfrm>
            <a:off x="419100" y="5727700"/>
            <a:ext cx="11353800" cy="4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700">
                <a:solidFill>
                  <a:srgbClr val="09095F"/>
                </a:solidFill>
                <a:latin typeface="Arial Narrow"/>
                <a:ea typeface="Arial Narrow"/>
                <a:cs typeface="Arial Narrow"/>
                <a:sym typeface="Arial Narrow"/>
              </a:rPr>
              <a:t>Indicamos si el caso es una petición o un grupo y si se procesa solo o por lotes.</a:t>
            </a:r>
            <a:endParaRPr sz="1700">
              <a:solidFill>
                <a:srgbClr val="09095F"/>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700">
                <a:solidFill>
                  <a:srgbClr val="09095F"/>
                </a:solidFill>
                <a:latin typeface="Arial Narrow"/>
                <a:ea typeface="Arial Narrow"/>
                <a:cs typeface="Arial Narrow"/>
                <a:sym typeface="Arial Narrow"/>
              </a:rPr>
              <a:t>Distinguimos preparar características, predecir y ejecutar el trabajo completo.</a:t>
            </a:r>
            <a:endParaRPr sz="1700">
              <a:solidFill>
                <a:srgbClr val="09095F"/>
              </a:solidFill>
              <a:latin typeface="Arial Narrow"/>
              <a:ea typeface="Arial Narrow"/>
              <a:cs typeface="Arial Narrow"/>
              <a:sym typeface="Arial Narrow"/>
            </a:endParaRPr>
          </a:p>
        </p:txBody>
      </p:sp>
      <p:sp>
        <p:nvSpPr>
          <p:cNvPr id="971" name="Google Shape;971;p37"/>
          <p:cNvSpPr/>
          <p:nvPr/>
        </p:nvSpPr>
        <p:spPr>
          <a:xfrm>
            <a:off x="229167" y="6395099"/>
            <a:ext cx="9225900" cy="23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349">
                <a:solidFill>
                  <a:srgbClr val="2535A3"/>
                </a:solidFill>
                <a:latin typeface="Arial Narrow"/>
                <a:ea typeface="Arial Narrow"/>
                <a:cs typeface="Arial Narrow"/>
                <a:sym typeface="Arial Narrow"/>
              </a:rPr>
              <a:t>Unidades, etapas medidas y fuentes de los registros en las notas.</a:t>
            </a:r>
            <a:endParaRPr sz="1349">
              <a:solidFill>
                <a:srgbClr val="2535A3"/>
              </a:solidFill>
              <a:latin typeface="Arial Narrow"/>
              <a:ea typeface="Arial Narrow"/>
              <a:cs typeface="Arial Narrow"/>
              <a:sym typeface="Arial Narrow"/>
            </a:endParaRPr>
          </a:p>
        </p:txBody>
      </p:sp>
      <p:sp>
        <p:nvSpPr>
          <p:cNvPr id="972" name="Google Shape;972;p3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73" name="Google Shape;973;p37" title="DEFENSA_SEGURA_V2:barra-2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4" name="Google Shape;974;p37" title="DEFENSA_SEGURA_V2:avance-27"/>
          <p:cNvSpPr/>
          <p:nvPr/>
        </p:nvSpPr>
        <p:spPr>
          <a:xfrm>
            <a:off x="0" y="0"/>
            <a:ext cx="3657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5" name="Google Shape;975;p37" title="DEFENSA_SEGURA_V2:seccion-2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9" name="Shape 979"/>
        <p:cNvGrpSpPr/>
        <p:nvPr/>
      </p:nvGrpSpPr>
      <p:grpSpPr>
        <a:xfrm>
          <a:off x="0" y="0"/>
          <a:ext cx="0" cy="0"/>
          <a:chOff x="0" y="0"/>
          <a:chExt cx="0" cy="0"/>
        </a:xfrm>
      </p:grpSpPr>
      <p:sp>
        <p:nvSpPr>
          <p:cNvPr id="980" name="Google Shape;980;p38"/>
          <p:cNvSpPr/>
          <p:nvPr/>
        </p:nvSpPr>
        <p:spPr>
          <a:xfrm>
            <a:off x="5921088" y="2244701"/>
            <a:ext cx="6063609" cy="2681981"/>
          </a:xfrm>
          <a:prstGeom prst="roundRect">
            <a:avLst>
              <a:gd fmla="val 2174" name="adj"/>
            </a:avLst>
          </a:prstGeom>
          <a:solidFill>
            <a:srgbClr val="E4F9F9"/>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8"/>
          <p:cNvSpPr/>
          <p:nvPr/>
        </p:nvSpPr>
        <p:spPr>
          <a:xfrm>
            <a:off x="207303" y="2215549"/>
            <a:ext cx="5568026" cy="2711133"/>
          </a:xfrm>
          <a:prstGeom prst="roundRect">
            <a:avLst>
              <a:gd fmla="val 2151" name="adj"/>
            </a:avLst>
          </a:prstGeom>
          <a:solidFill>
            <a:srgbClr val="E6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8"/>
          <p:cNvSpPr/>
          <p:nvPr/>
        </p:nvSpPr>
        <p:spPr>
          <a:xfrm>
            <a:off x="207303" y="5043290"/>
            <a:ext cx="11777394" cy="932863"/>
          </a:xfrm>
          <a:prstGeom prst="roundRect">
            <a:avLst>
              <a:gd fmla="val 6250" name="adj"/>
            </a:avLst>
          </a:prstGeom>
          <a:solidFill>
            <a:srgbClr val="E5F5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8"/>
          <p:cNvSpPr/>
          <p:nvPr/>
        </p:nvSpPr>
        <p:spPr>
          <a:xfrm>
            <a:off x="1723205" y="1399294"/>
            <a:ext cx="3702300" cy="670495"/>
          </a:xfrm>
          <a:prstGeom prst="roundRect">
            <a:avLst>
              <a:gd fmla="val 8696" name="adj"/>
            </a:avLst>
          </a:prstGeom>
          <a:solidFill>
            <a:srgbClr val="E6F5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4" name="Google Shape;984;p38"/>
          <p:cNvPicPr preferRelativeResize="0"/>
          <p:nvPr/>
        </p:nvPicPr>
        <p:blipFill rotWithShape="1">
          <a:blip r:embed="rId3">
            <a:alphaModFix/>
          </a:blip>
          <a:srcRect b="0" l="0" r="0" t="0"/>
          <a:stretch/>
        </p:blipFill>
        <p:spPr>
          <a:xfrm>
            <a:off x="513399" y="1355566"/>
            <a:ext cx="932863" cy="845407"/>
          </a:xfrm>
          <a:prstGeom prst="rect">
            <a:avLst/>
          </a:prstGeom>
          <a:noFill/>
          <a:ln>
            <a:noFill/>
          </a:ln>
        </p:spPr>
      </p:pic>
      <p:pic>
        <p:nvPicPr>
          <p:cNvPr id="985" name="Google Shape;985;p38"/>
          <p:cNvPicPr preferRelativeResize="0"/>
          <p:nvPr/>
        </p:nvPicPr>
        <p:blipFill rotWithShape="1">
          <a:blip r:embed="rId4">
            <a:alphaModFix/>
          </a:blip>
          <a:srcRect b="0" l="0" r="0" t="0"/>
          <a:stretch/>
        </p:blipFill>
        <p:spPr>
          <a:xfrm>
            <a:off x="2175061" y="2871469"/>
            <a:ext cx="116608" cy="787103"/>
          </a:xfrm>
          <a:prstGeom prst="rect">
            <a:avLst/>
          </a:prstGeom>
          <a:noFill/>
          <a:ln>
            <a:noFill/>
          </a:ln>
        </p:spPr>
      </p:pic>
      <p:pic>
        <p:nvPicPr>
          <p:cNvPr id="986" name="Google Shape;986;p38"/>
          <p:cNvPicPr preferRelativeResize="0"/>
          <p:nvPr/>
        </p:nvPicPr>
        <p:blipFill rotWithShape="1">
          <a:blip r:embed="rId5">
            <a:alphaModFix/>
          </a:blip>
          <a:srcRect b="0" l="0" r="0" t="0"/>
          <a:stretch/>
        </p:blipFill>
        <p:spPr>
          <a:xfrm>
            <a:off x="455095" y="2988077"/>
            <a:ext cx="1515902" cy="1690814"/>
          </a:xfrm>
          <a:prstGeom prst="rect">
            <a:avLst/>
          </a:prstGeom>
          <a:noFill/>
          <a:ln>
            <a:noFill/>
          </a:ln>
        </p:spPr>
      </p:pic>
      <p:pic>
        <p:nvPicPr>
          <p:cNvPr id="987" name="Google Shape;987;p38"/>
          <p:cNvPicPr preferRelativeResize="0"/>
          <p:nvPr/>
        </p:nvPicPr>
        <p:blipFill rotWithShape="1">
          <a:blip r:embed="rId6">
            <a:alphaModFix/>
          </a:blip>
          <a:srcRect b="0" l="0" r="0" t="0"/>
          <a:stretch/>
        </p:blipFill>
        <p:spPr>
          <a:xfrm>
            <a:off x="8646797" y="3308748"/>
            <a:ext cx="466431" cy="116608"/>
          </a:xfrm>
          <a:prstGeom prst="rect">
            <a:avLst/>
          </a:prstGeom>
          <a:noFill/>
          <a:ln>
            <a:noFill/>
          </a:ln>
        </p:spPr>
      </p:pic>
      <p:pic>
        <p:nvPicPr>
          <p:cNvPr id="988" name="Google Shape;988;p38"/>
          <p:cNvPicPr preferRelativeResize="0"/>
          <p:nvPr/>
        </p:nvPicPr>
        <p:blipFill rotWithShape="1">
          <a:blip r:embed="rId7">
            <a:alphaModFix/>
          </a:blip>
          <a:srcRect b="0" l="0" r="0" t="0"/>
          <a:stretch/>
        </p:blipFill>
        <p:spPr>
          <a:xfrm>
            <a:off x="11445386" y="3308748"/>
            <a:ext cx="466431" cy="408128"/>
          </a:xfrm>
          <a:prstGeom prst="rect">
            <a:avLst/>
          </a:prstGeom>
          <a:noFill/>
          <a:ln>
            <a:noFill/>
          </a:ln>
        </p:spPr>
      </p:pic>
      <p:pic>
        <p:nvPicPr>
          <p:cNvPr id="989" name="Google Shape;989;p38"/>
          <p:cNvPicPr preferRelativeResize="0"/>
          <p:nvPr/>
        </p:nvPicPr>
        <p:blipFill rotWithShape="1">
          <a:blip r:embed="rId8">
            <a:alphaModFix/>
          </a:blip>
          <a:srcRect b="0" l="0" r="0" t="0"/>
          <a:stretch/>
        </p:blipFill>
        <p:spPr>
          <a:xfrm>
            <a:off x="6431248" y="3425356"/>
            <a:ext cx="932863" cy="874559"/>
          </a:xfrm>
          <a:prstGeom prst="rect">
            <a:avLst/>
          </a:prstGeom>
          <a:noFill/>
          <a:ln>
            <a:noFill/>
          </a:ln>
        </p:spPr>
      </p:pic>
      <p:pic>
        <p:nvPicPr>
          <p:cNvPr id="990" name="Google Shape;990;p38"/>
          <p:cNvPicPr preferRelativeResize="0"/>
          <p:nvPr/>
        </p:nvPicPr>
        <p:blipFill rotWithShape="1">
          <a:blip r:embed="rId9">
            <a:alphaModFix/>
          </a:blip>
          <a:srcRect b="0" l="0" r="0" t="0"/>
          <a:stretch/>
        </p:blipFill>
        <p:spPr>
          <a:xfrm>
            <a:off x="8501037" y="3425356"/>
            <a:ext cx="991167" cy="845407"/>
          </a:xfrm>
          <a:prstGeom prst="rect">
            <a:avLst/>
          </a:prstGeom>
          <a:noFill/>
          <a:ln>
            <a:noFill/>
          </a:ln>
        </p:spPr>
      </p:pic>
      <p:pic>
        <p:nvPicPr>
          <p:cNvPr id="991" name="Google Shape;991;p38"/>
          <p:cNvPicPr preferRelativeResize="0"/>
          <p:nvPr/>
        </p:nvPicPr>
        <p:blipFill rotWithShape="1">
          <a:blip r:embed="rId10">
            <a:alphaModFix/>
          </a:blip>
          <a:srcRect b="0" l="0" r="0" t="0"/>
          <a:stretch/>
        </p:blipFill>
        <p:spPr>
          <a:xfrm>
            <a:off x="10570827" y="3425356"/>
            <a:ext cx="903711" cy="816255"/>
          </a:xfrm>
          <a:prstGeom prst="rect">
            <a:avLst/>
          </a:prstGeom>
          <a:noFill/>
          <a:ln>
            <a:noFill/>
          </a:ln>
        </p:spPr>
      </p:pic>
      <p:pic>
        <p:nvPicPr>
          <p:cNvPr id="992" name="Google Shape;992;p38"/>
          <p:cNvPicPr preferRelativeResize="0"/>
          <p:nvPr/>
        </p:nvPicPr>
        <p:blipFill rotWithShape="1">
          <a:blip r:embed="rId11">
            <a:alphaModFix/>
          </a:blip>
          <a:srcRect b="0" l="0" r="0" t="0"/>
          <a:stretch/>
        </p:blipFill>
        <p:spPr>
          <a:xfrm>
            <a:off x="2204213" y="4241611"/>
            <a:ext cx="116608" cy="466431"/>
          </a:xfrm>
          <a:prstGeom prst="rect">
            <a:avLst/>
          </a:prstGeom>
          <a:noFill/>
          <a:ln>
            <a:noFill/>
          </a:ln>
        </p:spPr>
      </p:pic>
      <p:pic>
        <p:nvPicPr>
          <p:cNvPr id="993" name="Google Shape;993;p38"/>
          <p:cNvPicPr preferRelativeResize="0"/>
          <p:nvPr/>
        </p:nvPicPr>
        <p:blipFill rotWithShape="1">
          <a:blip r:embed="rId12">
            <a:alphaModFix/>
          </a:blip>
          <a:srcRect b="0" l="0" r="0" t="0"/>
          <a:stretch/>
        </p:blipFill>
        <p:spPr>
          <a:xfrm>
            <a:off x="6693615" y="4708043"/>
            <a:ext cx="466431" cy="116608"/>
          </a:xfrm>
          <a:prstGeom prst="rect">
            <a:avLst/>
          </a:prstGeom>
          <a:noFill/>
          <a:ln>
            <a:noFill/>
          </a:ln>
        </p:spPr>
      </p:pic>
      <p:pic>
        <p:nvPicPr>
          <p:cNvPr id="994" name="Google Shape;994;p38"/>
          <p:cNvPicPr preferRelativeResize="0"/>
          <p:nvPr/>
        </p:nvPicPr>
        <p:blipFill rotWithShape="1">
          <a:blip r:embed="rId13">
            <a:alphaModFix/>
          </a:blip>
          <a:srcRect b="0" l="0" r="0" t="0"/>
          <a:stretch/>
        </p:blipFill>
        <p:spPr>
          <a:xfrm>
            <a:off x="4565522" y="5116170"/>
            <a:ext cx="116608" cy="757951"/>
          </a:xfrm>
          <a:prstGeom prst="rect">
            <a:avLst/>
          </a:prstGeom>
          <a:noFill/>
          <a:ln>
            <a:noFill/>
          </a:ln>
        </p:spPr>
      </p:pic>
      <p:pic>
        <p:nvPicPr>
          <p:cNvPr id="995" name="Google Shape;995;p38"/>
          <p:cNvPicPr preferRelativeResize="0"/>
          <p:nvPr/>
        </p:nvPicPr>
        <p:blipFill rotWithShape="1">
          <a:blip r:embed="rId14">
            <a:alphaModFix/>
          </a:blip>
          <a:srcRect b="0" l="0" r="0" t="0"/>
          <a:stretch/>
        </p:blipFill>
        <p:spPr>
          <a:xfrm>
            <a:off x="6664463" y="5116170"/>
            <a:ext cx="116608" cy="757951"/>
          </a:xfrm>
          <a:prstGeom prst="rect">
            <a:avLst/>
          </a:prstGeom>
          <a:noFill/>
          <a:ln>
            <a:noFill/>
          </a:ln>
        </p:spPr>
      </p:pic>
      <p:pic>
        <p:nvPicPr>
          <p:cNvPr id="996" name="Google Shape;996;p38"/>
          <p:cNvPicPr preferRelativeResize="0"/>
          <p:nvPr/>
        </p:nvPicPr>
        <p:blipFill rotWithShape="1">
          <a:blip r:embed="rId15">
            <a:alphaModFix/>
          </a:blip>
          <a:srcRect b="0" l="0" r="0" t="0"/>
          <a:stretch/>
        </p:blipFill>
        <p:spPr>
          <a:xfrm>
            <a:off x="9550508" y="5116170"/>
            <a:ext cx="116608" cy="757951"/>
          </a:xfrm>
          <a:prstGeom prst="rect">
            <a:avLst/>
          </a:prstGeom>
          <a:noFill/>
          <a:ln>
            <a:noFill/>
          </a:ln>
        </p:spPr>
      </p:pic>
      <p:pic>
        <p:nvPicPr>
          <p:cNvPr id="997" name="Google Shape;997;p38"/>
          <p:cNvPicPr preferRelativeResize="0"/>
          <p:nvPr/>
        </p:nvPicPr>
        <p:blipFill rotWithShape="1">
          <a:blip r:embed="rId16">
            <a:alphaModFix/>
          </a:blip>
          <a:srcRect b="0" l="0" r="0" t="0"/>
          <a:stretch/>
        </p:blipFill>
        <p:spPr>
          <a:xfrm>
            <a:off x="4827889" y="5174474"/>
            <a:ext cx="670495" cy="670495"/>
          </a:xfrm>
          <a:prstGeom prst="rect">
            <a:avLst/>
          </a:prstGeom>
          <a:noFill/>
          <a:ln>
            <a:noFill/>
          </a:ln>
        </p:spPr>
      </p:pic>
      <p:pic>
        <p:nvPicPr>
          <p:cNvPr id="998" name="Google Shape;998;p38"/>
          <p:cNvPicPr preferRelativeResize="0"/>
          <p:nvPr/>
        </p:nvPicPr>
        <p:blipFill rotWithShape="1">
          <a:blip r:embed="rId17">
            <a:alphaModFix/>
          </a:blip>
          <a:srcRect b="0" l="0" r="0" t="0"/>
          <a:stretch/>
        </p:blipFill>
        <p:spPr>
          <a:xfrm>
            <a:off x="6955983" y="5174474"/>
            <a:ext cx="670495" cy="670495"/>
          </a:xfrm>
          <a:prstGeom prst="rect">
            <a:avLst/>
          </a:prstGeom>
          <a:noFill/>
          <a:ln>
            <a:noFill/>
          </a:ln>
        </p:spPr>
      </p:pic>
      <p:sp>
        <p:nvSpPr>
          <p:cNvPr id="999" name="Google Shape;999;p38"/>
          <p:cNvSpPr/>
          <p:nvPr/>
        </p:nvSpPr>
        <p:spPr>
          <a:xfrm>
            <a:off x="7728510" y="3797044"/>
            <a:ext cx="349824" cy="225928"/>
          </a:xfrm>
          <a:prstGeom prst="rightArrow">
            <a:avLst>
              <a:gd fmla="val 50000" name="adj1"/>
              <a:gd fmla="val 50000" name="adj2"/>
            </a:avLst>
          </a:prstGeom>
          <a:solidFill>
            <a:srgbClr val="0099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8"/>
          <p:cNvSpPr/>
          <p:nvPr/>
        </p:nvSpPr>
        <p:spPr>
          <a:xfrm>
            <a:off x="9820164" y="3797044"/>
            <a:ext cx="349824" cy="225928"/>
          </a:xfrm>
          <a:prstGeom prst="rightArrow">
            <a:avLst>
              <a:gd fmla="val 50000" name="adj1"/>
              <a:gd fmla="val 50000" name="adj2"/>
            </a:avLst>
          </a:prstGeom>
          <a:solidFill>
            <a:srgbClr val="0099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8"/>
          <p:cNvSpPr/>
          <p:nvPr/>
        </p:nvSpPr>
        <p:spPr>
          <a:xfrm>
            <a:off x="331199" y="204064"/>
            <a:ext cx="10515995" cy="906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491" u="none" cap="none" strike="noStrike">
                <a:solidFill>
                  <a:srgbClr val="111F5B"/>
                </a:solidFill>
              </a:rPr>
              <a:t>Dónde ejecutamos los modelos</a:t>
            </a:r>
            <a:endParaRPr b="1">
              <a:solidFill>
                <a:srgbClr val="111F5B"/>
              </a:solidFill>
            </a:endParaRPr>
          </a:p>
        </p:txBody>
      </p:sp>
      <p:sp>
        <p:nvSpPr>
          <p:cNvPr id="1002" name="Google Shape;1002;p38"/>
          <p:cNvSpPr/>
          <p:nvPr/>
        </p:nvSpPr>
        <p:spPr>
          <a:xfrm>
            <a:off x="316623" y="960115"/>
            <a:ext cx="11040730"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935" u="none" cap="none" strike="noStrike">
                <a:solidFill>
                  <a:srgbClr val="060778"/>
                </a:solidFill>
                <a:latin typeface="Calibri"/>
                <a:ea typeface="Calibri"/>
                <a:cs typeface="Calibri"/>
                <a:sym typeface="Calibri"/>
              </a:rPr>
              <a:t>Clúster Arandu • Facultad Politécnica, Universidad Nacional de Asunción</a:t>
            </a:r>
            <a:endParaRPr/>
          </a:p>
        </p:txBody>
      </p:sp>
      <p:sp>
        <p:nvSpPr>
          <p:cNvPr id="1003" name="Google Shape;1003;p38"/>
          <p:cNvSpPr/>
          <p:nvPr/>
        </p:nvSpPr>
        <p:spPr>
          <a:xfrm>
            <a:off x="1890829" y="1519177"/>
            <a:ext cx="3300883" cy="3114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48" u="none" cap="none" strike="noStrike">
                <a:solidFill>
                  <a:srgbClr val="060787"/>
                </a:solidFill>
                <a:latin typeface="Arial Narrow"/>
                <a:ea typeface="Arial Narrow"/>
                <a:cs typeface="Arial Narrow"/>
                <a:sym typeface="Arial Narrow"/>
              </a:rPr>
              <a:t>Un clúster reúne varios servidores</a:t>
            </a:r>
            <a:endParaRPr/>
          </a:p>
        </p:txBody>
      </p:sp>
      <p:sp>
        <p:nvSpPr>
          <p:cNvPr id="1004" name="Google Shape;1004;p38"/>
          <p:cNvSpPr/>
          <p:nvPr/>
        </p:nvSpPr>
        <p:spPr>
          <a:xfrm>
            <a:off x="1890829" y="1786044"/>
            <a:ext cx="3235291" cy="31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51" u="none" cap="none" strike="noStrike">
                <a:solidFill>
                  <a:srgbClr val="060788"/>
                </a:solidFill>
                <a:latin typeface="Arial Narrow"/>
                <a:ea typeface="Arial Narrow"/>
                <a:cs typeface="Arial Narrow"/>
                <a:sym typeface="Arial Narrow"/>
              </a:rPr>
              <a:t>para ejecutar trabajos de cálculo.</a:t>
            </a:r>
            <a:endParaRPr/>
          </a:p>
        </p:txBody>
      </p:sp>
      <p:sp>
        <p:nvSpPr>
          <p:cNvPr id="1005" name="Google Shape;1005;p38"/>
          <p:cNvSpPr/>
          <p:nvPr/>
        </p:nvSpPr>
        <p:spPr>
          <a:xfrm>
            <a:off x="389503" y="2385835"/>
            <a:ext cx="2710556" cy="4840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93" u="none" cap="none" strike="noStrike">
                <a:solidFill>
                  <a:srgbClr val="060764"/>
                </a:solidFill>
                <a:latin typeface="Arial Narrow"/>
                <a:ea typeface="Arial Narrow"/>
                <a:cs typeface="Arial Narrow"/>
                <a:sym typeface="Arial Narrow"/>
              </a:rPr>
              <a:t>Equipo del clúster</a:t>
            </a:r>
            <a:endParaRPr/>
          </a:p>
        </p:txBody>
      </p:sp>
      <p:sp>
        <p:nvSpPr>
          <p:cNvPr id="1006" name="Google Shape;1006;p38"/>
          <p:cNvSpPr/>
          <p:nvPr/>
        </p:nvSpPr>
        <p:spPr>
          <a:xfrm>
            <a:off x="2481156" y="2918454"/>
            <a:ext cx="1763117" cy="2783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1" u="none" cap="none" strike="noStrike">
                <a:solidFill>
                  <a:srgbClr val="10139A"/>
                </a:solidFill>
                <a:latin typeface="Arial Narrow"/>
                <a:ea typeface="Arial Narrow"/>
                <a:cs typeface="Arial Narrow"/>
                <a:sym typeface="Arial Narrow"/>
              </a:rPr>
              <a:t>Dell PowerEdge R740</a:t>
            </a:r>
            <a:endParaRPr/>
          </a:p>
        </p:txBody>
      </p:sp>
      <p:sp>
        <p:nvSpPr>
          <p:cNvPr id="1007" name="Google Shape;1007;p38"/>
          <p:cNvSpPr/>
          <p:nvPr/>
        </p:nvSpPr>
        <p:spPr>
          <a:xfrm>
            <a:off x="2481156" y="3267139"/>
            <a:ext cx="2994788" cy="2820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1" u="none" cap="none" strike="noStrike">
                <a:solidFill>
                  <a:srgbClr val="0F119C"/>
                </a:solidFill>
                <a:latin typeface="Arial Narrow"/>
                <a:ea typeface="Arial Narrow"/>
                <a:cs typeface="Arial Narrow"/>
                <a:sym typeface="Arial Narrow"/>
              </a:rPr>
              <a:t>2 procesadores Intel Xeon Gold 6242</a:t>
            </a:r>
            <a:endParaRPr/>
          </a:p>
        </p:txBody>
      </p:sp>
      <p:sp>
        <p:nvSpPr>
          <p:cNvPr id="1008" name="Google Shape;1008;p38"/>
          <p:cNvSpPr/>
          <p:nvPr/>
        </p:nvSpPr>
        <p:spPr>
          <a:xfrm>
            <a:off x="2481156" y="3600042"/>
            <a:ext cx="1559053" cy="2802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31" u="none" cap="none" strike="noStrike">
                <a:solidFill>
                  <a:srgbClr val="0C0F9F"/>
                </a:solidFill>
                <a:latin typeface="Arial Narrow"/>
                <a:ea typeface="Arial Narrow"/>
                <a:cs typeface="Arial Narrow"/>
                <a:sym typeface="Arial Narrow"/>
              </a:rPr>
              <a:t>32 núcleos de CPU</a:t>
            </a:r>
            <a:endParaRPr/>
          </a:p>
        </p:txBody>
      </p:sp>
      <p:sp>
        <p:nvSpPr>
          <p:cNvPr id="1009" name="Google Shape;1009;p38"/>
          <p:cNvSpPr/>
          <p:nvPr/>
        </p:nvSpPr>
        <p:spPr>
          <a:xfrm>
            <a:off x="2488444" y="3966745"/>
            <a:ext cx="2695980" cy="282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5" u="none" cap="none" strike="noStrike">
                <a:solidFill>
                  <a:srgbClr val="0C0FA0"/>
                </a:solidFill>
                <a:latin typeface="Arial Narrow"/>
                <a:ea typeface="Arial Narrow"/>
                <a:cs typeface="Arial Narrow"/>
                <a:sym typeface="Arial Narrow"/>
              </a:rPr>
              <a:t>125 GiB de memoria configurada</a:t>
            </a:r>
            <a:endParaRPr/>
          </a:p>
        </p:txBody>
      </p:sp>
      <p:sp>
        <p:nvSpPr>
          <p:cNvPr id="1010" name="Google Shape;1010;p38"/>
          <p:cNvSpPr/>
          <p:nvPr/>
        </p:nvSpPr>
        <p:spPr>
          <a:xfrm>
            <a:off x="2481156" y="4323143"/>
            <a:ext cx="2885468"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5" u="none" cap="none" strike="noStrike">
                <a:solidFill>
                  <a:srgbClr val="1013A2"/>
                </a:solidFill>
                <a:latin typeface="Arial Narrow"/>
                <a:ea typeface="Arial Narrow"/>
                <a:cs typeface="Arial Narrow"/>
                <a:sym typeface="Arial Narrow"/>
              </a:rPr>
              <a:t>GPU disponible: NVIDIA Tesla V100</a:t>
            </a:r>
            <a:endParaRPr/>
          </a:p>
        </p:txBody>
      </p:sp>
      <p:sp>
        <p:nvSpPr>
          <p:cNvPr id="1011" name="Google Shape;1011;p38"/>
          <p:cNvSpPr/>
          <p:nvPr/>
        </p:nvSpPr>
        <p:spPr>
          <a:xfrm>
            <a:off x="2481156" y="4533928"/>
            <a:ext cx="771950" cy="2769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64" u="none" cap="none" strike="noStrike">
                <a:solidFill>
                  <a:srgbClr val="090C9C"/>
                </a:solidFill>
                <a:latin typeface="Arial Narrow"/>
                <a:ea typeface="Arial Narrow"/>
                <a:cs typeface="Arial Narrow"/>
                <a:sym typeface="Arial Narrow"/>
              </a:rPr>
              <a:t>de 16 GB</a:t>
            </a:r>
            <a:endParaRPr/>
          </a:p>
        </p:txBody>
      </p:sp>
      <p:sp>
        <p:nvSpPr>
          <p:cNvPr id="1012" name="Google Shape;1012;p38"/>
          <p:cNvSpPr/>
          <p:nvPr/>
        </p:nvSpPr>
        <p:spPr>
          <a:xfrm>
            <a:off x="411367" y="5366297"/>
            <a:ext cx="3964090" cy="39507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43" u="none" cap="none" strike="noStrike">
                <a:solidFill>
                  <a:srgbClr val="080871"/>
                </a:solidFill>
                <a:latin typeface="Arial Narrow"/>
                <a:ea typeface="Arial Narrow"/>
                <a:cs typeface="Arial Narrow"/>
                <a:sym typeface="Arial Narrow"/>
              </a:rPr>
              <a:t>Ejemplos de ejecuciones en CPU</a:t>
            </a:r>
            <a:endParaRPr/>
          </a:p>
        </p:txBody>
      </p:sp>
      <p:sp>
        <p:nvSpPr>
          <p:cNvPr id="1013" name="Google Shape;1013;p38"/>
          <p:cNvSpPr/>
          <p:nvPr/>
        </p:nvSpPr>
        <p:spPr>
          <a:xfrm>
            <a:off x="6139728" y="2389190"/>
            <a:ext cx="4605434" cy="463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47" u="none" cap="none" strike="noStrike">
                <a:solidFill>
                  <a:srgbClr val="05075F"/>
                </a:solidFill>
                <a:latin typeface="Arial Narrow"/>
                <a:ea typeface="Arial Narrow"/>
                <a:cs typeface="Arial Narrow"/>
                <a:sym typeface="Arial Narrow"/>
              </a:rPr>
              <a:t>Cómo se ejecutaron las pruebas</a:t>
            </a:r>
            <a:endParaRPr/>
          </a:p>
        </p:txBody>
      </p:sp>
      <p:sp>
        <p:nvSpPr>
          <p:cNvPr id="1014" name="Google Shape;1014;p38"/>
          <p:cNvSpPr/>
          <p:nvPr/>
        </p:nvSpPr>
        <p:spPr>
          <a:xfrm>
            <a:off x="6423960" y="2908231"/>
            <a:ext cx="5108305" cy="3921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16" u="none" cap="none" strike="noStrike">
                <a:solidFill>
                  <a:srgbClr val="060966"/>
                </a:solidFill>
                <a:latin typeface="Arial Narrow"/>
                <a:ea typeface="Arial Narrow"/>
                <a:cs typeface="Arial Narrow"/>
                <a:sym typeface="Arial Narrow"/>
              </a:rPr>
              <a:t>Slurm asignó los recursos de cada trabajo.</a:t>
            </a:r>
            <a:endParaRPr/>
          </a:p>
        </p:txBody>
      </p:sp>
      <p:sp>
        <p:nvSpPr>
          <p:cNvPr id="1015" name="Google Shape;1015;p38"/>
          <p:cNvSpPr/>
          <p:nvPr/>
        </p:nvSpPr>
        <p:spPr>
          <a:xfrm>
            <a:off x="6241760" y="4374158"/>
            <a:ext cx="1289398"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65" u="none" cap="none" strike="noStrike">
                <a:solidFill>
                  <a:srgbClr val="0C0E98"/>
                </a:solidFill>
                <a:latin typeface="Arial Narrow"/>
                <a:ea typeface="Arial Narrow"/>
                <a:cs typeface="Arial Narrow"/>
                <a:sym typeface="Arial Narrow"/>
              </a:rPr>
              <a:t>Enviar el trabajo</a:t>
            </a:r>
            <a:endParaRPr/>
          </a:p>
        </p:txBody>
      </p:sp>
      <p:sp>
        <p:nvSpPr>
          <p:cNvPr id="1016" name="Google Shape;1016;p38"/>
          <p:cNvSpPr/>
          <p:nvPr/>
        </p:nvSpPr>
        <p:spPr>
          <a:xfrm>
            <a:off x="8501037" y="4286922"/>
            <a:ext cx="932286" cy="26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59" u="none" cap="none" strike="noStrike">
                <a:solidFill>
                  <a:srgbClr val="080997"/>
                </a:solidFill>
                <a:latin typeface="Arial Narrow"/>
                <a:ea typeface="Arial Narrow"/>
                <a:cs typeface="Arial Narrow"/>
                <a:sym typeface="Arial Narrow"/>
              </a:rPr>
              <a:t>Ejecutar los</a:t>
            </a:r>
            <a:endParaRPr/>
          </a:p>
        </p:txBody>
      </p:sp>
      <p:sp>
        <p:nvSpPr>
          <p:cNvPr id="1017" name="Google Shape;1017;p38"/>
          <p:cNvSpPr/>
          <p:nvPr/>
        </p:nvSpPr>
        <p:spPr>
          <a:xfrm>
            <a:off x="8238670" y="4500670"/>
            <a:ext cx="1464309" cy="2570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13" u="none" cap="none" strike="noStrike">
                <a:solidFill>
                  <a:srgbClr val="060998"/>
                </a:solidFill>
                <a:latin typeface="Arial Narrow"/>
                <a:ea typeface="Arial Narrow"/>
                <a:cs typeface="Arial Narrow"/>
                <a:sym typeface="Arial Narrow"/>
              </a:rPr>
              <a:t>programas Python</a:t>
            </a:r>
            <a:endParaRPr/>
          </a:p>
        </p:txBody>
      </p:sp>
      <p:sp>
        <p:nvSpPr>
          <p:cNvPr id="1018" name="Google Shape;1018;p38"/>
          <p:cNvSpPr/>
          <p:nvPr/>
        </p:nvSpPr>
        <p:spPr>
          <a:xfrm>
            <a:off x="7743086" y="5227163"/>
            <a:ext cx="1303974" cy="245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80">
                <a:solidFill>
                  <a:srgbClr val="0E119E"/>
                </a:solidFill>
                <a:latin typeface="Arial Narrow"/>
                <a:ea typeface="Arial Narrow"/>
                <a:cs typeface="Arial Narrow"/>
                <a:sym typeface="Arial Narrow"/>
              </a:rPr>
              <a:t>Modelos para</a:t>
            </a:r>
            <a:endParaRPr/>
          </a:p>
        </p:txBody>
      </p:sp>
      <p:sp>
        <p:nvSpPr>
          <p:cNvPr id="1019" name="Google Shape;1019;p38"/>
          <p:cNvSpPr/>
          <p:nvPr/>
        </p:nvSpPr>
        <p:spPr>
          <a:xfrm>
            <a:off x="7735798" y="5431356"/>
            <a:ext cx="1653797" cy="2546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38">
                <a:solidFill>
                  <a:srgbClr val="1114A1"/>
                </a:solidFill>
                <a:latin typeface="Arial Narrow"/>
                <a:ea typeface="Arial Narrow"/>
                <a:cs typeface="Arial Narrow"/>
                <a:sym typeface="Arial Narrow"/>
              </a:rPr>
              <a:t>multietiqueta:</a:t>
            </a:r>
            <a:endParaRPr/>
          </a:p>
        </p:txBody>
      </p:sp>
      <p:sp>
        <p:nvSpPr>
          <p:cNvPr id="1020" name="Google Shape;1020;p38"/>
          <p:cNvSpPr/>
          <p:nvPr/>
        </p:nvSpPr>
        <p:spPr>
          <a:xfrm>
            <a:off x="7750374" y="5629127"/>
            <a:ext cx="844830" cy="2514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42" u="none" cap="none" strike="noStrike">
                <a:solidFill>
                  <a:srgbClr val="0C0EA0"/>
                </a:solidFill>
                <a:latin typeface="Arial Narrow"/>
                <a:ea typeface="Arial Narrow"/>
                <a:cs typeface="Arial Narrow"/>
                <a:sym typeface="Arial Narrow"/>
              </a:rPr>
              <a:t>16 núcleos.</a:t>
            </a:r>
            <a:endParaRPr/>
          </a:p>
        </p:txBody>
      </p:sp>
      <p:sp>
        <p:nvSpPr>
          <p:cNvPr id="1021" name="Google Shape;1021;p38"/>
          <p:cNvSpPr/>
          <p:nvPr/>
        </p:nvSpPr>
        <p:spPr>
          <a:xfrm>
            <a:off x="10330323" y="4313492"/>
            <a:ext cx="1413293" cy="2448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83" u="none" cap="none" strike="noStrike">
                <a:solidFill>
                  <a:srgbClr val="070A97"/>
                </a:solidFill>
                <a:latin typeface="Arial Narrow"/>
                <a:ea typeface="Arial Narrow"/>
                <a:cs typeface="Arial Narrow"/>
                <a:sym typeface="Arial Narrow"/>
              </a:rPr>
              <a:t>Guardar modelos,</a:t>
            </a:r>
            <a:endParaRPr/>
          </a:p>
        </p:txBody>
      </p:sp>
      <p:sp>
        <p:nvSpPr>
          <p:cNvPr id="1022" name="Google Shape;1022;p38"/>
          <p:cNvSpPr/>
          <p:nvPr/>
        </p:nvSpPr>
        <p:spPr>
          <a:xfrm>
            <a:off x="10323035" y="4529809"/>
            <a:ext cx="1449733" cy="2476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53" u="none" cap="none" strike="noStrike">
                <a:solidFill>
                  <a:srgbClr val="090D97"/>
                </a:solidFill>
                <a:latin typeface="Arial Narrow"/>
                <a:ea typeface="Arial Narrow"/>
                <a:cs typeface="Arial Narrow"/>
                <a:sym typeface="Arial Narrow"/>
              </a:rPr>
              <a:t>métricas y tiempos</a:t>
            </a:r>
            <a:endParaRPr/>
          </a:p>
        </p:txBody>
      </p:sp>
      <p:sp>
        <p:nvSpPr>
          <p:cNvPr id="1023" name="Google Shape;1023;p38"/>
          <p:cNvSpPr/>
          <p:nvPr/>
        </p:nvSpPr>
        <p:spPr>
          <a:xfrm>
            <a:off x="9878468" y="5200559"/>
            <a:ext cx="1923453" cy="2468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88" u="none" cap="none" strike="noStrike">
                <a:solidFill>
                  <a:srgbClr val="0E11AA"/>
                </a:solidFill>
                <a:latin typeface="Arial Narrow"/>
                <a:ea typeface="Arial Narrow"/>
                <a:cs typeface="Arial Narrow"/>
                <a:sym typeface="Arial Narrow"/>
              </a:rPr>
              <a:t>Se usaron varios núcleos</a:t>
            </a:r>
            <a:endParaRPr/>
          </a:p>
        </p:txBody>
      </p:sp>
      <p:sp>
        <p:nvSpPr>
          <p:cNvPr id="1024" name="Google Shape;1024;p38"/>
          <p:cNvSpPr/>
          <p:nvPr/>
        </p:nvSpPr>
        <p:spPr>
          <a:xfrm>
            <a:off x="9885756" y="5424950"/>
            <a:ext cx="1653797" cy="251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2" u="none" cap="none" strike="noStrike">
                <a:solidFill>
                  <a:srgbClr val="1014AD"/>
                </a:solidFill>
                <a:latin typeface="Arial Narrow"/>
                <a:ea typeface="Arial Narrow"/>
                <a:cs typeface="Arial Narrow"/>
                <a:sym typeface="Arial Narrow"/>
              </a:rPr>
              <a:t>para realizar cálculos</a:t>
            </a:r>
            <a:endParaRPr/>
          </a:p>
        </p:txBody>
      </p:sp>
      <p:sp>
        <p:nvSpPr>
          <p:cNvPr id="1025" name="Google Shape;1025;p38"/>
          <p:cNvSpPr/>
          <p:nvPr/>
        </p:nvSpPr>
        <p:spPr>
          <a:xfrm>
            <a:off x="9878468" y="5627027"/>
            <a:ext cx="932286" cy="2677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28" u="none" cap="none" strike="noStrike">
                <a:solidFill>
                  <a:srgbClr val="1012AC"/>
                </a:solidFill>
                <a:latin typeface="Arial Narrow"/>
                <a:ea typeface="Arial Narrow"/>
                <a:cs typeface="Arial Narrow"/>
                <a:sym typeface="Arial Narrow"/>
              </a:rPr>
              <a:t>en paralelo.</a:t>
            </a:r>
            <a:endParaRPr/>
          </a:p>
        </p:txBody>
      </p:sp>
      <p:sp>
        <p:nvSpPr>
          <p:cNvPr id="1026" name="Google Shape;1026;p38"/>
          <p:cNvSpPr/>
          <p:nvPr/>
        </p:nvSpPr>
        <p:spPr>
          <a:xfrm>
            <a:off x="251031" y="6134532"/>
            <a:ext cx="6259808" cy="2242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69" u="none" cap="none" strike="noStrike">
                <a:solidFill>
                  <a:srgbClr val="191AAD"/>
                </a:solidFill>
                <a:latin typeface="Arial Narrow"/>
                <a:ea typeface="Arial Narrow"/>
                <a:cs typeface="Arial Narrow"/>
                <a:sym typeface="Arial Narrow"/>
              </a:rPr>
              <a:t>* Facultad Politécnica — UNA. (s. f.). Clúster Computacional. https://otri.pol.una.py/catalogo/</a:t>
            </a:r>
            <a:endParaRPr/>
          </a:p>
        </p:txBody>
      </p:sp>
      <p:sp>
        <p:nvSpPr>
          <p:cNvPr id="1027" name="Google Shape;1027;p38"/>
          <p:cNvSpPr/>
          <p:nvPr/>
        </p:nvSpPr>
        <p:spPr>
          <a:xfrm>
            <a:off x="258319" y="6343561"/>
            <a:ext cx="6602343" cy="2318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00" u="none" cap="none" strike="noStrike">
                <a:solidFill>
                  <a:srgbClr val="1919AE"/>
                </a:solidFill>
                <a:latin typeface="Arial Narrow"/>
                <a:ea typeface="Arial Narrow"/>
                <a:cs typeface="Arial Narrow"/>
                <a:sym typeface="Arial Narrow"/>
              </a:rPr>
              <a:t>* SchedMD. (s. f.). Slurm Workload Manager: Overview. https://slurm.schedmd.com/overview.html</a:t>
            </a:r>
            <a:endParaRPr/>
          </a:p>
        </p:txBody>
      </p:sp>
      <p:sp>
        <p:nvSpPr>
          <p:cNvPr id="1028" name="Google Shape;1028;p38"/>
          <p:cNvSpPr/>
          <p:nvPr/>
        </p:nvSpPr>
        <p:spPr>
          <a:xfrm>
            <a:off x="5585841" y="5320234"/>
            <a:ext cx="932286" cy="48159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0" i="0" lang="en-US" sz="1580" u="none" cap="none" strike="noStrike">
                <a:solidFill>
                  <a:srgbClr val="08125F"/>
                </a:solidFill>
                <a:latin typeface="Arial Narrow"/>
                <a:ea typeface="Arial Narrow"/>
                <a:cs typeface="Arial Narrow"/>
                <a:sym typeface="Arial Narrow"/>
              </a:rPr>
              <a:t>Multiclase:</a:t>
            </a:r>
            <a:endParaRPr/>
          </a:p>
          <a:p>
            <a:pPr indent="0" lvl="0" marL="0" marR="0" rtl="0" algn="l">
              <a:lnSpc>
                <a:spcPct val="90000"/>
              </a:lnSpc>
              <a:spcBef>
                <a:spcPts val="0"/>
              </a:spcBef>
              <a:spcAft>
                <a:spcPts val="0"/>
              </a:spcAft>
              <a:buNone/>
            </a:pPr>
            <a:r>
              <a:rPr b="0" i="0" lang="en-US" sz="1580" u="none" cap="none" strike="noStrike">
                <a:solidFill>
                  <a:srgbClr val="08125F"/>
                </a:solidFill>
                <a:latin typeface="Arial Narrow"/>
                <a:ea typeface="Arial Narrow"/>
                <a:cs typeface="Arial Narrow"/>
                <a:sym typeface="Arial Narrow"/>
              </a:rPr>
              <a:t>8 núcleos.</a:t>
            </a:r>
            <a:endParaRPr/>
          </a:p>
        </p:txBody>
      </p:sp>
      <p:sp>
        <p:nvSpPr>
          <p:cNvPr id="1029" name="Google Shape;1029;p3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0" name="Google Shape;1030;p38" title="DEFENSA_SEGURA_V2:barra-3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31" name="Google Shape;1031;p38" title="DEFENSA_SEGURA_V2:avance-30"/>
          <p:cNvSpPr/>
          <p:nvPr/>
        </p:nvSpPr>
        <p:spPr>
          <a:xfrm>
            <a:off x="0" y="0"/>
            <a:ext cx="731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32" name="Google Shape;1032;p38" title="DEFENSA_SEGURA_V2:seccion-3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39"/>
          <p:cNvSpPr/>
          <p:nvPr/>
        </p:nvSpPr>
        <p:spPr>
          <a:xfrm>
            <a:off x="1631764" y="1698214"/>
            <a:ext cx="4489500" cy="3060900"/>
          </a:xfrm>
          <a:prstGeom prst="roundRect">
            <a:avLst>
              <a:gd fmla="val 1905" name="adj"/>
            </a:avLst>
          </a:prstGeom>
          <a:solidFill>
            <a:srgbClr val="E9F8FC"/>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9"/>
          <p:cNvSpPr/>
          <p:nvPr/>
        </p:nvSpPr>
        <p:spPr>
          <a:xfrm>
            <a:off x="207303" y="4955834"/>
            <a:ext cx="11748242" cy="1049471"/>
          </a:xfrm>
          <a:prstGeom prst="roundRect">
            <a:avLst>
              <a:gd fmla="val 5556" name="adj"/>
            </a:avLst>
          </a:prstGeom>
          <a:solidFill>
            <a:srgbClr val="E4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9"/>
          <p:cNvSpPr/>
          <p:nvPr/>
        </p:nvSpPr>
        <p:spPr>
          <a:xfrm>
            <a:off x="8311549" y="1690814"/>
            <a:ext cx="2244701" cy="3002652"/>
          </a:xfrm>
          <a:prstGeom prst="roundRect">
            <a:avLst>
              <a:gd fmla="val 2597" name="adj"/>
            </a:avLst>
          </a:prstGeom>
          <a:solidFill>
            <a:srgbClr val="EAFDF8"/>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9"/>
          <p:cNvSpPr/>
          <p:nvPr/>
        </p:nvSpPr>
        <p:spPr>
          <a:xfrm>
            <a:off x="6125152" y="1690814"/>
            <a:ext cx="2215549" cy="3002652"/>
          </a:xfrm>
          <a:prstGeom prst="roundRect">
            <a:avLst>
              <a:gd fmla="val 2632" name="adj"/>
            </a:avLst>
          </a:prstGeom>
          <a:solidFill>
            <a:srgbClr val="E5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9"/>
          <p:cNvSpPr/>
          <p:nvPr/>
        </p:nvSpPr>
        <p:spPr>
          <a:xfrm>
            <a:off x="207303" y="1690814"/>
            <a:ext cx="1486750" cy="3002652"/>
          </a:xfrm>
          <a:prstGeom prst="roundRect">
            <a:avLst>
              <a:gd fmla="val 3922" name="adj"/>
            </a:avLst>
          </a:prstGeom>
          <a:solidFill>
            <a:srgbClr val="E3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9"/>
          <p:cNvSpPr/>
          <p:nvPr/>
        </p:nvSpPr>
        <p:spPr>
          <a:xfrm>
            <a:off x="10527099" y="1690814"/>
            <a:ext cx="1486750" cy="3002652"/>
          </a:xfrm>
          <a:prstGeom prst="roundRect">
            <a:avLst>
              <a:gd fmla="val 3922" name="adj"/>
            </a:avLst>
          </a:prstGeom>
          <a:solidFill>
            <a:srgbClr val="E4F5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4" name="Google Shape;1044;p39"/>
          <p:cNvPicPr preferRelativeResize="0"/>
          <p:nvPr/>
        </p:nvPicPr>
        <p:blipFill rotWithShape="1">
          <a:blip r:embed="rId3">
            <a:alphaModFix/>
          </a:blip>
          <a:srcRect b="0" l="0" r="0" t="0"/>
          <a:stretch/>
        </p:blipFill>
        <p:spPr>
          <a:xfrm>
            <a:off x="1708629" y="1705390"/>
            <a:ext cx="174912" cy="2011486"/>
          </a:xfrm>
          <a:prstGeom prst="rect">
            <a:avLst/>
          </a:prstGeom>
          <a:noFill/>
          <a:ln>
            <a:noFill/>
          </a:ln>
        </p:spPr>
      </p:pic>
      <p:pic>
        <p:nvPicPr>
          <p:cNvPr id="1045" name="Google Shape;1045;p39"/>
          <p:cNvPicPr preferRelativeResize="0"/>
          <p:nvPr/>
        </p:nvPicPr>
        <p:blipFill rotWithShape="1">
          <a:blip r:embed="rId4">
            <a:alphaModFix/>
          </a:blip>
          <a:srcRect b="0" l="0" r="0" t="0"/>
          <a:stretch/>
        </p:blipFill>
        <p:spPr>
          <a:xfrm>
            <a:off x="3720115" y="1705390"/>
            <a:ext cx="145760" cy="962015"/>
          </a:xfrm>
          <a:prstGeom prst="rect">
            <a:avLst/>
          </a:prstGeom>
          <a:noFill/>
          <a:ln>
            <a:noFill/>
          </a:ln>
        </p:spPr>
      </p:pic>
      <p:pic>
        <p:nvPicPr>
          <p:cNvPr id="1046" name="Google Shape;1046;p39"/>
          <p:cNvPicPr preferRelativeResize="0"/>
          <p:nvPr/>
        </p:nvPicPr>
        <p:blipFill rotWithShape="1">
          <a:blip r:embed="rId5">
            <a:alphaModFix/>
          </a:blip>
          <a:srcRect b="0" l="0" r="0" t="0"/>
          <a:stretch/>
        </p:blipFill>
        <p:spPr>
          <a:xfrm>
            <a:off x="10308459" y="1705390"/>
            <a:ext cx="204064" cy="1428446"/>
          </a:xfrm>
          <a:prstGeom prst="rect">
            <a:avLst/>
          </a:prstGeom>
          <a:noFill/>
          <a:ln>
            <a:noFill/>
          </a:ln>
        </p:spPr>
      </p:pic>
      <p:pic>
        <p:nvPicPr>
          <p:cNvPr id="1047" name="Google Shape;1047;p39"/>
          <p:cNvPicPr preferRelativeResize="0"/>
          <p:nvPr/>
        </p:nvPicPr>
        <p:blipFill rotWithShape="1">
          <a:blip r:embed="rId6">
            <a:alphaModFix/>
          </a:blip>
          <a:srcRect b="0" l="0" r="0" t="0"/>
          <a:stretch/>
        </p:blipFill>
        <p:spPr>
          <a:xfrm>
            <a:off x="10774891" y="2492493"/>
            <a:ext cx="1136927" cy="1924030"/>
          </a:xfrm>
          <a:prstGeom prst="rect">
            <a:avLst/>
          </a:prstGeom>
          <a:noFill/>
          <a:ln>
            <a:noFill/>
          </a:ln>
        </p:spPr>
      </p:pic>
      <p:pic>
        <p:nvPicPr>
          <p:cNvPr id="1048" name="Google Shape;1048;p39"/>
          <p:cNvPicPr preferRelativeResize="0"/>
          <p:nvPr/>
        </p:nvPicPr>
        <p:blipFill rotWithShape="1">
          <a:blip r:embed="rId7">
            <a:alphaModFix/>
          </a:blip>
          <a:srcRect b="0" l="0" r="0" t="0"/>
          <a:stretch/>
        </p:blipFill>
        <p:spPr>
          <a:xfrm>
            <a:off x="6664463" y="2667405"/>
            <a:ext cx="1049471" cy="1049471"/>
          </a:xfrm>
          <a:prstGeom prst="rect">
            <a:avLst/>
          </a:prstGeom>
          <a:noFill/>
          <a:ln>
            <a:noFill/>
          </a:ln>
        </p:spPr>
      </p:pic>
      <p:pic>
        <p:nvPicPr>
          <p:cNvPr id="1049" name="Google Shape;1049;p39"/>
          <p:cNvPicPr preferRelativeResize="0"/>
          <p:nvPr/>
        </p:nvPicPr>
        <p:blipFill rotWithShape="1">
          <a:blip r:embed="rId8">
            <a:alphaModFix/>
          </a:blip>
          <a:srcRect b="0" l="0" r="0" t="0"/>
          <a:stretch/>
        </p:blipFill>
        <p:spPr>
          <a:xfrm>
            <a:off x="280183" y="2696557"/>
            <a:ext cx="1224383" cy="1370142"/>
          </a:xfrm>
          <a:prstGeom prst="rect">
            <a:avLst/>
          </a:prstGeom>
          <a:noFill/>
          <a:ln>
            <a:noFill/>
          </a:ln>
        </p:spPr>
      </p:pic>
      <p:pic>
        <p:nvPicPr>
          <p:cNvPr id="1050" name="Google Shape;1050;p39"/>
          <p:cNvPicPr preferRelativeResize="0"/>
          <p:nvPr/>
        </p:nvPicPr>
        <p:blipFill rotWithShape="1">
          <a:blip r:embed="rId9">
            <a:alphaModFix/>
          </a:blip>
          <a:srcRect b="0" l="0" r="0" t="0"/>
          <a:stretch/>
        </p:blipFill>
        <p:spPr>
          <a:xfrm>
            <a:off x="8880013" y="2725709"/>
            <a:ext cx="1224383" cy="1078623"/>
          </a:xfrm>
          <a:prstGeom prst="rect">
            <a:avLst/>
          </a:prstGeom>
          <a:noFill/>
          <a:ln>
            <a:noFill/>
          </a:ln>
        </p:spPr>
      </p:pic>
      <p:pic>
        <p:nvPicPr>
          <p:cNvPr id="1051" name="Google Shape;1051;p39"/>
          <p:cNvPicPr preferRelativeResize="0"/>
          <p:nvPr/>
        </p:nvPicPr>
        <p:blipFill rotWithShape="1">
          <a:blip r:embed="rId10">
            <a:alphaModFix/>
          </a:blip>
          <a:srcRect b="0" l="0" r="0" t="0"/>
          <a:stretch/>
        </p:blipFill>
        <p:spPr>
          <a:xfrm>
            <a:off x="9084077" y="2958925"/>
            <a:ext cx="233216" cy="145760"/>
          </a:xfrm>
          <a:prstGeom prst="rect">
            <a:avLst/>
          </a:prstGeom>
          <a:noFill/>
          <a:ln>
            <a:noFill/>
          </a:ln>
        </p:spPr>
      </p:pic>
      <p:pic>
        <p:nvPicPr>
          <p:cNvPr id="1052" name="Google Shape;1052;p39"/>
          <p:cNvPicPr preferRelativeResize="0"/>
          <p:nvPr/>
        </p:nvPicPr>
        <p:blipFill rotWithShape="1">
          <a:blip r:embed="rId11">
            <a:alphaModFix/>
          </a:blip>
          <a:srcRect b="0" l="0" r="0" t="0"/>
          <a:stretch/>
        </p:blipFill>
        <p:spPr>
          <a:xfrm>
            <a:off x="9025773" y="3104684"/>
            <a:ext cx="291520" cy="145760"/>
          </a:xfrm>
          <a:prstGeom prst="rect">
            <a:avLst/>
          </a:prstGeom>
          <a:noFill/>
          <a:ln>
            <a:noFill/>
          </a:ln>
        </p:spPr>
      </p:pic>
      <p:pic>
        <p:nvPicPr>
          <p:cNvPr id="1053" name="Google Shape;1053;p39"/>
          <p:cNvPicPr preferRelativeResize="0"/>
          <p:nvPr/>
        </p:nvPicPr>
        <p:blipFill rotWithShape="1">
          <a:blip r:embed="rId12">
            <a:alphaModFix/>
          </a:blip>
          <a:srcRect b="0" l="0" r="0" t="0"/>
          <a:stretch/>
        </p:blipFill>
        <p:spPr>
          <a:xfrm>
            <a:off x="775766" y="3337900"/>
            <a:ext cx="553887" cy="408128"/>
          </a:xfrm>
          <a:prstGeom prst="rect">
            <a:avLst/>
          </a:prstGeom>
          <a:noFill/>
          <a:ln>
            <a:noFill/>
          </a:ln>
        </p:spPr>
      </p:pic>
      <p:pic>
        <p:nvPicPr>
          <p:cNvPr id="1054" name="Google Shape;1054;p39"/>
          <p:cNvPicPr preferRelativeResize="0"/>
          <p:nvPr/>
        </p:nvPicPr>
        <p:blipFill rotWithShape="1">
          <a:blip r:embed="rId13">
            <a:alphaModFix/>
          </a:blip>
          <a:srcRect b="0" l="0" r="0" t="0"/>
          <a:stretch/>
        </p:blipFill>
        <p:spPr>
          <a:xfrm>
            <a:off x="3690963" y="3396204"/>
            <a:ext cx="174912" cy="1340990"/>
          </a:xfrm>
          <a:prstGeom prst="rect">
            <a:avLst/>
          </a:prstGeom>
          <a:noFill/>
          <a:ln>
            <a:noFill/>
          </a:ln>
        </p:spPr>
      </p:pic>
      <p:pic>
        <p:nvPicPr>
          <p:cNvPr id="1055" name="Google Shape;1055;p39"/>
          <p:cNvPicPr preferRelativeResize="0"/>
          <p:nvPr/>
        </p:nvPicPr>
        <p:blipFill rotWithShape="1">
          <a:blip r:embed="rId14">
            <a:alphaModFix/>
          </a:blip>
          <a:srcRect b="0" l="0" r="0" t="0"/>
          <a:stretch/>
        </p:blipFill>
        <p:spPr>
          <a:xfrm>
            <a:off x="775766" y="3746028"/>
            <a:ext cx="437279" cy="145760"/>
          </a:xfrm>
          <a:prstGeom prst="rect">
            <a:avLst/>
          </a:prstGeom>
          <a:noFill/>
          <a:ln>
            <a:noFill/>
          </a:ln>
        </p:spPr>
      </p:pic>
      <p:pic>
        <p:nvPicPr>
          <p:cNvPr id="1056" name="Google Shape;1056;p39"/>
          <p:cNvPicPr preferRelativeResize="0"/>
          <p:nvPr/>
        </p:nvPicPr>
        <p:blipFill rotWithShape="1">
          <a:blip r:embed="rId15">
            <a:alphaModFix/>
          </a:blip>
          <a:srcRect b="0" l="0" r="0" t="0"/>
          <a:stretch/>
        </p:blipFill>
        <p:spPr>
          <a:xfrm>
            <a:off x="1708629" y="3775180"/>
            <a:ext cx="116608" cy="553887"/>
          </a:xfrm>
          <a:prstGeom prst="rect">
            <a:avLst/>
          </a:prstGeom>
          <a:noFill/>
          <a:ln>
            <a:noFill/>
          </a:ln>
        </p:spPr>
      </p:pic>
      <p:pic>
        <p:nvPicPr>
          <p:cNvPr id="1057" name="Google Shape;1057;p39"/>
          <p:cNvPicPr preferRelativeResize="0"/>
          <p:nvPr/>
        </p:nvPicPr>
        <p:blipFill rotWithShape="1">
          <a:blip r:embed="rId16">
            <a:alphaModFix/>
          </a:blip>
          <a:srcRect b="0" l="0" r="0" t="0"/>
          <a:stretch/>
        </p:blipFill>
        <p:spPr>
          <a:xfrm>
            <a:off x="1708629" y="4387371"/>
            <a:ext cx="145760" cy="349824"/>
          </a:xfrm>
          <a:prstGeom prst="rect">
            <a:avLst/>
          </a:prstGeom>
          <a:noFill/>
          <a:ln>
            <a:noFill/>
          </a:ln>
        </p:spPr>
      </p:pic>
      <p:pic>
        <p:nvPicPr>
          <p:cNvPr id="1058" name="Google Shape;1058;p39"/>
          <p:cNvPicPr preferRelativeResize="0"/>
          <p:nvPr/>
        </p:nvPicPr>
        <p:blipFill rotWithShape="1">
          <a:blip r:embed="rId17">
            <a:alphaModFix/>
          </a:blip>
          <a:srcRect b="0" l="0" r="0" t="0"/>
          <a:stretch/>
        </p:blipFill>
        <p:spPr>
          <a:xfrm>
            <a:off x="7276655" y="5028714"/>
            <a:ext cx="116608" cy="874559"/>
          </a:xfrm>
          <a:prstGeom prst="rect">
            <a:avLst/>
          </a:prstGeom>
          <a:noFill/>
          <a:ln>
            <a:noFill/>
          </a:ln>
        </p:spPr>
      </p:pic>
      <p:pic>
        <p:nvPicPr>
          <p:cNvPr id="1059" name="Google Shape;1059;p39"/>
          <p:cNvPicPr preferRelativeResize="0"/>
          <p:nvPr/>
        </p:nvPicPr>
        <p:blipFill rotWithShape="1">
          <a:blip r:embed="rId18">
            <a:alphaModFix/>
          </a:blip>
          <a:srcRect b="0" l="0" r="0" t="0"/>
          <a:stretch/>
        </p:blipFill>
        <p:spPr>
          <a:xfrm>
            <a:off x="3282835" y="5057866"/>
            <a:ext cx="816255" cy="845407"/>
          </a:xfrm>
          <a:prstGeom prst="rect">
            <a:avLst/>
          </a:prstGeom>
          <a:noFill/>
          <a:ln>
            <a:noFill/>
          </a:ln>
        </p:spPr>
      </p:pic>
      <p:pic>
        <p:nvPicPr>
          <p:cNvPr id="1060" name="Google Shape;1060;p39"/>
          <p:cNvPicPr preferRelativeResize="0"/>
          <p:nvPr/>
        </p:nvPicPr>
        <p:blipFill rotWithShape="1">
          <a:blip r:embed="rId19">
            <a:alphaModFix/>
          </a:blip>
          <a:srcRect b="0" l="0" r="0" t="0"/>
          <a:stretch/>
        </p:blipFill>
        <p:spPr>
          <a:xfrm>
            <a:off x="7713934" y="5145322"/>
            <a:ext cx="845407" cy="670495"/>
          </a:xfrm>
          <a:prstGeom prst="rect">
            <a:avLst/>
          </a:prstGeom>
          <a:noFill/>
          <a:ln>
            <a:noFill/>
          </a:ln>
        </p:spPr>
      </p:pic>
      <p:pic>
        <p:nvPicPr>
          <p:cNvPr id="1061" name="Google Shape;1061;p39"/>
          <p:cNvPicPr preferRelativeResize="0"/>
          <p:nvPr/>
        </p:nvPicPr>
        <p:blipFill rotWithShape="1">
          <a:blip r:embed="rId20">
            <a:alphaModFix/>
          </a:blip>
          <a:srcRect b="0" l="0" r="0" t="0"/>
          <a:stretch/>
        </p:blipFill>
        <p:spPr>
          <a:xfrm>
            <a:off x="2306244" y="2878757"/>
            <a:ext cx="1144215" cy="881847"/>
          </a:xfrm>
          <a:prstGeom prst="rect">
            <a:avLst/>
          </a:prstGeom>
          <a:noFill/>
          <a:ln>
            <a:noFill/>
          </a:ln>
        </p:spPr>
      </p:pic>
      <p:pic>
        <p:nvPicPr>
          <p:cNvPr id="1062" name="Google Shape;1062;p39"/>
          <p:cNvPicPr preferRelativeResize="0"/>
          <p:nvPr/>
        </p:nvPicPr>
        <p:blipFill rotWithShape="1">
          <a:blip r:embed="rId21">
            <a:alphaModFix/>
          </a:blip>
          <a:srcRect b="0" l="0" r="0" t="0"/>
          <a:stretch/>
        </p:blipFill>
        <p:spPr>
          <a:xfrm>
            <a:off x="4361424" y="2924654"/>
            <a:ext cx="1224400" cy="795846"/>
          </a:xfrm>
          <a:prstGeom prst="rect">
            <a:avLst/>
          </a:prstGeom>
          <a:noFill/>
          <a:ln>
            <a:noFill/>
          </a:ln>
        </p:spPr>
      </p:pic>
      <p:sp>
        <p:nvSpPr>
          <p:cNvPr id="1063" name="Google Shape;1063;p39"/>
          <p:cNvSpPr/>
          <p:nvPr/>
        </p:nvSpPr>
        <p:spPr>
          <a:xfrm>
            <a:off x="1504565" y="2937061"/>
            <a:ext cx="342536" cy="262368"/>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9"/>
          <p:cNvSpPr/>
          <p:nvPr/>
        </p:nvSpPr>
        <p:spPr>
          <a:xfrm>
            <a:off x="3683675" y="2937061"/>
            <a:ext cx="342536" cy="262368"/>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9"/>
          <p:cNvSpPr/>
          <p:nvPr/>
        </p:nvSpPr>
        <p:spPr>
          <a:xfrm>
            <a:off x="5957528" y="2937061"/>
            <a:ext cx="342536" cy="262368"/>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9"/>
          <p:cNvSpPr/>
          <p:nvPr/>
        </p:nvSpPr>
        <p:spPr>
          <a:xfrm>
            <a:off x="8143926" y="2937061"/>
            <a:ext cx="342536" cy="262368"/>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9"/>
          <p:cNvSpPr/>
          <p:nvPr/>
        </p:nvSpPr>
        <p:spPr>
          <a:xfrm>
            <a:off x="10366763" y="2937061"/>
            <a:ext cx="342536" cy="262368"/>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9"/>
          <p:cNvSpPr/>
          <p:nvPr/>
        </p:nvSpPr>
        <p:spPr>
          <a:xfrm>
            <a:off x="2524884" y="1749118"/>
            <a:ext cx="517447" cy="517447"/>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282" u="none" cap="none" strike="noStrike">
                <a:solidFill>
                  <a:srgbClr val="FFFFFF"/>
                </a:solidFill>
                <a:latin typeface="Arial"/>
                <a:ea typeface="Arial"/>
                <a:cs typeface="Arial"/>
                <a:sym typeface="Arial"/>
              </a:rPr>
              <a:t>1</a:t>
            </a:r>
            <a:endParaRPr/>
          </a:p>
        </p:txBody>
      </p:sp>
      <p:sp>
        <p:nvSpPr>
          <p:cNvPr id="1069" name="Google Shape;1069;p39"/>
          <p:cNvSpPr/>
          <p:nvPr/>
        </p:nvSpPr>
        <p:spPr>
          <a:xfrm>
            <a:off x="4725858" y="1749118"/>
            <a:ext cx="517447" cy="517447"/>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282" u="none" cap="none" strike="noStrike">
                <a:solidFill>
                  <a:srgbClr val="FFFFFF"/>
                </a:solidFill>
                <a:latin typeface="Arial"/>
                <a:ea typeface="Arial"/>
                <a:cs typeface="Arial"/>
                <a:sym typeface="Arial"/>
              </a:rPr>
              <a:t>2</a:t>
            </a:r>
            <a:endParaRPr/>
          </a:p>
        </p:txBody>
      </p:sp>
      <p:sp>
        <p:nvSpPr>
          <p:cNvPr id="1070" name="Google Shape;1070;p39"/>
          <p:cNvSpPr/>
          <p:nvPr/>
        </p:nvSpPr>
        <p:spPr>
          <a:xfrm>
            <a:off x="6941407" y="1749118"/>
            <a:ext cx="517447" cy="517447"/>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282" u="none" cap="none" strike="noStrike">
                <a:solidFill>
                  <a:srgbClr val="FFFFFF"/>
                </a:solidFill>
                <a:latin typeface="Arial"/>
                <a:ea typeface="Arial"/>
                <a:cs typeface="Arial"/>
                <a:sym typeface="Arial"/>
              </a:rPr>
              <a:t>3</a:t>
            </a:r>
            <a:endParaRPr/>
          </a:p>
        </p:txBody>
      </p:sp>
      <p:sp>
        <p:nvSpPr>
          <p:cNvPr id="1071" name="Google Shape;1071;p39"/>
          <p:cNvSpPr/>
          <p:nvPr/>
        </p:nvSpPr>
        <p:spPr>
          <a:xfrm>
            <a:off x="9142380" y="1749118"/>
            <a:ext cx="517447" cy="517447"/>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282" u="none" cap="none" strike="noStrike">
                <a:solidFill>
                  <a:srgbClr val="FFFFFF"/>
                </a:solidFill>
                <a:latin typeface="Arial"/>
                <a:ea typeface="Arial"/>
                <a:cs typeface="Arial"/>
                <a:sym typeface="Arial"/>
              </a:rPr>
              <a:t>4</a:t>
            </a:r>
            <a:endParaRPr/>
          </a:p>
        </p:txBody>
      </p:sp>
      <p:sp>
        <p:nvSpPr>
          <p:cNvPr id="1072" name="Google Shape;1072;p39"/>
          <p:cNvSpPr/>
          <p:nvPr/>
        </p:nvSpPr>
        <p:spPr>
          <a:xfrm>
            <a:off x="323911" y="779815"/>
            <a:ext cx="6959455" cy="8894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387" u="none" cap="none" strike="noStrike">
                <a:solidFill>
                  <a:srgbClr val="111F5B"/>
                </a:solidFill>
              </a:rPr>
              <a:t>Cómo se implementó</a:t>
            </a:r>
            <a:endParaRPr b="1">
              <a:solidFill>
                <a:srgbClr val="111F5B"/>
              </a:solidFill>
            </a:endParaRPr>
          </a:p>
        </p:txBody>
      </p:sp>
      <p:sp>
        <p:nvSpPr>
          <p:cNvPr id="1073" name="Google Shape;1073;p39"/>
          <p:cNvSpPr/>
          <p:nvPr/>
        </p:nvSpPr>
        <p:spPr>
          <a:xfrm>
            <a:off x="447807" y="1910622"/>
            <a:ext cx="954150" cy="34675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57" u="none" cap="none" strike="noStrike">
                <a:solidFill>
                  <a:srgbClr val="080889"/>
                </a:solidFill>
                <a:latin typeface="Arial Narrow"/>
                <a:ea typeface="Arial Narrow"/>
                <a:cs typeface="Arial Narrow"/>
                <a:sym typeface="Arial Narrow"/>
              </a:rPr>
              <a:t>Datos de</a:t>
            </a:r>
            <a:endParaRPr/>
          </a:p>
        </p:txBody>
      </p:sp>
      <p:sp>
        <p:nvSpPr>
          <p:cNvPr id="1074" name="Google Shape;1074;p39"/>
          <p:cNvSpPr/>
          <p:nvPr/>
        </p:nvSpPr>
        <p:spPr>
          <a:xfrm>
            <a:off x="520687" y="2172940"/>
            <a:ext cx="815678" cy="337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88" u="none" cap="none" strike="noStrike">
                <a:solidFill>
                  <a:srgbClr val="070888"/>
                </a:solidFill>
                <a:latin typeface="Arial Narrow"/>
                <a:ea typeface="Arial Narrow"/>
                <a:cs typeface="Arial Narrow"/>
                <a:sym typeface="Arial Narrow"/>
              </a:rPr>
              <a:t>entrada</a:t>
            </a:r>
            <a:endParaRPr/>
          </a:p>
        </p:txBody>
      </p:sp>
      <p:sp>
        <p:nvSpPr>
          <p:cNvPr id="1075" name="Google Shape;1075;p39"/>
          <p:cNvSpPr/>
          <p:nvPr/>
        </p:nvSpPr>
        <p:spPr>
          <a:xfrm>
            <a:off x="8603069" y="2347439"/>
            <a:ext cx="1668373" cy="305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26" u="none" cap="none" strike="noStrike">
                <a:solidFill>
                  <a:srgbClr val="080680"/>
                </a:solidFill>
                <a:latin typeface="Arial Narrow"/>
                <a:ea typeface="Arial Narrow"/>
                <a:cs typeface="Arial Narrow"/>
                <a:sym typeface="Arial Narrow"/>
              </a:rPr>
              <a:t>Evaluar y guardar</a:t>
            </a:r>
            <a:endParaRPr/>
          </a:p>
        </p:txBody>
      </p:sp>
      <p:sp>
        <p:nvSpPr>
          <p:cNvPr id="1076" name="Google Shape;1076;p39"/>
          <p:cNvSpPr/>
          <p:nvPr/>
        </p:nvSpPr>
        <p:spPr>
          <a:xfrm>
            <a:off x="8530189" y="3912019"/>
            <a:ext cx="1799557" cy="2563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26" u="none" cap="none" strike="noStrike">
                <a:solidFill>
                  <a:srgbClr val="14159F"/>
                </a:solidFill>
                <a:latin typeface="Arial Narrow"/>
                <a:ea typeface="Arial Narrow"/>
                <a:cs typeface="Arial Narrow"/>
                <a:sym typeface="Arial Narrow"/>
              </a:rPr>
              <a:t>Predicciones, métricas</a:t>
            </a:r>
            <a:endParaRPr/>
          </a:p>
        </p:txBody>
      </p:sp>
      <p:sp>
        <p:nvSpPr>
          <p:cNvPr id="1077" name="Google Shape;1077;p39"/>
          <p:cNvSpPr/>
          <p:nvPr/>
        </p:nvSpPr>
        <p:spPr>
          <a:xfrm>
            <a:off x="8522901" y="4138409"/>
            <a:ext cx="1296686" cy="2596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53" u="none" cap="none" strike="noStrike">
                <a:solidFill>
                  <a:srgbClr val="1616A6"/>
                </a:solidFill>
                <a:latin typeface="Arial Narrow"/>
                <a:ea typeface="Arial Narrow"/>
                <a:cs typeface="Arial Narrow"/>
                <a:sym typeface="Arial Narrow"/>
              </a:rPr>
              <a:t>y configuración.</a:t>
            </a:r>
            <a:endParaRPr/>
          </a:p>
        </p:txBody>
      </p:sp>
      <p:sp>
        <p:nvSpPr>
          <p:cNvPr id="1078" name="Google Shape;1078;p39"/>
          <p:cNvSpPr/>
          <p:nvPr/>
        </p:nvSpPr>
        <p:spPr>
          <a:xfrm>
            <a:off x="10753027" y="1895996"/>
            <a:ext cx="1172790" cy="337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64" u="none" cap="none" strike="noStrike">
                <a:solidFill>
                  <a:srgbClr val="06078F"/>
                </a:solidFill>
                <a:latin typeface="Arial Narrow"/>
                <a:ea typeface="Arial Narrow"/>
                <a:cs typeface="Arial Narrow"/>
                <a:sym typeface="Arial Narrow"/>
              </a:rPr>
              <a:t>Archivos de</a:t>
            </a:r>
            <a:endParaRPr/>
          </a:p>
        </p:txBody>
      </p:sp>
      <p:sp>
        <p:nvSpPr>
          <p:cNvPr id="1079" name="Google Shape;1079;p39"/>
          <p:cNvSpPr/>
          <p:nvPr/>
        </p:nvSpPr>
        <p:spPr>
          <a:xfrm>
            <a:off x="10811330" y="2158364"/>
            <a:ext cx="1056182" cy="337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65" u="none" cap="none" strike="noStrike">
                <a:solidFill>
                  <a:srgbClr val="07088B"/>
                </a:solidFill>
                <a:latin typeface="Arial Narrow"/>
                <a:ea typeface="Arial Narrow"/>
                <a:cs typeface="Arial Narrow"/>
                <a:sym typeface="Arial Narrow"/>
              </a:rPr>
              <a:t>resultados</a:t>
            </a:r>
            <a:endParaRPr/>
          </a:p>
        </p:txBody>
      </p:sp>
      <p:sp>
        <p:nvSpPr>
          <p:cNvPr id="1080" name="Google Shape;1080;p39"/>
          <p:cNvSpPr/>
          <p:nvPr/>
        </p:nvSpPr>
        <p:spPr>
          <a:xfrm>
            <a:off x="2393700" y="2355627"/>
            <a:ext cx="844830" cy="2837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9" u="none" cap="none" strike="noStrike">
                <a:solidFill>
                  <a:srgbClr val="07068C"/>
                </a:solidFill>
                <a:latin typeface="Quattrocento Sans"/>
                <a:ea typeface="Quattrocento Sans"/>
                <a:cs typeface="Quattrocento Sans"/>
                <a:sym typeface="Quattrocento Sans"/>
              </a:rPr>
              <a:t>Preparar</a:t>
            </a:r>
            <a:endParaRPr/>
          </a:p>
        </p:txBody>
      </p:sp>
      <p:sp>
        <p:nvSpPr>
          <p:cNvPr id="1081" name="Google Shape;1081;p39"/>
          <p:cNvSpPr/>
          <p:nvPr/>
        </p:nvSpPr>
        <p:spPr>
          <a:xfrm>
            <a:off x="2160485" y="2582690"/>
            <a:ext cx="1282110" cy="2990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1" u="none" cap="none" strike="noStrike">
                <a:solidFill>
                  <a:srgbClr val="07068E"/>
                </a:solidFill>
                <a:latin typeface="Arial Narrow"/>
                <a:ea typeface="Arial Narrow"/>
                <a:cs typeface="Arial Narrow"/>
                <a:sym typeface="Arial Narrow"/>
              </a:rPr>
              <a:t>las peticiones</a:t>
            </a:r>
            <a:endParaRPr/>
          </a:p>
        </p:txBody>
      </p:sp>
      <p:sp>
        <p:nvSpPr>
          <p:cNvPr id="1082" name="Google Shape;1082;p39"/>
          <p:cNvSpPr/>
          <p:nvPr/>
        </p:nvSpPr>
        <p:spPr>
          <a:xfrm>
            <a:off x="4594674" y="2362915"/>
            <a:ext cx="844830" cy="2837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9" u="none" cap="none" strike="noStrike">
                <a:solidFill>
                  <a:srgbClr val="090684"/>
                </a:solidFill>
                <a:latin typeface="Quattrocento Sans"/>
                <a:ea typeface="Quattrocento Sans"/>
                <a:cs typeface="Quattrocento Sans"/>
                <a:sym typeface="Quattrocento Sans"/>
              </a:rPr>
              <a:t>Preparar</a:t>
            </a:r>
            <a:endParaRPr/>
          </a:p>
        </p:txBody>
      </p:sp>
      <p:sp>
        <p:nvSpPr>
          <p:cNvPr id="1083" name="Google Shape;1083;p39"/>
          <p:cNvSpPr/>
          <p:nvPr/>
        </p:nvSpPr>
        <p:spPr>
          <a:xfrm>
            <a:off x="4317730" y="2570679"/>
            <a:ext cx="1384141" cy="30488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47" u="none" cap="none" strike="noStrike">
                <a:solidFill>
                  <a:srgbClr val="090784"/>
                </a:solidFill>
                <a:latin typeface="Arial Narrow"/>
                <a:ea typeface="Arial Narrow"/>
                <a:cs typeface="Arial Narrow"/>
                <a:sym typeface="Arial Narrow"/>
              </a:rPr>
              <a:t>características</a:t>
            </a:r>
            <a:endParaRPr/>
          </a:p>
        </p:txBody>
      </p:sp>
      <p:sp>
        <p:nvSpPr>
          <p:cNvPr id="1084" name="Google Shape;1084;p39"/>
          <p:cNvSpPr/>
          <p:nvPr/>
        </p:nvSpPr>
        <p:spPr>
          <a:xfrm>
            <a:off x="5133985" y="3025444"/>
            <a:ext cx="334671" cy="1722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1" sz="1043">
              <a:solidFill>
                <a:srgbClr val="161FDC"/>
              </a:solidFill>
              <a:latin typeface="Arial Narrow"/>
              <a:ea typeface="Arial Narrow"/>
              <a:cs typeface="Arial Narrow"/>
              <a:sym typeface="Arial Narrow"/>
            </a:endParaRPr>
          </a:p>
        </p:txBody>
      </p:sp>
      <p:sp>
        <p:nvSpPr>
          <p:cNvPr id="1085" name="Google Shape;1085;p39"/>
          <p:cNvSpPr/>
          <p:nvPr/>
        </p:nvSpPr>
        <p:spPr>
          <a:xfrm>
            <a:off x="1956421" y="3907727"/>
            <a:ext cx="1515325"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4" u="none" cap="none" strike="noStrike">
                <a:solidFill>
                  <a:srgbClr val="1113A6"/>
                </a:solidFill>
                <a:latin typeface="Arial Narrow"/>
                <a:ea typeface="Arial Narrow"/>
                <a:cs typeface="Arial Narrow"/>
                <a:sym typeface="Arial Narrow"/>
              </a:rPr>
              <a:t>Leer los archivos y</a:t>
            </a:r>
            <a:endParaRPr/>
          </a:p>
        </p:txBody>
      </p:sp>
      <p:sp>
        <p:nvSpPr>
          <p:cNvPr id="1086" name="Google Shape;1086;p39"/>
          <p:cNvSpPr/>
          <p:nvPr/>
        </p:nvSpPr>
        <p:spPr>
          <a:xfrm>
            <a:off x="1956421" y="4118745"/>
            <a:ext cx="1201942" cy="2666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none" cap="none" strike="noStrike">
                <a:solidFill>
                  <a:srgbClr val="1111A5"/>
                </a:solidFill>
                <a:latin typeface="Arial Narrow"/>
                <a:ea typeface="Arial Narrow"/>
                <a:cs typeface="Arial Narrow"/>
                <a:sym typeface="Arial Narrow"/>
              </a:rPr>
              <a:t>reconstruir las</a:t>
            </a:r>
            <a:endParaRPr/>
          </a:p>
        </p:txBody>
      </p:sp>
      <p:sp>
        <p:nvSpPr>
          <p:cNvPr id="1087" name="Google Shape;1087;p39"/>
          <p:cNvSpPr/>
          <p:nvPr/>
        </p:nvSpPr>
        <p:spPr>
          <a:xfrm>
            <a:off x="1956421" y="4359845"/>
            <a:ext cx="1435157" cy="2742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61" u="none" cap="none" strike="noStrike">
                <a:solidFill>
                  <a:srgbClr val="1416A8"/>
                </a:solidFill>
                <a:latin typeface="Arial Narrow"/>
                <a:ea typeface="Arial Narrow"/>
                <a:cs typeface="Arial Narrow"/>
                <a:sym typeface="Arial Narrow"/>
              </a:rPr>
              <a:t>peticiones HTTP.</a:t>
            </a:r>
            <a:endParaRPr/>
          </a:p>
        </p:txBody>
      </p:sp>
      <p:sp>
        <p:nvSpPr>
          <p:cNvPr id="1088" name="Google Shape;1088;p39"/>
          <p:cNvSpPr/>
          <p:nvPr/>
        </p:nvSpPr>
        <p:spPr>
          <a:xfrm>
            <a:off x="396791" y="5302463"/>
            <a:ext cx="2652252" cy="3893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92" u="none" cap="none" strike="noStrike">
                <a:solidFill>
                  <a:srgbClr val="060786"/>
                </a:solidFill>
                <a:latin typeface="Arial Narrow"/>
                <a:ea typeface="Arial Narrow"/>
                <a:cs typeface="Arial Narrow"/>
                <a:sym typeface="Arial Narrow"/>
              </a:rPr>
              <a:t>Herramientas utilizadas</a:t>
            </a:r>
            <a:endParaRPr/>
          </a:p>
        </p:txBody>
      </p:sp>
      <p:sp>
        <p:nvSpPr>
          <p:cNvPr id="1089" name="Google Shape;1089;p39"/>
          <p:cNvSpPr/>
          <p:nvPr/>
        </p:nvSpPr>
        <p:spPr>
          <a:xfrm>
            <a:off x="4055362" y="3902195"/>
            <a:ext cx="1879725" cy="2598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1" u="none" cap="none" strike="noStrike">
                <a:solidFill>
                  <a:srgbClr val="1112A0"/>
                </a:solidFill>
                <a:latin typeface="Arial Narrow"/>
                <a:ea typeface="Arial Narrow"/>
                <a:cs typeface="Arial Narrow"/>
                <a:sym typeface="Arial Narrow"/>
              </a:rPr>
              <a:t>Calcular características</a:t>
            </a:r>
            <a:endParaRPr/>
          </a:p>
        </p:txBody>
      </p:sp>
      <p:sp>
        <p:nvSpPr>
          <p:cNvPr id="1090" name="Google Shape;1090;p39"/>
          <p:cNvSpPr/>
          <p:nvPr/>
        </p:nvSpPr>
        <p:spPr>
          <a:xfrm>
            <a:off x="4055362" y="4141162"/>
            <a:ext cx="1697525" cy="26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44" u="none" cap="none" strike="noStrike">
                <a:solidFill>
                  <a:srgbClr val="1816A3"/>
                </a:solidFill>
                <a:latin typeface="Arial Narrow"/>
                <a:ea typeface="Arial Narrow"/>
                <a:cs typeface="Arial Narrow"/>
                <a:sym typeface="Arial Narrow"/>
              </a:rPr>
              <a:t>y preparar etiquetas.</a:t>
            </a:r>
            <a:endParaRPr/>
          </a:p>
        </p:txBody>
      </p:sp>
      <p:sp>
        <p:nvSpPr>
          <p:cNvPr id="1091" name="Google Shape;1091;p39"/>
          <p:cNvSpPr/>
          <p:nvPr/>
        </p:nvSpPr>
        <p:spPr>
          <a:xfrm>
            <a:off x="6402096" y="2347439"/>
            <a:ext cx="1675661" cy="305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85" u="none" cap="none" strike="noStrike">
                <a:solidFill>
                  <a:srgbClr val="07068E"/>
                </a:solidFill>
                <a:latin typeface="Arial Narrow"/>
                <a:ea typeface="Arial Narrow"/>
                <a:cs typeface="Arial Narrow"/>
                <a:sym typeface="Arial Narrow"/>
              </a:rPr>
              <a:t>Entrenar y ajustar</a:t>
            </a:r>
            <a:endParaRPr/>
          </a:p>
        </p:txBody>
      </p:sp>
      <p:sp>
        <p:nvSpPr>
          <p:cNvPr id="1092" name="Google Shape;1092;p39"/>
          <p:cNvSpPr/>
          <p:nvPr/>
        </p:nvSpPr>
        <p:spPr>
          <a:xfrm>
            <a:off x="6343792" y="3761967"/>
            <a:ext cx="1777693"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79" u="none" cap="none" strike="noStrike">
                <a:solidFill>
                  <a:srgbClr val="1417AC"/>
                </a:solidFill>
                <a:latin typeface="Arial Narrow"/>
                <a:ea typeface="Arial Narrow"/>
                <a:cs typeface="Arial Narrow"/>
                <a:sym typeface="Arial Narrow"/>
              </a:rPr>
              <a:t>Guardar la separación</a:t>
            </a:r>
            <a:endParaRPr/>
          </a:p>
        </p:txBody>
      </p:sp>
      <p:sp>
        <p:nvSpPr>
          <p:cNvPr id="1093" name="Google Shape;1093;p39"/>
          <p:cNvSpPr/>
          <p:nvPr/>
        </p:nvSpPr>
        <p:spPr>
          <a:xfrm>
            <a:off x="6343792" y="3987895"/>
            <a:ext cx="1631933"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1" u="none" cap="none" strike="noStrike">
                <a:solidFill>
                  <a:srgbClr val="1316AC"/>
                </a:solidFill>
                <a:latin typeface="Arial Narrow"/>
                <a:ea typeface="Arial Narrow"/>
                <a:cs typeface="Arial Narrow"/>
                <a:sym typeface="Arial Narrow"/>
              </a:rPr>
              <a:t>de datos y ajustar el</a:t>
            </a:r>
            <a:endParaRPr/>
          </a:p>
        </p:txBody>
      </p:sp>
      <p:sp>
        <p:nvSpPr>
          <p:cNvPr id="1094" name="Google Shape;1094;p39"/>
          <p:cNvSpPr/>
          <p:nvPr/>
        </p:nvSpPr>
        <p:spPr>
          <a:xfrm>
            <a:off x="6351080" y="4213823"/>
            <a:ext cx="1573629"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77" u="none" cap="none" strike="noStrike">
                <a:solidFill>
                  <a:srgbClr val="1113AB"/>
                </a:solidFill>
                <a:latin typeface="Arial Narrow"/>
                <a:ea typeface="Arial Narrow"/>
                <a:cs typeface="Arial Narrow"/>
                <a:sym typeface="Arial Narrow"/>
              </a:rPr>
              <a:t>modelo según cada</a:t>
            </a:r>
            <a:endParaRPr/>
          </a:p>
        </p:txBody>
      </p:sp>
      <p:sp>
        <p:nvSpPr>
          <p:cNvPr id="1095" name="Google Shape;1095;p39"/>
          <p:cNvSpPr/>
          <p:nvPr/>
        </p:nvSpPr>
        <p:spPr>
          <a:xfrm>
            <a:off x="6343792" y="4431542"/>
            <a:ext cx="633478" cy="2780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2" u="none" cap="none" strike="noStrike">
                <a:solidFill>
                  <a:srgbClr val="1517AB"/>
                </a:solidFill>
                <a:latin typeface="Arial Narrow"/>
                <a:ea typeface="Arial Narrow"/>
                <a:cs typeface="Arial Narrow"/>
                <a:sym typeface="Arial Narrow"/>
              </a:rPr>
              <a:t>prueba.</a:t>
            </a:r>
            <a:endParaRPr/>
          </a:p>
        </p:txBody>
      </p:sp>
      <p:sp>
        <p:nvSpPr>
          <p:cNvPr id="1096" name="Google Shape;1096;p39"/>
          <p:cNvSpPr/>
          <p:nvPr/>
        </p:nvSpPr>
        <p:spPr>
          <a:xfrm>
            <a:off x="4288578" y="5278770"/>
            <a:ext cx="2659540" cy="2721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42" u="none" cap="none" strike="noStrike">
                <a:solidFill>
                  <a:srgbClr val="070696"/>
                </a:solidFill>
                <a:latin typeface="Arial Narrow"/>
                <a:ea typeface="Arial Narrow"/>
                <a:cs typeface="Arial Narrow"/>
                <a:sym typeface="Arial Narrow"/>
              </a:rPr>
              <a:t>Python, scikit-learn y XGBoost:</a:t>
            </a:r>
            <a:endParaRPr/>
          </a:p>
        </p:txBody>
      </p:sp>
      <p:sp>
        <p:nvSpPr>
          <p:cNvPr id="1097" name="Google Shape;1097;p39"/>
          <p:cNvSpPr/>
          <p:nvPr/>
        </p:nvSpPr>
        <p:spPr>
          <a:xfrm>
            <a:off x="4288578" y="5511746"/>
            <a:ext cx="2207684" cy="2729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82" u="none" cap="none" strike="noStrike">
                <a:solidFill>
                  <a:srgbClr val="1113A8"/>
                </a:solidFill>
                <a:latin typeface="Arial Narrow"/>
                <a:ea typeface="Arial Narrow"/>
                <a:cs typeface="Arial Narrow"/>
                <a:sym typeface="Arial Narrow"/>
              </a:rPr>
              <a:t>procesamiento y modelos.</a:t>
            </a:r>
            <a:endParaRPr/>
          </a:p>
        </p:txBody>
      </p:sp>
      <p:sp>
        <p:nvSpPr>
          <p:cNvPr id="1098" name="Google Shape;1098;p39"/>
          <p:cNvSpPr/>
          <p:nvPr/>
        </p:nvSpPr>
        <p:spPr>
          <a:xfrm>
            <a:off x="8821709" y="5287655"/>
            <a:ext cx="2040061" cy="2764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8" u="none" cap="none" strike="noStrike">
                <a:solidFill>
                  <a:srgbClr val="090A9E"/>
                </a:solidFill>
                <a:latin typeface="Arial Narrow"/>
                <a:ea typeface="Arial Narrow"/>
                <a:cs typeface="Arial Narrow"/>
                <a:sym typeface="Arial Narrow"/>
              </a:rPr>
              <a:t>Bash y Slurm: organizar</a:t>
            </a:r>
            <a:endParaRPr/>
          </a:p>
        </p:txBody>
      </p:sp>
      <p:sp>
        <p:nvSpPr>
          <p:cNvPr id="1099" name="Google Shape;1099;p39"/>
          <p:cNvSpPr/>
          <p:nvPr/>
        </p:nvSpPr>
        <p:spPr>
          <a:xfrm>
            <a:off x="8821709" y="5518535"/>
            <a:ext cx="2827164" cy="2840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1214A7"/>
                </a:solidFill>
                <a:latin typeface="Arial Narrow"/>
                <a:ea typeface="Arial Narrow"/>
                <a:cs typeface="Arial Narrow"/>
                <a:sym typeface="Arial Narrow"/>
              </a:rPr>
              <a:t>las ejecuciones y asignar recursos.</a:t>
            </a:r>
            <a:endParaRPr/>
          </a:p>
        </p:txBody>
      </p:sp>
      <p:sp>
        <p:nvSpPr>
          <p:cNvPr id="1100" name="Google Shape;1100;p39"/>
          <p:cNvSpPr/>
          <p:nvPr/>
        </p:nvSpPr>
        <p:spPr>
          <a:xfrm>
            <a:off x="243743" y="6409339"/>
            <a:ext cx="7877742" cy="2217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1" u="none" cap="none" strike="noStrike">
                <a:solidFill>
                  <a:srgbClr val="201EA4"/>
                </a:solidFill>
                <a:latin typeface="Arial Narrow"/>
                <a:ea typeface="Arial Narrow"/>
                <a:cs typeface="Arial Narrow"/>
                <a:sym typeface="Arial Narrow"/>
              </a:rPr>
              <a:t>* Chen, T. y Guestrin, C. (2016). XGBoost: A Scalable Tree Boosting System. https://doi.org/10.1145/2939672.2939785</a:t>
            </a:r>
            <a:endParaRPr/>
          </a:p>
        </p:txBody>
      </p:sp>
      <p:sp>
        <p:nvSpPr>
          <p:cNvPr id="1101" name="Google Shape;1101;p3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02" name="Google Shape;1102;p39" title="DEFENSA_SEGURA_V2:barra-2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03" name="Google Shape;1103;p39" title="DEFENSA_SEGURA_V2:avance-28"/>
          <p:cNvSpPr/>
          <p:nvPr/>
        </p:nvSpPr>
        <p:spPr>
          <a:xfrm>
            <a:off x="0" y="0"/>
            <a:ext cx="487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04" name="Google Shape;1104;p39" title="DEFENSA_SEGURA_V2:seccion-2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9" name="Shape 1109"/>
        <p:cNvGrpSpPr/>
        <p:nvPr/>
      </p:nvGrpSpPr>
      <p:grpSpPr>
        <a:xfrm>
          <a:off x="0" y="0"/>
          <a:ext cx="0" cy="0"/>
          <a:chOff x="0" y="0"/>
          <a:chExt cx="0" cy="0"/>
        </a:xfrm>
      </p:grpSpPr>
      <p:sp>
        <p:nvSpPr>
          <p:cNvPr id="1110" name="Google Shape;1110;p40"/>
          <p:cNvSpPr/>
          <p:nvPr/>
        </p:nvSpPr>
        <p:spPr>
          <a:xfrm>
            <a:off x="285750" y="209550"/>
            <a:ext cx="116205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Búsqueda de hiperparámetros y ajustes</a:t>
            </a:r>
            <a:endParaRPr b="1">
              <a:solidFill>
                <a:srgbClr val="111F5B"/>
              </a:solidFill>
            </a:endParaRPr>
          </a:p>
        </p:txBody>
      </p:sp>
      <p:sp>
        <p:nvSpPr>
          <p:cNvPr id="1111" name="Google Shape;1111;p40"/>
          <p:cNvSpPr/>
          <p:nvPr/>
        </p:nvSpPr>
        <p:spPr>
          <a:xfrm>
            <a:off x="304800" y="857250"/>
            <a:ext cx="11525400" cy="42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725"/>
              <a:buFont typeface="Arial"/>
              <a:buNone/>
            </a:pPr>
            <a:r>
              <a:rPr lang="en-US" sz="1725">
                <a:solidFill>
                  <a:srgbClr val="070F64"/>
                </a:solidFill>
              </a:rPr>
              <a:t>Configuración de los modelos y reglas para decidir la salida</a:t>
            </a:r>
            <a:endParaRPr sz="1725">
              <a:solidFill>
                <a:srgbClr val="070F64"/>
              </a:solidFill>
            </a:endParaRPr>
          </a:p>
        </p:txBody>
      </p:sp>
      <p:graphicFrame>
        <p:nvGraphicFramePr>
          <p:cNvPr id="1112" name="Google Shape;1112;p40"/>
          <p:cNvGraphicFramePr/>
          <p:nvPr/>
        </p:nvGraphicFramePr>
        <p:xfrm>
          <a:off x="292100" y="1397000"/>
          <a:ext cx="3000000" cy="3000000"/>
        </p:xfrm>
        <a:graphic>
          <a:graphicData uri="http://schemas.openxmlformats.org/drawingml/2006/table">
            <a:tbl>
              <a:tblPr>
                <a:noFill/>
                <a:tableStyleId>{F1B291AF-9CB1-4793-AFE8-E70834C1BA4F}</a:tableStyleId>
              </a:tblPr>
              <a:tblGrid>
                <a:gridCol w="2222500"/>
                <a:gridCol w="4267200"/>
                <a:gridCol w="5118100"/>
              </a:tblGrid>
              <a:tr h="419100">
                <a:tc>
                  <a:txBody>
                    <a:bodyPr/>
                    <a:lstStyle/>
                    <a:p>
                      <a:pPr indent="0" lvl="0" marL="0" marR="0" rtl="0" algn="l">
                        <a:lnSpc>
                          <a:spcPct val="100000"/>
                        </a:lnSpc>
                        <a:spcBef>
                          <a:spcPts val="0"/>
                        </a:spcBef>
                        <a:spcAft>
                          <a:spcPts val="0"/>
                        </a:spcAft>
                        <a:buClr>
                          <a:srgbClr val="000000"/>
                        </a:buClr>
                        <a:buSzPts val="1500"/>
                        <a:buFont typeface="Arial"/>
                        <a:buNone/>
                      </a:pPr>
                      <a:r>
                        <a:rPr b="1" lang="en-US" sz="1450">
                          <a:solidFill>
                            <a:srgbClr val="FFFFFF"/>
                          </a:solidFill>
                        </a:rPr>
                        <a:t>Enfoque y modelo</a:t>
                      </a:r>
                      <a:endParaRPr b="1" sz="1450">
                        <a:solidFill>
                          <a:srgbClr val="FFFFFF"/>
                        </a:solidFill>
                      </a:endParaRPr>
                    </a:p>
                  </a:txBody>
                  <a:tcPr marT="76200" marB="76200" marR="95250" marL="114300" anchor="ctr">
                    <a:solidFill>
                      <a:srgbClr val="111F5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450">
                          <a:solidFill>
                            <a:srgbClr val="FFFFFF"/>
                          </a:solidFill>
                        </a:rPr>
                        <a:t>Configuración utilizada</a:t>
                      </a:r>
                      <a:endParaRPr b="1" sz="1450">
                        <a:solidFill>
                          <a:srgbClr val="FFFFFF"/>
                        </a:solidFill>
                      </a:endParaRPr>
                    </a:p>
                  </a:txBody>
                  <a:tcPr marT="76200" marB="76200" marR="95250" marL="114300" anchor="ctr">
                    <a:solidFill>
                      <a:srgbClr val="111F5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450">
                          <a:solidFill>
                            <a:srgbClr val="FFFFFF"/>
                          </a:solidFill>
                        </a:rPr>
                        <a:t>Cómo elegimos los ajustes</a:t>
                      </a:r>
                      <a:endParaRPr b="1" sz="1450">
                        <a:solidFill>
                          <a:srgbClr val="FFFFFF"/>
                        </a:solidFill>
                      </a:endParaRPr>
                    </a:p>
                  </a:txBody>
                  <a:tcPr marT="76200" marB="76200" marR="95250" marL="114300" anchor="ctr">
                    <a:solidFill>
                      <a:srgbClr val="111F5B"/>
                    </a:solidFill>
                  </a:tcPr>
                </a:tc>
              </a:tr>
              <a:tr h="863600">
                <a:tc>
                  <a:txBody>
                    <a:bodyPr/>
                    <a:lstStyle/>
                    <a:p>
                      <a:pPr indent="0" lvl="0" marL="0" marR="0" rtl="0" algn="l">
                        <a:lnSpc>
                          <a:spcPct val="100000"/>
                        </a:lnSpc>
                        <a:spcBef>
                          <a:spcPts val="0"/>
                        </a:spcBef>
                        <a:spcAft>
                          <a:spcPts val="0"/>
                        </a:spcAft>
                        <a:buNone/>
                      </a:pPr>
                      <a:r>
                        <a:rPr lang="en-US" sz="1450">
                          <a:solidFill>
                            <a:srgbClr val="111F5B"/>
                          </a:solidFill>
                        </a:rPr>
                        <a:t>One-class</a:t>
                      </a:r>
                      <a:endParaRPr sz="1450">
                        <a:solidFill>
                          <a:srgbClr val="111F5B"/>
                        </a:solidFill>
                      </a:endParaRPr>
                    </a:p>
                    <a:p>
                      <a:pPr indent="0" lvl="0" marL="0" marR="0" rtl="0" algn="l">
                        <a:lnSpc>
                          <a:spcPct val="100000"/>
                        </a:lnSpc>
                        <a:spcBef>
                          <a:spcPts val="0"/>
                        </a:spcBef>
                        <a:spcAft>
                          <a:spcPts val="0"/>
                        </a:spcAft>
                        <a:buNone/>
                      </a:pPr>
                      <a:r>
                        <a:rPr lang="en-US" sz="1450">
                          <a:solidFill>
                            <a:srgbClr val="111F5B"/>
                          </a:solidFill>
                        </a:rPr>
                        <a:t>One-Class SVM</a:t>
                      </a:r>
                      <a:endParaRPr sz="145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None/>
                      </a:pPr>
                      <a:r>
                        <a:rPr lang="en-US" sz="1450">
                          <a:solidFill>
                            <a:srgbClr val="111F5B"/>
                          </a:solidFill>
                        </a:rPr>
                        <a:t>Kernel RBF. gamma = 0,1.</a:t>
                      </a:r>
                      <a:endParaRPr sz="1450">
                        <a:solidFill>
                          <a:srgbClr val="111F5B"/>
                        </a:solidFill>
                      </a:endParaRPr>
                    </a:p>
                    <a:p>
                      <a:pPr indent="0" lvl="0" marL="0" marR="0" rtl="0" algn="l">
                        <a:lnSpc>
                          <a:spcPct val="100000"/>
                        </a:lnSpc>
                        <a:spcBef>
                          <a:spcPts val="0"/>
                        </a:spcBef>
                        <a:spcAft>
                          <a:spcPts val="0"/>
                        </a:spcAft>
                        <a:buNone/>
                      </a:pPr>
                      <a:r>
                        <a:rPr lang="en-US" sz="1450">
                          <a:solidFill>
                            <a:srgbClr val="111F5B"/>
                          </a:solidFill>
                        </a:rPr>
                        <a:t>nu = 0,01; 0,05; 0,10.</a:t>
                      </a:r>
                      <a:endParaRPr sz="145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None/>
                      </a:pPr>
                      <a:r>
                        <a:rPr lang="en-US" sz="1450">
                          <a:solidFill>
                            <a:srgbClr val="111F5B"/>
                          </a:solidFill>
                        </a:rPr>
                        <a:t>Comparamos detección y falsas alarmas.</a:t>
                      </a:r>
                      <a:endParaRPr sz="1450">
                        <a:solidFill>
                          <a:srgbClr val="111F5B"/>
                        </a:solidFill>
                      </a:endParaRPr>
                    </a:p>
                    <a:p>
                      <a:pPr indent="0" lvl="0" marL="0" marR="0" rtl="0" algn="l">
                        <a:lnSpc>
                          <a:spcPct val="100000"/>
                        </a:lnSpc>
                        <a:spcBef>
                          <a:spcPts val="0"/>
                        </a:spcBef>
                        <a:spcAft>
                          <a:spcPts val="0"/>
                        </a:spcAft>
                        <a:buNone/>
                      </a:pPr>
                      <a:r>
                        <a:rPr lang="en-US" sz="1450">
                          <a:solidFill>
                            <a:srgbClr val="111F5B"/>
                          </a:solidFill>
                        </a:rPr>
                        <a:t>nu = 0,05 se usa como referencia de balance.</a:t>
                      </a:r>
                      <a:endParaRPr sz="1450">
                        <a:solidFill>
                          <a:srgbClr val="111F5B"/>
                        </a:solidFill>
                      </a:endParaRPr>
                    </a:p>
                  </a:txBody>
                  <a:tcPr marT="76200" marB="76200" marR="95250" marL="114300" anchor="ctr">
                    <a:solidFill>
                      <a:srgbClr val="DEF0FA"/>
                    </a:solidFill>
                  </a:tcPr>
                </a:tc>
              </a:tr>
              <a:tr h="927100">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Binario (B2)</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Random Forest</a:t>
                      </a:r>
                      <a:endParaRPr sz="145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500 árboles y pesos balanceados.</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Configuración fija por conjunto.</a:t>
                      </a:r>
                      <a:endParaRPr sz="145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Probamos umbrales de 0,05 a 0,95.</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Elegimos por F1 sobre la prueba.</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Ajuste exploratorio.</a:t>
                      </a:r>
                      <a:endParaRPr sz="1450">
                        <a:solidFill>
                          <a:srgbClr val="111F5B"/>
                        </a:solidFill>
                      </a:endParaRPr>
                    </a:p>
                  </a:txBody>
                  <a:tcPr marT="76200" marB="76200" marR="95250" marL="114300" anchor="ctr">
                    <a:solidFill>
                      <a:srgbClr val="F3F9FC"/>
                    </a:solidFill>
                  </a:tcPr>
                </a:tc>
              </a:tr>
              <a:tr h="914400">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Multiclase (M8)</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HistGradientBoosting</a:t>
                      </a:r>
                      <a:endParaRPr sz="145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Hasta 750 iteraciones. Tasa: 0,035.</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Máximo 63 hojas. Regularización: 0,05.</a:t>
                      </a:r>
                      <a:endParaRPr sz="145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Hiperparámetros fijos. Parada anticipada.</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Harvard completó 263 iteraciones.</a:t>
                      </a:r>
                      <a:endParaRPr sz="1450">
                        <a:solidFill>
                          <a:srgbClr val="111F5B"/>
                        </a:solidFill>
                      </a:endParaRPr>
                    </a:p>
                  </a:txBody>
                  <a:tcPr marT="76200" marB="76200" marR="95250" marL="114300" anchor="ctr">
                    <a:solidFill>
                      <a:srgbClr val="DEF0FA"/>
                    </a:solidFill>
                  </a:tcPr>
                </a:tc>
              </a:tr>
              <a:tr h="1143000">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Multietiqueta (L2)</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XGBoost por CAPEC</a:t>
                      </a:r>
                      <a:endParaRPr sz="145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Profundidad: 5–8. Tasa: 0,022–0,0835.</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Hasta 2.600 árboles por etiqueta.</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Parada tras 100 rondas sin mejorar.</a:t>
                      </a:r>
                      <a:endParaRPr sz="145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192 pruebas de configuración.</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Selección por AP y F1 en validación.</a:t>
                      </a:r>
                      <a:endParaRPr sz="1450">
                        <a:solidFill>
                          <a:srgbClr val="111F5B"/>
                        </a:solidFill>
                      </a:endParaRPr>
                    </a:p>
                    <a:p>
                      <a:pPr indent="0" lvl="0" marL="0" marR="0" rtl="0" algn="l">
                        <a:lnSpc>
                          <a:spcPct val="100000"/>
                        </a:lnSpc>
                        <a:spcBef>
                          <a:spcPts val="0"/>
                        </a:spcBef>
                        <a:spcAft>
                          <a:spcPts val="0"/>
                        </a:spcAft>
                        <a:buClr>
                          <a:srgbClr val="000000"/>
                        </a:buClr>
                        <a:buSzPts val="1500"/>
                        <a:buFont typeface="Arial"/>
                        <a:buNone/>
                      </a:pPr>
                      <a:r>
                        <a:rPr lang="en-US" sz="1450">
                          <a:solidFill>
                            <a:srgbClr val="111F5B"/>
                          </a:solidFill>
                        </a:rPr>
                        <a:t>Umbrales en otro bloque reservado.</a:t>
                      </a:r>
                      <a:endParaRPr sz="1450">
                        <a:solidFill>
                          <a:srgbClr val="111F5B"/>
                        </a:solidFill>
                      </a:endParaRPr>
                    </a:p>
                  </a:txBody>
                  <a:tcPr marT="76200" marB="76200" marR="95250" marL="114300" anchor="ctr">
                    <a:solidFill>
                      <a:srgbClr val="F3F9FC"/>
                    </a:solidFill>
                  </a:tcPr>
                </a:tc>
              </a:tr>
            </a:tbl>
          </a:graphicData>
        </a:graphic>
      </p:graphicFrame>
      <p:sp>
        <p:nvSpPr>
          <p:cNvPr id="1113" name="Google Shape;1113;p40"/>
          <p:cNvSpPr/>
          <p:nvPr/>
        </p:nvSpPr>
        <p:spPr>
          <a:xfrm>
            <a:off x="304800" y="5778500"/>
            <a:ext cx="11531700" cy="507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500"/>
              <a:buFont typeface="Arial"/>
              <a:buNone/>
            </a:pPr>
            <a:r>
              <a:rPr lang="en-US" sz="1450">
                <a:solidFill>
                  <a:srgbClr val="070F64"/>
                </a:solidFill>
              </a:rPr>
              <a:t>L2 separa entrenamiento, validación, ajuste de umbrales y prueba: 64 / 8 / 8 / 20 %.</a:t>
            </a:r>
            <a:endParaRPr sz="1450">
              <a:solidFill>
                <a:srgbClr val="070F64"/>
              </a:solidFill>
            </a:endParaRPr>
          </a:p>
          <a:p>
            <a:pPr indent="0" lvl="0" marL="0" marR="0" rtl="0" algn="l">
              <a:lnSpc>
                <a:spcPct val="100000"/>
              </a:lnSpc>
              <a:spcBef>
                <a:spcPts val="0"/>
              </a:spcBef>
              <a:spcAft>
                <a:spcPts val="0"/>
              </a:spcAft>
              <a:buClr>
                <a:srgbClr val="070F64"/>
              </a:buClr>
              <a:buSzPts val="1500"/>
              <a:buFont typeface="Arial"/>
              <a:buNone/>
            </a:pPr>
            <a:r>
              <a:rPr lang="en-US" sz="1450">
                <a:solidFill>
                  <a:srgbClr val="070F64"/>
                </a:solidFill>
              </a:rPr>
              <a:t>Isolation Forest fue una exploración adicional de la rama one-class.</a:t>
            </a:r>
            <a:endParaRPr sz="1450">
              <a:solidFill>
                <a:srgbClr val="070F64"/>
              </a:solidFill>
            </a:endParaRPr>
          </a:p>
        </p:txBody>
      </p:sp>
      <p:sp>
        <p:nvSpPr>
          <p:cNvPr id="1114" name="Google Shape;1114;p40"/>
          <p:cNvSpPr/>
          <p:nvPr/>
        </p:nvSpPr>
        <p:spPr>
          <a:xfrm>
            <a:off x="304800" y="6391275"/>
            <a:ext cx="115254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200"/>
              <a:buFont typeface="Arial"/>
              <a:buNone/>
            </a:pPr>
            <a:r>
              <a:rPr lang="en-US" sz="1200">
                <a:solidFill>
                  <a:srgbClr val="070F64"/>
                </a:solidFill>
              </a:rPr>
              <a:t>AP = precisión media, calculada a partir de la curva precisión–recall.</a:t>
            </a:r>
            <a:endParaRPr sz="1200">
              <a:solidFill>
                <a:srgbClr val="070F64"/>
              </a:solidFill>
            </a:endParaRPr>
          </a:p>
        </p:txBody>
      </p:sp>
      <p:sp>
        <p:nvSpPr>
          <p:cNvPr id="1115" name="Google Shape;1115;p4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6" name="Google Shape;1116;p40" title="DEFENSA_SEGURA_V2:barra-2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17" name="Google Shape;1117;p40" title="DEFENSA_SEGURA_V2:avance-29"/>
          <p:cNvSpPr/>
          <p:nvPr/>
        </p:nvSpPr>
        <p:spPr>
          <a:xfrm>
            <a:off x="0" y="0"/>
            <a:ext cx="6096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18" name="Google Shape;1118;p40" title="DEFENSA_SEGURA_V2:seccion-2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2" name="Shape 1122"/>
        <p:cNvGrpSpPr/>
        <p:nvPr/>
      </p:nvGrpSpPr>
      <p:grpSpPr>
        <a:xfrm>
          <a:off x="0" y="0"/>
          <a:ext cx="0" cy="0"/>
          <a:chOff x="0" y="0"/>
          <a:chExt cx="0" cy="0"/>
        </a:xfrm>
      </p:grpSpPr>
      <p:sp>
        <p:nvSpPr>
          <p:cNvPr id="1123" name="Google Shape;1123;p41"/>
          <p:cNvSpPr/>
          <p:nvPr/>
        </p:nvSpPr>
        <p:spPr>
          <a:xfrm>
            <a:off x="236455" y="1107775"/>
            <a:ext cx="5888697" cy="4518555"/>
          </a:xfrm>
          <a:prstGeom prst="roundRect">
            <a:avLst>
              <a:gd fmla="val 1290" name="adj"/>
            </a:avLst>
          </a:prstGeom>
          <a:solidFill>
            <a:srgbClr val="E3F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1"/>
          <p:cNvSpPr/>
          <p:nvPr/>
        </p:nvSpPr>
        <p:spPr>
          <a:xfrm>
            <a:off x="6270912" y="1166079"/>
            <a:ext cx="5655481" cy="4460251"/>
          </a:xfrm>
          <a:prstGeom prst="roundRect">
            <a:avLst>
              <a:gd fmla="val 1307" name="adj"/>
            </a:avLst>
          </a:prstGeom>
          <a:solidFill>
            <a:srgbClr val="E3F6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1"/>
          <p:cNvSpPr/>
          <p:nvPr/>
        </p:nvSpPr>
        <p:spPr>
          <a:xfrm>
            <a:off x="673734" y="5713785"/>
            <a:ext cx="11252659" cy="524735"/>
          </a:xfrm>
          <a:prstGeom prst="roundRect">
            <a:avLst>
              <a:gd fmla="val 11111" name="adj"/>
            </a:avLst>
          </a:prstGeom>
          <a:solidFill>
            <a:srgbClr val="E2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1"/>
          <p:cNvSpPr/>
          <p:nvPr/>
        </p:nvSpPr>
        <p:spPr>
          <a:xfrm>
            <a:off x="8282397" y="4518555"/>
            <a:ext cx="1632510" cy="728799"/>
          </a:xfrm>
          <a:prstGeom prst="roundRect">
            <a:avLst>
              <a:gd fmla="val 8000" name="adj"/>
            </a:avLst>
          </a:prstGeom>
          <a:solidFill>
            <a:srgbClr val="D0EE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7" name="Google Shape;1127;p41"/>
          <p:cNvPicPr preferRelativeResize="0"/>
          <p:nvPr/>
        </p:nvPicPr>
        <p:blipFill rotWithShape="1">
          <a:blip r:embed="rId3">
            <a:alphaModFix/>
          </a:blip>
          <a:srcRect b="0" l="0" r="0" t="0"/>
          <a:stretch/>
        </p:blipFill>
        <p:spPr>
          <a:xfrm>
            <a:off x="6547855" y="1676238"/>
            <a:ext cx="553887" cy="583039"/>
          </a:xfrm>
          <a:prstGeom prst="rect">
            <a:avLst/>
          </a:prstGeom>
          <a:noFill/>
          <a:ln>
            <a:noFill/>
          </a:ln>
        </p:spPr>
      </p:pic>
      <p:pic>
        <p:nvPicPr>
          <p:cNvPr id="1128" name="Google Shape;1128;p41"/>
          <p:cNvPicPr preferRelativeResize="0"/>
          <p:nvPr/>
        </p:nvPicPr>
        <p:blipFill rotWithShape="1">
          <a:blip r:embed="rId4">
            <a:alphaModFix/>
          </a:blip>
          <a:srcRect b="0" l="0" r="0" t="0"/>
          <a:stretch/>
        </p:blipFill>
        <p:spPr>
          <a:xfrm>
            <a:off x="6489552" y="2288429"/>
            <a:ext cx="641343" cy="641343"/>
          </a:xfrm>
          <a:prstGeom prst="rect">
            <a:avLst/>
          </a:prstGeom>
          <a:noFill/>
          <a:ln>
            <a:noFill/>
          </a:ln>
        </p:spPr>
      </p:pic>
      <p:pic>
        <p:nvPicPr>
          <p:cNvPr id="1129" name="Google Shape;1129;p41"/>
          <p:cNvPicPr preferRelativeResize="0"/>
          <p:nvPr/>
        </p:nvPicPr>
        <p:blipFill rotWithShape="1">
          <a:blip r:embed="rId5">
            <a:alphaModFix/>
          </a:blip>
          <a:srcRect b="0" l="0" r="0" t="0"/>
          <a:stretch/>
        </p:blipFill>
        <p:spPr>
          <a:xfrm>
            <a:off x="6489552" y="3046380"/>
            <a:ext cx="641343" cy="612191"/>
          </a:xfrm>
          <a:prstGeom prst="rect">
            <a:avLst/>
          </a:prstGeom>
          <a:noFill/>
          <a:ln>
            <a:noFill/>
          </a:ln>
        </p:spPr>
      </p:pic>
      <p:pic>
        <p:nvPicPr>
          <p:cNvPr id="1130" name="Google Shape;1130;p41"/>
          <p:cNvPicPr preferRelativeResize="0"/>
          <p:nvPr/>
        </p:nvPicPr>
        <p:blipFill rotWithShape="1">
          <a:blip r:embed="rId6">
            <a:alphaModFix/>
          </a:blip>
          <a:srcRect b="0" l="0" r="0" t="0"/>
          <a:stretch/>
        </p:blipFill>
        <p:spPr>
          <a:xfrm>
            <a:off x="4973649" y="4416523"/>
            <a:ext cx="204064" cy="233216"/>
          </a:xfrm>
          <a:prstGeom prst="rect">
            <a:avLst/>
          </a:prstGeom>
          <a:noFill/>
          <a:ln>
            <a:noFill/>
          </a:ln>
        </p:spPr>
      </p:pic>
      <p:pic>
        <p:nvPicPr>
          <p:cNvPr id="1131" name="Google Shape;1131;p41"/>
          <p:cNvPicPr preferRelativeResize="0"/>
          <p:nvPr/>
        </p:nvPicPr>
        <p:blipFill rotWithShape="1">
          <a:blip r:embed="rId7">
            <a:alphaModFix/>
          </a:blip>
          <a:srcRect b="0" l="0" r="0" t="0"/>
          <a:stretch/>
        </p:blipFill>
        <p:spPr>
          <a:xfrm>
            <a:off x="892374" y="4533131"/>
            <a:ext cx="204064" cy="204064"/>
          </a:xfrm>
          <a:prstGeom prst="rect">
            <a:avLst/>
          </a:prstGeom>
          <a:noFill/>
          <a:ln>
            <a:noFill/>
          </a:ln>
        </p:spPr>
      </p:pic>
      <p:pic>
        <p:nvPicPr>
          <p:cNvPr id="1132" name="Google Shape;1132;p41"/>
          <p:cNvPicPr preferRelativeResize="0"/>
          <p:nvPr/>
        </p:nvPicPr>
        <p:blipFill rotWithShape="1">
          <a:blip r:embed="rId8">
            <a:alphaModFix/>
          </a:blip>
          <a:srcRect b="0" l="0" r="0" t="0"/>
          <a:stretch/>
        </p:blipFill>
        <p:spPr>
          <a:xfrm>
            <a:off x="192727" y="5640905"/>
            <a:ext cx="466431" cy="670495"/>
          </a:xfrm>
          <a:prstGeom prst="rect">
            <a:avLst/>
          </a:prstGeom>
          <a:noFill/>
          <a:ln>
            <a:noFill/>
          </a:ln>
        </p:spPr>
      </p:pic>
      <p:sp>
        <p:nvSpPr>
          <p:cNvPr id="1133" name="Google Shape;1133;p41"/>
          <p:cNvSpPr/>
          <p:nvPr/>
        </p:nvSpPr>
        <p:spPr>
          <a:xfrm>
            <a:off x="1533717" y="3767892"/>
            <a:ext cx="2929773" cy="1610646"/>
          </a:xfrm>
          <a:prstGeom prst="ellipse">
            <a:avLst/>
          </a:prstGeom>
          <a:noFill/>
          <a:ln cap="flat" cmpd="sng" w="21850">
            <a:solidFill>
              <a:srgbClr val="00C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41"/>
          <p:cNvSpPr/>
          <p:nvPr/>
        </p:nvSpPr>
        <p:spPr>
          <a:xfrm>
            <a:off x="1868965" y="4380083"/>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41"/>
          <p:cNvSpPr/>
          <p:nvPr/>
        </p:nvSpPr>
        <p:spPr>
          <a:xfrm>
            <a:off x="2145909" y="455499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1"/>
          <p:cNvSpPr/>
          <p:nvPr/>
        </p:nvSpPr>
        <p:spPr>
          <a:xfrm>
            <a:off x="2328108" y="4401947"/>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1"/>
          <p:cNvSpPr/>
          <p:nvPr/>
        </p:nvSpPr>
        <p:spPr>
          <a:xfrm>
            <a:off x="2481156" y="415415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1"/>
          <p:cNvSpPr/>
          <p:nvPr/>
        </p:nvSpPr>
        <p:spPr>
          <a:xfrm>
            <a:off x="2809116" y="4139579"/>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1"/>
          <p:cNvSpPr/>
          <p:nvPr/>
        </p:nvSpPr>
        <p:spPr>
          <a:xfrm>
            <a:off x="2976740" y="393551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1"/>
          <p:cNvSpPr/>
          <p:nvPr/>
        </p:nvSpPr>
        <p:spPr>
          <a:xfrm>
            <a:off x="3282835" y="408127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1"/>
          <p:cNvSpPr/>
          <p:nvPr/>
        </p:nvSpPr>
        <p:spPr>
          <a:xfrm>
            <a:off x="3486899" y="4183307"/>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1"/>
          <p:cNvSpPr/>
          <p:nvPr/>
        </p:nvSpPr>
        <p:spPr>
          <a:xfrm>
            <a:off x="3785707" y="433635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1"/>
          <p:cNvSpPr/>
          <p:nvPr/>
        </p:nvSpPr>
        <p:spPr>
          <a:xfrm>
            <a:off x="4069938" y="4438387"/>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1"/>
          <p:cNvSpPr/>
          <p:nvPr/>
        </p:nvSpPr>
        <p:spPr>
          <a:xfrm>
            <a:off x="3953330" y="4627875"/>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1"/>
          <p:cNvSpPr/>
          <p:nvPr/>
        </p:nvSpPr>
        <p:spPr>
          <a:xfrm>
            <a:off x="3698251" y="4620587"/>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1"/>
          <p:cNvSpPr/>
          <p:nvPr/>
        </p:nvSpPr>
        <p:spPr>
          <a:xfrm>
            <a:off x="3443171" y="4474827"/>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1"/>
          <p:cNvSpPr/>
          <p:nvPr/>
        </p:nvSpPr>
        <p:spPr>
          <a:xfrm>
            <a:off x="3231819" y="4350931"/>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1"/>
          <p:cNvSpPr/>
          <p:nvPr/>
        </p:nvSpPr>
        <p:spPr>
          <a:xfrm>
            <a:off x="3188091" y="4613299"/>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1"/>
          <p:cNvSpPr/>
          <p:nvPr/>
        </p:nvSpPr>
        <p:spPr>
          <a:xfrm>
            <a:off x="2998604" y="4773634"/>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1"/>
          <p:cNvSpPr/>
          <p:nvPr/>
        </p:nvSpPr>
        <p:spPr>
          <a:xfrm>
            <a:off x="3282835" y="4890242"/>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1"/>
          <p:cNvSpPr/>
          <p:nvPr/>
        </p:nvSpPr>
        <p:spPr>
          <a:xfrm>
            <a:off x="3683675" y="4882954"/>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1"/>
          <p:cNvSpPr/>
          <p:nvPr/>
        </p:nvSpPr>
        <p:spPr>
          <a:xfrm>
            <a:off x="2911148" y="4992274"/>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1"/>
          <p:cNvSpPr/>
          <p:nvPr/>
        </p:nvSpPr>
        <p:spPr>
          <a:xfrm>
            <a:off x="2670644" y="5087018"/>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1"/>
          <p:cNvSpPr/>
          <p:nvPr/>
        </p:nvSpPr>
        <p:spPr>
          <a:xfrm>
            <a:off x="2371836" y="4904818"/>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1"/>
          <p:cNvSpPr/>
          <p:nvPr/>
        </p:nvSpPr>
        <p:spPr>
          <a:xfrm>
            <a:off x="2043877" y="4802786"/>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1"/>
          <p:cNvSpPr/>
          <p:nvPr/>
        </p:nvSpPr>
        <p:spPr>
          <a:xfrm>
            <a:off x="1825237" y="4686179"/>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1"/>
          <p:cNvSpPr/>
          <p:nvPr/>
        </p:nvSpPr>
        <p:spPr>
          <a:xfrm>
            <a:off x="2459292" y="4598723"/>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1"/>
          <p:cNvSpPr/>
          <p:nvPr/>
        </p:nvSpPr>
        <p:spPr>
          <a:xfrm>
            <a:off x="2714372" y="4350931"/>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1"/>
          <p:cNvSpPr/>
          <p:nvPr/>
        </p:nvSpPr>
        <p:spPr>
          <a:xfrm>
            <a:off x="2911148" y="4452963"/>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1"/>
          <p:cNvSpPr/>
          <p:nvPr/>
        </p:nvSpPr>
        <p:spPr>
          <a:xfrm>
            <a:off x="2736236" y="4598723"/>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1"/>
          <p:cNvSpPr/>
          <p:nvPr/>
        </p:nvSpPr>
        <p:spPr>
          <a:xfrm>
            <a:off x="2656068" y="4875666"/>
            <a:ext cx="116608" cy="116608"/>
          </a:xfrm>
          <a:prstGeom prst="ellipse">
            <a:avLst/>
          </a:prstGeom>
          <a:solidFill>
            <a:srgbClr val="078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1"/>
          <p:cNvSpPr/>
          <p:nvPr/>
        </p:nvSpPr>
        <p:spPr>
          <a:xfrm>
            <a:off x="280183" y="10093"/>
            <a:ext cx="4998985" cy="8720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282" u="none" cap="none" strike="noStrike">
                <a:solidFill>
                  <a:srgbClr val="111F5B"/>
                </a:solidFill>
              </a:rPr>
              <a:t>One-Class SVM</a:t>
            </a:r>
            <a:endParaRPr b="1">
              <a:solidFill>
                <a:srgbClr val="111F5B"/>
              </a:solidFill>
            </a:endParaRPr>
          </a:p>
        </p:txBody>
      </p:sp>
      <p:sp>
        <p:nvSpPr>
          <p:cNvPr id="1163" name="Google Shape;1163;p41"/>
          <p:cNvSpPr/>
          <p:nvPr/>
        </p:nvSpPr>
        <p:spPr>
          <a:xfrm>
            <a:off x="302047" y="706935"/>
            <a:ext cx="7710118" cy="3950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93" u="none" cap="none" strike="noStrike">
                <a:solidFill>
                  <a:srgbClr val="0707C1"/>
                </a:solidFill>
                <a:latin typeface="Arial"/>
                <a:ea typeface="Arial"/>
                <a:cs typeface="Arial"/>
                <a:sym typeface="Arial"/>
              </a:rPr>
              <a:t>Enfoque one-class • Pruebas iniciales con CSIC 2010</a:t>
            </a:r>
            <a:endParaRPr/>
          </a:p>
        </p:txBody>
      </p:sp>
      <p:sp>
        <p:nvSpPr>
          <p:cNvPr id="1164" name="Google Shape;1164;p41"/>
          <p:cNvSpPr/>
          <p:nvPr/>
        </p:nvSpPr>
        <p:spPr>
          <a:xfrm>
            <a:off x="484247" y="1224067"/>
            <a:ext cx="2601236" cy="55053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70" u="none" cap="none" strike="noStrike">
                <a:solidFill>
                  <a:srgbClr val="06065A"/>
                </a:solidFill>
                <a:latin typeface="Arial Narrow"/>
                <a:ea typeface="Arial Narrow"/>
                <a:cs typeface="Arial Narrow"/>
                <a:sym typeface="Arial Narrow"/>
              </a:rPr>
              <a:t>Cómo funciona</a:t>
            </a:r>
            <a:endParaRPr/>
          </a:p>
        </p:txBody>
      </p:sp>
      <p:sp>
        <p:nvSpPr>
          <p:cNvPr id="1165" name="Google Shape;1165;p41"/>
          <p:cNvSpPr/>
          <p:nvPr/>
        </p:nvSpPr>
        <p:spPr>
          <a:xfrm>
            <a:off x="702886" y="1809851"/>
            <a:ext cx="174335" cy="3947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91" u="none" cap="none" strike="noStrike">
                <a:solidFill>
                  <a:srgbClr val="080A63"/>
                </a:solidFill>
                <a:latin typeface="Arial Narrow"/>
                <a:ea typeface="Arial Narrow"/>
                <a:cs typeface="Arial Narrow"/>
                <a:sym typeface="Arial Narrow"/>
              </a:rPr>
              <a:t>1</a:t>
            </a:r>
            <a:endParaRPr/>
          </a:p>
        </p:txBody>
      </p:sp>
      <p:sp>
        <p:nvSpPr>
          <p:cNvPr id="1166" name="Google Shape;1166;p41"/>
          <p:cNvSpPr/>
          <p:nvPr/>
        </p:nvSpPr>
        <p:spPr>
          <a:xfrm>
            <a:off x="695598" y="2435485"/>
            <a:ext cx="181623" cy="407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471" u="none" cap="none" strike="noStrike">
                <a:solidFill>
                  <a:srgbClr val="050764"/>
                </a:solidFill>
                <a:latin typeface="Arial Narrow"/>
                <a:ea typeface="Arial Narrow"/>
                <a:cs typeface="Arial Narrow"/>
                <a:sym typeface="Arial Narrow"/>
              </a:rPr>
              <a:t>2</a:t>
            </a:r>
            <a:endParaRPr/>
          </a:p>
        </p:txBody>
      </p:sp>
      <p:sp>
        <p:nvSpPr>
          <p:cNvPr id="1167" name="Google Shape;1167;p41"/>
          <p:cNvSpPr/>
          <p:nvPr/>
        </p:nvSpPr>
        <p:spPr>
          <a:xfrm>
            <a:off x="688310" y="3076288"/>
            <a:ext cx="188911" cy="3859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338" u="none" cap="none" strike="noStrike">
                <a:solidFill>
                  <a:srgbClr val="050765"/>
                </a:solidFill>
                <a:latin typeface="Quattrocento Sans"/>
                <a:ea typeface="Quattrocento Sans"/>
                <a:cs typeface="Quattrocento Sans"/>
                <a:sym typeface="Quattrocento Sans"/>
              </a:rPr>
              <a:t>3</a:t>
            </a:r>
            <a:endParaRPr/>
          </a:p>
        </p:txBody>
      </p:sp>
      <p:sp>
        <p:nvSpPr>
          <p:cNvPr id="1168" name="Google Shape;1168;p41"/>
          <p:cNvSpPr/>
          <p:nvPr/>
        </p:nvSpPr>
        <p:spPr>
          <a:xfrm>
            <a:off x="1271350" y="1726177"/>
            <a:ext cx="2083789" cy="3398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21" u="none" cap="none" strike="noStrike">
                <a:solidFill>
                  <a:srgbClr val="0809F6"/>
                </a:solidFill>
                <a:latin typeface="Arial Narrow"/>
                <a:ea typeface="Arial Narrow"/>
                <a:cs typeface="Arial Narrow"/>
                <a:sym typeface="Arial Narrow"/>
              </a:rPr>
              <a:t>Aprende a reconocer</a:t>
            </a:r>
            <a:endParaRPr/>
          </a:p>
        </p:txBody>
      </p:sp>
      <p:sp>
        <p:nvSpPr>
          <p:cNvPr id="1169" name="Google Shape;1169;p41"/>
          <p:cNvSpPr/>
          <p:nvPr/>
        </p:nvSpPr>
        <p:spPr>
          <a:xfrm>
            <a:off x="1293214" y="2006175"/>
            <a:ext cx="2047349" cy="320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64" u="none" cap="none" strike="noStrike">
                <a:solidFill>
                  <a:srgbClr val="0A0CF7"/>
                </a:solidFill>
                <a:latin typeface="Arial Narrow"/>
                <a:ea typeface="Arial Narrow"/>
                <a:cs typeface="Arial Narrow"/>
                <a:sym typeface="Arial Narrow"/>
              </a:rPr>
              <a:t>peticiones normales.</a:t>
            </a:r>
            <a:endParaRPr/>
          </a:p>
        </p:txBody>
      </p:sp>
      <p:sp>
        <p:nvSpPr>
          <p:cNvPr id="1170" name="Google Shape;1170;p41"/>
          <p:cNvSpPr/>
          <p:nvPr/>
        </p:nvSpPr>
        <p:spPr>
          <a:xfrm>
            <a:off x="1278638" y="2361199"/>
            <a:ext cx="2302428" cy="3366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44" u="none" cap="none" strike="noStrike">
                <a:solidFill>
                  <a:srgbClr val="070AF7"/>
                </a:solidFill>
                <a:latin typeface="Arial Narrow"/>
                <a:ea typeface="Arial Narrow"/>
                <a:cs typeface="Arial Narrow"/>
                <a:sym typeface="Arial Narrow"/>
              </a:rPr>
              <a:t>Traza un límite a partir</a:t>
            </a:r>
            <a:endParaRPr/>
          </a:p>
        </p:txBody>
      </p:sp>
      <p:sp>
        <p:nvSpPr>
          <p:cNvPr id="1171" name="Google Shape;1171;p41"/>
          <p:cNvSpPr/>
          <p:nvPr/>
        </p:nvSpPr>
        <p:spPr>
          <a:xfrm>
            <a:off x="1285926" y="2610219"/>
            <a:ext cx="2236836" cy="3374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04" u="none" cap="none" strike="noStrike">
                <a:solidFill>
                  <a:srgbClr val="0607F8"/>
                </a:solidFill>
                <a:latin typeface="Arial Narrow"/>
                <a:ea typeface="Arial Narrow"/>
                <a:cs typeface="Arial Narrow"/>
                <a:sym typeface="Arial Narrow"/>
              </a:rPr>
              <a:t>de sus características.</a:t>
            </a:r>
            <a:endParaRPr/>
          </a:p>
        </p:txBody>
      </p:sp>
      <p:sp>
        <p:nvSpPr>
          <p:cNvPr id="1172" name="Google Shape;1172;p41"/>
          <p:cNvSpPr/>
          <p:nvPr/>
        </p:nvSpPr>
        <p:spPr>
          <a:xfrm>
            <a:off x="1293214" y="2968021"/>
            <a:ext cx="2295140" cy="3541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25" u="none" cap="none" strike="noStrike">
                <a:solidFill>
                  <a:srgbClr val="0708F8"/>
                </a:solidFill>
                <a:latin typeface="Arial Narrow"/>
                <a:ea typeface="Arial Narrow"/>
                <a:cs typeface="Arial Narrow"/>
                <a:sym typeface="Arial Narrow"/>
              </a:rPr>
              <a:t>Marca como anómalas</a:t>
            </a:r>
            <a:endParaRPr/>
          </a:p>
        </p:txBody>
      </p:sp>
      <p:sp>
        <p:nvSpPr>
          <p:cNvPr id="1173" name="Google Shape;1173;p41"/>
          <p:cNvSpPr/>
          <p:nvPr/>
        </p:nvSpPr>
        <p:spPr>
          <a:xfrm>
            <a:off x="1293214" y="3274145"/>
            <a:ext cx="2178532" cy="3303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06" u="none" cap="none" strike="noStrike">
                <a:solidFill>
                  <a:srgbClr val="0507F8"/>
                </a:solidFill>
                <a:latin typeface="Arial Narrow"/>
                <a:ea typeface="Arial Narrow"/>
                <a:cs typeface="Arial Narrow"/>
                <a:sym typeface="Arial Narrow"/>
              </a:rPr>
              <a:t>las que quedan fuera.</a:t>
            </a:r>
            <a:endParaRPr/>
          </a:p>
        </p:txBody>
      </p:sp>
      <p:sp>
        <p:nvSpPr>
          <p:cNvPr id="1174" name="Google Shape;1174;p41"/>
          <p:cNvSpPr/>
          <p:nvPr/>
        </p:nvSpPr>
        <p:spPr>
          <a:xfrm>
            <a:off x="4252138" y="3622533"/>
            <a:ext cx="1493461" cy="2876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65" u="none" cap="none" strike="noStrike">
                <a:solidFill>
                  <a:srgbClr val="058F79"/>
                </a:solidFill>
                <a:latin typeface="Arial Narrow"/>
                <a:ea typeface="Arial Narrow"/>
                <a:cs typeface="Arial Narrow"/>
                <a:sym typeface="Arial Narrow"/>
              </a:rPr>
              <a:t>Límite aprendido</a:t>
            </a:r>
            <a:endParaRPr/>
          </a:p>
        </p:txBody>
      </p:sp>
      <p:sp>
        <p:nvSpPr>
          <p:cNvPr id="1175" name="Google Shape;1175;p41"/>
          <p:cNvSpPr/>
          <p:nvPr/>
        </p:nvSpPr>
        <p:spPr>
          <a:xfrm>
            <a:off x="6482264" y="1265723"/>
            <a:ext cx="4321202" cy="52411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175" u="none" cap="none" strike="noStrike">
                <a:solidFill>
                  <a:srgbClr val="05065A"/>
                </a:solidFill>
                <a:latin typeface="Arial Narrow"/>
                <a:ea typeface="Arial Narrow"/>
                <a:cs typeface="Arial Narrow"/>
                <a:sym typeface="Arial Narrow"/>
              </a:rPr>
              <a:t>Configuraciones probadas</a:t>
            </a:r>
            <a:endParaRPr/>
          </a:p>
        </p:txBody>
      </p:sp>
      <p:sp>
        <p:nvSpPr>
          <p:cNvPr id="1176" name="Google Shape;1176;p41"/>
          <p:cNvSpPr/>
          <p:nvPr/>
        </p:nvSpPr>
        <p:spPr>
          <a:xfrm>
            <a:off x="7393262" y="1879360"/>
            <a:ext cx="4080698" cy="3583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18" u="none" cap="none" strike="noStrike">
                <a:solidFill>
                  <a:srgbClr val="0608F5"/>
                </a:solidFill>
                <a:latin typeface="Arial Narrow"/>
                <a:ea typeface="Arial Narrow"/>
                <a:cs typeface="Arial Narrow"/>
                <a:sym typeface="Arial Narrow"/>
              </a:rPr>
              <a:t>Entrenamiento con peticiones normales.</a:t>
            </a:r>
            <a:endParaRPr/>
          </a:p>
        </p:txBody>
      </p:sp>
      <p:sp>
        <p:nvSpPr>
          <p:cNvPr id="1177" name="Google Shape;1177;p41"/>
          <p:cNvSpPr/>
          <p:nvPr/>
        </p:nvSpPr>
        <p:spPr>
          <a:xfrm>
            <a:off x="7385974" y="2502468"/>
            <a:ext cx="3300883" cy="3370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66" u="none" cap="none" strike="noStrike">
                <a:solidFill>
                  <a:srgbClr val="070AF6"/>
                </a:solidFill>
                <a:latin typeface="Arial Narrow"/>
                <a:ea typeface="Arial Narrow"/>
                <a:cs typeface="Arial Narrow"/>
                <a:sym typeface="Arial Narrow"/>
              </a:rPr>
              <a:t>gamma = 0,1 en los tres ajustes.</a:t>
            </a:r>
            <a:endParaRPr/>
          </a:p>
        </p:txBody>
      </p:sp>
      <p:sp>
        <p:nvSpPr>
          <p:cNvPr id="1178" name="Google Shape;1178;p41"/>
          <p:cNvSpPr/>
          <p:nvPr/>
        </p:nvSpPr>
        <p:spPr>
          <a:xfrm>
            <a:off x="7385974" y="3082843"/>
            <a:ext cx="4364930" cy="35521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12" u="none" cap="none" strike="noStrike">
                <a:solidFill>
                  <a:srgbClr val="0608F5"/>
                </a:solidFill>
                <a:latin typeface="Arial Narrow"/>
                <a:ea typeface="Arial Narrow"/>
                <a:cs typeface="Arial Narrow"/>
                <a:sym typeface="Arial Narrow"/>
              </a:rPr>
              <a:t>nu regula cuántos ejemplos pueden quedar</a:t>
            </a:r>
            <a:endParaRPr/>
          </a:p>
        </p:txBody>
      </p:sp>
      <p:sp>
        <p:nvSpPr>
          <p:cNvPr id="1179" name="Google Shape;1179;p41"/>
          <p:cNvSpPr/>
          <p:nvPr/>
        </p:nvSpPr>
        <p:spPr>
          <a:xfrm>
            <a:off x="7385974" y="3348712"/>
            <a:ext cx="4168154" cy="3580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83" u="none" cap="none" strike="noStrike">
                <a:solidFill>
                  <a:srgbClr val="0608F6"/>
                </a:solidFill>
                <a:latin typeface="Arial Narrow"/>
                <a:ea typeface="Arial Narrow"/>
                <a:cs typeface="Arial Narrow"/>
                <a:sym typeface="Arial Narrow"/>
              </a:rPr>
              <a:t>fuera del límite durante el entrenamiento.</a:t>
            </a:r>
            <a:endParaRPr/>
          </a:p>
        </p:txBody>
      </p:sp>
      <p:sp>
        <p:nvSpPr>
          <p:cNvPr id="1180" name="Google Shape;1180;p41"/>
          <p:cNvSpPr/>
          <p:nvPr/>
        </p:nvSpPr>
        <p:spPr>
          <a:xfrm>
            <a:off x="7181911" y="4059411"/>
            <a:ext cx="3847483" cy="4347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633" u="none" cap="none" strike="noStrike">
                <a:solidFill>
                  <a:srgbClr val="050659"/>
                </a:solidFill>
                <a:latin typeface="Arial"/>
                <a:ea typeface="Arial"/>
                <a:cs typeface="Arial"/>
                <a:sym typeface="Arial"/>
              </a:rPr>
              <a:t>Valores de nu probados</a:t>
            </a:r>
            <a:endParaRPr/>
          </a:p>
        </p:txBody>
      </p:sp>
      <p:sp>
        <p:nvSpPr>
          <p:cNvPr id="1181" name="Google Shape;1181;p41"/>
          <p:cNvSpPr/>
          <p:nvPr/>
        </p:nvSpPr>
        <p:spPr>
          <a:xfrm>
            <a:off x="790342" y="3825417"/>
            <a:ext cx="844830" cy="2725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040BF8"/>
                </a:solidFill>
                <a:latin typeface="Arial Narrow"/>
                <a:ea typeface="Arial Narrow"/>
                <a:cs typeface="Arial Narrow"/>
                <a:sym typeface="Arial Narrow"/>
              </a:rPr>
              <a:t>Peticiones</a:t>
            </a:r>
            <a:endParaRPr/>
          </a:p>
        </p:txBody>
      </p:sp>
      <p:sp>
        <p:nvSpPr>
          <p:cNvPr id="1182" name="Google Shape;1182;p41"/>
          <p:cNvSpPr/>
          <p:nvPr/>
        </p:nvSpPr>
        <p:spPr>
          <a:xfrm>
            <a:off x="812206" y="4028402"/>
            <a:ext cx="771950" cy="2855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4" u="none" cap="none" strike="noStrike">
                <a:solidFill>
                  <a:srgbClr val="0612F7"/>
                </a:solidFill>
                <a:latin typeface="Arial Narrow"/>
                <a:ea typeface="Arial Narrow"/>
                <a:cs typeface="Arial Narrow"/>
                <a:sym typeface="Arial Narrow"/>
              </a:rPr>
              <a:t>normales</a:t>
            </a:r>
            <a:endParaRPr/>
          </a:p>
        </p:txBody>
      </p:sp>
      <p:sp>
        <p:nvSpPr>
          <p:cNvPr id="1183" name="Google Shape;1183;p41"/>
          <p:cNvSpPr/>
          <p:nvPr/>
        </p:nvSpPr>
        <p:spPr>
          <a:xfrm>
            <a:off x="382215" y="5366180"/>
            <a:ext cx="1245670" cy="2059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98" u="none" cap="none" strike="noStrike">
                <a:solidFill>
                  <a:srgbClr val="054ACE"/>
                </a:solidFill>
                <a:latin typeface="Arial Narrow"/>
                <a:ea typeface="Arial Narrow"/>
                <a:cs typeface="Arial Narrow"/>
                <a:sym typeface="Arial Narrow"/>
              </a:rPr>
              <a:t>Esquema ilustrativo.</a:t>
            </a:r>
            <a:endParaRPr/>
          </a:p>
        </p:txBody>
      </p:sp>
      <p:sp>
        <p:nvSpPr>
          <p:cNvPr id="1184" name="Google Shape;1184;p41"/>
          <p:cNvSpPr/>
          <p:nvPr/>
        </p:nvSpPr>
        <p:spPr>
          <a:xfrm>
            <a:off x="6985135" y="4764699"/>
            <a:ext cx="626190" cy="4222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557" u="none" cap="none" strike="noStrike">
                <a:solidFill>
                  <a:srgbClr val="07086A"/>
                </a:solidFill>
                <a:latin typeface="Quattrocento Sans"/>
                <a:ea typeface="Quattrocento Sans"/>
                <a:cs typeface="Quattrocento Sans"/>
                <a:sym typeface="Quattrocento Sans"/>
              </a:rPr>
              <a:t>0,01</a:t>
            </a:r>
            <a:endParaRPr/>
          </a:p>
        </p:txBody>
      </p:sp>
      <p:sp>
        <p:nvSpPr>
          <p:cNvPr id="1185" name="Google Shape;1185;p41"/>
          <p:cNvSpPr/>
          <p:nvPr/>
        </p:nvSpPr>
        <p:spPr>
          <a:xfrm>
            <a:off x="8792548" y="4763125"/>
            <a:ext cx="844800" cy="42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589" u="none" cap="none" strike="noStrike">
                <a:solidFill>
                  <a:srgbClr val="06076C"/>
                </a:solidFill>
                <a:latin typeface="Quattrocento Sans"/>
                <a:ea typeface="Quattrocento Sans"/>
                <a:cs typeface="Quattrocento Sans"/>
                <a:sym typeface="Quattrocento Sans"/>
              </a:rPr>
              <a:t>0,0</a:t>
            </a:r>
            <a:r>
              <a:rPr lang="en-US" sz="2589">
                <a:solidFill>
                  <a:srgbClr val="06076C"/>
                </a:solidFill>
                <a:latin typeface="Quattrocento Sans"/>
                <a:ea typeface="Quattrocento Sans"/>
                <a:cs typeface="Quattrocento Sans"/>
                <a:sym typeface="Quattrocento Sans"/>
              </a:rPr>
              <a:t>5</a:t>
            </a:r>
            <a:endParaRPr/>
          </a:p>
        </p:txBody>
      </p:sp>
      <p:sp>
        <p:nvSpPr>
          <p:cNvPr id="1186" name="Google Shape;1186;p41"/>
          <p:cNvSpPr/>
          <p:nvPr/>
        </p:nvSpPr>
        <p:spPr>
          <a:xfrm>
            <a:off x="10614555" y="4766030"/>
            <a:ext cx="633478" cy="4273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589" u="none" cap="none" strike="noStrike">
                <a:solidFill>
                  <a:srgbClr val="05066A"/>
                </a:solidFill>
                <a:latin typeface="Quattrocento Sans"/>
                <a:ea typeface="Quattrocento Sans"/>
                <a:cs typeface="Quattrocento Sans"/>
                <a:sym typeface="Quattrocento Sans"/>
              </a:rPr>
              <a:t>0,10</a:t>
            </a:r>
            <a:endParaRPr/>
          </a:p>
        </p:txBody>
      </p:sp>
      <p:sp>
        <p:nvSpPr>
          <p:cNvPr id="1187" name="Google Shape;1187;p41"/>
          <p:cNvSpPr/>
          <p:nvPr/>
        </p:nvSpPr>
        <p:spPr>
          <a:xfrm>
            <a:off x="1081862" y="5859576"/>
            <a:ext cx="6434720" cy="393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81" u="none" cap="none" strike="noStrike">
                <a:solidFill>
                  <a:srgbClr val="0606DA"/>
                </a:solidFill>
                <a:latin typeface="Arial Narrow"/>
                <a:ea typeface="Arial Narrow"/>
                <a:cs typeface="Arial Narrow"/>
                <a:sym typeface="Arial Narrow"/>
              </a:rPr>
              <a:t>Configuración de referencia: nu = 0,05 • gamma = 0,1.</a:t>
            </a:r>
            <a:endParaRPr/>
          </a:p>
        </p:txBody>
      </p:sp>
      <p:sp>
        <p:nvSpPr>
          <p:cNvPr id="1188" name="Google Shape;1188;p41"/>
          <p:cNvSpPr/>
          <p:nvPr/>
        </p:nvSpPr>
        <p:spPr>
          <a:xfrm>
            <a:off x="251031" y="6376993"/>
            <a:ext cx="7593510" cy="2076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35" u="none" cap="none" strike="noStrike">
                <a:solidFill>
                  <a:srgbClr val="252594"/>
                </a:solidFill>
                <a:latin typeface="Arial Narrow"/>
                <a:ea typeface="Arial Narrow"/>
                <a:cs typeface="Arial Narrow"/>
                <a:sym typeface="Arial Narrow"/>
              </a:rPr>
              <a:t>* Scikit-learn developers. (s. f.). OneClassSVM. https://scikit-learn.org/stable/modules/generated/sklearn.svm.</a:t>
            </a:r>
            <a:r>
              <a:rPr lang="en-US" sz="1235">
                <a:solidFill>
                  <a:srgbClr val="252594"/>
                </a:solidFill>
                <a:latin typeface="Arial Narrow"/>
                <a:ea typeface="Arial Narrow"/>
                <a:cs typeface="Arial Narrow"/>
                <a:sym typeface="Arial Narrow"/>
              </a:rPr>
              <a:t>OneClassSVM</a:t>
            </a:r>
            <a:r>
              <a:rPr b="0" i="0" lang="en-US" sz="1235" u="none" cap="none" strike="noStrike">
                <a:solidFill>
                  <a:srgbClr val="252594"/>
                </a:solidFill>
                <a:latin typeface="Arial Narrow"/>
                <a:ea typeface="Arial Narrow"/>
                <a:cs typeface="Arial Narrow"/>
                <a:sym typeface="Arial Narrow"/>
              </a:rPr>
              <a:t>.html</a:t>
            </a:r>
            <a:endParaRPr/>
          </a:p>
        </p:txBody>
      </p:sp>
      <p:sp>
        <p:nvSpPr>
          <p:cNvPr id="1189" name="Google Shape;1189;p41"/>
          <p:cNvSpPr/>
          <p:nvPr/>
        </p:nvSpPr>
        <p:spPr>
          <a:xfrm>
            <a:off x="5046529" y="4897530"/>
            <a:ext cx="888558" cy="2693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CC1018"/>
                </a:solidFill>
                <a:latin typeface="Arial Narrow"/>
                <a:ea typeface="Arial Narrow"/>
                <a:cs typeface="Arial Narrow"/>
                <a:sym typeface="Arial Narrow"/>
              </a:rPr>
              <a:t>Anomalía</a:t>
            </a:r>
            <a:endParaRPr/>
          </a:p>
        </p:txBody>
      </p:sp>
      <p:sp>
        <p:nvSpPr>
          <p:cNvPr id="1190" name="Google Shape;1190;p41"/>
          <p:cNvSpPr/>
          <p:nvPr/>
        </p:nvSpPr>
        <p:spPr>
          <a:xfrm>
            <a:off x="2138621" y="3709588"/>
            <a:ext cx="116608" cy="116608"/>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1"/>
          <p:cNvSpPr/>
          <p:nvPr/>
        </p:nvSpPr>
        <p:spPr>
          <a:xfrm>
            <a:off x="1213046" y="4955834"/>
            <a:ext cx="116608" cy="116608"/>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41"/>
          <p:cNvSpPr/>
          <p:nvPr/>
        </p:nvSpPr>
        <p:spPr>
          <a:xfrm>
            <a:off x="3960618" y="5349386"/>
            <a:ext cx="116608" cy="116608"/>
          </a:xfrm>
          <a:prstGeom prst="ellipse">
            <a:avLst/>
          </a:prstGeom>
          <a:solidFill>
            <a:srgbClr val="FF36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94" name="Google Shape;1194;p41" title="DEFENSA_SEGURA_V2:barra-3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95" name="Google Shape;1195;p41" title="DEFENSA_SEGURA_V2:avance-31"/>
          <p:cNvSpPr/>
          <p:nvPr/>
        </p:nvSpPr>
        <p:spPr>
          <a:xfrm>
            <a:off x="0" y="0"/>
            <a:ext cx="8534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96" name="Google Shape;1196;p41" title="DEFENSA_SEGURA_V2:seccion-3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1" name="Shape 1201"/>
        <p:cNvGrpSpPr/>
        <p:nvPr/>
      </p:nvGrpSpPr>
      <p:grpSpPr>
        <a:xfrm>
          <a:off x="0" y="0"/>
          <a:ext cx="0" cy="0"/>
          <a:chOff x="0" y="0"/>
          <a:chExt cx="0" cy="0"/>
        </a:xfrm>
      </p:grpSpPr>
      <p:sp>
        <p:nvSpPr>
          <p:cNvPr id="1202" name="Google Shape;1202;p42"/>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Normalidad y one-class: método</a:t>
            </a:r>
            <a:endParaRPr b="1" sz="3600">
              <a:solidFill>
                <a:srgbClr val="111F5B"/>
              </a:solidFill>
            </a:endParaRPr>
          </a:p>
        </p:txBody>
      </p:sp>
      <p:sp>
        <p:nvSpPr>
          <p:cNvPr id="1203" name="Google Shape;1203;p42"/>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Datos, organización del modelo, características y forma de aprendizaje.</a:t>
            </a:r>
            <a:endParaRPr sz="1800">
              <a:solidFill>
                <a:srgbClr val="070F64"/>
              </a:solidFill>
            </a:endParaRPr>
          </a:p>
        </p:txBody>
      </p:sp>
      <p:graphicFrame>
        <p:nvGraphicFramePr>
          <p:cNvPr id="1204" name="Google Shape;1204;p42"/>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1905000"/>
                <a:gridCol w="2032000"/>
                <a:gridCol w="2476500"/>
                <a:gridCol w="3111500"/>
                <a:gridCol w="2095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Modelo / alcance</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Características y selección</a:t>
                      </a:r>
                      <a:endParaRPr b="1" sz="1700" u="none" cap="none">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Aprendizaje</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Kruegel y Vigna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(2003)</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Logs: Google,</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UCSB y TU Vienna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6 modelos estadísticos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Por programa/ruta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6 modelos manuales: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longitud, caracteres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y parámetros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Aprende normalidad</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con 1.000 consultas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por programa</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Epp, Funk y Cappo</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(2017)</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TorpEda 2012</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One-Class SVM</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Por URL + método</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10 × (1+n) variables: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longitud, caracteres,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entropía (diseño manual)</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One-class: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entrena solo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con normales</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Riverol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(2024)</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Drupal y SR-BH;</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ataques externos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para selección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One-Class SVM</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Por aplicación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100 tokens: frecuencias.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Selección por información</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mutua (MI; automática)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MI usa etiquetas;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OCSVM se ajusta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solo con normales</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OCSVM</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CSIC 2010</a:t>
                      </a:r>
                      <a:endParaRPr b="1" sz="1600" u="none" cap="none">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One-Class SVM</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Global: varias URL</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57 variables manuales: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longitud, caracteres,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entropía y parámetros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One-class: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ajuste con</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tráfico normal</a:t>
                      </a:r>
                      <a:endParaRPr b="1" sz="1600">
                        <a:solidFill>
                          <a:srgbClr val="070F64"/>
                        </a:solidFill>
                      </a:endParaRPr>
                    </a:p>
                  </a:txBody>
                  <a:tcPr marT="76200" marB="76200" marR="114300" marL="114300" anchor="ctr">
                    <a:solidFill>
                      <a:srgbClr val="F6FBFD"/>
                    </a:solidFill>
                  </a:tcPr>
                </a:tc>
              </a:tr>
            </a:tbl>
          </a:graphicData>
        </a:graphic>
      </p:graphicFrame>
      <p:sp>
        <p:nvSpPr>
          <p:cNvPr id="1205" name="Google Shape;1205;p42"/>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n = cantidad de parámetros. Diseño manual de variables y selección automática son decisiones distintas.</a:t>
            </a:r>
            <a:endParaRPr b="1" sz="1700">
              <a:solidFill>
                <a:srgbClr val="070F64"/>
              </a:solidFill>
            </a:endParaRPr>
          </a:p>
        </p:txBody>
      </p:sp>
      <p:sp>
        <p:nvSpPr>
          <p:cNvPr id="1206" name="Google Shape;1206;p42"/>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Fuentes: Kruegel (2003), Epp (2017), Riverol (2024), tesis §8.1. Edición Epp 2018: véanse notas.</a:t>
            </a:r>
            <a:endParaRPr sz="1000">
              <a:solidFill>
                <a:srgbClr val="070F64"/>
              </a:solidFill>
            </a:endParaRPr>
          </a:p>
        </p:txBody>
      </p:sp>
      <p:sp>
        <p:nvSpPr>
          <p:cNvPr id="1207" name="Google Shape;1207;p4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208" name="Google Shape;1208;p42"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09" name="Google Shape;1209;p42"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10" name="Google Shape;1210;p42"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TRABAJOS RELACIONADOS</a:t>
            </a:r>
            <a:endParaRPr b="1" sz="650">
              <a:solidFill>
                <a:srgbClr val="647184"/>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4" name="Shape 1214"/>
        <p:cNvGrpSpPr/>
        <p:nvPr/>
      </p:nvGrpSpPr>
      <p:grpSpPr>
        <a:xfrm>
          <a:off x="0" y="0"/>
          <a:ext cx="0" cy="0"/>
          <a:chOff x="0" y="0"/>
          <a:chExt cx="0" cy="0"/>
        </a:xfrm>
      </p:grpSpPr>
      <p:sp>
        <p:nvSpPr>
          <p:cNvPr id="1215" name="Google Shape;1215;p43"/>
          <p:cNvSpPr/>
          <p:nvPr/>
        </p:nvSpPr>
        <p:spPr>
          <a:xfrm>
            <a:off x="236455" y="5568026"/>
            <a:ext cx="11689938" cy="495583"/>
          </a:xfrm>
          <a:prstGeom prst="roundRect">
            <a:avLst>
              <a:gd fmla="val 11765" name="adj"/>
            </a:avLst>
          </a:prstGeom>
          <a:solidFill>
            <a:srgbClr val="DB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43"/>
          <p:cNvSpPr/>
          <p:nvPr/>
        </p:nvSpPr>
        <p:spPr>
          <a:xfrm>
            <a:off x="265607" y="5101594"/>
            <a:ext cx="11660786" cy="437279"/>
          </a:xfrm>
          <a:prstGeom prst="roundRect">
            <a:avLst>
              <a:gd fmla="val 13333" name="adj"/>
            </a:avLst>
          </a:prstGeom>
          <a:solidFill>
            <a:srgbClr val="DC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17" name="Google Shape;1217;p43"/>
          <p:cNvPicPr preferRelativeResize="0"/>
          <p:nvPr/>
        </p:nvPicPr>
        <p:blipFill rotWithShape="1">
          <a:blip r:embed="rId3">
            <a:alphaModFix/>
          </a:blip>
          <a:srcRect b="0" l="0" r="0" t="0"/>
          <a:stretch/>
        </p:blipFill>
        <p:spPr>
          <a:xfrm>
            <a:off x="542550" y="5116170"/>
            <a:ext cx="437279" cy="408128"/>
          </a:xfrm>
          <a:prstGeom prst="rect">
            <a:avLst/>
          </a:prstGeom>
          <a:noFill/>
          <a:ln>
            <a:noFill/>
          </a:ln>
        </p:spPr>
      </p:pic>
      <p:pic>
        <p:nvPicPr>
          <p:cNvPr id="1218" name="Google Shape;1218;p43"/>
          <p:cNvPicPr preferRelativeResize="0"/>
          <p:nvPr/>
        </p:nvPicPr>
        <p:blipFill rotWithShape="1">
          <a:blip r:embed="rId4">
            <a:alphaModFix/>
          </a:blip>
          <a:srcRect b="0" l="0" r="0" t="0"/>
          <a:stretch/>
        </p:blipFill>
        <p:spPr>
          <a:xfrm>
            <a:off x="1242198" y="5116170"/>
            <a:ext cx="145760" cy="408128"/>
          </a:xfrm>
          <a:prstGeom prst="rect">
            <a:avLst/>
          </a:prstGeom>
          <a:noFill/>
          <a:ln>
            <a:noFill/>
          </a:ln>
        </p:spPr>
      </p:pic>
      <p:pic>
        <p:nvPicPr>
          <p:cNvPr id="1219" name="Google Shape;1219;p43"/>
          <p:cNvPicPr preferRelativeResize="0"/>
          <p:nvPr/>
        </p:nvPicPr>
        <p:blipFill rotWithShape="1">
          <a:blip r:embed="rId5">
            <a:alphaModFix/>
          </a:blip>
          <a:srcRect b="0" l="0" r="0" t="0"/>
          <a:stretch/>
        </p:blipFill>
        <p:spPr>
          <a:xfrm>
            <a:off x="542550" y="5582601"/>
            <a:ext cx="408128" cy="466431"/>
          </a:xfrm>
          <a:prstGeom prst="rect">
            <a:avLst/>
          </a:prstGeom>
          <a:noFill/>
          <a:ln>
            <a:noFill/>
          </a:ln>
        </p:spPr>
      </p:pic>
      <p:pic>
        <p:nvPicPr>
          <p:cNvPr id="1220" name="Google Shape;1220;p43"/>
          <p:cNvPicPr preferRelativeResize="0"/>
          <p:nvPr/>
        </p:nvPicPr>
        <p:blipFill rotWithShape="1">
          <a:blip r:embed="rId6">
            <a:alphaModFix/>
          </a:blip>
          <a:srcRect b="0" l="0" r="0" t="0"/>
          <a:stretch/>
        </p:blipFill>
        <p:spPr>
          <a:xfrm>
            <a:off x="1242198" y="5611753"/>
            <a:ext cx="145760" cy="408128"/>
          </a:xfrm>
          <a:prstGeom prst="rect">
            <a:avLst/>
          </a:prstGeom>
          <a:noFill/>
          <a:ln>
            <a:noFill/>
          </a:ln>
        </p:spPr>
      </p:pic>
      <p:sp>
        <p:nvSpPr>
          <p:cNvPr id="1221" name="Google Shape;1221;p43"/>
          <p:cNvSpPr/>
          <p:nvPr/>
        </p:nvSpPr>
        <p:spPr>
          <a:xfrm>
            <a:off x="302047" y="116608"/>
            <a:ext cx="9969395" cy="7972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829" u="none" cap="none" strike="noStrike">
                <a:solidFill>
                  <a:srgbClr val="111F5B"/>
                </a:solidFill>
              </a:rPr>
              <a:t>Resultados del enfoque one-class</a:t>
            </a:r>
            <a:endParaRPr b="1">
              <a:solidFill>
                <a:srgbClr val="111F5B"/>
              </a:solidFill>
            </a:endParaRPr>
          </a:p>
        </p:txBody>
      </p:sp>
      <p:sp>
        <p:nvSpPr>
          <p:cNvPr id="1222" name="Google Shape;1222;p43"/>
          <p:cNvSpPr/>
          <p:nvPr/>
        </p:nvSpPr>
        <p:spPr>
          <a:xfrm>
            <a:off x="294759" y="750663"/>
            <a:ext cx="9386356" cy="4965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007" u="none" cap="none" strike="noStrike">
                <a:solidFill>
                  <a:srgbClr val="040D57"/>
                </a:solidFill>
                <a:latin typeface="Arial"/>
                <a:ea typeface="Arial"/>
                <a:cs typeface="Arial"/>
                <a:sym typeface="Arial"/>
              </a:rPr>
              <a:t>CSIC 2010 • Configuración y características usadas</a:t>
            </a:r>
            <a:endParaRPr/>
          </a:p>
        </p:txBody>
      </p:sp>
      <p:sp>
        <p:nvSpPr>
          <p:cNvPr id="1223" name="Google Shape;1223;p43"/>
          <p:cNvSpPr/>
          <p:nvPr/>
        </p:nvSpPr>
        <p:spPr>
          <a:xfrm>
            <a:off x="1635749" y="5199004"/>
            <a:ext cx="7899606" cy="346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34" u="none" cap="none" strike="noStrike">
                <a:solidFill>
                  <a:srgbClr val="060B5A"/>
                </a:solidFill>
                <a:latin typeface="Arial Narrow"/>
                <a:ea typeface="Arial Narrow"/>
                <a:cs typeface="Arial Narrow"/>
                <a:sym typeface="Arial Narrow"/>
              </a:rPr>
              <a:t>En los tres ajustes de nu se mantuvieron las características y gamma = 0,1.</a:t>
            </a:r>
            <a:endParaRPr/>
          </a:p>
        </p:txBody>
      </p:sp>
      <p:sp>
        <p:nvSpPr>
          <p:cNvPr id="1224" name="Google Shape;1224;p43"/>
          <p:cNvSpPr/>
          <p:nvPr/>
        </p:nvSpPr>
        <p:spPr>
          <a:xfrm>
            <a:off x="1635749" y="5716884"/>
            <a:ext cx="9583132" cy="3452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14" u="none" cap="none" strike="noStrike">
                <a:solidFill>
                  <a:srgbClr val="070B5A"/>
                </a:solidFill>
                <a:latin typeface="Arial Narrow"/>
                <a:ea typeface="Arial Narrow"/>
                <a:cs typeface="Arial Narrow"/>
                <a:sym typeface="Arial Narrow"/>
              </a:rPr>
              <a:t>En registro.jsp se añadieron medidas de entropía y composición: de 26 a 34 características.</a:t>
            </a:r>
            <a:endParaRPr/>
          </a:p>
        </p:txBody>
      </p:sp>
      <p:sp>
        <p:nvSpPr>
          <p:cNvPr id="1225" name="Google Shape;1225;p43"/>
          <p:cNvSpPr/>
          <p:nvPr/>
        </p:nvSpPr>
        <p:spPr>
          <a:xfrm>
            <a:off x="272895" y="6125293"/>
            <a:ext cx="6740815" cy="2116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1" u="none" cap="none" strike="noStrike">
                <a:solidFill>
                  <a:srgbClr val="16269E"/>
                </a:solidFill>
                <a:latin typeface="Arial Narrow"/>
                <a:ea typeface="Arial Narrow"/>
                <a:cs typeface="Arial Narrow"/>
                <a:sym typeface="Arial Narrow"/>
              </a:rPr>
              <a:t>≈ significa aproximadamente. Global: peticiones a distintas páginas; registro.jsp: solo peticiones a esa página.</a:t>
            </a:r>
            <a:endParaRPr/>
          </a:p>
        </p:txBody>
      </p:sp>
      <p:sp>
        <p:nvSpPr>
          <p:cNvPr id="1226" name="Google Shape;1226;p43"/>
          <p:cNvSpPr/>
          <p:nvPr/>
        </p:nvSpPr>
        <p:spPr>
          <a:xfrm>
            <a:off x="279400" y="6248400"/>
            <a:ext cx="112395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500" u="sng">
                <a:solidFill>
                  <a:schemeClr val="hlink"/>
                </a:solidFill>
                <a:latin typeface="Arial Narrow"/>
                <a:ea typeface="Arial Narrow"/>
                <a:cs typeface="Arial Narrow"/>
                <a:sym typeface="Arial Narrow"/>
                <a:hlinkClick action="ppaction://hlinksldjump" r:id="rId7"/>
              </a:rPr>
              <a:t>IF de 25 variables: 457,39 vectores/s por lotes. Características ya calculadas. Ver anexo.</a:t>
            </a:r>
            <a:endParaRPr sz="1500">
              <a:solidFill>
                <a:srgbClr val="141D87"/>
              </a:solidFill>
              <a:latin typeface="Arial Narrow"/>
              <a:ea typeface="Arial Narrow"/>
              <a:cs typeface="Arial Narrow"/>
              <a:sym typeface="Arial Narrow"/>
            </a:endParaRPr>
          </a:p>
        </p:txBody>
      </p:sp>
      <p:sp>
        <p:nvSpPr>
          <p:cNvPr id="1227" name="Google Shape;1227;p43"/>
          <p:cNvSpPr/>
          <p:nvPr/>
        </p:nvSpPr>
        <p:spPr>
          <a:xfrm>
            <a:off x="272895" y="6658040"/>
            <a:ext cx="7994350" cy="1998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8" u="none" cap="none" strike="noStrike">
                <a:solidFill>
                  <a:srgbClr val="1A2DA0"/>
                </a:solidFill>
                <a:latin typeface="Arial Narrow"/>
                <a:ea typeface="Arial Narrow"/>
                <a:cs typeface="Arial Narrow"/>
                <a:sym typeface="Arial Narrow"/>
              </a:rPr>
              <a:t>* Modelos: scikit-learn developers. (s. f.). Novelty and Outlier Detection. https://scikit-learn.org/stable/modules/outlier_detection.html</a:t>
            </a:r>
            <a:endParaRPr/>
          </a:p>
        </p:txBody>
      </p:sp>
      <p:graphicFrame>
        <p:nvGraphicFramePr>
          <p:cNvPr id="1228" name="Google Shape;1228;p43"/>
          <p:cNvGraphicFramePr/>
          <p:nvPr/>
        </p:nvGraphicFramePr>
        <p:xfrm>
          <a:off x="251031" y="1209807"/>
          <a:ext cx="3000000" cy="3000000"/>
        </p:xfrm>
        <a:graphic>
          <a:graphicData uri="http://schemas.openxmlformats.org/drawingml/2006/table">
            <a:tbl>
              <a:tblPr>
                <a:noFill/>
                <a:tableStyleId>{F1B291AF-9CB1-4793-AFE8-E70834C1BA4F}</a:tableStyleId>
              </a:tblPr>
              <a:tblGrid>
                <a:gridCol w="4263475"/>
                <a:gridCol w="1734550"/>
                <a:gridCol w="1639800"/>
                <a:gridCol w="2244700"/>
                <a:gridCol w="1822000"/>
              </a:tblGrid>
              <a:tr h="393550">
                <a:tc>
                  <a:txBody>
                    <a:bodyPr/>
                    <a:lstStyle/>
                    <a:p>
                      <a:pPr indent="0" lvl="0" marL="0" marR="0" rtl="0" algn="l">
                        <a:spcBef>
                          <a:spcPts val="0"/>
                        </a:spcBef>
                        <a:spcAft>
                          <a:spcPts val="0"/>
                        </a:spcAft>
                        <a:buNone/>
                      </a:pPr>
                      <a:r>
                        <a:rPr b="1" lang="en-US" sz="1430" u="none" cap="none" strike="noStrike">
                          <a:solidFill>
                            <a:srgbClr val="FFFFFF"/>
                          </a:solidFill>
                          <a:latin typeface="Arial"/>
                          <a:ea typeface="Arial"/>
                          <a:cs typeface="Arial"/>
                          <a:sym typeface="Arial"/>
                        </a:rPr>
                        <a:t>Modelo y prueba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430" u="none" cap="none" strike="noStrike">
                          <a:solidFill>
                            <a:srgbClr val="FFFFFF"/>
                          </a:solidFill>
                          <a:latin typeface="Arial"/>
                          <a:ea typeface="Arial"/>
                          <a:cs typeface="Arial"/>
                          <a:sym typeface="Arial"/>
                        </a:rPr>
                        <a:t>Características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430" u="none" cap="none" strike="noStrike">
                          <a:solidFill>
                            <a:srgbClr val="FFFFFF"/>
                          </a:solidFill>
                          <a:latin typeface="Arial"/>
                          <a:ea typeface="Arial"/>
                          <a:cs typeface="Arial"/>
                          <a:sym typeface="Arial"/>
                        </a:rPr>
                        <a:t>F1</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430" u="none" cap="none" strike="noStrike">
                          <a:solidFill>
                            <a:srgbClr val="FFFFFF"/>
                          </a:solidFill>
                          <a:latin typeface="Arial"/>
                          <a:ea typeface="Arial"/>
                          <a:cs typeface="Arial"/>
                          <a:sym typeface="Arial"/>
                        </a:rPr>
                        <a:t>Ataques detectados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430" u="none" cap="none" strike="noStrike">
                          <a:solidFill>
                            <a:srgbClr val="FFFFFF"/>
                          </a:solidFill>
                          <a:latin typeface="Arial"/>
                          <a:ea typeface="Arial"/>
                          <a:cs typeface="Arial"/>
                          <a:sym typeface="Arial"/>
                        </a:rPr>
                        <a:t>Falsas alarmas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36440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inicial</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51,9 %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35,0 %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0,02 %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6440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nu = 0,01</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76,5 %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62,2 %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0,7 %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36440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nu = 0,05</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78,7 %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68,9 %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9,9 %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86275">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nu = 0,10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79,4 %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72,0 %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15,0 %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378975">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solo registro.jsp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26</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45,7 %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30,1 %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5,6 %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6440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registro.jsp ampliado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34</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45,7 %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30,1 %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5,6 %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39355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One-Class SVM · global ampliado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57</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78,7 %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68,9 %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9,9 %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86275">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Isolation Forest · primer conjunto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25</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55,9 %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55,9 %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15,4 %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371700">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Isolation Forest · otro conjunto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15</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56,6 %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56,7 %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481" u="none" cap="none" strike="noStrike">
                          <a:solidFill>
                            <a:srgbClr val="070F64"/>
                          </a:solidFill>
                          <a:latin typeface="Arial"/>
                          <a:ea typeface="Arial"/>
                          <a:cs typeface="Arial"/>
                          <a:sym typeface="Arial"/>
                        </a:rPr>
                        <a:t>15,2 %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1229" name="Google Shape;1229;p4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30" name="Google Shape;1230;p43" title="DEFENSA_SEGURA_V2:barra-35"/>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1" name="Google Shape;1231;p43" title="DEFENSA_SEGURA_V2:avance-35"/>
          <p:cNvSpPr/>
          <p:nvPr/>
        </p:nvSpPr>
        <p:spPr>
          <a:xfrm>
            <a:off x="0" y="0"/>
            <a:ext cx="1219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2" name="Google Shape;1232;p43" title="DEFENSA_SEGURA_V2:seccion-35"/>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7" name="Shape 1237"/>
        <p:cNvGrpSpPr/>
        <p:nvPr/>
      </p:nvGrpSpPr>
      <p:grpSpPr>
        <a:xfrm>
          <a:off x="0" y="0"/>
          <a:ext cx="0" cy="0"/>
          <a:chOff x="0" y="0"/>
          <a:chExt cx="0" cy="0"/>
        </a:xfrm>
      </p:grpSpPr>
      <p:sp>
        <p:nvSpPr>
          <p:cNvPr id="1238" name="Google Shape;1238;p44"/>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Comparación con antecedentes</a:t>
            </a:r>
            <a:endParaRPr b="1" sz="3600">
              <a:solidFill>
                <a:srgbClr val="111F5B"/>
              </a:solidFill>
            </a:endParaRPr>
          </a:p>
        </p:txBody>
      </p:sp>
      <p:sp>
        <p:nvSpPr>
          <p:cNvPr id="1239" name="Google Shape;1239;p44"/>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Normalidad y one-class · Calidad de detección y costo de ejecución.</a:t>
            </a:r>
            <a:endParaRPr sz="1800">
              <a:solidFill>
                <a:srgbClr val="070F64"/>
              </a:solidFill>
            </a:endParaRPr>
          </a:p>
        </p:txBody>
      </p:sp>
      <p:graphicFrame>
        <p:nvGraphicFramePr>
          <p:cNvPr id="1240" name="Google Shape;1240;p44"/>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2413000"/>
                <a:gridCol w="3175000"/>
                <a:gridCol w="2730500"/>
                <a:gridCol w="33020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 y 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Detección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Costo de ejecución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Relación con la propuesta</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Kruegel y Vigna (2003)</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Google / UCSB / TU Vienna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Detectó 11 exploits + Code Red</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FPR: 0,0419 / 0,0650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0,0212 % por sitio</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informa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Perfiles por programa;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solo GET con parámetros.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Ensayo de ataques acotado.</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Epp, Funk y Cappo (2017)</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 TorpEda</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Medias con parámetros: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93 %; recall: 95 %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FPR: 9 %</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+4 ms de respuesta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con detección,</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frente al acceso directo</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Modelo por URL + método;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la dimensión crece con</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el número de parámetros.</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Riverol et al. (2024)</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Drupal / SR-BH</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Recall: 91,76 / 78,87 %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FPR: 2,29 / 5,18 %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informa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Selecciona tokens usando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normales y ataques antes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del ajuste one-class.</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 OCSVM</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CSIC 2010</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F1: 78,7 %; recall: 68,9 %</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FPR: 9,9 %</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Slurm 2434 (histórico)*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Total: 14 min 24 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RAM máx.: 1.580,80 MiB</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OCSVM global, 57 variables.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La detección limitada motivó</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las pruebas supervisadas.</a:t>
                      </a:r>
                      <a:endParaRPr b="1" sz="1600">
                        <a:solidFill>
                          <a:srgbClr val="070F64"/>
                        </a:solidFill>
                      </a:endParaRPr>
                    </a:p>
                  </a:txBody>
                  <a:tcPr marT="76200" marB="76200" marR="114300" marL="114300" anchor="ctr">
                    <a:solidFill>
                      <a:srgbClr val="F6FBFD"/>
                    </a:solidFill>
                  </a:tcPr>
                </a:tc>
              </a:tr>
            </a:tbl>
          </a:graphicData>
        </a:graphic>
      </p:graphicFrame>
      <p:sp>
        <p:nvSpPr>
          <p:cNvPr id="1241" name="Google Shape;1241;p44"/>
          <p:cNvSpPr/>
          <p:nvPr/>
        </p:nvSpPr>
        <p:spPr>
          <a:xfrm>
            <a:off x="304800" y="5943600"/>
            <a:ext cx="11582400" cy="50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 Slurm: duración del trabajo completo, no tiempo por petición; RAM = máximo RSS.</a:t>
            </a:r>
            <a:endParaRPr b="1" sz="1700">
              <a:solidFill>
                <a:srgbClr val="070F64"/>
              </a:solidFill>
            </a:endParaRPr>
          </a:p>
          <a:p>
            <a:pPr indent="0" lvl="0" marL="0" marR="0" rtl="0" algn="l">
              <a:spcBef>
                <a:spcPts val="0"/>
              </a:spcBef>
              <a:spcAft>
                <a:spcPts val="0"/>
              </a:spcAft>
              <a:buNone/>
            </a:pPr>
            <a:r>
              <a:rPr b="1" lang="en-US" sz="1700">
                <a:solidFill>
                  <a:srgbClr val="070F64"/>
                </a:solidFill>
              </a:rPr>
              <a:t>La configuración del registro histórico puede diferir de la usada para medir la detección.</a:t>
            </a:r>
            <a:endParaRPr b="1" sz="1700">
              <a:solidFill>
                <a:srgbClr val="070F64"/>
              </a:solidFill>
            </a:endParaRPr>
          </a:p>
        </p:txBody>
      </p:sp>
      <p:sp>
        <p:nvSpPr>
          <p:cNvPr id="1242" name="Google Shape;1242;p44"/>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Las cifras describen pruebas con datos y protocolos distintos. Fuentes y alcance en las notas.</a:t>
            </a:r>
            <a:endParaRPr sz="1000">
              <a:solidFill>
                <a:srgbClr val="070F64"/>
              </a:solidFill>
            </a:endParaRPr>
          </a:p>
        </p:txBody>
      </p:sp>
      <p:sp>
        <p:nvSpPr>
          <p:cNvPr id="1243" name="Google Shape;1243;p4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244" name="Google Shape;1244;p44"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45" name="Google Shape;1245;p44"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46" name="Google Shape;1246;p44"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0" name="Shape 1250"/>
        <p:cNvGrpSpPr/>
        <p:nvPr/>
      </p:nvGrpSpPr>
      <p:grpSpPr>
        <a:xfrm>
          <a:off x="0" y="0"/>
          <a:ext cx="0" cy="0"/>
          <a:chOff x="0" y="0"/>
          <a:chExt cx="0" cy="0"/>
        </a:xfrm>
      </p:grpSpPr>
      <p:sp>
        <p:nvSpPr>
          <p:cNvPr id="1251" name="Google Shape;1251;p45"/>
          <p:cNvSpPr/>
          <p:nvPr/>
        </p:nvSpPr>
        <p:spPr>
          <a:xfrm>
            <a:off x="236455" y="1136927"/>
            <a:ext cx="6726816" cy="4540419"/>
          </a:xfrm>
          <a:prstGeom prst="roundRect">
            <a:avLst>
              <a:gd fmla="val 1284" name="adj"/>
            </a:avLst>
          </a:prstGeom>
          <a:solidFill>
            <a:srgbClr val="E4F5FC"/>
          </a:solidFill>
          <a:ln cap="flat" cmpd="sng" w="9525">
            <a:solidFill>
              <a:srgbClr val="38B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45"/>
          <p:cNvSpPr/>
          <p:nvPr/>
        </p:nvSpPr>
        <p:spPr>
          <a:xfrm>
            <a:off x="7109031" y="1136927"/>
            <a:ext cx="4868378" cy="4540419"/>
          </a:xfrm>
          <a:prstGeom prst="roundRect">
            <a:avLst>
              <a:gd fmla="val 1284" name="adj"/>
            </a:avLst>
          </a:prstGeom>
          <a:solidFill>
            <a:srgbClr val="E5F9FB"/>
          </a:solidFill>
          <a:ln cap="flat" cmpd="sng" w="9525">
            <a:solidFill>
              <a:srgbClr val="38B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5"/>
          <p:cNvSpPr/>
          <p:nvPr/>
        </p:nvSpPr>
        <p:spPr>
          <a:xfrm>
            <a:off x="236455" y="5742937"/>
            <a:ext cx="11748242" cy="612191"/>
          </a:xfrm>
          <a:prstGeom prst="roundRect">
            <a:avLst>
              <a:gd fmla="val 9524" name="adj"/>
            </a:avLst>
          </a:prstGeom>
          <a:solidFill>
            <a:srgbClr val="DEF3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45"/>
          <p:cNvSpPr/>
          <p:nvPr/>
        </p:nvSpPr>
        <p:spPr>
          <a:xfrm>
            <a:off x="3392155" y="3971955"/>
            <a:ext cx="1020319" cy="976591"/>
          </a:xfrm>
          <a:prstGeom prst="roundRect">
            <a:avLst>
              <a:gd fmla="val 5970" name="adj"/>
            </a:avLst>
          </a:prstGeom>
          <a:solidFill>
            <a:srgbClr val="E4FBFF"/>
          </a:solidFill>
          <a:ln cap="flat" cmpd="sng" w="9525">
            <a:solidFill>
              <a:srgbClr val="05C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5"/>
          <p:cNvSpPr/>
          <p:nvPr/>
        </p:nvSpPr>
        <p:spPr>
          <a:xfrm>
            <a:off x="4660266" y="3971955"/>
            <a:ext cx="940151" cy="976591"/>
          </a:xfrm>
          <a:prstGeom prst="roundRect">
            <a:avLst>
              <a:gd fmla="val 6202" name="adj"/>
            </a:avLst>
          </a:prstGeom>
          <a:solidFill>
            <a:srgbClr val="E4FBFF"/>
          </a:solidFill>
          <a:ln cap="flat" cmpd="sng" w="9525">
            <a:solidFill>
              <a:srgbClr val="05C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45"/>
          <p:cNvSpPr/>
          <p:nvPr/>
        </p:nvSpPr>
        <p:spPr>
          <a:xfrm>
            <a:off x="1774221" y="3388916"/>
            <a:ext cx="1107775" cy="736087"/>
          </a:xfrm>
          <a:prstGeom prst="roundRect">
            <a:avLst>
              <a:gd fmla="val 7921" name="adj"/>
            </a:avLst>
          </a:prstGeom>
          <a:solidFill>
            <a:srgbClr val="E9FCFC"/>
          </a:solidFill>
          <a:ln cap="flat" cmpd="sng" w="9525">
            <a:solidFill>
              <a:srgbClr val="05C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5"/>
          <p:cNvSpPr/>
          <p:nvPr/>
        </p:nvSpPr>
        <p:spPr>
          <a:xfrm>
            <a:off x="1774221" y="4161443"/>
            <a:ext cx="1107775" cy="706935"/>
          </a:xfrm>
          <a:prstGeom prst="roundRect">
            <a:avLst>
              <a:gd fmla="val 8247" name="adj"/>
            </a:avLst>
          </a:prstGeom>
          <a:solidFill>
            <a:srgbClr val="E9FCFC"/>
          </a:solidFill>
          <a:ln cap="flat" cmpd="sng" w="9525">
            <a:solidFill>
              <a:srgbClr val="05C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5"/>
          <p:cNvSpPr/>
          <p:nvPr/>
        </p:nvSpPr>
        <p:spPr>
          <a:xfrm>
            <a:off x="1774221" y="4919394"/>
            <a:ext cx="1107775" cy="677783"/>
          </a:xfrm>
          <a:prstGeom prst="roundRect">
            <a:avLst>
              <a:gd fmla="val 8602" name="adj"/>
            </a:avLst>
          </a:prstGeom>
          <a:solidFill>
            <a:srgbClr val="E9FCFC"/>
          </a:solidFill>
          <a:ln cap="flat" cmpd="sng" w="9525">
            <a:solidFill>
              <a:srgbClr val="05C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5"/>
          <p:cNvSpPr/>
          <p:nvPr/>
        </p:nvSpPr>
        <p:spPr>
          <a:xfrm>
            <a:off x="5935664" y="3935515"/>
            <a:ext cx="932863" cy="473719"/>
          </a:xfrm>
          <a:prstGeom prst="roundRect">
            <a:avLst>
              <a:gd fmla="val 12308" name="adj"/>
            </a:avLst>
          </a:prstGeom>
          <a:solidFill>
            <a:srgbClr val="CDF4DC"/>
          </a:solidFill>
          <a:ln cap="flat" cmpd="sng" w="9525">
            <a:solidFill>
              <a:srgbClr val="00BE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5"/>
          <p:cNvSpPr/>
          <p:nvPr/>
        </p:nvSpPr>
        <p:spPr>
          <a:xfrm>
            <a:off x="5935664" y="4503979"/>
            <a:ext cx="932863" cy="466431"/>
          </a:xfrm>
          <a:prstGeom prst="roundRect">
            <a:avLst>
              <a:gd fmla="val 12500" name="adj"/>
            </a:avLst>
          </a:prstGeom>
          <a:solidFill>
            <a:srgbClr val="FFE2E9"/>
          </a:solidFill>
          <a:ln cap="flat" cmpd="sng" w="9525">
            <a:solidFill>
              <a:srgbClr val="EF7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1" name="Google Shape;1261;p45"/>
          <p:cNvPicPr preferRelativeResize="0"/>
          <p:nvPr/>
        </p:nvPicPr>
        <p:blipFill rotWithShape="1">
          <a:blip r:embed="rId3">
            <a:alphaModFix/>
          </a:blip>
          <a:srcRect b="0" l="0" r="0" t="0"/>
          <a:stretch/>
        </p:blipFill>
        <p:spPr>
          <a:xfrm>
            <a:off x="7043439" y="1151503"/>
            <a:ext cx="145760" cy="233216"/>
          </a:xfrm>
          <a:prstGeom prst="rect">
            <a:avLst/>
          </a:prstGeom>
          <a:noFill/>
          <a:ln>
            <a:noFill/>
          </a:ln>
        </p:spPr>
      </p:pic>
      <p:pic>
        <p:nvPicPr>
          <p:cNvPr id="1262" name="Google Shape;1262;p45"/>
          <p:cNvPicPr preferRelativeResize="0"/>
          <p:nvPr/>
        </p:nvPicPr>
        <p:blipFill rotWithShape="1">
          <a:blip r:embed="rId4">
            <a:alphaModFix/>
          </a:blip>
          <a:srcRect b="0" l="0" r="0" t="0"/>
          <a:stretch/>
        </p:blipFill>
        <p:spPr>
          <a:xfrm>
            <a:off x="7218351" y="1180655"/>
            <a:ext cx="641343" cy="641343"/>
          </a:xfrm>
          <a:prstGeom prst="rect">
            <a:avLst/>
          </a:prstGeom>
          <a:noFill/>
          <a:ln>
            <a:noFill/>
          </a:ln>
        </p:spPr>
      </p:pic>
      <p:pic>
        <p:nvPicPr>
          <p:cNvPr id="1263" name="Google Shape;1263;p45"/>
          <p:cNvPicPr preferRelativeResize="0"/>
          <p:nvPr/>
        </p:nvPicPr>
        <p:blipFill rotWithShape="1">
          <a:blip r:embed="rId5">
            <a:alphaModFix/>
          </a:blip>
          <a:srcRect b="0" l="0" r="0" t="0"/>
          <a:stretch/>
        </p:blipFill>
        <p:spPr>
          <a:xfrm>
            <a:off x="7043439" y="1384718"/>
            <a:ext cx="145760" cy="1661662"/>
          </a:xfrm>
          <a:prstGeom prst="rect">
            <a:avLst/>
          </a:prstGeom>
          <a:noFill/>
          <a:ln>
            <a:noFill/>
          </a:ln>
        </p:spPr>
      </p:pic>
      <p:pic>
        <p:nvPicPr>
          <p:cNvPr id="1264" name="Google Shape;1264;p45"/>
          <p:cNvPicPr preferRelativeResize="0"/>
          <p:nvPr/>
        </p:nvPicPr>
        <p:blipFill rotWithShape="1">
          <a:blip r:embed="rId6">
            <a:alphaModFix/>
          </a:blip>
          <a:srcRect b="0" l="0" r="0" t="0"/>
          <a:stretch/>
        </p:blipFill>
        <p:spPr>
          <a:xfrm>
            <a:off x="7305807" y="1880302"/>
            <a:ext cx="553887" cy="466431"/>
          </a:xfrm>
          <a:prstGeom prst="rect">
            <a:avLst/>
          </a:prstGeom>
          <a:noFill/>
          <a:ln>
            <a:noFill/>
          </a:ln>
        </p:spPr>
      </p:pic>
      <p:pic>
        <p:nvPicPr>
          <p:cNvPr id="1265" name="Google Shape;1265;p45"/>
          <p:cNvPicPr preferRelativeResize="0"/>
          <p:nvPr/>
        </p:nvPicPr>
        <p:blipFill rotWithShape="1">
          <a:blip r:embed="rId7">
            <a:alphaModFix/>
          </a:blip>
          <a:srcRect b="0" l="0" r="0" t="0"/>
          <a:stretch/>
        </p:blipFill>
        <p:spPr>
          <a:xfrm>
            <a:off x="7305807" y="2434189"/>
            <a:ext cx="553887" cy="495583"/>
          </a:xfrm>
          <a:prstGeom prst="rect">
            <a:avLst/>
          </a:prstGeom>
          <a:noFill/>
          <a:ln>
            <a:noFill/>
          </a:ln>
        </p:spPr>
      </p:pic>
      <p:pic>
        <p:nvPicPr>
          <p:cNvPr id="1266" name="Google Shape;1266;p45"/>
          <p:cNvPicPr preferRelativeResize="0"/>
          <p:nvPr/>
        </p:nvPicPr>
        <p:blipFill rotWithShape="1">
          <a:blip r:embed="rId8">
            <a:alphaModFix/>
          </a:blip>
          <a:srcRect b="0" l="0" r="0" t="0"/>
          <a:stretch/>
        </p:blipFill>
        <p:spPr>
          <a:xfrm>
            <a:off x="7334959" y="3046380"/>
            <a:ext cx="495583" cy="553887"/>
          </a:xfrm>
          <a:prstGeom prst="rect">
            <a:avLst/>
          </a:prstGeom>
          <a:noFill/>
          <a:ln>
            <a:noFill/>
          </a:ln>
        </p:spPr>
      </p:pic>
      <p:pic>
        <p:nvPicPr>
          <p:cNvPr id="1267" name="Google Shape;1267;p45"/>
          <p:cNvPicPr preferRelativeResize="0"/>
          <p:nvPr/>
        </p:nvPicPr>
        <p:blipFill rotWithShape="1">
          <a:blip r:embed="rId9">
            <a:alphaModFix/>
          </a:blip>
          <a:srcRect b="0" l="0" r="0" t="0"/>
          <a:stretch/>
        </p:blipFill>
        <p:spPr>
          <a:xfrm>
            <a:off x="7043439" y="3104684"/>
            <a:ext cx="116608" cy="174912"/>
          </a:xfrm>
          <a:prstGeom prst="rect">
            <a:avLst/>
          </a:prstGeom>
          <a:noFill/>
          <a:ln>
            <a:noFill/>
          </a:ln>
        </p:spPr>
      </p:pic>
      <p:pic>
        <p:nvPicPr>
          <p:cNvPr id="1268" name="Google Shape;1268;p45"/>
          <p:cNvPicPr preferRelativeResize="0"/>
          <p:nvPr/>
        </p:nvPicPr>
        <p:blipFill rotWithShape="1">
          <a:blip r:embed="rId10">
            <a:alphaModFix/>
          </a:blip>
          <a:srcRect b="0" l="0" r="0" t="0"/>
          <a:stretch/>
        </p:blipFill>
        <p:spPr>
          <a:xfrm>
            <a:off x="1737781" y="3541964"/>
            <a:ext cx="116608" cy="262368"/>
          </a:xfrm>
          <a:prstGeom prst="rect">
            <a:avLst/>
          </a:prstGeom>
          <a:noFill/>
          <a:ln>
            <a:noFill/>
          </a:ln>
        </p:spPr>
      </p:pic>
      <p:pic>
        <p:nvPicPr>
          <p:cNvPr id="1269" name="Google Shape;1269;p45"/>
          <p:cNvPicPr preferRelativeResize="0"/>
          <p:nvPr/>
        </p:nvPicPr>
        <p:blipFill rotWithShape="1">
          <a:blip r:embed="rId11">
            <a:alphaModFix/>
          </a:blip>
          <a:srcRect b="0" l="0" r="0" t="0"/>
          <a:stretch/>
        </p:blipFill>
        <p:spPr>
          <a:xfrm>
            <a:off x="2903860" y="3629420"/>
            <a:ext cx="408128" cy="728799"/>
          </a:xfrm>
          <a:prstGeom prst="rect">
            <a:avLst/>
          </a:prstGeom>
          <a:noFill/>
          <a:ln>
            <a:noFill/>
          </a:ln>
        </p:spPr>
      </p:pic>
      <p:pic>
        <p:nvPicPr>
          <p:cNvPr id="1270" name="Google Shape;1270;p45"/>
          <p:cNvPicPr preferRelativeResize="0"/>
          <p:nvPr/>
        </p:nvPicPr>
        <p:blipFill rotWithShape="1">
          <a:blip r:embed="rId12">
            <a:alphaModFix/>
          </a:blip>
          <a:srcRect b="0" l="0" r="0" t="0"/>
          <a:stretch/>
        </p:blipFill>
        <p:spPr>
          <a:xfrm>
            <a:off x="7364111" y="3716876"/>
            <a:ext cx="437279" cy="437279"/>
          </a:xfrm>
          <a:prstGeom prst="rect">
            <a:avLst/>
          </a:prstGeom>
          <a:noFill/>
          <a:ln>
            <a:noFill/>
          </a:ln>
        </p:spPr>
      </p:pic>
      <p:pic>
        <p:nvPicPr>
          <p:cNvPr id="1271" name="Google Shape;1271;p45"/>
          <p:cNvPicPr preferRelativeResize="0"/>
          <p:nvPr/>
        </p:nvPicPr>
        <p:blipFill rotWithShape="1">
          <a:blip r:embed="rId13">
            <a:alphaModFix/>
          </a:blip>
          <a:srcRect b="0" l="0" r="0" t="0"/>
          <a:stretch/>
        </p:blipFill>
        <p:spPr>
          <a:xfrm>
            <a:off x="3632659" y="3979243"/>
            <a:ext cx="524735" cy="524735"/>
          </a:xfrm>
          <a:prstGeom prst="rect">
            <a:avLst/>
          </a:prstGeom>
          <a:noFill/>
          <a:ln>
            <a:noFill/>
          </a:ln>
        </p:spPr>
      </p:pic>
      <p:pic>
        <p:nvPicPr>
          <p:cNvPr id="1272" name="Google Shape;1272;p45"/>
          <p:cNvPicPr preferRelativeResize="0"/>
          <p:nvPr/>
        </p:nvPicPr>
        <p:blipFill rotWithShape="1">
          <a:blip r:embed="rId14">
            <a:alphaModFix/>
          </a:blip>
          <a:srcRect b="0" l="0" r="0" t="0"/>
          <a:stretch/>
        </p:blipFill>
        <p:spPr>
          <a:xfrm>
            <a:off x="4769586" y="4037547"/>
            <a:ext cx="641343" cy="466431"/>
          </a:xfrm>
          <a:prstGeom prst="rect">
            <a:avLst/>
          </a:prstGeom>
          <a:noFill/>
          <a:ln>
            <a:noFill/>
          </a:ln>
        </p:spPr>
      </p:pic>
      <p:pic>
        <p:nvPicPr>
          <p:cNvPr id="1273" name="Google Shape;1273;p45"/>
          <p:cNvPicPr preferRelativeResize="0"/>
          <p:nvPr/>
        </p:nvPicPr>
        <p:blipFill rotWithShape="1">
          <a:blip r:embed="rId15">
            <a:alphaModFix/>
          </a:blip>
          <a:srcRect b="0" l="0" r="0" t="0"/>
          <a:stretch/>
        </p:blipFill>
        <p:spPr>
          <a:xfrm>
            <a:off x="7305807" y="4299915"/>
            <a:ext cx="553887" cy="553887"/>
          </a:xfrm>
          <a:prstGeom prst="rect">
            <a:avLst/>
          </a:prstGeom>
          <a:noFill/>
          <a:ln>
            <a:noFill/>
          </a:ln>
        </p:spPr>
      </p:pic>
      <p:pic>
        <p:nvPicPr>
          <p:cNvPr id="1274" name="Google Shape;1274;p45"/>
          <p:cNvPicPr preferRelativeResize="0"/>
          <p:nvPr/>
        </p:nvPicPr>
        <p:blipFill rotWithShape="1">
          <a:blip r:embed="rId16">
            <a:alphaModFix/>
          </a:blip>
          <a:srcRect b="0" l="0" r="0" t="0"/>
          <a:stretch/>
        </p:blipFill>
        <p:spPr>
          <a:xfrm>
            <a:off x="6897679" y="4387371"/>
            <a:ext cx="145760" cy="1282687"/>
          </a:xfrm>
          <a:prstGeom prst="rect">
            <a:avLst/>
          </a:prstGeom>
          <a:noFill/>
          <a:ln>
            <a:noFill/>
          </a:ln>
        </p:spPr>
      </p:pic>
      <p:pic>
        <p:nvPicPr>
          <p:cNvPr id="1275" name="Google Shape;1275;p45"/>
          <p:cNvPicPr preferRelativeResize="0"/>
          <p:nvPr/>
        </p:nvPicPr>
        <p:blipFill rotWithShape="1">
          <a:blip r:embed="rId17">
            <a:alphaModFix/>
          </a:blip>
          <a:srcRect b="0" l="0" r="0" t="0"/>
          <a:stretch/>
        </p:blipFill>
        <p:spPr>
          <a:xfrm>
            <a:off x="1737781" y="4445675"/>
            <a:ext cx="116608" cy="174912"/>
          </a:xfrm>
          <a:prstGeom prst="rect">
            <a:avLst/>
          </a:prstGeom>
          <a:noFill/>
          <a:ln>
            <a:noFill/>
          </a:ln>
        </p:spPr>
      </p:pic>
      <p:pic>
        <p:nvPicPr>
          <p:cNvPr id="1276" name="Google Shape;1276;p45"/>
          <p:cNvPicPr preferRelativeResize="0"/>
          <p:nvPr/>
        </p:nvPicPr>
        <p:blipFill rotWithShape="1">
          <a:blip r:embed="rId18">
            <a:alphaModFix/>
          </a:blip>
          <a:srcRect b="0" l="0" r="0" t="0"/>
          <a:stretch/>
        </p:blipFill>
        <p:spPr>
          <a:xfrm>
            <a:off x="2903860" y="4533131"/>
            <a:ext cx="408128" cy="728799"/>
          </a:xfrm>
          <a:prstGeom prst="rect">
            <a:avLst/>
          </a:prstGeom>
          <a:noFill/>
          <a:ln>
            <a:noFill/>
          </a:ln>
        </p:spPr>
      </p:pic>
      <p:pic>
        <p:nvPicPr>
          <p:cNvPr id="1277" name="Google Shape;1277;p45"/>
          <p:cNvPicPr preferRelativeResize="0"/>
          <p:nvPr/>
        </p:nvPicPr>
        <p:blipFill rotWithShape="1">
          <a:blip r:embed="rId19">
            <a:alphaModFix/>
          </a:blip>
          <a:srcRect b="0" l="0" r="0" t="0"/>
          <a:stretch/>
        </p:blipFill>
        <p:spPr>
          <a:xfrm>
            <a:off x="7334959" y="4970410"/>
            <a:ext cx="524735" cy="553887"/>
          </a:xfrm>
          <a:prstGeom prst="rect">
            <a:avLst/>
          </a:prstGeom>
          <a:noFill/>
          <a:ln>
            <a:noFill/>
          </a:ln>
        </p:spPr>
      </p:pic>
      <p:pic>
        <p:nvPicPr>
          <p:cNvPr id="1278" name="Google Shape;1278;p45"/>
          <p:cNvPicPr preferRelativeResize="0"/>
          <p:nvPr/>
        </p:nvPicPr>
        <p:blipFill rotWithShape="1">
          <a:blip r:embed="rId20">
            <a:alphaModFix/>
          </a:blip>
          <a:srcRect b="0" l="0" r="0" t="0"/>
          <a:stretch/>
        </p:blipFill>
        <p:spPr>
          <a:xfrm>
            <a:off x="433231" y="3993819"/>
            <a:ext cx="714223" cy="823543"/>
          </a:xfrm>
          <a:prstGeom prst="rect">
            <a:avLst/>
          </a:prstGeom>
          <a:noFill/>
          <a:ln>
            <a:noFill/>
          </a:ln>
        </p:spPr>
      </p:pic>
      <p:pic>
        <p:nvPicPr>
          <p:cNvPr id="1279" name="Google Shape;1279;p45"/>
          <p:cNvPicPr preferRelativeResize="0"/>
          <p:nvPr/>
        </p:nvPicPr>
        <p:blipFill rotWithShape="1">
          <a:blip r:embed="rId21">
            <a:alphaModFix/>
          </a:blip>
          <a:srcRect b="0" l="0" r="0" t="0"/>
          <a:stretch/>
        </p:blipFill>
        <p:spPr>
          <a:xfrm>
            <a:off x="2000149" y="3425356"/>
            <a:ext cx="670495" cy="444567"/>
          </a:xfrm>
          <a:prstGeom prst="rect">
            <a:avLst/>
          </a:prstGeom>
          <a:noFill/>
          <a:ln>
            <a:noFill/>
          </a:ln>
        </p:spPr>
      </p:pic>
      <p:pic>
        <p:nvPicPr>
          <p:cNvPr id="1280" name="Google Shape;1280;p45"/>
          <p:cNvPicPr preferRelativeResize="0"/>
          <p:nvPr/>
        </p:nvPicPr>
        <p:blipFill rotWithShape="1">
          <a:blip r:embed="rId22">
            <a:alphaModFix/>
          </a:blip>
          <a:srcRect b="0" l="0" r="0" t="0"/>
          <a:stretch/>
        </p:blipFill>
        <p:spPr>
          <a:xfrm>
            <a:off x="2000149" y="4190595"/>
            <a:ext cx="670495" cy="459143"/>
          </a:xfrm>
          <a:prstGeom prst="rect">
            <a:avLst/>
          </a:prstGeom>
          <a:noFill/>
          <a:ln>
            <a:noFill/>
          </a:ln>
        </p:spPr>
      </p:pic>
      <p:pic>
        <p:nvPicPr>
          <p:cNvPr id="1281" name="Google Shape;1281;p45"/>
          <p:cNvPicPr preferRelativeResize="0"/>
          <p:nvPr/>
        </p:nvPicPr>
        <p:blipFill rotWithShape="1">
          <a:blip r:embed="rId23">
            <a:alphaModFix/>
          </a:blip>
          <a:srcRect b="0" l="0" r="0" t="0"/>
          <a:stretch/>
        </p:blipFill>
        <p:spPr>
          <a:xfrm>
            <a:off x="2000149" y="4955834"/>
            <a:ext cx="670495" cy="415416"/>
          </a:xfrm>
          <a:prstGeom prst="rect">
            <a:avLst/>
          </a:prstGeom>
          <a:noFill/>
          <a:ln>
            <a:noFill/>
          </a:ln>
        </p:spPr>
      </p:pic>
      <p:sp>
        <p:nvSpPr>
          <p:cNvPr id="1282" name="Google Shape;1282;p45"/>
          <p:cNvSpPr/>
          <p:nvPr/>
        </p:nvSpPr>
        <p:spPr>
          <a:xfrm>
            <a:off x="1205758" y="4365507"/>
            <a:ext cx="568463" cy="174912"/>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5"/>
          <p:cNvSpPr/>
          <p:nvPr/>
        </p:nvSpPr>
        <p:spPr>
          <a:xfrm>
            <a:off x="3122499" y="4190595"/>
            <a:ext cx="276944" cy="174912"/>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5"/>
          <p:cNvSpPr/>
          <p:nvPr/>
        </p:nvSpPr>
        <p:spPr>
          <a:xfrm>
            <a:off x="3122499" y="4525843"/>
            <a:ext cx="276944" cy="174912"/>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5"/>
          <p:cNvSpPr/>
          <p:nvPr/>
        </p:nvSpPr>
        <p:spPr>
          <a:xfrm>
            <a:off x="2881996" y="4365507"/>
            <a:ext cx="517447" cy="174912"/>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5"/>
          <p:cNvSpPr/>
          <p:nvPr/>
        </p:nvSpPr>
        <p:spPr>
          <a:xfrm>
            <a:off x="4397898" y="4329067"/>
            <a:ext cx="262368" cy="167624"/>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45"/>
          <p:cNvSpPr/>
          <p:nvPr/>
        </p:nvSpPr>
        <p:spPr>
          <a:xfrm>
            <a:off x="5593129" y="4081275"/>
            <a:ext cx="342536" cy="167624"/>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5"/>
          <p:cNvSpPr/>
          <p:nvPr/>
        </p:nvSpPr>
        <p:spPr>
          <a:xfrm>
            <a:off x="5593129" y="4642451"/>
            <a:ext cx="342536" cy="167624"/>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9" name="Google Shape;1289;p45"/>
          <p:cNvCxnSpPr/>
          <p:nvPr/>
        </p:nvCxnSpPr>
        <p:spPr>
          <a:xfrm>
            <a:off x="1446261" y="3702300"/>
            <a:ext cx="0" cy="1479462"/>
          </a:xfrm>
          <a:prstGeom prst="straightConnector1">
            <a:avLst/>
          </a:prstGeom>
          <a:noFill/>
          <a:ln cap="flat" cmpd="sng" w="21850">
            <a:solidFill>
              <a:srgbClr val="00ADEA"/>
            </a:solidFill>
            <a:prstDash val="solid"/>
            <a:round/>
            <a:headEnd len="sm" w="sm" type="none"/>
            <a:tailEnd len="sm" w="sm" type="none"/>
          </a:ln>
        </p:spPr>
      </p:cxnSp>
      <p:cxnSp>
        <p:nvCxnSpPr>
          <p:cNvPr id="1290" name="Google Shape;1290;p45"/>
          <p:cNvCxnSpPr/>
          <p:nvPr/>
        </p:nvCxnSpPr>
        <p:spPr>
          <a:xfrm>
            <a:off x="1446261" y="3702300"/>
            <a:ext cx="306096" cy="0"/>
          </a:xfrm>
          <a:prstGeom prst="straightConnector1">
            <a:avLst/>
          </a:prstGeom>
          <a:noFill/>
          <a:ln cap="flat" cmpd="sng" w="21850">
            <a:solidFill>
              <a:srgbClr val="00ADEA"/>
            </a:solidFill>
            <a:prstDash val="solid"/>
            <a:round/>
            <a:headEnd len="sm" w="sm" type="none"/>
            <a:tailEnd len="sm" w="sm" type="none"/>
          </a:ln>
        </p:spPr>
      </p:cxnSp>
      <p:cxnSp>
        <p:nvCxnSpPr>
          <p:cNvPr id="1291" name="Google Shape;1291;p45"/>
          <p:cNvCxnSpPr/>
          <p:nvPr/>
        </p:nvCxnSpPr>
        <p:spPr>
          <a:xfrm>
            <a:off x="1446261" y="5181762"/>
            <a:ext cx="306096" cy="0"/>
          </a:xfrm>
          <a:prstGeom prst="straightConnector1">
            <a:avLst/>
          </a:prstGeom>
          <a:noFill/>
          <a:ln cap="flat" cmpd="sng" w="21850">
            <a:solidFill>
              <a:srgbClr val="00ADEA"/>
            </a:solidFill>
            <a:prstDash val="solid"/>
            <a:round/>
            <a:headEnd len="sm" w="sm" type="none"/>
            <a:tailEnd len="sm" w="sm" type="none"/>
          </a:ln>
        </p:spPr>
      </p:cxnSp>
      <p:cxnSp>
        <p:nvCxnSpPr>
          <p:cNvPr id="1292" name="Google Shape;1292;p45"/>
          <p:cNvCxnSpPr/>
          <p:nvPr/>
        </p:nvCxnSpPr>
        <p:spPr>
          <a:xfrm>
            <a:off x="2881996" y="3702300"/>
            <a:ext cx="240504" cy="0"/>
          </a:xfrm>
          <a:prstGeom prst="straightConnector1">
            <a:avLst/>
          </a:prstGeom>
          <a:noFill/>
          <a:ln cap="flat" cmpd="sng" w="21850">
            <a:solidFill>
              <a:srgbClr val="00ADEA"/>
            </a:solidFill>
            <a:prstDash val="solid"/>
            <a:round/>
            <a:headEnd len="sm" w="sm" type="none"/>
            <a:tailEnd len="sm" w="sm" type="none"/>
          </a:ln>
        </p:spPr>
      </p:cxnSp>
      <p:cxnSp>
        <p:nvCxnSpPr>
          <p:cNvPr id="1293" name="Google Shape;1293;p45"/>
          <p:cNvCxnSpPr/>
          <p:nvPr/>
        </p:nvCxnSpPr>
        <p:spPr>
          <a:xfrm>
            <a:off x="2881996" y="5181762"/>
            <a:ext cx="240504" cy="0"/>
          </a:xfrm>
          <a:prstGeom prst="straightConnector1">
            <a:avLst/>
          </a:prstGeom>
          <a:noFill/>
          <a:ln cap="flat" cmpd="sng" w="21850">
            <a:solidFill>
              <a:srgbClr val="00ADEA"/>
            </a:solidFill>
            <a:prstDash val="solid"/>
            <a:round/>
            <a:headEnd len="sm" w="sm" type="none"/>
            <a:tailEnd len="sm" w="sm" type="none"/>
          </a:ln>
        </p:spPr>
      </p:cxnSp>
      <p:cxnSp>
        <p:nvCxnSpPr>
          <p:cNvPr id="1294" name="Google Shape;1294;p45"/>
          <p:cNvCxnSpPr/>
          <p:nvPr/>
        </p:nvCxnSpPr>
        <p:spPr>
          <a:xfrm>
            <a:off x="3122499" y="3702300"/>
            <a:ext cx="0" cy="1479462"/>
          </a:xfrm>
          <a:prstGeom prst="straightConnector1">
            <a:avLst/>
          </a:prstGeom>
          <a:noFill/>
          <a:ln cap="flat" cmpd="sng" w="21850">
            <a:solidFill>
              <a:srgbClr val="00ADEA"/>
            </a:solidFill>
            <a:prstDash val="solid"/>
            <a:round/>
            <a:headEnd len="sm" w="sm" type="none"/>
            <a:tailEnd len="sm" w="sm" type="none"/>
          </a:ln>
        </p:spPr>
      </p:cxnSp>
      <p:sp>
        <p:nvSpPr>
          <p:cNvPr id="1295" name="Google Shape;1295;p45"/>
          <p:cNvSpPr/>
          <p:nvPr/>
        </p:nvSpPr>
        <p:spPr>
          <a:xfrm>
            <a:off x="425943" y="1829286"/>
            <a:ext cx="357112" cy="357112"/>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75" u="none" cap="none" strike="noStrike">
                <a:solidFill>
                  <a:srgbClr val="FFFFFF"/>
                </a:solidFill>
                <a:latin typeface="Arial"/>
                <a:ea typeface="Arial"/>
                <a:cs typeface="Arial"/>
                <a:sym typeface="Arial"/>
              </a:rPr>
              <a:t>1</a:t>
            </a:r>
            <a:endParaRPr/>
          </a:p>
        </p:txBody>
      </p:sp>
      <p:sp>
        <p:nvSpPr>
          <p:cNvPr id="1296" name="Google Shape;1296;p45"/>
          <p:cNvSpPr/>
          <p:nvPr/>
        </p:nvSpPr>
        <p:spPr>
          <a:xfrm>
            <a:off x="425943" y="2375885"/>
            <a:ext cx="357112" cy="357112"/>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75" u="none" cap="none" strike="noStrike">
                <a:solidFill>
                  <a:srgbClr val="FFFFFF"/>
                </a:solidFill>
                <a:latin typeface="Arial"/>
                <a:ea typeface="Arial"/>
                <a:cs typeface="Arial"/>
                <a:sym typeface="Arial"/>
              </a:rPr>
              <a:t>2</a:t>
            </a:r>
            <a:endParaRPr/>
          </a:p>
        </p:txBody>
      </p:sp>
      <p:sp>
        <p:nvSpPr>
          <p:cNvPr id="1297" name="Google Shape;1297;p45"/>
          <p:cNvSpPr/>
          <p:nvPr/>
        </p:nvSpPr>
        <p:spPr>
          <a:xfrm>
            <a:off x="425943" y="2878757"/>
            <a:ext cx="357112" cy="357112"/>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75" u="none" cap="none" strike="noStrike">
                <a:solidFill>
                  <a:srgbClr val="FFFFFF"/>
                </a:solidFill>
                <a:latin typeface="Arial"/>
                <a:ea typeface="Arial"/>
                <a:cs typeface="Arial"/>
                <a:sym typeface="Arial"/>
              </a:rPr>
              <a:t>3</a:t>
            </a:r>
            <a:endParaRPr/>
          </a:p>
        </p:txBody>
      </p:sp>
      <p:sp>
        <p:nvSpPr>
          <p:cNvPr id="1298" name="Google Shape;1298;p45"/>
          <p:cNvSpPr/>
          <p:nvPr/>
        </p:nvSpPr>
        <p:spPr>
          <a:xfrm>
            <a:off x="272895" y="23564"/>
            <a:ext cx="4918817" cy="8661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246" u="none" cap="none" strike="noStrike">
                <a:solidFill>
                  <a:srgbClr val="111F5B"/>
                </a:solidFill>
              </a:rPr>
              <a:t>Random Forest</a:t>
            </a:r>
            <a:endParaRPr b="1">
              <a:solidFill>
                <a:srgbClr val="111F5B"/>
              </a:solidFill>
            </a:endParaRPr>
          </a:p>
        </p:txBody>
      </p:sp>
      <p:sp>
        <p:nvSpPr>
          <p:cNvPr id="1299" name="Google Shape;1299;p45"/>
          <p:cNvSpPr/>
          <p:nvPr/>
        </p:nvSpPr>
        <p:spPr>
          <a:xfrm>
            <a:off x="251031" y="728580"/>
            <a:ext cx="5727784" cy="4412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74" u="none" cap="none" strike="noStrike">
                <a:solidFill>
                  <a:srgbClr val="0708CB"/>
                </a:solidFill>
                <a:latin typeface="Arial Narrow"/>
                <a:ea typeface="Arial Narrow"/>
                <a:cs typeface="Arial Narrow"/>
                <a:sym typeface="Arial Narrow"/>
              </a:rPr>
              <a:t>Clasificación binaria • Configuración de B2</a:t>
            </a:r>
            <a:endParaRPr/>
          </a:p>
        </p:txBody>
      </p:sp>
      <p:sp>
        <p:nvSpPr>
          <p:cNvPr id="1300" name="Google Shape;1300;p45"/>
          <p:cNvSpPr/>
          <p:nvPr/>
        </p:nvSpPr>
        <p:spPr>
          <a:xfrm>
            <a:off x="433231" y="1266771"/>
            <a:ext cx="2710556" cy="5633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406" u="none" cap="none" strike="noStrike">
                <a:solidFill>
                  <a:srgbClr val="05066C"/>
                </a:solidFill>
                <a:latin typeface="Arial Narrow"/>
                <a:ea typeface="Arial Narrow"/>
                <a:cs typeface="Arial Narrow"/>
                <a:sym typeface="Arial Narrow"/>
              </a:rPr>
              <a:t>Cómo funciona</a:t>
            </a:r>
            <a:endParaRPr/>
          </a:p>
        </p:txBody>
      </p:sp>
      <p:sp>
        <p:nvSpPr>
          <p:cNvPr id="1301" name="Google Shape;1301;p45"/>
          <p:cNvSpPr/>
          <p:nvPr/>
        </p:nvSpPr>
        <p:spPr>
          <a:xfrm>
            <a:off x="965254" y="1810527"/>
            <a:ext cx="3548675" cy="2883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98" u="none" cap="none" strike="noStrike">
                <a:solidFill>
                  <a:srgbClr val="090CD0"/>
                </a:solidFill>
                <a:latin typeface="Arial Narrow"/>
                <a:ea typeface="Arial Narrow"/>
                <a:cs typeface="Arial Narrow"/>
                <a:sym typeface="Arial Narrow"/>
              </a:rPr>
              <a:t>Entrena muchos árboles con muestras y</a:t>
            </a:r>
            <a:endParaRPr/>
          </a:p>
        </p:txBody>
      </p:sp>
      <p:sp>
        <p:nvSpPr>
          <p:cNvPr id="1302" name="Google Shape;1302;p45"/>
          <p:cNvSpPr/>
          <p:nvPr/>
        </p:nvSpPr>
        <p:spPr>
          <a:xfrm>
            <a:off x="957966" y="2044108"/>
            <a:ext cx="2754284" cy="2871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18" u="none" cap="none" strike="noStrike">
                <a:solidFill>
                  <a:srgbClr val="090DD1"/>
                </a:solidFill>
                <a:latin typeface="Arial Narrow"/>
                <a:ea typeface="Arial Narrow"/>
                <a:cs typeface="Arial Narrow"/>
                <a:sym typeface="Arial Narrow"/>
              </a:rPr>
              <a:t>características elegidas al azar.</a:t>
            </a:r>
            <a:endParaRPr/>
          </a:p>
        </p:txBody>
      </p:sp>
      <p:sp>
        <p:nvSpPr>
          <p:cNvPr id="1303" name="Google Shape;1303;p45"/>
          <p:cNvSpPr/>
          <p:nvPr/>
        </p:nvSpPr>
        <p:spPr>
          <a:xfrm>
            <a:off x="965254" y="2384385"/>
            <a:ext cx="3789179" cy="2945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05" u="none" cap="none" strike="noStrike">
                <a:solidFill>
                  <a:srgbClr val="090CD0"/>
                </a:solidFill>
                <a:latin typeface="Arial Narrow"/>
                <a:ea typeface="Arial Narrow"/>
                <a:cs typeface="Arial Narrow"/>
                <a:sym typeface="Arial Narrow"/>
              </a:rPr>
              <a:t>Promedia las probabilidades que entregan</a:t>
            </a:r>
            <a:endParaRPr/>
          </a:p>
        </p:txBody>
      </p:sp>
      <p:sp>
        <p:nvSpPr>
          <p:cNvPr id="1304" name="Google Shape;1304;p45"/>
          <p:cNvSpPr/>
          <p:nvPr/>
        </p:nvSpPr>
        <p:spPr>
          <a:xfrm>
            <a:off x="965254" y="2600161"/>
            <a:ext cx="1012454" cy="3038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9" u="none" cap="none" strike="noStrike">
                <a:solidFill>
                  <a:srgbClr val="1012D0"/>
                </a:solidFill>
                <a:latin typeface="Arial Narrow"/>
                <a:ea typeface="Arial Narrow"/>
                <a:cs typeface="Arial Narrow"/>
                <a:sym typeface="Arial Narrow"/>
              </a:rPr>
              <a:t>los árboles.</a:t>
            </a:r>
            <a:endParaRPr/>
          </a:p>
        </p:txBody>
      </p:sp>
      <p:sp>
        <p:nvSpPr>
          <p:cNvPr id="1305" name="Google Shape;1305;p45"/>
          <p:cNvSpPr/>
          <p:nvPr/>
        </p:nvSpPr>
        <p:spPr>
          <a:xfrm>
            <a:off x="957966" y="2965896"/>
            <a:ext cx="4831361" cy="3089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35" u="none" cap="none" strike="noStrike">
                <a:solidFill>
                  <a:srgbClr val="090DD3"/>
                </a:solidFill>
                <a:latin typeface="Arial Narrow"/>
                <a:ea typeface="Arial Narrow"/>
                <a:cs typeface="Arial Narrow"/>
                <a:sym typeface="Arial Narrow"/>
              </a:rPr>
              <a:t>Aplica un punto de corte para decidir: normal o ataque.</a:t>
            </a:r>
            <a:endParaRPr/>
          </a:p>
        </p:txBody>
      </p:sp>
      <p:sp>
        <p:nvSpPr>
          <p:cNvPr id="1306" name="Google Shape;1306;p45"/>
          <p:cNvSpPr/>
          <p:nvPr/>
        </p:nvSpPr>
        <p:spPr>
          <a:xfrm>
            <a:off x="2087605" y="3893309"/>
            <a:ext cx="495006" cy="2082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83" u="none" cap="none" strike="noStrike">
                <a:solidFill>
                  <a:srgbClr val="0C1075"/>
                </a:solidFill>
                <a:latin typeface="Arial"/>
                <a:ea typeface="Arial"/>
                <a:cs typeface="Arial"/>
                <a:sym typeface="Arial"/>
              </a:rPr>
              <a:t>Árbol 1</a:t>
            </a:r>
            <a:endParaRPr/>
          </a:p>
        </p:txBody>
      </p:sp>
      <p:sp>
        <p:nvSpPr>
          <p:cNvPr id="1307" name="Google Shape;1307;p45"/>
          <p:cNvSpPr/>
          <p:nvPr/>
        </p:nvSpPr>
        <p:spPr>
          <a:xfrm>
            <a:off x="2087605" y="4651957"/>
            <a:ext cx="495006" cy="2059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48" u="none" cap="none" strike="noStrike">
                <a:solidFill>
                  <a:srgbClr val="090B74"/>
                </a:solidFill>
                <a:latin typeface="Arial Narrow"/>
                <a:ea typeface="Arial Narrow"/>
                <a:cs typeface="Arial Narrow"/>
                <a:sym typeface="Arial Narrow"/>
              </a:rPr>
              <a:t>Árbol 2</a:t>
            </a:r>
            <a:endParaRPr/>
          </a:p>
        </p:txBody>
      </p:sp>
      <p:sp>
        <p:nvSpPr>
          <p:cNvPr id="1308" name="Google Shape;1308;p45"/>
          <p:cNvSpPr/>
          <p:nvPr/>
        </p:nvSpPr>
        <p:spPr>
          <a:xfrm>
            <a:off x="702886" y="4831129"/>
            <a:ext cx="225351" cy="2631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4" u="none" cap="none" strike="noStrike">
                <a:solidFill>
                  <a:srgbClr val="06077F"/>
                </a:solidFill>
                <a:latin typeface="Arial Narrow"/>
                <a:ea typeface="Arial Narrow"/>
                <a:cs typeface="Arial Narrow"/>
                <a:sym typeface="Arial Narrow"/>
              </a:rPr>
              <a:t>57</a:t>
            </a:r>
            <a:endParaRPr/>
          </a:p>
        </p:txBody>
      </p:sp>
      <p:sp>
        <p:nvSpPr>
          <p:cNvPr id="1309" name="Google Shape;1309;p45"/>
          <p:cNvSpPr/>
          <p:nvPr/>
        </p:nvSpPr>
        <p:spPr>
          <a:xfrm>
            <a:off x="323911" y="5009306"/>
            <a:ext cx="990590" cy="23361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4" u="none" cap="none" strike="noStrike">
                <a:solidFill>
                  <a:srgbClr val="080886"/>
                </a:solidFill>
                <a:latin typeface="Arial Narrow"/>
                <a:ea typeface="Arial Narrow"/>
                <a:cs typeface="Arial Narrow"/>
                <a:sym typeface="Arial Narrow"/>
              </a:rPr>
              <a:t>características</a:t>
            </a:r>
            <a:endParaRPr/>
          </a:p>
        </p:txBody>
      </p:sp>
      <p:sp>
        <p:nvSpPr>
          <p:cNvPr id="1310" name="Google Shape;1310;p45"/>
          <p:cNvSpPr/>
          <p:nvPr/>
        </p:nvSpPr>
        <p:spPr>
          <a:xfrm>
            <a:off x="3530627" y="4531302"/>
            <a:ext cx="764662" cy="2049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54" u="none" cap="none" strike="noStrike">
                <a:solidFill>
                  <a:srgbClr val="0D107D"/>
                </a:solidFill>
                <a:latin typeface="Arial Narrow"/>
                <a:ea typeface="Arial Narrow"/>
                <a:cs typeface="Arial Narrow"/>
                <a:sym typeface="Arial Narrow"/>
              </a:rPr>
              <a:t>Promedio de</a:t>
            </a:r>
            <a:endParaRPr/>
          </a:p>
        </p:txBody>
      </p:sp>
      <p:sp>
        <p:nvSpPr>
          <p:cNvPr id="1311" name="Google Shape;1311;p45"/>
          <p:cNvSpPr/>
          <p:nvPr/>
        </p:nvSpPr>
        <p:spPr>
          <a:xfrm>
            <a:off x="3472323" y="4702973"/>
            <a:ext cx="881270" cy="2059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48" u="none" cap="none" strike="noStrike">
                <a:solidFill>
                  <a:srgbClr val="080B7E"/>
                </a:solidFill>
                <a:latin typeface="Arial Narrow"/>
                <a:ea typeface="Arial Narrow"/>
                <a:cs typeface="Arial Narrow"/>
                <a:sym typeface="Arial Narrow"/>
              </a:rPr>
              <a:t>probabilidades</a:t>
            </a:r>
            <a:endParaRPr/>
          </a:p>
        </p:txBody>
      </p:sp>
      <p:sp>
        <p:nvSpPr>
          <p:cNvPr id="1312" name="Google Shape;1312;p45"/>
          <p:cNvSpPr/>
          <p:nvPr/>
        </p:nvSpPr>
        <p:spPr>
          <a:xfrm>
            <a:off x="4937209" y="4538821"/>
            <a:ext cx="392975" cy="1946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79" u="none" cap="none" strike="noStrike">
                <a:solidFill>
                  <a:srgbClr val="0C0E80"/>
                </a:solidFill>
                <a:latin typeface="Arial Narrow"/>
                <a:ea typeface="Arial Narrow"/>
                <a:cs typeface="Arial Narrow"/>
                <a:sym typeface="Arial Narrow"/>
              </a:rPr>
              <a:t>Punto</a:t>
            </a:r>
            <a:endParaRPr/>
          </a:p>
        </p:txBody>
      </p:sp>
      <p:sp>
        <p:nvSpPr>
          <p:cNvPr id="1313" name="Google Shape;1313;p45"/>
          <p:cNvSpPr/>
          <p:nvPr/>
        </p:nvSpPr>
        <p:spPr>
          <a:xfrm>
            <a:off x="4864329" y="4675137"/>
            <a:ext cx="546022" cy="2206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2" u="none" cap="none" strike="noStrike">
                <a:solidFill>
                  <a:srgbClr val="080881"/>
                </a:solidFill>
                <a:latin typeface="Arial Narrow"/>
                <a:ea typeface="Arial Narrow"/>
                <a:cs typeface="Arial Narrow"/>
                <a:sym typeface="Arial Narrow"/>
              </a:rPr>
              <a:t>de corte</a:t>
            </a:r>
            <a:endParaRPr/>
          </a:p>
        </p:txBody>
      </p:sp>
      <p:sp>
        <p:nvSpPr>
          <p:cNvPr id="1314" name="Google Shape;1314;p45"/>
          <p:cNvSpPr/>
          <p:nvPr/>
        </p:nvSpPr>
        <p:spPr>
          <a:xfrm>
            <a:off x="6117864" y="4074287"/>
            <a:ext cx="597038" cy="2595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13" u="none" cap="none" strike="noStrike">
                <a:solidFill>
                  <a:srgbClr val="050D64"/>
                </a:solidFill>
                <a:latin typeface="Arial Narrow"/>
                <a:ea typeface="Arial Narrow"/>
                <a:cs typeface="Arial Narrow"/>
                <a:sym typeface="Arial Narrow"/>
              </a:rPr>
              <a:t>Normal</a:t>
            </a:r>
            <a:endParaRPr/>
          </a:p>
        </p:txBody>
      </p:sp>
      <p:sp>
        <p:nvSpPr>
          <p:cNvPr id="1315" name="Google Shape;1315;p45"/>
          <p:cNvSpPr/>
          <p:nvPr/>
        </p:nvSpPr>
        <p:spPr>
          <a:xfrm>
            <a:off x="6117864" y="4658231"/>
            <a:ext cx="582462" cy="2471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97" u="none" cap="none" strike="noStrike">
                <a:solidFill>
                  <a:srgbClr val="060866"/>
                </a:solidFill>
                <a:latin typeface="Arial Narrow"/>
                <a:ea typeface="Arial Narrow"/>
                <a:cs typeface="Arial Narrow"/>
                <a:sym typeface="Arial Narrow"/>
              </a:rPr>
              <a:t>Ataque</a:t>
            </a:r>
            <a:endParaRPr/>
          </a:p>
        </p:txBody>
      </p:sp>
      <p:sp>
        <p:nvSpPr>
          <p:cNvPr id="1316" name="Google Shape;1316;p45"/>
          <p:cNvSpPr/>
          <p:nvPr/>
        </p:nvSpPr>
        <p:spPr>
          <a:xfrm>
            <a:off x="7954438" y="1355566"/>
            <a:ext cx="3563251" cy="4150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14" u="none" cap="none" strike="noStrike">
                <a:solidFill>
                  <a:srgbClr val="05066F"/>
                </a:solidFill>
                <a:latin typeface="Arial"/>
                <a:ea typeface="Arial"/>
                <a:cs typeface="Arial"/>
                <a:sym typeface="Arial"/>
              </a:rPr>
              <a:t>Configuración utilizada</a:t>
            </a:r>
            <a:endParaRPr/>
          </a:p>
        </p:txBody>
      </p:sp>
      <p:sp>
        <p:nvSpPr>
          <p:cNvPr id="1317" name="Google Shape;1317;p45"/>
          <p:cNvSpPr/>
          <p:nvPr/>
        </p:nvSpPr>
        <p:spPr>
          <a:xfrm>
            <a:off x="8034606" y="1996880"/>
            <a:ext cx="3140547" cy="2843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34" u="none" cap="none" strike="noStrike">
                <a:solidFill>
                  <a:srgbClr val="0A0BC1"/>
                </a:solidFill>
                <a:latin typeface="Arial Narrow"/>
                <a:ea typeface="Arial Narrow"/>
                <a:cs typeface="Arial Narrow"/>
                <a:sym typeface="Arial Narrow"/>
              </a:rPr>
              <a:t>500 árboles y 57 características HTTP.</a:t>
            </a:r>
            <a:endParaRPr/>
          </a:p>
        </p:txBody>
      </p:sp>
      <p:sp>
        <p:nvSpPr>
          <p:cNvPr id="1318" name="Google Shape;1318;p45"/>
          <p:cNvSpPr/>
          <p:nvPr/>
        </p:nvSpPr>
        <p:spPr>
          <a:xfrm>
            <a:off x="8041894" y="2498456"/>
            <a:ext cx="3570539" cy="279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090CCD"/>
                </a:solidFill>
                <a:latin typeface="Arial Narrow"/>
                <a:ea typeface="Arial Narrow"/>
                <a:cs typeface="Arial Narrow"/>
                <a:sym typeface="Arial Narrow"/>
              </a:rPr>
              <a:t>Pesos de clases balanceados: más peso a la</a:t>
            </a:r>
            <a:endParaRPr/>
          </a:p>
        </p:txBody>
      </p:sp>
      <p:sp>
        <p:nvSpPr>
          <p:cNvPr id="1319" name="Google Shape;1319;p45"/>
          <p:cNvSpPr/>
          <p:nvPr/>
        </p:nvSpPr>
        <p:spPr>
          <a:xfrm>
            <a:off x="8034606" y="2703277"/>
            <a:ext cx="1872437" cy="2813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98" u="none" cap="none" strike="noStrike">
                <a:solidFill>
                  <a:srgbClr val="080CD0"/>
                </a:solidFill>
                <a:latin typeface="Arial Narrow"/>
                <a:ea typeface="Arial Narrow"/>
                <a:cs typeface="Arial Narrow"/>
                <a:sym typeface="Arial Narrow"/>
              </a:rPr>
              <a:t>clase menos frecuente.</a:t>
            </a:r>
            <a:endParaRPr/>
          </a:p>
        </p:txBody>
      </p:sp>
      <p:sp>
        <p:nvSpPr>
          <p:cNvPr id="1320" name="Google Shape;1320;p45"/>
          <p:cNvSpPr/>
          <p:nvPr/>
        </p:nvSpPr>
        <p:spPr>
          <a:xfrm>
            <a:off x="8034606" y="3135914"/>
            <a:ext cx="3767315" cy="282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6" u="none" cap="none" strike="noStrike">
                <a:solidFill>
                  <a:srgbClr val="0B10D1"/>
                </a:solidFill>
                <a:latin typeface="Arial Narrow"/>
                <a:ea typeface="Arial Narrow"/>
                <a:cs typeface="Arial Narrow"/>
                <a:sym typeface="Arial Narrow"/>
              </a:rPr>
              <a:t>80 % para entrenamiento y 20 % para prueba,</a:t>
            </a:r>
            <a:endParaRPr/>
          </a:p>
        </p:txBody>
      </p:sp>
      <p:sp>
        <p:nvSpPr>
          <p:cNvPr id="1321" name="Google Shape;1321;p45"/>
          <p:cNvSpPr/>
          <p:nvPr/>
        </p:nvSpPr>
        <p:spPr>
          <a:xfrm>
            <a:off x="8041894" y="3359954"/>
            <a:ext cx="3067667" cy="2883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4" u="none" cap="none" strike="noStrike">
                <a:solidFill>
                  <a:srgbClr val="0C12D0"/>
                </a:solidFill>
                <a:latin typeface="Arial Narrow"/>
                <a:ea typeface="Arial Narrow"/>
                <a:cs typeface="Arial Narrow"/>
                <a:sym typeface="Arial Narrow"/>
              </a:rPr>
              <a:t>manteniendo la proporción de clases.</a:t>
            </a:r>
            <a:endParaRPr/>
          </a:p>
        </p:txBody>
      </p:sp>
      <p:sp>
        <p:nvSpPr>
          <p:cNvPr id="1322" name="Google Shape;1322;p45"/>
          <p:cNvSpPr/>
          <p:nvPr/>
        </p:nvSpPr>
        <p:spPr>
          <a:xfrm>
            <a:off x="8034606" y="3821043"/>
            <a:ext cx="961438" cy="2820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4" u="none" cap="none" strike="noStrike">
                <a:solidFill>
                  <a:srgbClr val="0910D3"/>
                </a:solidFill>
                <a:latin typeface="Arial Narrow"/>
                <a:ea typeface="Arial Narrow"/>
                <a:cs typeface="Arial Narrow"/>
                <a:sym typeface="Arial Narrow"/>
              </a:rPr>
              <a:t>Semilla: 42.</a:t>
            </a:r>
            <a:endParaRPr/>
          </a:p>
        </p:txBody>
      </p:sp>
      <p:sp>
        <p:nvSpPr>
          <p:cNvPr id="1323" name="Google Shape;1323;p45"/>
          <p:cNvSpPr/>
          <p:nvPr/>
        </p:nvSpPr>
        <p:spPr>
          <a:xfrm>
            <a:off x="8049182" y="4367353"/>
            <a:ext cx="3461219" cy="2829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1" u="none" cap="none" strike="noStrike">
                <a:solidFill>
                  <a:srgbClr val="0A0FD1"/>
                </a:solidFill>
                <a:latin typeface="Arial Narrow"/>
                <a:ea typeface="Arial Narrow"/>
                <a:cs typeface="Arial Narrow"/>
                <a:sym typeface="Arial Narrow"/>
              </a:rPr>
              <a:t>Un modelo independiente para CSIC 2010,</a:t>
            </a:r>
            <a:endParaRPr/>
          </a:p>
        </p:txBody>
      </p:sp>
      <p:sp>
        <p:nvSpPr>
          <p:cNvPr id="1324" name="Google Shape;1324;p45"/>
          <p:cNvSpPr/>
          <p:nvPr/>
        </p:nvSpPr>
        <p:spPr>
          <a:xfrm>
            <a:off x="8034606" y="4595572"/>
            <a:ext cx="1471597" cy="2755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69" u="none" cap="none" strike="noStrike">
                <a:solidFill>
                  <a:srgbClr val="1117D1"/>
                </a:solidFill>
                <a:latin typeface="Arial Narrow"/>
                <a:ea typeface="Arial Narrow"/>
                <a:cs typeface="Arial Narrow"/>
                <a:sym typeface="Arial Narrow"/>
              </a:rPr>
              <a:t>TorpEda y SR-BH.</a:t>
            </a:r>
            <a:endParaRPr/>
          </a:p>
        </p:txBody>
      </p:sp>
      <p:sp>
        <p:nvSpPr>
          <p:cNvPr id="1325" name="Google Shape;1325;p45"/>
          <p:cNvSpPr/>
          <p:nvPr/>
        </p:nvSpPr>
        <p:spPr>
          <a:xfrm>
            <a:off x="8041894" y="5059944"/>
            <a:ext cx="3723587" cy="2822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02" u="none" cap="none" strike="noStrike">
                <a:solidFill>
                  <a:srgbClr val="0A0ED4"/>
                </a:solidFill>
                <a:latin typeface="Arial Narrow"/>
                <a:ea typeface="Arial Narrow"/>
                <a:cs typeface="Arial Narrow"/>
                <a:sym typeface="Arial Narrow"/>
              </a:rPr>
              <a:t>Se probaron puntos de corte entre 0,05 y 0,95</a:t>
            </a:r>
            <a:endParaRPr/>
          </a:p>
        </p:txBody>
      </p:sp>
      <p:sp>
        <p:nvSpPr>
          <p:cNvPr id="1326" name="Google Shape;1326;p45"/>
          <p:cNvSpPr/>
          <p:nvPr/>
        </p:nvSpPr>
        <p:spPr>
          <a:xfrm>
            <a:off x="8041894" y="5294776"/>
            <a:ext cx="1639221" cy="2769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5" u="none" cap="none" strike="noStrike">
                <a:solidFill>
                  <a:srgbClr val="0C14CF"/>
                </a:solidFill>
                <a:latin typeface="Arial Narrow"/>
                <a:ea typeface="Arial Narrow"/>
                <a:cs typeface="Arial Narrow"/>
                <a:sym typeface="Arial Narrow"/>
              </a:rPr>
              <a:t>y se eligió según F1.</a:t>
            </a:r>
            <a:endParaRPr/>
          </a:p>
        </p:txBody>
      </p:sp>
      <p:sp>
        <p:nvSpPr>
          <p:cNvPr id="1327" name="Google Shape;1327;p45"/>
          <p:cNvSpPr/>
          <p:nvPr/>
        </p:nvSpPr>
        <p:spPr>
          <a:xfrm>
            <a:off x="1089150" y="5948149"/>
            <a:ext cx="7812150" cy="3326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04" u="none" cap="none" strike="noStrike">
                <a:solidFill>
                  <a:srgbClr val="0406F9"/>
                </a:solidFill>
                <a:latin typeface="Arial Narrow"/>
                <a:ea typeface="Arial Narrow"/>
                <a:cs typeface="Arial Narrow"/>
                <a:sym typeface="Arial Narrow"/>
              </a:rPr>
              <a:t>El punto de corte se eligió sobre la prueba; los resultados de B2 son exploratorios.</a:t>
            </a:r>
            <a:endParaRPr/>
          </a:p>
        </p:txBody>
      </p:sp>
      <p:sp>
        <p:nvSpPr>
          <p:cNvPr id="1328" name="Google Shape;1328;p45"/>
          <p:cNvSpPr/>
          <p:nvPr/>
        </p:nvSpPr>
        <p:spPr>
          <a:xfrm>
            <a:off x="251031" y="6418878"/>
            <a:ext cx="8650269" cy="1860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60" u="none" cap="none" strike="noStrike">
                <a:solidFill>
                  <a:srgbClr val="232E8D"/>
                </a:solidFill>
                <a:latin typeface="Arial Narrow"/>
                <a:ea typeface="Arial Narrow"/>
                <a:cs typeface="Arial Narrow"/>
                <a:sym typeface="Arial Narrow"/>
              </a:rPr>
              <a:t>* Scikit-learn developers. (s. f.). RandomForestClassifier. https://scikit-learn.org/stable/modules/generated/sklearn.ensemble.RandomForestClassifier.html</a:t>
            </a:r>
            <a:endParaRPr/>
          </a:p>
        </p:txBody>
      </p:sp>
      <p:sp>
        <p:nvSpPr>
          <p:cNvPr id="1329" name="Google Shape;1329;p45"/>
          <p:cNvSpPr/>
          <p:nvPr/>
        </p:nvSpPr>
        <p:spPr>
          <a:xfrm>
            <a:off x="1876253" y="5407690"/>
            <a:ext cx="997878" cy="1989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5" u="none" cap="none" strike="noStrike">
                <a:solidFill>
                  <a:srgbClr val="08125F"/>
                </a:solidFill>
                <a:latin typeface="Arial Narrow"/>
                <a:ea typeface="Arial Narrow"/>
                <a:cs typeface="Arial Narrow"/>
                <a:sym typeface="Arial Narrow"/>
              </a:rPr>
              <a:t>... 500 árboles</a:t>
            </a:r>
            <a:endParaRPr/>
          </a:p>
        </p:txBody>
      </p:sp>
      <p:sp>
        <p:nvSpPr>
          <p:cNvPr id="1330" name="Google Shape;1330;p4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1" name="Google Shape;1331;p45" title="DEFENSA_SEGURA_V2:barra-3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32" name="Google Shape;1332;p45" title="DEFENSA_SEGURA_V2:avance-32"/>
          <p:cNvSpPr/>
          <p:nvPr/>
        </p:nvSpPr>
        <p:spPr>
          <a:xfrm>
            <a:off x="0" y="0"/>
            <a:ext cx="9753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33" name="Google Shape;1333;p45" title="DEFENSA_SEGURA_V2:seccion-3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8" name="Shape 1338"/>
        <p:cNvGrpSpPr/>
        <p:nvPr/>
      </p:nvGrpSpPr>
      <p:grpSpPr>
        <a:xfrm>
          <a:off x="0" y="0"/>
          <a:ext cx="0" cy="0"/>
          <a:chOff x="0" y="0"/>
          <a:chExt cx="0" cy="0"/>
        </a:xfrm>
      </p:grpSpPr>
      <p:sp>
        <p:nvSpPr>
          <p:cNvPr id="1339" name="Google Shape;1339;p46"/>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Clasificación binaria: método</a:t>
            </a:r>
            <a:endParaRPr b="1" sz="3600">
              <a:solidFill>
                <a:srgbClr val="111F5B"/>
              </a:solidFill>
            </a:endParaRPr>
          </a:p>
        </p:txBody>
      </p:sp>
      <p:sp>
        <p:nvSpPr>
          <p:cNvPr id="1340" name="Google Shape;1340;p46"/>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Datos, organización del modelo, características y forma de aprendizaje.</a:t>
            </a:r>
            <a:endParaRPr sz="1800">
              <a:solidFill>
                <a:srgbClr val="070F64"/>
              </a:solidFill>
            </a:endParaRPr>
          </a:p>
        </p:txBody>
      </p:sp>
      <p:graphicFrame>
        <p:nvGraphicFramePr>
          <p:cNvPr id="1341" name="Google Shape;1341;p46"/>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1905000"/>
                <a:gridCol w="2032000"/>
                <a:gridCol w="2476500"/>
                <a:gridCol w="3111500"/>
                <a:gridCol w="2095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Modelo / alcance</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Características y selección</a:t>
                      </a:r>
                      <a:endParaRPr b="1" sz="1700" u="none" cap="none">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Aprendizaje</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Chakir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(2023)</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ECML/PKDD 2007</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Random Forest</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Modelo común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Conteos de términos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(CountVectorizer).</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Dimensión: NV</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Normal o ataque</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Yang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(2025)</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LLM-AE-MP</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FWAF; HttpParams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Autoencoder + MLP</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Modelo común</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Representación aprendida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con TLSTM y GAN.</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Dimensión: NV</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Representación +</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clasificador</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Luo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WADBERT</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2020</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URLBERT + SecBERT</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URL y parámetros;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fusión por atención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1.536 dimensiones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aprendidas (768 × 2)</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Normal o ataque</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B2</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CSIC 2010</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TorpEda</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SR-BH (Harvard)</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Random Forest</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Un modelo por corpus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57 variables manuales: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longitudes, caracteres,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parámetros y patrones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Supervisado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Normal o ataque</a:t>
                      </a:r>
                      <a:endParaRPr b="1" sz="1600">
                        <a:solidFill>
                          <a:srgbClr val="070F64"/>
                        </a:solidFill>
                      </a:endParaRPr>
                    </a:p>
                  </a:txBody>
                  <a:tcPr marT="76200" marB="76200" marR="114300" marL="114300" anchor="ctr">
                    <a:solidFill>
                      <a:srgbClr val="F6FBFD"/>
                    </a:solidFill>
                  </a:tcPr>
                </a:tc>
              </a:tr>
            </a:tbl>
          </a:graphicData>
        </a:graphic>
      </p:graphicFrame>
      <p:sp>
        <p:nvSpPr>
          <p:cNvPr id="1342" name="Google Shape;1342;p46"/>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NV = no verificado en la fuente accesible. Un modelo común procesa distintas URL.</a:t>
            </a:r>
            <a:endParaRPr b="1" sz="1700">
              <a:solidFill>
                <a:srgbClr val="070F64"/>
              </a:solidFill>
            </a:endParaRPr>
          </a:p>
        </p:txBody>
      </p:sp>
      <p:sp>
        <p:nvSpPr>
          <p:cNvPr id="1343" name="Google Shape;1343;p46"/>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Fuentes y configuración de cada estudio en las notas. NV = dato no verificado; no significa que el artículo lo omita.</a:t>
            </a:r>
            <a:endParaRPr sz="1000">
              <a:solidFill>
                <a:srgbClr val="070F64"/>
              </a:solidFill>
            </a:endParaRPr>
          </a:p>
        </p:txBody>
      </p:sp>
      <p:sp>
        <p:nvSpPr>
          <p:cNvPr id="1344" name="Google Shape;1344;p4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345" name="Google Shape;1345;p46" title="DEFENSA_SEGURA_V2:barra-2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46" name="Google Shape;1346;p46" title="DEFENSA_SEGURA_V2:avance-20"/>
          <p:cNvSpPr/>
          <p:nvPr/>
        </p:nvSpPr>
        <p:spPr>
          <a:xfrm>
            <a:off x="0" y="0"/>
            <a:ext cx="7758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47" name="Google Shape;1347;p46" title="DEFENSA_SEGURA_V2:seccion-2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TRABAJOS RELACIONADOS</a:t>
            </a:r>
            <a:endParaRPr b="1" sz="650">
              <a:solidFill>
                <a:srgbClr val="647184"/>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2" name="Shape 1352"/>
        <p:cNvGrpSpPr/>
        <p:nvPr/>
      </p:nvGrpSpPr>
      <p:grpSpPr>
        <a:xfrm>
          <a:off x="0" y="0"/>
          <a:ext cx="0" cy="0"/>
          <a:chOff x="0" y="0"/>
          <a:chExt cx="0" cy="0"/>
        </a:xfrm>
      </p:grpSpPr>
      <p:sp>
        <p:nvSpPr>
          <p:cNvPr id="1353" name="Google Shape;1353;p47"/>
          <p:cNvSpPr/>
          <p:nvPr/>
        </p:nvSpPr>
        <p:spPr>
          <a:xfrm>
            <a:off x="265607" y="4984986"/>
            <a:ext cx="11660700" cy="787200"/>
          </a:xfrm>
          <a:prstGeom prst="roundRect">
            <a:avLst>
              <a:gd fmla="val 7407" name="adj"/>
            </a:avLst>
          </a:prstGeom>
          <a:solidFill>
            <a:srgbClr val="E1F4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7"/>
          <p:cNvSpPr/>
          <p:nvPr/>
        </p:nvSpPr>
        <p:spPr>
          <a:xfrm>
            <a:off x="265607" y="4081275"/>
            <a:ext cx="11660700" cy="758100"/>
          </a:xfrm>
          <a:prstGeom prst="roundRect">
            <a:avLst>
              <a:gd fmla="val 7692" name="adj"/>
            </a:avLst>
          </a:prstGeom>
          <a:solidFill>
            <a:srgbClr val="E5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5" name="Google Shape;1355;p47"/>
          <p:cNvPicPr preferRelativeResize="0"/>
          <p:nvPr/>
        </p:nvPicPr>
        <p:blipFill rotWithShape="1">
          <a:blip r:embed="rId3">
            <a:alphaModFix/>
          </a:blip>
          <a:srcRect b="0" l="0" r="0" t="0"/>
          <a:stretch/>
        </p:blipFill>
        <p:spPr>
          <a:xfrm>
            <a:off x="484247" y="4095851"/>
            <a:ext cx="583039" cy="699647"/>
          </a:xfrm>
          <a:prstGeom prst="rect">
            <a:avLst/>
          </a:prstGeom>
          <a:noFill/>
          <a:ln>
            <a:noFill/>
          </a:ln>
        </p:spPr>
      </p:pic>
      <p:pic>
        <p:nvPicPr>
          <p:cNvPr id="1356" name="Google Shape;1356;p47"/>
          <p:cNvPicPr preferRelativeResize="0"/>
          <p:nvPr/>
        </p:nvPicPr>
        <p:blipFill rotWithShape="1">
          <a:blip r:embed="rId4">
            <a:alphaModFix/>
          </a:blip>
          <a:srcRect b="0" l="0" r="0" t="0"/>
          <a:stretch/>
        </p:blipFill>
        <p:spPr>
          <a:xfrm>
            <a:off x="1300502" y="4125003"/>
            <a:ext cx="116608" cy="670495"/>
          </a:xfrm>
          <a:prstGeom prst="rect">
            <a:avLst/>
          </a:prstGeom>
          <a:noFill/>
          <a:ln>
            <a:noFill/>
          </a:ln>
        </p:spPr>
      </p:pic>
      <p:pic>
        <p:nvPicPr>
          <p:cNvPr id="1357" name="Google Shape;1357;p47"/>
          <p:cNvPicPr preferRelativeResize="0"/>
          <p:nvPr/>
        </p:nvPicPr>
        <p:blipFill rotWithShape="1">
          <a:blip r:embed="rId5">
            <a:alphaModFix/>
          </a:blip>
          <a:srcRect b="0" l="0" r="0" t="0"/>
          <a:stretch/>
        </p:blipFill>
        <p:spPr>
          <a:xfrm>
            <a:off x="455095" y="5028714"/>
            <a:ext cx="641343" cy="699647"/>
          </a:xfrm>
          <a:prstGeom prst="rect">
            <a:avLst/>
          </a:prstGeom>
          <a:noFill/>
          <a:ln>
            <a:noFill/>
          </a:ln>
        </p:spPr>
      </p:pic>
      <p:pic>
        <p:nvPicPr>
          <p:cNvPr id="1358" name="Google Shape;1358;p47"/>
          <p:cNvPicPr preferRelativeResize="0"/>
          <p:nvPr/>
        </p:nvPicPr>
        <p:blipFill rotWithShape="1">
          <a:blip r:embed="rId6">
            <a:alphaModFix/>
          </a:blip>
          <a:srcRect b="0" l="0" r="0" t="0"/>
          <a:stretch/>
        </p:blipFill>
        <p:spPr>
          <a:xfrm>
            <a:off x="1300502" y="5028714"/>
            <a:ext cx="116608" cy="699647"/>
          </a:xfrm>
          <a:prstGeom prst="rect">
            <a:avLst/>
          </a:prstGeom>
          <a:noFill/>
          <a:ln>
            <a:noFill/>
          </a:ln>
        </p:spPr>
      </p:pic>
      <p:sp>
        <p:nvSpPr>
          <p:cNvPr id="1359" name="Google Shape;1359;p47"/>
          <p:cNvSpPr/>
          <p:nvPr/>
        </p:nvSpPr>
        <p:spPr>
          <a:xfrm>
            <a:off x="323911" y="60921"/>
            <a:ext cx="11208300" cy="90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036" u="none" cap="none" strike="noStrike">
                <a:solidFill>
                  <a:srgbClr val="111F5B"/>
                </a:solidFill>
              </a:rPr>
              <a:t>Resultados al cambiar las características</a:t>
            </a:r>
            <a:endParaRPr b="1" sz="100">
              <a:solidFill>
                <a:srgbClr val="111F5B"/>
              </a:solidFill>
            </a:endParaRPr>
          </a:p>
        </p:txBody>
      </p:sp>
      <p:sp>
        <p:nvSpPr>
          <p:cNvPr id="1360" name="Google Shape;1360;p47"/>
          <p:cNvSpPr/>
          <p:nvPr/>
        </p:nvSpPr>
        <p:spPr>
          <a:xfrm>
            <a:off x="323911" y="780817"/>
            <a:ext cx="6310800" cy="53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23" u="none" cap="none" strike="noStrike">
                <a:solidFill>
                  <a:srgbClr val="040B53"/>
                </a:solidFill>
                <a:latin typeface="Arial"/>
                <a:ea typeface="Arial"/>
                <a:cs typeface="Arial"/>
                <a:sym typeface="Arial"/>
              </a:rPr>
              <a:t>B1 • Random Forest • CSIC 2010</a:t>
            </a:r>
            <a:endParaRPr/>
          </a:p>
        </p:txBody>
      </p:sp>
      <p:sp>
        <p:nvSpPr>
          <p:cNvPr id="1361" name="Google Shape;1361;p47"/>
          <p:cNvSpPr/>
          <p:nvPr/>
        </p:nvSpPr>
        <p:spPr>
          <a:xfrm>
            <a:off x="1606597" y="4304601"/>
            <a:ext cx="10115100" cy="48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060A50"/>
                </a:solidFill>
                <a:latin typeface="Arial Narrow"/>
                <a:ea typeface="Arial Narrow"/>
                <a:cs typeface="Arial Narrow"/>
                <a:sym typeface="Arial Narrow"/>
              </a:rPr>
              <a:t>Con 33 características usamos 24 menos y perdemos 1,2 puntos de F1.</a:t>
            </a:r>
            <a:endParaRPr b="1" sz="1800">
              <a:solidFill>
                <a:srgbClr val="060A50"/>
              </a:solidFill>
              <a:latin typeface="Arial Narrow"/>
              <a:ea typeface="Arial Narrow"/>
              <a:cs typeface="Arial Narrow"/>
              <a:sym typeface="Arial Narrow"/>
            </a:endParaRPr>
          </a:p>
          <a:p>
            <a:pPr indent="0" lvl="0" marL="0" marR="0" rtl="0" algn="l">
              <a:spcBef>
                <a:spcPts val="0"/>
              </a:spcBef>
              <a:spcAft>
                <a:spcPts val="0"/>
              </a:spcAft>
              <a:buNone/>
            </a:pPr>
            <a:r>
              <a:rPr b="1" lang="en-US" sz="1800">
                <a:solidFill>
                  <a:srgbClr val="060A50"/>
                </a:solidFill>
                <a:latin typeface="Arial Narrow"/>
                <a:ea typeface="Arial Narrow"/>
                <a:cs typeface="Arial Narrow"/>
                <a:sym typeface="Arial Narrow"/>
              </a:rPr>
              <a:t>Con 10, la pérdida frente a 57 aumenta a 3,3 puntos.</a:t>
            </a:r>
            <a:endParaRPr b="1" sz="1800">
              <a:solidFill>
                <a:srgbClr val="060A50"/>
              </a:solidFill>
              <a:latin typeface="Arial Narrow"/>
              <a:ea typeface="Arial Narrow"/>
              <a:cs typeface="Arial Narrow"/>
              <a:sym typeface="Arial Narrow"/>
            </a:endParaRPr>
          </a:p>
        </p:txBody>
      </p:sp>
      <p:sp>
        <p:nvSpPr>
          <p:cNvPr id="1362" name="Google Shape;1362;p47"/>
          <p:cNvSpPr/>
          <p:nvPr/>
        </p:nvSpPr>
        <p:spPr>
          <a:xfrm>
            <a:off x="1657613" y="5247354"/>
            <a:ext cx="9991200" cy="42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01" u="none" cap="none" strike="noStrike">
                <a:solidFill>
                  <a:srgbClr val="070A53"/>
                </a:solidFill>
                <a:latin typeface="Arial Narrow"/>
                <a:ea typeface="Arial Narrow"/>
                <a:cs typeface="Arial Narrow"/>
                <a:sym typeface="Arial Narrow"/>
              </a:rPr>
              <a:t>Las 10 se eligieron según la importancia calculada por Random Forest (Gini).</a:t>
            </a:r>
            <a:endParaRPr/>
          </a:p>
        </p:txBody>
      </p:sp>
      <p:sp>
        <p:nvSpPr>
          <p:cNvPr id="1363" name="Google Shape;1363;p47"/>
          <p:cNvSpPr/>
          <p:nvPr/>
        </p:nvSpPr>
        <p:spPr>
          <a:xfrm>
            <a:off x="272895" y="6380001"/>
            <a:ext cx="6223500" cy="23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04" u="none" cap="none" strike="noStrike">
                <a:solidFill>
                  <a:srgbClr val="183285"/>
                </a:solidFill>
                <a:latin typeface="Arial Narrow"/>
                <a:ea typeface="Arial Narrow"/>
                <a:cs typeface="Arial Narrow"/>
                <a:sym typeface="Arial Narrow"/>
              </a:rPr>
              <a:t>* Modelo: Breiman, L. (2001). Random Forests. https://doi.org/10.1023/A:1010933404324</a:t>
            </a:r>
            <a:endParaRPr/>
          </a:p>
        </p:txBody>
      </p:sp>
      <p:graphicFrame>
        <p:nvGraphicFramePr>
          <p:cNvPr id="1364" name="Google Shape;1364;p47"/>
          <p:cNvGraphicFramePr/>
          <p:nvPr/>
        </p:nvGraphicFramePr>
        <p:xfrm>
          <a:off x="251031" y="1304550"/>
          <a:ext cx="3000000" cy="3000000"/>
        </p:xfrm>
        <a:graphic>
          <a:graphicData uri="http://schemas.openxmlformats.org/drawingml/2006/table">
            <a:tbl>
              <a:tblPr>
                <a:noFill/>
                <a:tableStyleId>{F1B291AF-9CB1-4793-AFE8-E70834C1BA4F}</a:tableStyleId>
              </a:tblPr>
              <a:tblGrid>
                <a:gridCol w="4977700"/>
                <a:gridCol w="3330600"/>
                <a:gridCol w="3388925"/>
              </a:tblGrid>
              <a:tr h="502875">
                <a:tc>
                  <a:txBody>
                    <a:bodyPr/>
                    <a:lstStyle/>
                    <a:p>
                      <a:pPr indent="0" lvl="0" marL="0" marR="0" rtl="0" algn="l">
                        <a:spcBef>
                          <a:spcPts val="0"/>
                        </a:spcBef>
                        <a:spcAft>
                          <a:spcPts val="0"/>
                        </a:spcAft>
                        <a:buNone/>
                      </a:pPr>
                      <a:r>
                        <a:rPr b="1" lang="en-US" sz="2145" u="none" cap="none" strike="noStrike">
                          <a:solidFill>
                            <a:srgbClr val="FFFFFF"/>
                          </a:solidFill>
                          <a:latin typeface="Arial"/>
                          <a:ea typeface="Arial"/>
                          <a:cs typeface="Arial"/>
                          <a:sym typeface="Arial"/>
                        </a:rPr>
                        <a:t>Características usadas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145" u="none" cap="none" strike="noStrike">
                          <a:solidFill>
                            <a:srgbClr val="FFFFFF"/>
                          </a:solidFill>
                          <a:latin typeface="Arial"/>
                          <a:ea typeface="Arial"/>
                          <a:cs typeface="Arial"/>
                          <a:sym typeface="Arial"/>
                        </a:rPr>
                        <a:t>F1</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145" u="none" cap="none" strike="noStrike">
                          <a:solidFill>
                            <a:srgbClr val="FFFFFF"/>
                          </a:solidFill>
                          <a:latin typeface="Arial"/>
                          <a:ea typeface="Arial"/>
                          <a:cs typeface="Arial"/>
                          <a:sym typeface="Arial"/>
                        </a:rPr>
                        <a:t>Falsas alarmas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502875">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25 iniciales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90,4 %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1,4 %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17450">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33 ampliadas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93,5 %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1,0 %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524725">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57 completas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94,7 %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0,7 %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17450">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10 elegidas por el modelo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91,4 %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992" u="none" cap="none" strike="noStrike">
                          <a:solidFill>
                            <a:srgbClr val="070F64"/>
                          </a:solidFill>
                          <a:latin typeface="Arial"/>
                          <a:ea typeface="Arial"/>
                          <a:cs typeface="Arial"/>
                          <a:sym typeface="Arial"/>
                        </a:rPr>
                        <a:t>0,8 %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1365" name="Google Shape;1365;p4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66" name="Google Shape;1366;p47" title="DEFENSA_SEGURA_V2:barra-3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67" name="Google Shape;1367;p47" title="DEFENSA_SEGURA_V2:avance-37"/>
          <p:cNvSpPr/>
          <p:nvPr/>
        </p:nvSpPr>
        <p:spPr>
          <a:xfrm>
            <a:off x="0" y="0"/>
            <a:ext cx="3657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68" name="Google Shape;1368;p47" title="DEFENSA_SEGURA_V2:seccion-3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3" name="Shape 1373"/>
        <p:cNvGrpSpPr/>
        <p:nvPr/>
      </p:nvGrpSpPr>
      <p:grpSpPr>
        <a:xfrm>
          <a:off x="0" y="0"/>
          <a:ext cx="0" cy="0"/>
          <a:chOff x="0" y="0"/>
          <a:chExt cx="0" cy="0"/>
        </a:xfrm>
      </p:grpSpPr>
      <p:sp>
        <p:nvSpPr>
          <p:cNvPr id="1374" name="Google Shape;1374;p48"/>
          <p:cNvSpPr/>
          <p:nvPr/>
        </p:nvSpPr>
        <p:spPr>
          <a:xfrm>
            <a:off x="294759" y="5334810"/>
            <a:ext cx="11602500" cy="903600"/>
          </a:xfrm>
          <a:prstGeom prst="roundRect">
            <a:avLst>
              <a:gd fmla="val 6452" name="adj"/>
            </a:avLst>
          </a:prstGeom>
          <a:solidFill>
            <a:srgbClr val="EBFD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8"/>
          <p:cNvSpPr/>
          <p:nvPr/>
        </p:nvSpPr>
        <p:spPr>
          <a:xfrm>
            <a:off x="294759" y="1340990"/>
            <a:ext cx="11602500" cy="874500"/>
          </a:xfrm>
          <a:prstGeom prst="roundRect">
            <a:avLst>
              <a:gd fmla="val 6667" name="adj"/>
            </a:avLst>
          </a:prstGeom>
          <a:solidFill>
            <a:srgbClr val="E1F3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8"/>
          <p:cNvSpPr/>
          <p:nvPr/>
        </p:nvSpPr>
        <p:spPr>
          <a:xfrm>
            <a:off x="294759" y="4635163"/>
            <a:ext cx="11602500" cy="612300"/>
          </a:xfrm>
          <a:prstGeom prst="roundRect">
            <a:avLst>
              <a:gd fmla="val 9524" name="adj"/>
            </a:avLst>
          </a:prstGeom>
          <a:solidFill>
            <a:srgbClr val="EAFA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7" name="Google Shape;1377;p48"/>
          <p:cNvPicPr preferRelativeResize="0"/>
          <p:nvPr/>
        </p:nvPicPr>
        <p:blipFill rotWithShape="1">
          <a:blip r:embed="rId3">
            <a:alphaModFix/>
          </a:blip>
          <a:srcRect b="0" l="0" r="0" t="0"/>
          <a:stretch/>
        </p:blipFill>
        <p:spPr>
          <a:xfrm>
            <a:off x="542550" y="1413870"/>
            <a:ext cx="728799" cy="757951"/>
          </a:xfrm>
          <a:prstGeom prst="rect">
            <a:avLst/>
          </a:prstGeom>
          <a:noFill/>
          <a:ln>
            <a:noFill/>
          </a:ln>
        </p:spPr>
      </p:pic>
      <p:pic>
        <p:nvPicPr>
          <p:cNvPr id="1378" name="Google Shape;1378;p48"/>
          <p:cNvPicPr preferRelativeResize="0"/>
          <p:nvPr/>
        </p:nvPicPr>
        <p:blipFill rotWithShape="1">
          <a:blip r:embed="rId4">
            <a:alphaModFix/>
          </a:blip>
          <a:srcRect b="0" l="0" r="0" t="0"/>
          <a:stretch/>
        </p:blipFill>
        <p:spPr>
          <a:xfrm>
            <a:off x="1475413" y="1413870"/>
            <a:ext cx="116608" cy="728799"/>
          </a:xfrm>
          <a:prstGeom prst="rect">
            <a:avLst/>
          </a:prstGeom>
          <a:noFill/>
          <a:ln>
            <a:noFill/>
          </a:ln>
        </p:spPr>
      </p:pic>
      <p:pic>
        <p:nvPicPr>
          <p:cNvPr id="1379" name="Google Shape;1379;p48"/>
          <p:cNvPicPr preferRelativeResize="0"/>
          <p:nvPr/>
        </p:nvPicPr>
        <p:blipFill rotWithShape="1">
          <a:blip r:embed="rId5">
            <a:alphaModFix/>
          </a:blip>
          <a:srcRect b="0" l="0" r="0" t="0"/>
          <a:stretch/>
        </p:blipFill>
        <p:spPr>
          <a:xfrm>
            <a:off x="513399" y="4649739"/>
            <a:ext cx="670495" cy="583039"/>
          </a:xfrm>
          <a:prstGeom prst="rect">
            <a:avLst/>
          </a:prstGeom>
          <a:noFill/>
          <a:ln>
            <a:noFill/>
          </a:ln>
        </p:spPr>
      </p:pic>
      <p:pic>
        <p:nvPicPr>
          <p:cNvPr id="1380" name="Google Shape;1380;p48"/>
          <p:cNvPicPr preferRelativeResize="0"/>
          <p:nvPr/>
        </p:nvPicPr>
        <p:blipFill rotWithShape="1">
          <a:blip r:embed="rId6">
            <a:alphaModFix/>
          </a:blip>
          <a:srcRect b="0" l="0" r="0" t="0"/>
          <a:stretch/>
        </p:blipFill>
        <p:spPr>
          <a:xfrm>
            <a:off x="1387957" y="4678891"/>
            <a:ext cx="145760" cy="524735"/>
          </a:xfrm>
          <a:prstGeom prst="rect">
            <a:avLst/>
          </a:prstGeom>
          <a:noFill/>
          <a:ln>
            <a:noFill/>
          </a:ln>
        </p:spPr>
      </p:pic>
      <p:pic>
        <p:nvPicPr>
          <p:cNvPr id="1381" name="Google Shape;1381;p48"/>
          <p:cNvPicPr preferRelativeResize="0"/>
          <p:nvPr/>
        </p:nvPicPr>
        <p:blipFill rotWithShape="1">
          <a:blip r:embed="rId7">
            <a:alphaModFix/>
          </a:blip>
          <a:srcRect b="0" l="0" r="0" t="0"/>
          <a:stretch/>
        </p:blipFill>
        <p:spPr>
          <a:xfrm>
            <a:off x="484247" y="5436842"/>
            <a:ext cx="757951" cy="757951"/>
          </a:xfrm>
          <a:prstGeom prst="rect">
            <a:avLst/>
          </a:prstGeom>
          <a:noFill/>
          <a:ln>
            <a:noFill/>
          </a:ln>
        </p:spPr>
      </p:pic>
      <p:pic>
        <p:nvPicPr>
          <p:cNvPr id="1382" name="Google Shape;1382;p48"/>
          <p:cNvPicPr preferRelativeResize="0"/>
          <p:nvPr/>
        </p:nvPicPr>
        <p:blipFill rotWithShape="1">
          <a:blip r:embed="rId8">
            <a:alphaModFix/>
          </a:blip>
          <a:srcRect b="0" l="0" r="0" t="0"/>
          <a:stretch/>
        </p:blipFill>
        <p:spPr>
          <a:xfrm>
            <a:off x="1417109" y="5436842"/>
            <a:ext cx="116608" cy="757951"/>
          </a:xfrm>
          <a:prstGeom prst="rect">
            <a:avLst/>
          </a:prstGeom>
          <a:noFill/>
          <a:ln>
            <a:noFill/>
          </a:ln>
        </p:spPr>
      </p:pic>
      <p:sp>
        <p:nvSpPr>
          <p:cNvPr id="1383" name="Google Shape;1383;p48"/>
          <p:cNvSpPr/>
          <p:nvPr/>
        </p:nvSpPr>
        <p:spPr>
          <a:xfrm>
            <a:off x="316623" y="59600"/>
            <a:ext cx="6770100" cy="91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041" u="none" cap="none" strike="noStrike">
                <a:solidFill>
                  <a:srgbClr val="111F5B"/>
                </a:solidFill>
              </a:rPr>
              <a:t>Resultados binarios</a:t>
            </a:r>
            <a:endParaRPr b="1" sz="900">
              <a:solidFill>
                <a:srgbClr val="111F5B"/>
              </a:solidFill>
            </a:endParaRPr>
          </a:p>
        </p:txBody>
      </p:sp>
      <p:sp>
        <p:nvSpPr>
          <p:cNvPr id="1384" name="Google Shape;1384;p48"/>
          <p:cNvSpPr/>
          <p:nvPr/>
        </p:nvSpPr>
        <p:spPr>
          <a:xfrm>
            <a:off x="316623" y="776857"/>
            <a:ext cx="7804800" cy="53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43" u="none" cap="none" strike="noStrike">
                <a:solidFill>
                  <a:srgbClr val="040D58"/>
                </a:solidFill>
                <a:latin typeface="Arial"/>
                <a:ea typeface="Arial"/>
                <a:cs typeface="Arial"/>
                <a:sym typeface="Arial"/>
              </a:rPr>
              <a:t>B2 • Random Forest • 57 características</a:t>
            </a:r>
            <a:endParaRPr/>
          </a:p>
        </p:txBody>
      </p:sp>
      <p:sp>
        <p:nvSpPr>
          <p:cNvPr id="1385" name="Google Shape;1385;p48"/>
          <p:cNvSpPr/>
          <p:nvPr/>
        </p:nvSpPr>
        <p:spPr>
          <a:xfrm>
            <a:off x="1810661" y="1624509"/>
            <a:ext cx="9736200" cy="43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74" u="none" cap="none" strike="noStrike">
                <a:solidFill>
                  <a:srgbClr val="070D5B"/>
                </a:solidFill>
                <a:latin typeface="Arial Narrow"/>
                <a:ea typeface="Arial Narrow"/>
                <a:cs typeface="Arial Narrow"/>
                <a:sym typeface="Arial Narrow"/>
              </a:rPr>
              <a:t>Se entrenó y probó un modelo por separado en cada conjunto de datos.</a:t>
            </a:r>
            <a:endParaRPr/>
          </a:p>
        </p:txBody>
      </p:sp>
      <p:sp>
        <p:nvSpPr>
          <p:cNvPr id="1386" name="Google Shape;1386;p48"/>
          <p:cNvSpPr/>
          <p:nvPr/>
        </p:nvSpPr>
        <p:spPr>
          <a:xfrm>
            <a:off x="1737781" y="4831327"/>
            <a:ext cx="8468100" cy="36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55" u="none" cap="none" strike="noStrike">
                <a:solidFill>
                  <a:srgbClr val="070B5E"/>
                </a:solidFill>
                <a:latin typeface="Arial Narrow"/>
                <a:ea typeface="Arial Narrow"/>
                <a:cs typeface="Arial Narrow"/>
                <a:sym typeface="Arial Narrow"/>
              </a:rPr>
              <a:t>Falsas alarmas: porcentaje de peticiones normales marcadas como ataque.</a:t>
            </a:r>
            <a:endParaRPr/>
          </a:p>
        </p:txBody>
      </p:sp>
      <p:sp>
        <p:nvSpPr>
          <p:cNvPr id="1387" name="Google Shape;1387;p48"/>
          <p:cNvSpPr/>
          <p:nvPr/>
        </p:nvSpPr>
        <p:spPr>
          <a:xfrm>
            <a:off x="1752357" y="5466041"/>
            <a:ext cx="7360200" cy="33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90" u="none" cap="none" strike="noStrike">
                <a:solidFill>
                  <a:srgbClr val="080B5D"/>
                </a:solidFill>
                <a:latin typeface="Arial Narrow"/>
                <a:ea typeface="Arial Narrow"/>
                <a:cs typeface="Arial Narrow"/>
                <a:sym typeface="Arial Narrow"/>
              </a:rPr>
              <a:t>El límite para marcar un ataque se ajustó con los mismos datos usados</a:t>
            </a:r>
            <a:endParaRPr/>
          </a:p>
        </p:txBody>
      </p:sp>
      <p:sp>
        <p:nvSpPr>
          <p:cNvPr id="1388" name="Google Shape;1388;p48"/>
          <p:cNvSpPr/>
          <p:nvPr/>
        </p:nvSpPr>
        <p:spPr>
          <a:xfrm>
            <a:off x="1745069" y="5723421"/>
            <a:ext cx="29220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62" u="none" cap="none" strike="noStrike">
                <a:solidFill>
                  <a:srgbClr val="070A5C"/>
                </a:solidFill>
                <a:latin typeface="Calibri"/>
                <a:ea typeface="Calibri"/>
                <a:cs typeface="Calibri"/>
                <a:sym typeface="Calibri"/>
              </a:rPr>
              <a:t>para medir estos resultados.</a:t>
            </a:r>
            <a:endParaRPr/>
          </a:p>
        </p:txBody>
      </p:sp>
      <p:sp>
        <p:nvSpPr>
          <p:cNvPr id="1389" name="Google Shape;1389;p48"/>
          <p:cNvSpPr/>
          <p:nvPr/>
        </p:nvSpPr>
        <p:spPr>
          <a:xfrm>
            <a:off x="279400" y="6311900"/>
            <a:ext cx="11252100" cy="27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500" u="sng">
                <a:solidFill>
                  <a:schemeClr val="hlink"/>
                </a:solidFill>
                <a:latin typeface="Arial Narrow"/>
                <a:ea typeface="Arial Narrow"/>
                <a:cs typeface="Arial Narrow"/>
                <a:sym typeface="Arial Narrow"/>
                <a:hlinkClick action="ppaction://hlinksldjump" r:id="rId9"/>
              </a:rPr>
              <a:t>Random Forest: duración y memoria de trabajos completos en el anexo 71.</a:t>
            </a:r>
            <a:endParaRPr sz="1500">
              <a:solidFill>
                <a:srgbClr val="070B5F"/>
              </a:solidFill>
              <a:latin typeface="Arial Narrow"/>
              <a:ea typeface="Arial Narrow"/>
              <a:cs typeface="Arial Narrow"/>
              <a:sym typeface="Arial Narrow"/>
            </a:endParaRPr>
          </a:p>
        </p:txBody>
      </p:sp>
      <p:sp>
        <p:nvSpPr>
          <p:cNvPr id="1390" name="Google Shape;1390;p48"/>
          <p:cNvSpPr/>
          <p:nvPr/>
        </p:nvSpPr>
        <p:spPr>
          <a:xfrm>
            <a:off x="294759" y="6598641"/>
            <a:ext cx="6361800" cy="23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38" u="none" cap="none" strike="noStrike">
                <a:solidFill>
                  <a:srgbClr val="181A67"/>
                </a:solidFill>
                <a:latin typeface="Arial Narrow"/>
                <a:ea typeface="Arial Narrow"/>
                <a:cs typeface="Arial Narrow"/>
                <a:sym typeface="Arial Narrow"/>
              </a:rPr>
              <a:t>* Modelo: Breiman, L. (2001). Random Forests. https://doi.org/10.1023/A:1010933404324</a:t>
            </a:r>
            <a:endParaRPr/>
          </a:p>
        </p:txBody>
      </p:sp>
      <p:graphicFrame>
        <p:nvGraphicFramePr>
          <p:cNvPr id="1391" name="Google Shape;1391;p48"/>
          <p:cNvGraphicFramePr/>
          <p:nvPr/>
        </p:nvGraphicFramePr>
        <p:xfrm>
          <a:off x="294759" y="2324869"/>
          <a:ext cx="3000000" cy="3000000"/>
        </p:xfrm>
        <a:graphic>
          <a:graphicData uri="http://schemas.openxmlformats.org/drawingml/2006/table">
            <a:tbl>
              <a:tblPr>
                <a:noFill/>
                <a:tableStyleId>{F1B291AF-9CB1-4793-AFE8-E70834C1BA4F}</a:tableStyleId>
              </a:tblPr>
              <a:tblGrid>
                <a:gridCol w="3833475"/>
                <a:gridCol w="3920950"/>
                <a:gridCol w="3862625"/>
              </a:tblGrid>
              <a:tr h="524725">
                <a:tc>
                  <a:txBody>
                    <a:bodyPr/>
                    <a:lstStyle/>
                    <a:p>
                      <a:pPr indent="0" lvl="0" marL="0" marR="0" rtl="0" algn="l">
                        <a:spcBef>
                          <a:spcPts val="0"/>
                        </a:spcBef>
                        <a:spcAft>
                          <a:spcPts val="0"/>
                        </a:spcAft>
                        <a:buNone/>
                      </a:pPr>
                      <a:r>
                        <a:rPr b="1" lang="en-US" sz="2247" u="none" cap="none" strike="noStrike">
                          <a:solidFill>
                            <a:srgbClr val="FFFFFF"/>
                          </a:solidFill>
                          <a:latin typeface="Arial"/>
                          <a:ea typeface="Arial"/>
                          <a:cs typeface="Arial"/>
                          <a:sym typeface="Arial"/>
                        </a:rPr>
                        <a:t>Conjunto de datos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247" u="none" cap="none" strike="noStrike">
                          <a:solidFill>
                            <a:srgbClr val="FFFFFF"/>
                          </a:solidFill>
                          <a:latin typeface="Arial"/>
                          <a:ea typeface="Arial"/>
                          <a:cs typeface="Arial"/>
                          <a:sym typeface="Arial"/>
                        </a:rPr>
                        <a:t>F1</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247" u="none" cap="none" strike="noStrike">
                          <a:solidFill>
                            <a:srgbClr val="FFFFFF"/>
                          </a:solidFill>
                          <a:latin typeface="Arial"/>
                          <a:ea typeface="Arial"/>
                          <a:cs typeface="Arial"/>
                          <a:sym typeface="Arial"/>
                        </a:rPr>
                        <a:t>Falsas alarmas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546600">
                <a:tc>
                  <a:txBody>
                    <a:bodyPr/>
                    <a:lstStyle/>
                    <a:p>
                      <a:pPr indent="0" lvl="0" marL="0" marR="0" rtl="0" algn="l">
                        <a:spcBef>
                          <a:spcPts val="0"/>
                        </a:spcBef>
                        <a:spcAft>
                          <a:spcPts val="0"/>
                        </a:spcAft>
                        <a:buNone/>
                      </a:pPr>
                      <a:r>
                        <a:rPr b="1" lang="en-US" sz="2247" u="none" cap="none" strike="noStrike">
                          <a:solidFill>
                            <a:srgbClr val="070F64"/>
                          </a:solidFill>
                          <a:latin typeface="Arial"/>
                          <a:ea typeface="Arial"/>
                          <a:cs typeface="Arial"/>
                          <a:sym typeface="Arial"/>
                        </a:rPr>
                        <a:t>CSIC 2010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94,67 %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0,73 %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53875">
                <a:tc>
                  <a:txBody>
                    <a:bodyPr/>
                    <a:lstStyle/>
                    <a:p>
                      <a:pPr indent="0" lvl="0" marL="0" marR="0" rtl="0" algn="l">
                        <a:spcBef>
                          <a:spcPts val="0"/>
                        </a:spcBef>
                        <a:spcAft>
                          <a:spcPts val="0"/>
                        </a:spcAft>
                        <a:buNone/>
                      </a:pPr>
                      <a:r>
                        <a:rPr b="1" lang="en-US" sz="2247" u="none" cap="none" strike="noStrike">
                          <a:solidFill>
                            <a:srgbClr val="070F64"/>
                          </a:solidFill>
                          <a:latin typeface="Arial"/>
                          <a:ea typeface="Arial"/>
                          <a:cs typeface="Arial"/>
                          <a:sym typeface="Arial"/>
                        </a:rPr>
                        <a:t>SR-BH 2020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95,07 %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3,42 %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524725">
                <a:tc>
                  <a:txBody>
                    <a:bodyPr/>
                    <a:lstStyle/>
                    <a:p>
                      <a:pPr indent="0" lvl="0" marL="0" marR="0" rtl="0" algn="l">
                        <a:spcBef>
                          <a:spcPts val="0"/>
                        </a:spcBef>
                        <a:spcAft>
                          <a:spcPts val="0"/>
                        </a:spcAft>
                        <a:buNone/>
                      </a:pPr>
                      <a:r>
                        <a:rPr b="1" lang="en-US" sz="2247" u="none" cap="none" strike="noStrike">
                          <a:solidFill>
                            <a:srgbClr val="070F64"/>
                          </a:solidFill>
                          <a:latin typeface="Arial"/>
                          <a:ea typeface="Arial"/>
                          <a:cs typeface="Arial"/>
                          <a:sym typeface="Arial"/>
                        </a:rPr>
                        <a:t>TorpEda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99,89 %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247" u="none" cap="none" strike="noStrike">
                          <a:solidFill>
                            <a:srgbClr val="070F64"/>
                          </a:solidFill>
                          <a:latin typeface="Arial"/>
                          <a:ea typeface="Arial"/>
                          <a:cs typeface="Arial"/>
                          <a:sym typeface="Arial"/>
                        </a:rPr>
                        <a:t>0,12 %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1392" name="Google Shape;1392;p4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93" name="Google Shape;1393;p48" title="DEFENSA_SEGURA_V2:barra-36"/>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4" name="Google Shape;1394;p48" title="DEFENSA_SEGURA_V2:avance-36"/>
          <p:cNvSpPr/>
          <p:nvPr/>
        </p:nvSpPr>
        <p:spPr>
          <a:xfrm>
            <a:off x="0" y="0"/>
            <a:ext cx="2438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5" name="Google Shape;1395;p48" title="DEFENSA_SEGURA_V2:seccion-36"/>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0" name="Shape 1400"/>
        <p:cNvGrpSpPr/>
        <p:nvPr/>
      </p:nvGrpSpPr>
      <p:grpSpPr>
        <a:xfrm>
          <a:off x="0" y="0"/>
          <a:ext cx="0" cy="0"/>
          <a:chOff x="0" y="0"/>
          <a:chExt cx="0" cy="0"/>
        </a:xfrm>
      </p:grpSpPr>
      <p:sp>
        <p:nvSpPr>
          <p:cNvPr id="1401" name="Google Shape;1401;p49"/>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Binario: decisiones con mayor impacto</a:t>
            </a:r>
            <a:endParaRPr b="1">
              <a:solidFill>
                <a:srgbClr val="111F5B"/>
              </a:solidFill>
            </a:endParaRPr>
          </a:p>
        </p:txBody>
      </p:sp>
      <p:sp>
        <p:nvSpPr>
          <p:cNvPr id="1402" name="Google Shape;1402;p49"/>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800"/>
              <a:buFont typeface="Arial"/>
              <a:buNone/>
            </a:pPr>
            <a:r>
              <a:rPr b="0" lang="en-US" sz="1800">
                <a:solidFill>
                  <a:srgbClr val="070F64"/>
                </a:solidFill>
                <a:latin typeface="Arial"/>
                <a:ea typeface="Arial"/>
                <a:cs typeface="Arial"/>
                <a:sym typeface="Arial"/>
              </a:rPr>
              <a:t>Mejoras observadas en CSIC 2010</a:t>
            </a:r>
            <a:endParaRPr/>
          </a:p>
        </p:txBody>
      </p:sp>
      <p:graphicFrame>
        <p:nvGraphicFramePr>
          <p:cNvPr id="1403" name="Google Shape;1403;p49"/>
          <p:cNvGraphicFramePr/>
          <p:nvPr/>
        </p:nvGraphicFramePr>
        <p:xfrm>
          <a:off x="285750" y="1524000"/>
          <a:ext cx="3000000" cy="3000000"/>
        </p:xfrm>
        <a:graphic>
          <a:graphicData uri="http://schemas.openxmlformats.org/drawingml/2006/table">
            <a:tbl>
              <a:tblPr>
                <a:noFill/>
                <a:tableStyleId>{F1B291AF-9CB1-4793-AFE8-E70834C1BA4F}</a:tableStyleId>
              </a:tblPr>
              <a:tblGrid>
                <a:gridCol w="3962400"/>
                <a:gridCol w="3333750"/>
                <a:gridCol w="4324350"/>
              </a:tblGrid>
              <a:tr h="419100">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Decisión</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Cambio observado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Lectura del resultado</a:t>
                      </a:r>
                      <a:endParaRPr/>
                    </a:p>
                  </a:txBody>
                  <a:tcPr marT="76200" marB="76200" marR="95250" marL="114300" anchor="ctr">
                    <a:solidFill>
                      <a:srgbClr val="083672"/>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Usar Random Forest supervisado</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en lugar de OCSVM calibrado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F1: 78,7 % a 94,7 %</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+16,0 puntos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Falsas alarmas: 9,9 % a 0,7 %</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Mayor salto entre etapas. Cambian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el algoritmo y el aprendizaje.</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No aísla una sola causa.</a:t>
                      </a:r>
                      <a:endParaRPr/>
                    </a:p>
                  </a:txBody>
                  <a:tcPr marT="76200" marB="76200" marR="95250" marL="114300" anchor="ctr">
                    <a:solidFill>
                      <a:srgbClr val="DFF4FC"/>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Añadir entropía y composición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a las 25 variables iniciales</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F1: 90,4 % a 93,5 %</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+3,1 puntos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Falsas alarmas: 1,4 % a 1,0 %</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Principal mejora de representación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con Random Forest fijo.</a:t>
                      </a:r>
                      <a:endParaRPr/>
                    </a:p>
                  </a:txBody>
                  <a:tcPr marT="76200" marB="76200" marR="95250" marL="114300" anchor="ctr">
                    <a:solidFill>
                      <a:srgbClr val="F6FBFD"/>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Completar la representación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con distribución de caracteres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F1: 93,5 % a 94,7 %</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+1,2 puntos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Falsas alarmas: 1,0 % a 0,7 %</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Las 57 variables rinden mejor.</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Usar solo el top 10 baja F1</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a 91,4 % (−3,3 puntos).</a:t>
                      </a:r>
                      <a:endParaRPr/>
                    </a:p>
                  </a:txBody>
                  <a:tcPr marT="76200" marB="76200" marR="95250" marL="114300" anchor="ctr">
                    <a:solidFill>
                      <a:srgbClr val="DFF4FC"/>
                    </a:solidFill>
                  </a:tcPr>
                </a:tc>
              </a:tr>
            </a:tbl>
          </a:graphicData>
        </a:graphic>
      </p:graphicFrame>
      <p:sp>
        <p:nvSpPr>
          <p:cNvPr id="1404" name="Google Shape;1404;p49"/>
          <p:cNvSpPr/>
          <p:nvPr/>
        </p:nvSpPr>
        <p:spPr>
          <a:xfrm>
            <a:off x="304800" y="5648325"/>
            <a:ext cx="11525400" cy="60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500"/>
              <a:buFont typeface="Arial"/>
              <a:buNone/>
            </a:pPr>
            <a:r>
              <a:rPr b="0" lang="en-US" sz="1500">
                <a:solidFill>
                  <a:srgbClr val="070F64"/>
                </a:solidFill>
                <a:latin typeface="Arial"/>
                <a:ea typeface="Arial"/>
                <a:cs typeface="Arial"/>
                <a:sym typeface="Arial"/>
              </a:rPr>
              <a:t>La evidencia es exploratoria. El ajuste de umbral de B2 usó la prueba y aportó una mejora marginal.</a:t>
            </a:r>
            <a:endParaRPr/>
          </a:p>
        </p:txBody>
      </p:sp>
      <p:sp>
        <p:nvSpPr>
          <p:cNvPr id="1405" name="Google Shape;1405;p4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06" name="Google Shape;1406;p49" title="DEFENSA_SEGURA_V2:barra-3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7" name="Google Shape;1407;p49" title="DEFENSA_SEGURA_V2:avance-38"/>
          <p:cNvSpPr/>
          <p:nvPr/>
        </p:nvSpPr>
        <p:spPr>
          <a:xfrm>
            <a:off x="0" y="0"/>
            <a:ext cx="487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8" name="Google Shape;1408;p49" title="DEFENSA_SEGURA_V2:seccion-3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3" name="Shape 1413"/>
        <p:cNvGrpSpPr/>
        <p:nvPr/>
      </p:nvGrpSpPr>
      <p:grpSpPr>
        <a:xfrm>
          <a:off x="0" y="0"/>
          <a:ext cx="0" cy="0"/>
          <a:chOff x="0" y="0"/>
          <a:chExt cx="0" cy="0"/>
        </a:xfrm>
      </p:grpSpPr>
      <p:sp>
        <p:nvSpPr>
          <p:cNvPr id="1414" name="Google Shape;1414;p50"/>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Comparación con antecedentes</a:t>
            </a:r>
            <a:endParaRPr b="1" sz="3600">
              <a:solidFill>
                <a:srgbClr val="111F5B"/>
              </a:solidFill>
            </a:endParaRPr>
          </a:p>
        </p:txBody>
      </p:sp>
      <p:sp>
        <p:nvSpPr>
          <p:cNvPr id="1415" name="Google Shape;1415;p50"/>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Clasificación binaria · Calidad de detección y costo de ejecución.</a:t>
            </a:r>
            <a:endParaRPr sz="1800">
              <a:solidFill>
                <a:srgbClr val="070F64"/>
              </a:solidFill>
            </a:endParaRPr>
          </a:p>
        </p:txBody>
      </p:sp>
      <p:graphicFrame>
        <p:nvGraphicFramePr>
          <p:cNvPr id="1416" name="Google Shape;1416;p50"/>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2413000"/>
                <a:gridCol w="3175000"/>
                <a:gridCol w="2730500"/>
                <a:gridCol w="33020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 y 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Detección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Costo de ejecución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Relación con la propuesta</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Chakir et al. (2023)</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99,867 %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FPR: 0,267 %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Grafica tiempo de predicción;</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cifra y peticiones/s: NV</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RF usa conteos de términos;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B2 usa variables HTTP.</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Particiones distintas.</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Yang et al. (2025)</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89,755 %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Exactitud: 90,937 %</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Cifra de latencia o</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peticiones/s: NV</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Aprende la representación;</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B2 calcula las variables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antes del modelo.</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Luo et al. (2026)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CSIC 2010</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99,63 %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Exactitud: 99,70 %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informa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Embeddings de 1.536</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componentes frente 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57 variables HTTP en B2.</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 B2</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CSIC 2010</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F1: 94,67 %</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FPR: 0,73 %</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450">
                          <a:solidFill>
                            <a:srgbClr val="070F64"/>
                          </a:solidFill>
                        </a:rPr>
                        <a:t>Slurm 2476 (histórico)*</a:t>
                      </a:r>
                      <a:endParaRPr b="1" sz="1450">
                        <a:solidFill>
                          <a:srgbClr val="070F64"/>
                        </a:solidFill>
                      </a:endParaRPr>
                    </a:p>
                    <a:p>
                      <a:pPr indent="0" lvl="0" marL="0" marR="0" rtl="0" algn="l">
                        <a:lnSpc>
                          <a:spcPct val="100000"/>
                        </a:lnSpc>
                        <a:spcBef>
                          <a:spcPts val="0"/>
                        </a:spcBef>
                        <a:spcAft>
                          <a:spcPts val="0"/>
                        </a:spcAft>
                        <a:buNone/>
                      </a:pPr>
                      <a:r>
                        <a:rPr b="1" lang="en-US" sz="1450">
                          <a:solidFill>
                            <a:srgbClr val="070F64"/>
                          </a:solidFill>
                        </a:rPr>
                        <a:t>Total: 15 s</a:t>
                      </a:r>
                      <a:endParaRPr b="1" sz="1450">
                        <a:solidFill>
                          <a:srgbClr val="070F64"/>
                        </a:solidFill>
                      </a:endParaRPr>
                    </a:p>
                    <a:p>
                      <a:pPr indent="0" lvl="0" marL="0" marR="0" rtl="0" algn="l">
                        <a:lnSpc>
                          <a:spcPct val="100000"/>
                        </a:lnSpc>
                        <a:spcBef>
                          <a:spcPts val="0"/>
                        </a:spcBef>
                        <a:spcAft>
                          <a:spcPts val="0"/>
                        </a:spcAft>
                        <a:buNone/>
                      </a:pPr>
                      <a:r>
                        <a:rPr b="1" lang="en-US" sz="1450">
                          <a:solidFill>
                            <a:srgbClr val="070F64"/>
                          </a:solidFill>
                        </a:rPr>
                        <a:t>RAM máx.: 942,13 MiB</a:t>
                      </a:r>
                      <a:endParaRPr b="1" sz="145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RF con 57 variables.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Umbral explorado sobre test;</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no es un ranking controlado.</a:t>
                      </a:r>
                      <a:endParaRPr b="1" sz="1600">
                        <a:solidFill>
                          <a:srgbClr val="070F64"/>
                        </a:solidFill>
                      </a:endParaRPr>
                    </a:p>
                  </a:txBody>
                  <a:tcPr marT="76200" marB="76200" marR="114300" marL="114300" anchor="ctr">
                    <a:solidFill>
                      <a:srgbClr val="F6FBFD"/>
                    </a:solidFill>
                  </a:tcPr>
                </a:tc>
              </a:tr>
            </a:tbl>
          </a:graphicData>
        </a:graphic>
      </p:graphicFrame>
      <p:sp>
        <p:nvSpPr>
          <p:cNvPr id="1417" name="Google Shape;1417;p50"/>
          <p:cNvSpPr/>
          <p:nvPr/>
        </p:nvSpPr>
        <p:spPr>
          <a:xfrm>
            <a:off x="304800" y="5943600"/>
            <a:ext cx="11582400" cy="50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 Slurm: duración del trabajo completo, no tiempo por petición; RAM = máximo RSS.</a:t>
            </a:r>
            <a:endParaRPr b="1" sz="1700">
              <a:solidFill>
                <a:srgbClr val="070F64"/>
              </a:solidFill>
            </a:endParaRPr>
          </a:p>
          <a:p>
            <a:pPr indent="0" lvl="0" marL="0" marR="0" rtl="0" algn="l">
              <a:spcBef>
                <a:spcPts val="0"/>
              </a:spcBef>
              <a:spcAft>
                <a:spcPts val="0"/>
              </a:spcAft>
              <a:buNone/>
            </a:pPr>
            <a:r>
              <a:rPr b="1" lang="en-US" sz="1700">
                <a:solidFill>
                  <a:srgbClr val="070F64"/>
                </a:solidFill>
              </a:rPr>
              <a:t>La configuración del registro histórico puede diferir de la usada para medir la detección.</a:t>
            </a:r>
            <a:endParaRPr b="1" sz="1700">
              <a:solidFill>
                <a:srgbClr val="070F64"/>
              </a:solidFill>
            </a:endParaRPr>
          </a:p>
        </p:txBody>
      </p:sp>
      <p:sp>
        <p:nvSpPr>
          <p:cNvPr id="1418" name="Google Shape;1418;p50"/>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Las cifras describen pruebas con datos y protocolos distintos. Fuentes y alcance en las notas.</a:t>
            </a:r>
            <a:endParaRPr sz="1000">
              <a:solidFill>
                <a:srgbClr val="070F64"/>
              </a:solidFill>
            </a:endParaRPr>
          </a:p>
        </p:txBody>
      </p:sp>
      <p:sp>
        <p:nvSpPr>
          <p:cNvPr id="1419" name="Google Shape;1419;p5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20" name="Google Shape;1420;p50" title="DEFENSA_SEGURA_V2:barra-2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21" name="Google Shape;1421;p50" title="DEFENSA_SEGURA_V2:avance-20"/>
          <p:cNvSpPr/>
          <p:nvPr/>
        </p:nvSpPr>
        <p:spPr>
          <a:xfrm>
            <a:off x="0" y="0"/>
            <a:ext cx="7758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22" name="Google Shape;1422;p50" title="DEFENSA_SEGURA_V2:seccion-2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6" name="Shape 1426"/>
        <p:cNvGrpSpPr/>
        <p:nvPr/>
      </p:nvGrpSpPr>
      <p:grpSpPr>
        <a:xfrm>
          <a:off x="0" y="0"/>
          <a:ext cx="0" cy="0"/>
          <a:chOff x="0" y="0"/>
          <a:chExt cx="0" cy="0"/>
        </a:xfrm>
      </p:grpSpPr>
      <p:sp>
        <p:nvSpPr>
          <p:cNvPr id="1427" name="Google Shape;1427;p51"/>
          <p:cNvSpPr/>
          <p:nvPr/>
        </p:nvSpPr>
        <p:spPr>
          <a:xfrm>
            <a:off x="207303" y="1136927"/>
            <a:ext cx="6588344" cy="4139579"/>
          </a:xfrm>
          <a:prstGeom prst="roundRect">
            <a:avLst>
              <a:gd fmla="val 1408" name="adj"/>
            </a:avLst>
          </a:prstGeom>
          <a:solidFill>
            <a:srgbClr val="E3F5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51"/>
          <p:cNvSpPr/>
          <p:nvPr/>
        </p:nvSpPr>
        <p:spPr>
          <a:xfrm>
            <a:off x="6853951" y="1107775"/>
            <a:ext cx="5130746" cy="4168731"/>
          </a:xfrm>
          <a:prstGeom prst="roundRect">
            <a:avLst>
              <a:gd fmla="val 1399" name="adj"/>
            </a:avLst>
          </a:prstGeom>
          <a:solidFill>
            <a:srgbClr val="DDF9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1"/>
          <p:cNvSpPr/>
          <p:nvPr/>
        </p:nvSpPr>
        <p:spPr>
          <a:xfrm>
            <a:off x="207303" y="5772089"/>
            <a:ext cx="11777394" cy="524735"/>
          </a:xfrm>
          <a:prstGeom prst="roundRect">
            <a:avLst>
              <a:gd fmla="val 11111" name="adj"/>
            </a:avLst>
          </a:prstGeom>
          <a:solidFill>
            <a:srgbClr val="D8EF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1"/>
          <p:cNvSpPr/>
          <p:nvPr/>
        </p:nvSpPr>
        <p:spPr>
          <a:xfrm>
            <a:off x="207303" y="5305658"/>
            <a:ext cx="11777394" cy="437279"/>
          </a:xfrm>
          <a:prstGeom prst="roundRect">
            <a:avLst>
              <a:gd fmla="val 13333" name="adj"/>
            </a:avLst>
          </a:prstGeom>
          <a:solidFill>
            <a:srgbClr val="E2F4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1" name="Google Shape;1431;p51"/>
          <p:cNvPicPr preferRelativeResize="0"/>
          <p:nvPr/>
        </p:nvPicPr>
        <p:blipFill rotWithShape="1">
          <a:blip r:embed="rId3">
            <a:alphaModFix/>
          </a:blip>
          <a:srcRect b="0" l="0" r="0" t="0"/>
          <a:stretch/>
        </p:blipFill>
        <p:spPr>
          <a:xfrm>
            <a:off x="7160047" y="1617934"/>
            <a:ext cx="349824" cy="349824"/>
          </a:xfrm>
          <a:prstGeom prst="rect">
            <a:avLst/>
          </a:prstGeom>
          <a:noFill/>
          <a:ln>
            <a:noFill/>
          </a:ln>
        </p:spPr>
      </p:pic>
      <p:pic>
        <p:nvPicPr>
          <p:cNvPr id="1432" name="Google Shape;1432;p51"/>
          <p:cNvPicPr preferRelativeResize="0"/>
          <p:nvPr/>
        </p:nvPicPr>
        <p:blipFill rotWithShape="1">
          <a:blip r:embed="rId4">
            <a:alphaModFix/>
          </a:blip>
          <a:srcRect b="0" l="0" r="0" t="0"/>
          <a:stretch/>
        </p:blipFill>
        <p:spPr>
          <a:xfrm>
            <a:off x="7130895" y="1967758"/>
            <a:ext cx="408128" cy="349824"/>
          </a:xfrm>
          <a:prstGeom prst="rect">
            <a:avLst/>
          </a:prstGeom>
          <a:noFill/>
          <a:ln>
            <a:noFill/>
          </a:ln>
        </p:spPr>
      </p:pic>
      <p:pic>
        <p:nvPicPr>
          <p:cNvPr id="1433" name="Google Shape;1433;p51"/>
          <p:cNvPicPr preferRelativeResize="0"/>
          <p:nvPr/>
        </p:nvPicPr>
        <p:blipFill rotWithShape="1">
          <a:blip r:embed="rId5">
            <a:alphaModFix/>
          </a:blip>
          <a:srcRect b="0" l="0" r="0" t="0"/>
          <a:stretch/>
        </p:blipFill>
        <p:spPr>
          <a:xfrm>
            <a:off x="7160047" y="2317581"/>
            <a:ext cx="349824" cy="349824"/>
          </a:xfrm>
          <a:prstGeom prst="rect">
            <a:avLst/>
          </a:prstGeom>
          <a:noFill/>
          <a:ln>
            <a:noFill/>
          </a:ln>
        </p:spPr>
      </p:pic>
      <p:pic>
        <p:nvPicPr>
          <p:cNvPr id="1434" name="Google Shape;1434;p51"/>
          <p:cNvPicPr preferRelativeResize="0"/>
          <p:nvPr/>
        </p:nvPicPr>
        <p:blipFill rotWithShape="1">
          <a:blip r:embed="rId6">
            <a:alphaModFix/>
          </a:blip>
          <a:srcRect b="0" l="0" r="0" t="0"/>
          <a:stretch/>
        </p:blipFill>
        <p:spPr>
          <a:xfrm>
            <a:off x="7160047" y="2667405"/>
            <a:ext cx="349824" cy="349824"/>
          </a:xfrm>
          <a:prstGeom prst="rect">
            <a:avLst/>
          </a:prstGeom>
          <a:noFill/>
          <a:ln>
            <a:noFill/>
          </a:ln>
        </p:spPr>
      </p:pic>
      <p:pic>
        <p:nvPicPr>
          <p:cNvPr id="1435" name="Google Shape;1435;p51"/>
          <p:cNvPicPr preferRelativeResize="0"/>
          <p:nvPr/>
        </p:nvPicPr>
        <p:blipFill rotWithShape="1">
          <a:blip r:embed="rId7">
            <a:alphaModFix/>
          </a:blip>
          <a:srcRect b="0" l="0" r="0" t="0"/>
          <a:stretch/>
        </p:blipFill>
        <p:spPr>
          <a:xfrm>
            <a:off x="7160047" y="3046380"/>
            <a:ext cx="349824" cy="349824"/>
          </a:xfrm>
          <a:prstGeom prst="rect">
            <a:avLst/>
          </a:prstGeom>
          <a:noFill/>
          <a:ln>
            <a:noFill/>
          </a:ln>
        </p:spPr>
      </p:pic>
      <p:pic>
        <p:nvPicPr>
          <p:cNvPr id="1436" name="Google Shape;1436;p51"/>
          <p:cNvPicPr preferRelativeResize="0"/>
          <p:nvPr/>
        </p:nvPicPr>
        <p:blipFill rotWithShape="1">
          <a:blip r:embed="rId8">
            <a:alphaModFix/>
          </a:blip>
          <a:srcRect b="0" l="0" r="0" t="0"/>
          <a:stretch/>
        </p:blipFill>
        <p:spPr>
          <a:xfrm>
            <a:off x="571702" y="3979243"/>
            <a:ext cx="728799" cy="728799"/>
          </a:xfrm>
          <a:prstGeom prst="rect">
            <a:avLst/>
          </a:prstGeom>
          <a:noFill/>
          <a:ln>
            <a:noFill/>
          </a:ln>
        </p:spPr>
      </p:pic>
      <p:pic>
        <p:nvPicPr>
          <p:cNvPr id="1437" name="Google Shape;1437;p51"/>
          <p:cNvPicPr preferRelativeResize="0"/>
          <p:nvPr/>
        </p:nvPicPr>
        <p:blipFill rotWithShape="1">
          <a:blip r:embed="rId9">
            <a:alphaModFix/>
          </a:blip>
          <a:srcRect b="0" l="0" r="0" t="0"/>
          <a:stretch/>
        </p:blipFill>
        <p:spPr>
          <a:xfrm>
            <a:off x="3107923" y="3979243"/>
            <a:ext cx="874559" cy="728799"/>
          </a:xfrm>
          <a:prstGeom prst="rect">
            <a:avLst/>
          </a:prstGeom>
          <a:noFill/>
          <a:ln>
            <a:noFill/>
          </a:ln>
        </p:spPr>
      </p:pic>
      <p:pic>
        <p:nvPicPr>
          <p:cNvPr id="1438" name="Google Shape;1438;p51"/>
          <p:cNvPicPr preferRelativeResize="0"/>
          <p:nvPr/>
        </p:nvPicPr>
        <p:blipFill rotWithShape="1">
          <a:blip r:embed="rId10">
            <a:alphaModFix/>
          </a:blip>
          <a:srcRect b="0" l="0" r="0" t="0"/>
          <a:stretch/>
        </p:blipFill>
        <p:spPr>
          <a:xfrm>
            <a:off x="3982482" y="4008395"/>
            <a:ext cx="1166079" cy="699647"/>
          </a:xfrm>
          <a:prstGeom prst="rect">
            <a:avLst/>
          </a:prstGeom>
          <a:noFill/>
          <a:ln>
            <a:noFill/>
          </a:ln>
        </p:spPr>
      </p:pic>
      <p:pic>
        <p:nvPicPr>
          <p:cNvPr id="1439" name="Google Shape;1439;p51"/>
          <p:cNvPicPr preferRelativeResize="0"/>
          <p:nvPr/>
        </p:nvPicPr>
        <p:blipFill rotWithShape="1">
          <a:blip r:embed="rId11">
            <a:alphaModFix/>
          </a:blip>
          <a:srcRect b="0" l="0" r="0" t="0"/>
          <a:stretch/>
        </p:blipFill>
        <p:spPr>
          <a:xfrm>
            <a:off x="1883541" y="4066699"/>
            <a:ext cx="757951" cy="641343"/>
          </a:xfrm>
          <a:prstGeom prst="rect">
            <a:avLst/>
          </a:prstGeom>
          <a:noFill/>
          <a:ln>
            <a:noFill/>
          </a:ln>
        </p:spPr>
      </p:pic>
      <p:pic>
        <p:nvPicPr>
          <p:cNvPr id="1440" name="Google Shape;1440;p51"/>
          <p:cNvPicPr preferRelativeResize="0"/>
          <p:nvPr/>
        </p:nvPicPr>
        <p:blipFill rotWithShape="1">
          <a:blip r:embed="rId12">
            <a:alphaModFix/>
          </a:blip>
          <a:srcRect b="0" l="0" r="0" t="0"/>
          <a:stretch/>
        </p:blipFill>
        <p:spPr>
          <a:xfrm>
            <a:off x="367639" y="5349386"/>
            <a:ext cx="524735" cy="378976"/>
          </a:xfrm>
          <a:prstGeom prst="rect">
            <a:avLst/>
          </a:prstGeom>
          <a:noFill/>
          <a:ln>
            <a:noFill/>
          </a:ln>
        </p:spPr>
      </p:pic>
      <p:sp>
        <p:nvSpPr>
          <p:cNvPr id="1441" name="Google Shape;1441;p51"/>
          <p:cNvSpPr/>
          <p:nvPr/>
        </p:nvSpPr>
        <p:spPr>
          <a:xfrm>
            <a:off x="1453549" y="4350931"/>
            <a:ext cx="342536" cy="182200"/>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1"/>
          <p:cNvSpPr/>
          <p:nvPr/>
        </p:nvSpPr>
        <p:spPr>
          <a:xfrm>
            <a:off x="2750812" y="4350931"/>
            <a:ext cx="342536" cy="182200"/>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1"/>
          <p:cNvSpPr/>
          <p:nvPr/>
        </p:nvSpPr>
        <p:spPr>
          <a:xfrm>
            <a:off x="5177713" y="4350931"/>
            <a:ext cx="342536" cy="182200"/>
          </a:xfrm>
          <a:prstGeom prst="rightArrow">
            <a:avLst>
              <a:gd fmla="val 50000" name="adj1"/>
              <a:gd fmla="val 50000" name="adj2"/>
            </a:avLst>
          </a:prstGeom>
          <a:solidFill>
            <a:srgbClr val="008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1"/>
          <p:cNvSpPr/>
          <p:nvPr/>
        </p:nvSpPr>
        <p:spPr>
          <a:xfrm>
            <a:off x="389503" y="1734542"/>
            <a:ext cx="481007" cy="481007"/>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121" u="none" cap="none" strike="noStrike">
                <a:solidFill>
                  <a:srgbClr val="FFFFFF"/>
                </a:solidFill>
                <a:latin typeface="Arial"/>
                <a:ea typeface="Arial"/>
                <a:cs typeface="Arial"/>
                <a:sym typeface="Arial"/>
              </a:rPr>
              <a:t>1</a:t>
            </a:r>
            <a:endParaRPr/>
          </a:p>
        </p:txBody>
      </p:sp>
      <p:sp>
        <p:nvSpPr>
          <p:cNvPr id="1445" name="Google Shape;1445;p51"/>
          <p:cNvSpPr/>
          <p:nvPr/>
        </p:nvSpPr>
        <p:spPr>
          <a:xfrm>
            <a:off x="389503" y="2448765"/>
            <a:ext cx="481007" cy="481007"/>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121" u="none" cap="none" strike="noStrike">
                <a:solidFill>
                  <a:srgbClr val="FFFFFF"/>
                </a:solidFill>
                <a:latin typeface="Arial"/>
                <a:ea typeface="Arial"/>
                <a:cs typeface="Arial"/>
                <a:sym typeface="Arial"/>
              </a:rPr>
              <a:t>2</a:t>
            </a:r>
            <a:endParaRPr/>
          </a:p>
        </p:txBody>
      </p:sp>
      <p:sp>
        <p:nvSpPr>
          <p:cNvPr id="1446" name="Google Shape;1446;p51"/>
          <p:cNvSpPr/>
          <p:nvPr/>
        </p:nvSpPr>
        <p:spPr>
          <a:xfrm>
            <a:off x="389503" y="3170276"/>
            <a:ext cx="481007" cy="481007"/>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121" u="none" cap="none" strike="noStrike">
                <a:solidFill>
                  <a:srgbClr val="FFFFFF"/>
                </a:solidFill>
                <a:latin typeface="Arial"/>
                <a:ea typeface="Arial"/>
                <a:cs typeface="Arial"/>
                <a:sym typeface="Arial"/>
              </a:rPr>
              <a:t>3</a:t>
            </a:r>
            <a:endParaRPr/>
          </a:p>
        </p:txBody>
      </p:sp>
      <p:sp>
        <p:nvSpPr>
          <p:cNvPr id="1447" name="Google Shape;1447;p51"/>
          <p:cNvSpPr/>
          <p:nvPr/>
        </p:nvSpPr>
        <p:spPr>
          <a:xfrm>
            <a:off x="294759" y="58304"/>
            <a:ext cx="6930303" cy="8677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256" u="none" cap="none" strike="noStrike">
                <a:solidFill>
                  <a:srgbClr val="111F5B"/>
                </a:solidFill>
              </a:rPr>
              <a:t>HistGradientBoosting</a:t>
            </a:r>
            <a:endParaRPr b="1">
              <a:solidFill>
                <a:srgbClr val="111F5B"/>
              </a:solidFill>
            </a:endParaRPr>
          </a:p>
        </p:txBody>
      </p:sp>
      <p:sp>
        <p:nvSpPr>
          <p:cNvPr id="1448" name="Google Shape;1448;p51"/>
          <p:cNvSpPr/>
          <p:nvPr/>
        </p:nvSpPr>
        <p:spPr>
          <a:xfrm>
            <a:off x="258319" y="721511"/>
            <a:ext cx="6638783" cy="4226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560" u="none" cap="none" strike="noStrike">
                <a:solidFill>
                  <a:srgbClr val="0609BE"/>
                </a:solidFill>
                <a:latin typeface="Quattrocento Sans"/>
                <a:ea typeface="Quattrocento Sans"/>
                <a:cs typeface="Quattrocento Sans"/>
                <a:sym typeface="Quattrocento Sans"/>
              </a:rPr>
              <a:t>Clasificación multiclase • Configuración de M8</a:t>
            </a:r>
            <a:endParaRPr/>
          </a:p>
        </p:txBody>
      </p:sp>
      <p:sp>
        <p:nvSpPr>
          <p:cNvPr id="1449" name="Google Shape;1449;p51"/>
          <p:cNvSpPr/>
          <p:nvPr/>
        </p:nvSpPr>
        <p:spPr>
          <a:xfrm>
            <a:off x="389503" y="1189947"/>
            <a:ext cx="2812588" cy="58563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547" u="none" cap="none" strike="noStrike">
                <a:solidFill>
                  <a:srgbClr val="050774"/>
                </a:solidFill>
                <a:latin typeface="Calibri"/>
                <a:ea typeface="Calibri"/>
                <a:cs typeface="Calibri"/>
                <a:sym typeface="Calibri"/>
              </a:rPr>
              <a:t>Cómo funciona</a:t>
            </a:r>
            <a:endParaRPr/>
          </a:p>
        </p:txBody>
      </p:sp>
      <p:sp>
        <p:nvSpPr>
          <p:cNvPr id="1450" name="Google Shape;1450;p51"/>
          <p:cNvSpPr/>
          <p:nvPr/>
        </p:nvSpPr>
        <p:spPr>
          <a:xfrm>
            <a:off x="1059998" y="1793332"/>
            <a:ext cx="2987500" cy="31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24" u="none" cap="none" strike="noStrike">
                <a:solidFill>
                  <a:srgbClr val="1015BC"/>
                </a:solidFill>
                <a:latin typeface="Arial Narrow"/>
                <a:ea typeface="Arial Narrow"/>
                <a:cs typeface="Arial Narrow"/>
                <a:sym typeface="Arial Narrow"/>
              </a:rPr>
              <a:t>Agrupa los valores en intervalos</a:t>
            </a:r>
            <a:endParaRPr/>
          </a:p>
        </p:txBody>
      </p:sp>
      <p:sp>
        <p:nvSpPr>
          <p:cNvPr id="1451" name="Google Shape;1451;p51"/>
          <p:cNvSpPr/>
          <p:nvPr/>
        </p:nvSpPr>
        <p:spPr>
          <a:xfrm>
            <a:off x="1074574" y="2041123"/>
            <a:ext cx="2623100" cy="31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26" u="none" cap="none" strike="noStrike">
                <a:solidFill>
                  <a:srgbClr val="0D12BF"/>
                </a:solidFill>
                <a:latin typeface="Arial Narrow"/>
                <a:ea typeface="Arial Narrow"/>
                <a:cs typeface="Arial Narrow"/>
                <a:sym typeface="Arial Narrow"/>
              </a:rPr>
              <a:t>para simplificar los cálculos.</a:t>
            </a:r>
            <a:endParaRPr/>
          </a:p>
        </p:txBody>
      </p:sp>
      <p:sp>
        <p:nvSpPr>
          <p:cNvPr id="1452" name="Google Shape;1452;p51"/>
          <p:cNvSpPr/>
          <p:nvPr/>
        </p:nvSpPr>
        <p:spPr>
          <a:xfrm>
            <a:off x="1059998" y="2500267"/>
            <a:ext cx="2951060" cy="31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29" u="none" cap="none" strike="noStrike">
                <a:solidFill>
                  <a:srgbClr val="0A0DCA"/>
                </a:solidFill>
                <a:latin typeface="Arial Narrow"/>
                <a:ea typeface="Arial Narrow"/>
                <a:cs typeface="Arial Narrow"/>
                <a:sym typeface="Arial Narrow"/>
              </a:rPr>
              <a:t>Añade árboles por etapas para</a:t>
            </a:r>
            <a:endParaRPr/>
          </a:p>
        </p:txBody>
      </p:sp>
      <p:sp>
        <p:nvSpPr>
          <p:cNvPr id="1453" name="Google Shape;1453;p51"/>
          <p:cNvSpPr/>
          <p:nvPr/>
        </p:nvSpPr>
        <p:spPr>
          <a:xfrm>
            <a:off x="1074574" y="2745876"/>
            <a:ext cx="2768860" cy="30395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75" u="none" cap="none" strike="noStrike">
                <a:solidFill>
                  <a:srgbClr val="0D12BF"/>
                </a:solidFill>
                <a:latin typeface="Arial Narrow"/>
                <a:ea typeface="Arial Narrow"/>
                <a:cs typeface="Arial Narrow"/>
                <a:sym typeface="Arial Narrow"/>
              </a:rPr>
              <a:t>reducir los errores anteriores.</a:t>
            </a:r>
            <a:endParaRPr/>
          </a:p>
        </p:txBody>
      </p:sp>
      <p:sp>
        <p:nvSpPr>
          <p:cNvPr id="1454" name="Google Shape;1454;p51"/>
          <p:cNvSpPr/>
          <p:nvPr/>
        </p:nvSpPr>
        <p:spPr>
          <a:xfrm>
            <a:off x="1067286" y="3229914"/>
            <a:ext cx="3118683" cy="3225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72" u="none" cap="none" strike="noStrike">
                <a:solidFill>
                  <a:srgbClr val="0B0FC4"/>
                </a:solidFill>
                <a:latin typeface="Arial Narrow"/>
                <a:ea typeface="Arial Narrow"/>
                <a:cs typeface="Arial Narrow"/>
                <a:sym typeface="Arial Narrow"/>
              </a:rPr>
              <a:t>Combina sus resultados y asigna</a:t>
            </a:r>
            <a:endParaRPr/>
          </a:p>
        </p:txBody>
      </p:sp>
      <p:sp>
        <p:nvSpPr>
          <p:cNvPr id="1455" name="Google Shape;1455;p51"/>
          <p:cNvSpPr/>
          <p:nvPr/>
        </p:nvSpPr>
        <p:spPr>
          <a:xfrm>
            <a:off x="1074574" y="3484218"/>
            <a:ext cx="2849028" cy="3250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39" u="none" cap="none" strike="noStrike">
                <a:solidFill>
                  <a:srgbClr val="0B0EC1"/>
                </a:solidFill>
                <a:latin typeface="Arial Narrow"/>
                <a:ea typeface="Arial Narrow"/>
                <a:cs typeface="Arial Narrow"/>
                <a:sym typeface="Arial Narrow"/>
              </a:rPr>
              <a:t>una sola clase a cada petición.</a:t>
            </a:r>
            <a:endParaRPr/>
          </a:p>
        </p:txBody>
      </p:sp>
      <p:sp>
        <p:nvSpPr>
          <p:cNvPr id="1456" name="Google Shape;1456;p51"/>
          <p:cNvSpPr/>
          <p:nvPr/>
        </p:nvSpPr>
        <p:spPr>
          <a:xfrm>
            <a:off x="7087167" y="1231671"/>
            <a:ext cx="3585115" cy="4176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30" u="none" cap="none" strike="noStrike">
                <a:solidFill>
                  <a:srgbClr val="050774"/>
                </a:solidFill>
                <a:latin typeface="Arial"/>
                <a:ea typeface="Arial"/>
                <a:cs typeface="Arial"/>
                <a:sym typeface="Arial"/>
              </a:rPr>
              <a:t>Configuración utilizada</a:t>
            </a:r>
            <a:endParaRPr/>
          </a:p>
        </p:txBody>
      </p:sp>
      <p:sp>
        <p:nvSpPr>
          <p:cNvPr id="1457" name="Google Shape;1457;p51"/>
          <p:cNvSpPr/>
          <p:nvPr/>
        </p:nvSpPr>
        <p:spPr>
          <a:xfrm>
            <a:off x="7743086" y="1700366"/>
            <a:ext cx="3643419" cy="2721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46" u="none" cap="none" strike="noStrike">
                <a:solidFill>
                  <a:srgbClr val="111CBC"/>
                </a:solidFill>
                <a:latin typeface="Arial Narrow"/>
                <a:ea typeface="Arial Narrow"/>
                <a:cs typeface="Arial Narrow"/>
                <a:sym typeface="Arial Narrow"/>
              </a:rPr>
              <a:t>72 características • tasa de aprendizaje: 0,035.</a:t>
            </a:r>
            <a:endParaRPr/>
          </a:p>
        </p:txBody>
      </p:sp>
      <p:sp>
        <p:nvSpPr>
          <p:cNvPr id="1458" name="Google Shape;1458;p51"/>
          <p:cNvSpPr/>
          <p:nvPr/>
        </p:nvSpPr>
        <p:spPr>
          <a:xfrm>
            <a:off x="7750374" y="2058217"/>
            <a:ext cx="4000530" cy="26025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88" u="none" cap="none" strike="noStrike">
                <a:solidFill>
                  <a:srgbClr val="101ABD"/>
                </a:solidFill>
                <a:latin typeface="Arial Narrow"/>
                <a:ea typeface="Arial Narrow"/>
                <a:cs typeface="Arial Narrow"/>
                <a:sym typeface="Arial Narrow"/>
              </a:rPr>
              <a:t>Hasta 750 iteraciones • máximo 63 hojas por árbol.</a:t>
            </a:r>
            <a:endParaRPr/>
          </a:p>
        </p:txBody>
      </p:sp>
      <p:sp>
        <p:nvSpPr>
          <p:cNvPr id="1459" name="Google Shape;1459;p51"/>
          <p:cNvSpPr/>
          <p:nvPr/>
        </p:nvSpPr>
        <p:spPr>
          <a:xfrm>
            <a:off x="7750374" y="2408646"/>
            <a:ext cx="3432067" cy="2582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92">
                <a:solidFill>
                  <a:srgbClr val="131CBD"/>
                </a:solidFill>
                <a:latin typeface="Arial Narrow"/>
                <a:ea typeface="Arial Narrow"/>
                <a:cs typeface="Arial Narrow"/>
                <a:sym typeface="Arial Narrow"/>
              </a:rPr>
              <a:t>Penalización cuadrática: 0,05.</a:t>
            </a:r>
            <a:endParaRPr/>
          </a:p>
        </p:txBody>
      </p:sp>
      <p:sp>
        <p:nvSpPr>
          <p:cNvPr id="1460" name="Google Shape;1460;p51"/>
          <p:cNvSpPr/>
          <p:nvPr/>
        </p:nvSpPr>
        <p:spPr>
          <a:xfrm>
            <a:off x="7750374" y="2764696"/>
            <a:ext cx="3840195" cy="27121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8" u="none" cap="none" strike="noStrike">
                <a:solidFill>
                  <a:srgbClr val="101BBF"/>
                </a:solidFill>
                <a:latin typeface="Arial Narrow"/>
                <a:ea typeface="Arial Narrow"/>
                <a:cs typeface="Arial Narrow"/>
                <a:sym typeface="Arial Narrow"/>
              </a:rPr>
              <a:t>Entrenamiento: 80 % • prueba: 20 % • semilla: 42.</a:t>
            </a:r>
            <a:endParaRPr/>
          </a:p>
        </p:txBody>
      </p:sp>
      <p:sp>
        <p:nvSpPr>
          <p:cNvPr id="1461" name="Google Shape;1461;p51"/>
          <p:cNvSpPr/>
          <p:nvPr/>
        </p:nvSpPr>
        <p:spPr>
          <a:xfrm>
            <a:off x="7750374" y="3119615"/>
            <a:ext cx="1034318" cy="2688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07" u="none" cap="none" strike="noStrike">
                <a:solidFill>
                  <a:srgbClr val="080CBE"/>
                </a:solidFill>
                <a:latin typeface="Arial Narrow"/>
                <a:ea typeface="Arial Narrow"/>
                <a:cs typeface="Arial Narrow"/>
                <a:sym typeface="Arial Narrow"/>
              </a:rPr>
              <a:t>CPU: 8 hilos.</a:t>
            </a:r>
            <a:endParaRPr/>
          </a:p>
        </p:txBody>
      </p:sp>
      <p:sp>
        <p:nvSpPr>
          <p:cNvPr id="1462" name="Google Shape;1462;p51"/>
          <p:cNvSpPr/>
          <p:nvPr/>
        </p:nvSpPr>
        <p:spPr>
          <a:xfrm>
            <a:off x="7079879" y="3534503"/>
            <a:ext cx="2666828" cy="346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67" u="none" cap="none" strike="noStrike">
                <a:solidFill>
                  <a:srgbClr val="070876"/>
                </a:solidFill>
                <a:latin typeface="Arial Narrow"/>
                <a:ea typeface="Arial Narrow"/>
                <a:cs typeface="Arial Narrow"/>
                <a:sym typeface="Arial Narrow"/>
              </a:rPr>
              <a:t>Un modelo por conjunto</a:t>
            </a:r>
            <a:endParaRPr/>
          </a:p>
        </p:txBody>
      </p:sp>
      <p:sp>
        <p:nvSpPr>
          <p:cNvPr id="1463" name="Google Shape;1463;p51"/>
          <p:cNvSpPr/>
          <p:nvPr/>
        </p:nvSpPr>
        <p:spPr>
          <a:xfrm>
            <a:off x="382215" y="4748688"/>
            <a:ext cx="1150926" cy="2468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95" u="none" cap="none" strike="noStrike">
                <a:solidFill>
                  <a:srgbClr val="060777"/>
                </a:solidFill>
                <a:latin typeface="Arial Narrow"/>
                <a:ea typeface="Arial Narrow"/>
                <a:cs typeface="Arial Narrow"/>
                <a:sym typeface="Arial Narrow"/>
              </a:rPr>
              <a:t>Características</a:t>
            </a:r>
            <a:endParaRPr/>
          </a:p>
        </p:txBody>
      </p:sp>
      <p:sp>
        <p:nvSpPr>
          <p:cNvPr id="1464" name="Google Shape;1464;p51"/>
          <p:cNvSpPr/>
          <p:nvPr/>
        </p:nvSpPr>
        <p:spPr>
          <a:xfrm>
            <a:off x="1898117" y="4764283"/>
            <a:ext cx="801102" cy="2340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18" u="none" cap="none" strike="noStrike">
                <a:solidFill>
                  <a:srgbClr val="060777"/>
                </a:solidFill>
                <a:latin typeface="Quattrocento Sans"/>
                <a:ea typeface="Quattrocento Sans"/>
                <a:cs typeface="Quattrocento Sans"/>
                <a:sym typeface="Quattrocento Sans"/>
              </a:rPr>
              <a:t>Intervalos</a:t>
            </a:r>
            <a:endParaRPr/>
          </a:p>
        </p:txBody>
      </p:sp>
      <p:sp>
        <p:nvSpPr>
          <p:cNvPr id="1465" name="Google Shape;1465;p51"/>
          <p:cNvSpPr/>
          <p:nvPr/>
        </p:nvSpPr>
        <p:spPr>
          <a:xfrm>
            <a:off x="3800283" y="4731111"/>
            <a:ext cx="633478" cy="2471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97" u="none" cap="none" strike="noStrike">
                <a:solidFill>
                  <a:srgbClr val="060777"/>
                </a:solidFill>
                <a:latin typeface="Arial Narrow"/>
                <a:ea typeface="Arial Narrow"/>
                <a:cs typeface="Arial Narrow"/>
                <a:sym typeface="Arial Narrow"/>
              </a:rPr>
              <a:t>Árboles</a:t>
            </a:r>
            <a:endParaRPr/>
          </a:p>
        </p:txBody>
      </p:sp>
      <p:sp>
        <p:nvSpPr>
          <p:cNvPr id="1466" name="Google Shape;1466;p51"/>
          <p:cNvSpPr/>
          <p:nvPr/>
        </p:nvSpPr>
        <p:spPr>
          <a:xfrm>
            <a:off x="3705539" y="4950618"/>
            <a:ext cx="852118" cy="2253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65" u="none" cap="none" strike="noStrike">
                <a:solidFill>
                  <a:srgbClr val="070878"/>
                </a:solidFill>
                <a:latin typeface="Arial"/>
                <a:ea typeface="Arial"/>
                <a:cs typeface="Arial"/>
                <a:sym typeface="Arial"/>
              </a:rPr>
              <a:t>por etapas</a:t>
            </a:r>
            <a:endParaRPr/>
          </a:p>
        </p:txBody>
      </p:sp>
      <p:sp>
        <p:nvSpPr>
          <p:cNvPr id="1467" name="Google Shape;1467;p51"/>
          <p:cNvSpPr/>
          <p:nvPr/>
        </p:nvSpPr>
        <p:spPr>
          <a:xfrm>
            <a:off x="5731600" y="4352229"/>
            <a:ext cx="830254" cy="2847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77" u="none" cap="none" strike="noStrike">
                <a:solidFill>
                  <a:srgbClr val="060872"/>
                </a:solidFill>
                <a:latin typeface="Arial Narrow"/>
                <a:ea typeface="Arial Narrow"/>
                <a:cs typeface="Arial Narrow"/>
                <a:sym typeface="Arial Narrow"/>
              </a:rPr>
              <a:t>Una clase</a:t>
            </a:r>
            <a:endParaRPr/>
          </a:p>
        </p:txBody>
      </p:sp>
      <p:sp>
        <p:nvSpPr>
          <p:cNvPr id="1468" name="Google Shape;1468;p51"/>
          <p:cNvSpPr/>
          <p:nvPr/>
        </p:nvSpPr>
        <p:spPr>
          <a:xfrm>
            <a:off x="1111014" y="5460970"/>
            <a:ext cx="6172352" cy="2721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63" u="none" cap="none" strike="noStrike">
                <a:solidFill>
                  <a:srgbClr val="161DB6"/>
                </a:solidFill>
                <a:latin typeface="Arial Narrow"/>
                <a:ea typeface="Arial Narrow"/>
                <a:cs typeface="Arial Narrow"/>
                <a:sym typeface="Arial Narrow"/>
              </a:rPr>
              <a:t>En SR-BH y DS-Augmented-v2 se dio más peso a las clases menos frecuentes.</a:t>
            </a:r>
            <a:endParaRPr/>
          </a:p>
        </p:txBody>
      </p:sp>
      <p:sp>
        <p:nvSpPr>
          <p:cNvPr id="1469" name="Google Shape;1469;p51"/>
          <p:cNvSpPr/>
          <p:nvPr/>
        </p:nvSpPr>
        <p:spPr>
          <a:xfrm>
            <a:off x="1103726" y="5954555"/>
            <a:ext cx="7957910" cy="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45" u="none" cap="none" strike="noStrike">
                <a:solidFill>
                  <a:srgbClr val="090DE3"/>
                </a:solidFill>
                <a:latin typeface="Arial Narrow"/>
                <a:ea typeface="Arial Narrow"/>
                <a:cs typeface="Arial Narrow"/>
                <a:sym typeface="Arial Narrow"/>
              </a:rPr>
              <a:t>750 era el límite de iteraciones. La parada anticipada terminó el entrenamiento antes.</a:t>
            </a:r>
            <a:endParaRPr/>
          </a:p>
        </p:txBody>
      </p:sp>
      <p:sp>
        <p:nvSpPr>
          <p:cNvPr id="1470" name="Google Shape;1470;p51"/>
          <p:cNvSpPr/>
          <p:nvPr/>
        </p:nvSpPr>
        <p:spPr>
          <a:xfrm>
            <a:off x="243743" y="6403799"/>
            <a:ext cx="9794484" cy="1971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9">
                <a:solidFill>
                  <a:srgbClr val="242C96"/>
                </a:solidFill>
                <a:latin typeface="Arial Narrow"/>
                <a:ea typeface="Arial Narrow"/>
                <a:cs typeface="Arial Narrow"/>
                <a:sym typeface="Arial Narrow"/>
              </a:rPr>
              <a:t>* Scikit-learn developers. (s. f.). HistGradientBoostingClassifier.</a:t>
            </a:r>
            <a:r>
              <a:rPr b="1" i="0" lang="en-US" sz="1129" u="none" cap="none" strike="noStrike">
                <a:solidFill>
                  <a:srgbClr val="242C96"/>
                </a:solidFill>
                <a:latin typeface="Arial Narrow"/>
                <a:ea typeface="Arial Narrow"/>
                <a:cs typeface="Arial Narrow"/>
                <a:sym typeface="Arial Narrow"/>
              </a:rPr>
              <a:t> https://scikit-learn.org/stable/modules/generated/sklearn.ensemble.HistGradientBoostingClassifier.html</a:t>
            </a:r>
            <a:endParaRPr/>
          </a:p>
        </p:txBody>
      </p:sp>
      <p:graphicFrame>
        <p:nvGraphicFramePr>
          <p:cNvPr id="1471" name="Google Shape;1471;p51"/>
          <p:cNvGraphicFramePr/>
          <p:nvPr/>
        </p:nvGraphicFramePr>
        <p:xfrm>
          <a:off x="6999711" y="3833484"/>
          <a:ext cx="3000000" cy="3000000"/>
        </p:xfrm>
        <a:graphic>
          <a:graphicData uri="http://schemas.openxmlformats.org/drawingml/2006/table">
            <a:tbl>
              <a:tblPr>
                <a:noFill/>
                <a:tableStyleId>{F1B291AF-9CB1-4793-AFE8-E70834C1BA4F}</a:tableStyleId>
              </a:tblPr>
              <a:tblGrid>
                <a:gridCol w="1836575"/>
                <a:gridCol w="1406575"/>
                <a:gridCol w="1625225"/>
              </a:tblGrid>
              <a:tr h="327950">
                <a:tc>
                  <a:txBody>
                    <a:bodyPr/>
                    <a:lstStyle/>
                    <a:p>
                      <a:pPr indent="0" lvl="0" marL="0" marR="0" rtl="0" algn="l">
                        <a:spcBef>
                          <a:spcPts val="0"/>
                        </a:spcBef>
                        <a:spcAft>
                          <a:spcPts val="0"/>
                        </a:spcAft>
                        <a:buNone/>
                      </a:pPr>
                      <a:r>
                        <a:rPr b="1" lang="en-US" sz="1277" u="none" cap="none" strike="noStrike">
                          <a:solidFill>
                            <a:srgbClr val="FFFFFF"/>
                          </a:solidFill>
                          <a:latin typeface="Arial"/>
                          <a:ea typeface="Arial"/>
                          <a:cs typeface="Arial"/>
                          <a:sym typeface="Arial"/>
                        </a:rPr>
                        <a:t>Conjunto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277" u="none" cap="none" strike="noStrike">
                          <a:solidFill>
                            <a:srgbClr val="FFFFFF"/>
                          </a:solidFill>
                          <a:latin typeface="Arial"/>
                          <a:ea typeface="Arial"/>
                          <a:cs typeface="Arial"/>
                          <a:sym typeface="Arial"/>
                        </a:rPr>
                        <a:t>Clases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1277" u="none" cap="none" strike="noStrike">
                          <a:solidFill>
                            <a:srgbClr val="FFFFFF"/>
                          </a:solidFill>
                          <a:latin typeface="Arial"/>
                          <a:ea typeface="Arial"/>
                          <a:cs typeface="Arial"/>
                          <a:sym typeface="Arial"/>
                        </a:rPr>
                        <a:t>Iteraciones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335250">
                <a:tc>
                  <a:txBody>
                    <a:bodyPr/>
                    <a:lstStyle/>
                    <a:p>
                      <a:pPr indent="0" lvl="0" marL="0" marR="0" rtl="0" algn="l">
                        <a:spcBef>
                          <a:spcPts val="0"/>
                        </a:spcBef>
                        <a:spcAft>
                          <a:spcPts val="0"/>
                        </a:spcAft>
                        <a:buNone/>
                      </a:pPr>
                      <a:r>
                        <a:rPr b="1" lang="en-US" sz="1328" u="none" cap="none" strike="noStrike">
                          <a:solidFill>
                            <a:srgbClr val="070F64"/>
                          </a:solidFill>
                          <a:latin typeface="Arial"/>
                          <a:ea typeface="Arial"/>
                          <a:cs typeface="Arial"/>
                          <a:sym typeface="Arial"/>
                        </a:rPr>
                        <a:t>TorpEda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10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167</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335250">
                <a:tc>
                  <a:txBody>
                    <a:bodyPr/>
                    <a:lstStyle/>
                    <a:p>
                      <a:pPr indent="0" lvl="0" marL="0" marR="0" rtl="0" algn="l">
                        <a:spcBef>
                          <a:spcPts val="0"/>
                        </a:spcBef>
                        <a:spcAft>
                          <a:spcPts val="0"/>
                        </a:spcAft>
                        <a:buNone/>
                      </a:pPr>
                      <a:r>
                        <a:rPr b="1" lang="en-US" sz="1328" u="none" cap="none" strike="noStrike">
                          <a:solidFill>
                            <a:srgbClr val="070F64"/>
                          </a:solidFill>
                          <a:latin typeface="Arial"/>
                          <a:ea typeface="Arial"/>
                          <a:cs typeface="Arial"/>
                          <a:sym typeface="Arial"/>
                        </a:rPr>
                        <a:t>SR-BH</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10</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263</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342525">
                <a:tc>
                  <a:txBody>
                    <a:bodyPr/>
                    <a:lstStyle/>
                    <a:p>
                      <a:pPr indent="0" lvl="0" marL="0" marR="0" rtl="0" algn="l">
                        <a:spcBef>
                          <a:spcPts val="0"/>
                        </a:spcBef>
                        <a:spcAft>
                          <a:spcPts val="0"/>
                        </a:spcAft>
                        <a:buNone/>
                      </a:pPr>
                      <a:r>
                        <a:rPr b="1" lang="en-US" sz="1328" u="none" cap="none" strike="noStrike">
                          <a:solidFill>
                            <a:srgbClr val="070F64"/>
                          </a:solidFill>
                          <a:latin typeface="Arial"/>
                          <a:ea typeface="Arial"/>
                          <a:cs typeface="Arial"/>
                          <a:sym typeface="Arial"/>
                        </a:rPr>
                        <a:t>DS-Augmented-v2</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8</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328" u="none" cap="none" strike="noStrike">
                          <a:solidFill>
                            <a:srgbClr val="070F64"/>
                          </a:solidFill>
                          <a:latin typeface="Arial"/>
                          <a:ea typeface="Arial"/>
                          <a:cs typeface="Arial"/>
                          <a:sym typeface="Arial"/>
                        </a:rPr>
                        <a:t>163</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1472" name="Google Shape;1472;p5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73" name="Google Shape;1473;p51" title="DEFENSA_SEGURA_V2:barra-3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74" name="Google Shape;1474;p51" title="DEFENSA_SEGURA_V2:avance-33"/>
          <p:cNvSpPr/>
          <p:nvPr/>
        </p:nvSpPr>
        <p:spPr>
          <a:xfrm>
            <a:off x="0" y="0"/>
            <a:ext cx="10972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75" name="Google Shape;1475;p51" title="DEFENSA_SEGURA_V2:seccion-3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0" name="Shape 1480"/>
        <p:cNvGrpSpPr/>
        <p:nvPr/>
      </p:nvGrpSpPr>
      <p:grpSpPr>
        <a:xfrm>
          <a:off x="0" y="0"/>
          <a:ext cx="0" cy="0"/>
          <a:chOff x="0" y="0"/>
          <a:chExt cx="0" cy="0"/>
        </a:xfrm>
      </p:grpSpPr>
      <p:sp>
        <p:nvSpPr>
          <p:cNvPr id="1481" name="Google Shape;1481;p52"/>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70F64"/>
              </a:buClr>
              <a:buSzPts val="3300"/>
              <a:buFont typeface="Arial"/>
              <a:buNone/>
            </a:pPr>
            <a:r>
              <a:rPr b="1" lang="en-US" sz="3300">
                <a:solidFill>
                  <a:srgbClr val="111F5B"/>
                </a:solidFill>
              </a:rPr>
              <a:t>Clases usadas en la evaluación multiclase</a:t>
            </a:r>
            <a:endParaRPr b="1" sz="3300">
              <a:solidFill>
                <a:srgbClr val="111F5B"/>
              </a:solidFill>
            </a:endParaRPr>
          </a:p>
        </p:txBody>
      </p:sp>
      <p:sp>
        <p:nvSpPr>
          <p:cNvPr id="1482" name="Google Shape;1482;p52"/>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70F64"/>
              </a:buClr>
              <a:buSzPts val="1800"/>
              <a:buFont typeface="Arial"/>
              <a:buNone/>
            </a:pPr>
            <a:r>
              <a:rPr lang="en-US" sz="1800">
                <a:solidFill>
                  <a:srgbClr val="070F64"/>
                </a:solidFill>
              </a:rPr>
              <a:t>Cada conjunto tiene su propia definición de clases.</a:t>
            </a:r>
            <a:endParaRPr sz="1800">
              <a:solidFill>
                <a:srgbClr val="070F64"/>
              </a:solidFill>
            </a:endParaRPr>
          </a:p>
        </p:txBody>
      </p:sp>
      <p:graphicFrame>
        <p:nvGraphicFramePr>
          <p:cNvPr id="1483" name="Google Shape;1483;p52"/>
          <p:cNvGraphicFramePr/>
          <p:nvPr/>
        </p:nvGraphicFramePr>
        <p:xfrm>
          <a:off x="285750" y="1447800"/>
          <a:ext cx="3000000" cy="3000000"/>
        </p:xfrm>
        <a:graphic>
          <a:graphicData uri="http://schemas.openxmlformats.org/drawingml/2006/table">
            <a:tbl>
              <a:tblPr>
                <a:noFill/>
                <a:tableStyleId>{F1B291AF-9CB1-4793-AFE8-E70834C1BA4F}</a:tableStyleId>
              </a:tblPr>
              <a:tblGrid>
                <a:gridCol w="3962400"/>
                <a:gridCol w="3333750"/>
                <a:gridCol w="4324350"/>
              </a:tblGrid>
              <a:tr h="419100">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Conjunto</a:t>
                      </a:r>
                      <a:endParaRPr b="1" sz="1575">
                        <a:solidFill>
                          <a:srgbClr val="FFFFFF"/>
                        </a:solidFill>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Tratamiento de las etiquetas</a:t>
                      </a:r>
                      <a:endParaRPr b="1" sz="1575">
                        <a:solidFill>
                          <a:srgbClr val="FFFFFF"/>
                        </a:solidFill>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a:solidFill>
                            <a:srgbClr val="FFFFFF"/>
                          </a:solidFill>
                        </a:rPr>
                        <a:t>Clases usadas en multiclase</a:t>
                      </a:r>
                      <a:endParaRPr b="1" sz="1575">
                        <a:solidFill>
                          <a:srgbClr val="FFFFFF"/>
                        </a:solidFill>
                      </a:endParaRPr>
                    </a:p>
                  </a:txBody>
                  <a:tcPr marT="76200" marB="76200" marR="95250" marL="114300" anchor="ctr">
                    <a:solidFill>
                      <a:srgbClr val="083672"/>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TorpEda 2012</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Conservamos NORMAL, ANOMALOUS</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y las ocho familias de ataques.</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10 clases nativas.</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No fusionamos familias.</a:t>
                      </a:r>
                      <a:endParaRPr sz="1575">
                        <a:solidFill>
                          <a:srgbClr val="070F64"/>
                        </a:solidFill>
                      </a:endParaRPr>
                    </a:p>
                  </a:txBody>
                  <a:tcPr marT="76200" marB="76200" marR="95250" marL="114300" anchor="ctr">
                    <a:solidFill>
                      <a:srgbClr val="DFF4FC"/>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SR-BH 2020</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(Harvard)</a:t>
                      </a:r>
                      <a:endParaRPr sz="1575">
                        <a:solidFill>
                          <a:srgbClr val="070F64"/>
                        </a:solidFill>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CAPEC-153, -194, -272, -274</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y la combinación 272+274:</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una clase Request Manipulation.</a:t>
                      </a:r>
                      <a:endParaRPr sz="1575">
                        <a:solidFill>
                          <a:srgbClr val="070F64"/>
                        </a:solidFill>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De 14 categorías a 10.</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Conservamos 88+126</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como clase compuesta.</a:t>
                      </a:r>
                      <a:endParaRPr sz="1575">
                        <a:solidFill>
                          <a:srgbClr val="070F64"/>
                        </a:solidFill>
                      </a:endParaRPr>
                    </a:p>
                  </a:txBody>
                  <a:tcPr marT="76200" marB="76200" marR="95250" marL="114300" anchor="ctr">
                    <a:solidFill>
                      <a:srgbClr val="F6FBFD"/>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DS-Augmented-v2</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Unimos Command Injection</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con OS Command Injection.</a:t>
                      </a:r>
                      <a:endParaRPr sz="1575">
                        <a:solidFill>
                          <a:srgbClr val="070F64"/>
                        </a:solidFill>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8 clases, incluido NORMAL.</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Ambas quedan como</a:t>
                      </a:r>
                      <a:endParaRPr sz="1575">
                        <a:solidFill>
                          <a:srgbClr val="070F64"/>
                        </a:solidFill>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CommandInjection.</a:t>
                      </a:r>
                      <a:endParaRPr sz="1575">
                        <a:solidFill>
                          <a:srgbClr val="070F64"/>
                        </a:solidFill>
                      </a:endParaRPr>
                    </a:p>
                  </a:txBody>
                  <a:tcPr marT="76200" marB="76200" marR="95250" marL="114300" anchor="ctr">
                    <a:solidFill>
                      <a:srgbClr val="DFF4FC"/>
                    </a:solidFill>
                  </a:tcPr>
                </a:tc>
              </a:tr>
            </a:tbl>
          </a:graphicData>
        </a:graphic>
      </p:graphicFrame>
      <p:sp>
        <p:nvSpPr>
          <p:cNvPr id="1484" name="Google Shape;1484;p52"/>
          <p:cNvSpPr/>
          <p:nvPr/>
        </p:nvSpPr>
        <p:spPr>
          <a:xfrm>
            <a:off x="304800" y="5686425"/>
            <a:ext cx="11525400"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70F64"/>
              </a:buClr>
              <a:buSzPts val="1500"/>
              <a:buFont typeface="Arial"/>
              <a:buNone/>
            </a:pPr>
            <a:r>
              <a:rPr lang="en-US" sz="1600">
                <a:solidFill>
                  <a:srgbClr val="070F64"/>
                </a:solidFill>
              </a:rPr>
              <a:t>Agrupar clases cambia la salida. Reunir peticiones equivalentes en grupos</a:t>
            </a:r>
            <a:endParaRPr sz="1600">
              <a:solidFill>
                <a:srgbClr val="070F64"/>
              </a:solidFill>
            </a:endParaRPr>
          </a:p>
          <a:p>
            <a:pPr indent="0" lvl="0" marL="0" marR="0" rtl="0" algn="l">
              <a:lnSpc>
                <a:spcPct val="100000"/>
              </a:lnSpc>
              <a:spcBef>
                <a:spcPts val="0"/>
              </a:spcBef>
              <a:spcAft>
                <a:spcPts val="0"/>
              </a:spcAft>
              <a:buClr>
                <a:srgbClr val="070F64"/>
              </a:buClr>
              <a:buSzPts val="1500"/>
              <a:buFont typeface="Arial"/>
              <a:buNone/>
            </a:pPr>
            <a:r>
              <a:rPr lang="en-US" sz="1600">
                <a:solidFill>
                  <a:srgbClr val="070F64"/>
                </a:solidFill>
              </a:rPr>
              <a:t>cambia la unidad que se evalúa.</a:t>
            </a:r>
            <a:endParaRPr sz="1600">
              <a:solidFill>
                <a:srgbClr val="070F64"/>
              </a:solidFill>
            </a:endParaRPr>
          </a:p>
        </p:txBody>
      </p:sp>
      <p:sp>
        <p:nvSpPr>
          <p:cNvPr id="1485" name="Google Shape;1485;p5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86" name="Google Shape;1486;p52" title="DEFENSA_SEGURA_V2:barra-4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87" name="Google Shape;1487;p52" title="DEFENSA_SEGURA_V2:avance-40"/>
          <p:cNvSpPr/>
          <p:nvPr/>
        </p:nvSpPr>
        <p:spPr>
          <a:xfrm>
            <a:off x="0" y="0"/>
            <a:ext cx="731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88" name="Google Shape;1488;p52" title="DEFENSA_SEGURA_V2:seccion-4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US" sz="650">
                <a:solidFill>
                  <a:srgbClr val="647184"/>
                </a:solidFill>
              </a:rPr>
              <a:t>PROPUESTA</a:t>
            </a:r>
            <a:endParaRPr b="1" sz="650">
              <a:solidFill>
                <a:srgbClr val="647184"/>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3" name="Shape 1493"/>
        <p:cNvGrpSpPr/>
        <p:nvPr/>
      </p:nvGrpSpPr>
      <p:grpSpPr>
        <a:xfrm>
          <a:off x="0" y="0"/>
          <a:ext cx="0" cy="0"/>
          <a:chOff x="0" y="0"/>
          <a:chExt cx="0" cy="0"/>
        </a:xfrm>
      </p:grpSpPr>
      <p:sp>
        <p:nvSpPr>
          <p:cNvPr id="1494" name="Google Shape;1494;p53"/>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Clasificación multiclase: método</a:t>
            </a:r>
            <a:endParaRPr b="1" sz="3600">
              <a:solidFill>
                <a:srgbClr val="111F5B"/>
              </a:solidFill>
            </a:endParaRPr>
          </a:p>
        </p:txBody>
      </p:sp>
      <p:sp>
        <p:nvSpPr>
          <p:cNvPr id="1495" name="Google Shape;1495;p53"/>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Datos, organización del modelo, características y forma de aprendizaje.</a:t>
            </a:r>
            <a:endParaRPr sz="1800">
              <a:solidFill>
                <a:srgbClr val="070F64"/>
              </a:solidFill>
            </a:endParaRPr>
          </a:p>
        </p:txBody>
      </p:sp>
      <p:graphicFrame>
        <p:nvGraphicFramePr>
          <p:cNvPr id="1496" name="Google Shape;1496;p53"/>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1905000"/>
                <a:gridCol w="2032000"/>
                <a:gridCol w="2476500"/>
                <a:gridCol w="3111500"/>
                <a:gridCol w="2095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Modelo / alcance</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Características y selección</a:t>
                      </a:r>
                      <a:endParaRPr b="1" sz="1700" u="none" cap="none">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Aprendizaje</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Nguyen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(2023)</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(Harvard)</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7 clases agrupadas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SecBERT + MLP</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Adaptación de dominio</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Representación aprendida: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método, ruta y parámetros.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Dimensión: NV</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Origen etiquetado;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destino sin etiquetas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para adaptación</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Zhou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(2025)</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E-WebGuard</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(Harvard)</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13 clases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CNN-Bi-LSTM</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Modelos por caracteres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Representación aprendida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a partir de caracteres.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Dimensión: NV</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Una clase</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Osama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WAMM</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DS-Augmented-v2</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9 clases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XGBoost</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Modelo común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TF-IDF: ≤2.000 n-gramas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 variables manuales: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longitud, entropía y ratios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Una clase</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M8</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SR-BH: 10 clases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TorpEda: 10</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DS-v2: 8</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HistGradientBoosting</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Un modelo por corpus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72 variables manuales: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longitudes, caracteres,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entropía y patrones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Supervisado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Una clase</a:t>
                      </a:r>
                      <a:endParaRPr b="1" sz="1600">
                        <a:solidFill>
                          <a:srgbClr val="070F64"/>
                        </a:solidFill>
                      </a:endParaRPr>
                    </a:p>
                  </a:txBody>
                  <a:tcPr marT="76200" marB="76200" marR="114300" marL="114300" anchor="ctr">
                    <a:solidFill>
                      <a:srgbClr val="F6FBFD"/>
                    </a:solidFill>
                  </a:tcPr>
                </a:tc>
              </a:tr>
            </a:tbl>
          </a:graphicData>
        </a:graphic>
      </p:graphicFrame>
      <p:sp>
        <p:nvSpPr>
          <p:cNvPr id="1497" name="Google Shape;1497;p53"/>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700">
                <a:solidFill>
                  <a:srgbClr val="070F64"/>
                </a:solidFill>
              </a:rPr>
              <a:t>Nguyen agrupa ataques y excluye casos multietiqueta. M8 conserva o agrupa clases según el corpus.</a:t>
            </a:r>
            <a:endParaRPr b="1" sz="1700">
              <a:solidFill>
                <a:srgbClr val="070F64"/>
              </a:solidFill>
            </a:endParaRPr>
          </a:p>
        </p:txBody>
      </p:sp>
      <p:sp>
        <p:nvSpPr>
          <p:cNvPr id="1498" name="Google Shape;1498;p53"/>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000">
                <a:solidFill>
                  <a:srgbClr val="070F64"/>
                </a:solidFill>
              </a:rPr>
              <a:t>SR-BH = Harvard. DS-v2 = DS-Augmented-v2. Fuentes y agrupaciones en las notas. NV = no verificado.</a:t>
            </a:r>
            <a:endParaRPr sz="1000">
              <a:solidFill>
                <a:srgbClr val="070F64"/>
              </a:solidFill>
            </a:endParaRPr>
          </a:p>
        </p:txBody>
      </p:sp>
      <p:sp>
        <p:nvSpPr>
          <p:cNvPr id="1499" name="Google Shape;1499;p5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00" name="Google Shape;1500;p53" title="DEFENSA_SEGURA_V2:barra-2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1" name="Google Shape;1501;p53" title="DEFENSA_SEGURA_V2:avance-21"/>
          <p:cNvSpPr/>
          <p:nvPr/>
        </p:nvSpPr>
        <p:spPr>
          <a:xfrm>
            <a:off x="0" y="0"/>
            <a:ext cx="886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2" name="Google Shape;1502;p53" title="DEFENSA_SEGURA_V2:seccion-2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TRABAJOS RELACIONADOS</a:t>
            </a:r>
            <a:endParaRPr b="1" sz="650">
              <a:solidFill>
                <a:srgbClr val="647184"/>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7" name="Shape 1507"/>
        <p:cNvGrpSpPr/>
        <p:nvPr/>
      </p:nvGrpSpPr>
      <p:grpSpPr>
        <a:xfrm>
          <a:off x="0" y="0"/>
          <a:ext cx="0" cy="0"/>
          <a:chOff x="0" y="0"/>
          <a:chExt cx="0" cy="0"/>
        </a:xfrm>
      </p:grpSpPr>
      <p:sp>
        <p:nvSpPr>
          <p:cNvPr id="1508" name="Google Shape;1508;p54"/>
          <p:cNvSpPr/>
          <p:nvPr/>
        </p:nvSpPr>
        <p:spPr>
          <a:xfrm>
            <a:off x="265607" y="5393114"/>
            <a:ext cx="11660786" cy="787103"/>
          </a:xfrm>
          <a:prstGeom prst="roundRect">
            <a:avLst>
              <a:gd fmla="val 7407" name="adj"/>
            </a:avLst>
          </a:prstGeom>
          <a:solidFill>
            <a:srgbClr val="DCF2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4"/>
          <p:cNvSpPr/>
          <p:nvPr/>
        </p:nvSpPr>
        <p:spPr>
          <a:xfrm>
            <a:off x="265607" y="1428446"/>
            <a:ext cx="5713785" cy="1224383"/>
          </a:xfrm>
          <a:prstGeom prst="roundRect">
            <a:avLst>
              <a:gd fmla="val 4762" name="adj"/>
            </a:avLst>
          </a:prstGeom>
          <a:solidFill>
            <a:srgbClr val="DCF1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4"/>
          <p:cNvSpPr/>
          <p:nvPr/>
        </p:nvSpPr>
        <p:spPr>
          <a:xfrm>
            <a:off x="6212608" y="1428446"/>
            <a:ext cx="5713785" cy="1224383"/>
          </a:xfrm>
          <a:prstGeom prst="roundRect">
            <a:avLst>
              <a:gd fmla="val 4762" name="adj"/>
            </a:avLst>
          </a:prstGeom>
          <a:solidFill>
            <a:srgbClr val="E5F9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1" name="Google Shape;1511;p54"/>
          <p:cNvPicPr preferRelativeResize="0"/>
          <p:nvPr/>
        </p:nvPicPr>
        <p:blipFill rotWithShape="1">
          <a:blip r:embed="rId3">
            <a:alphaModFix/>
          </a:blip>
          <a:srcRect b="0" l="0" r="0" t="0"/>
          <a:stretch/>
        </p:blipFill>
        <p:spPr>
          <a:xfrm>
            <a:off x="1446261" y="1501326"/>
            <a:ext cx="145760" cy="1049471"/>
          </a:xfrm>
          <a:prstGeom prst="rect">
            <a:avLst/>
          </a:prstGeom>
          <a:noFill/>
          <a:ln>
            <a:noFill/>
          </a:ln>
        </p:spPr>
      </p:pic>
      <p:pic>
        <p:nvPicPr>
          <p:cNvPr id="1512" name="Google Shape;1512;p54"/>
          <p:cNvPicPr preferRelativeResize="0"/>
          <p:nvPr/>
        </p:nvPicPr>
        <p:blipFill rotWithShape="1">
          <a:blip r:embed="rId4">
            <a:alphaModFix/>
          </a:blip>
          <a:srcRect b="0" l="0" r="0" t="0"/>
          <a:stretch/>
        </p:blipFill>
        <p:spPr>
          <a:xfrm>
            <a:off x="7451566" y="1501326"/>
            <a:ext cx="116608" cy="1049471"/>
          </a:xfrm>
          <a:prstGeom prst="rect">
            <a:avLst/>
          </a:prstGeom>
          <a:noFill/>
          <a:ln>
            <a:noFill/>
          </a:ln>
        </p:spPr>
      </p:pic>
      <p:pic>
        <p:nvPicPr>
          <p:cNvPr id="1513" name="Google Shape;1513;p54"/>
          <p:cNvPicPr preferRelativeResize="0"/>
          <p:nvPr/>
        </p:nvPicPr>
        <p:blipFill rotWithShape="1">
          <a:blip r:embed="rId5">
            <a:alphaModFix/>
          </a:blip>
          <a:srcRect b="0" l="0" r="0" t="0"/>
          <a:stretch/>
        </p:blipFill>
        <p:spPr>
          <a:xfrm>
            <a:off x="484247" y="1559630"/>
            <a:ext cx="757951" cy="903711"/>
          </a:xfrm>
          <a:prstGeom prst="rect">
            <a:avLst/>
          </a:prstGeom>
          <a:noFill/>
          <a:ln>
            <a:noFill/>
          </a:ln>
        </p:spPr>
      </p:pic>
      <p:pic>
        <p:nvPicPr>
          <p:cNvPr id="1514" name="Google Shape;1514;p54"/>
          <p:cNvPicPr preferRelativeResize="0"/>
          <p:nvPr/>
        </p:nvPicPr>
        <p:blipFill rotWithShape="1">
          <a:blip r:embed="rId6">
            <a:alphaModFix/>
          </a:blip>
          <a:srcRect b="0" l="0" r="0" t="0"/>
          <a:stretch/>
        </p:blipFill>
        <p:spPr>
          <a:xfrm>
            <a:off x="6431248" y="1588782"/>
            <a:ext cx="874559" cy="816255"/>
          </a:xfrm>
          <a:prstGeom prst="rect">
            <a:avLst/>
          </a:prstGeom>
          <a:noFill/>
          <a:ln>
            <a:noFill/>
          </a:ln>
        </p:spPr>
      </p:pic>
      <p:pic>
        <p:nvPicPr>
          <p:cNvPr id="1515" name="Google Shape;1515;p54"/>
          <p:cNvPicPr preferRelativeResize="0"/>
          <p:nvPr/>
        </p:nvPicPr>
        <p:blipFill rotWithShape="1">
          <a:blip r:embed="rId7">
            <a:alphaModFix/>
          </a:blip>
          <a:srcRect b="0" l="0" r="0" t="0"/>
          <a:stretch/>
        </p:blipFill>
        <p:spPr>
          <a:xfrm>
            <a:off x="455095" y="5407690"/>
            <a:ext cx="787103" cy="757951"/>
          </a:xfrm>
          <a:prstGeom prst="rect">
            <a:avLst/>
          </a:prstGeom>
          <a:noFill/>
          <a:ln>
            <a:noFill/>
          </a:ln>
        </p:spPr>
      </p:pic>
      <p:pic>
        <p:nvPicPr>
          <p:cNvPr id="1516" name="Google Shape;1516;p54"/>
          <p:cNvPicPr preferRelativeResize="0"/>
          <p:nvPr/>
        </p:nvPicPr>
        <p:blipFill rotWithShape="1">
          <a:blip r:embed="rId8">
            <a:alphaModFix/>
          </a:blip>
          <a:srcRect b="0" l="0" r="0" t="0"/>
          <a:stretch/>
        </p:blipFill>
        <p:spPr>
          <a:xfrm>
            <a:off x="1329654" y="5465994"/>
            <a:ext cx="145760" cy="641343"/>
          </a:xfrm>
          <a:prstGeom prst="rect">
            <a:avLst/>
          </a:prstGeom>
          <a:noFill/>
          <a:ln>
            <a:noFill/>
          </a:ln>
        </p:spPr>
      </p:pic>
      <p:pic>
        <p:nvPicPr>
          <p:cNvPr id="1517" name="Google Shape;1517;p54"/>
          <p:cNvPicPr preferRelativeResize="0"/>
          <p:nvPr/>
        </p:nvPicPr>
        <p:blipFill rotWithShape="1">
          <a:blip r:embed="rId9">
            <a:alphaModFix/>
          </a:blip>
          <a:srcRect b="0" l="0" r="0" t="0"/>
          <a:stretch/>
        </p:blipFill>
        <p:spPr>
          <a:xfrm>
            <a:off x="6693615" y="5465994"/>
            <a:ext cx="145760" cy="641343"/>
          </a:xfrm>
          <a:prstGeom prst="rect">
            <a:avLst/>
          </a:prstGeom>
          <a:noFill/>
          <a:ln>
            <a:noFill/>
          </a:ln>
        </p:spPr>
      </p:pic>
      <p:sp>
        <p:nvSpPr>
          <p:cNvPr id="1518" name="Google Shape;1518;p54"/>
          <p:cNvSpPr/>
          <p:nvPr/>
        </p:nvSpPr>
        <p:spPr>
          <a:xfrm>
            <a:off x="294759" y="32659"/>
            <a:ext cx="7520630" cy="11207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081" u="none" cap="none" strike="noStrike">
                <a:solidFill>
                  <a:srgbClr val="111F5B"/>
                </a:solidFill>
              </a:rPr>
              <a:t>Resultados multiclase</a:t>
            </a:r>
            <a:endParaRPr b="1" sz="100">
              <a:solidFill>
                <a:srgbClr val="111F5B"/>
              </a:solidFill>
            </a:endParaRPr>
          </a:p>
        </p:txBody>
      </p:sp>
      <p:sp>
        <p:nvSpPr>
          <p:cNvPr id="1519" name="Google Shape;1519;p54"/>
          <p:cNvSpPr/>
          <p:nvPr/>
        </p:nvSpPr>
        <p:spPr>
          <a:xfrm>
            <a:off x="302047" y="867271"/>
            <a:ext cx="8395189" cy="4946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96" u="none" cap="none" strike="noStrike">
                <a:solidFill>
                  <a:srgbClr val="061769"/>
                </a:solidFill>
                <a:latin typeface="Arial"/>
                <a:ea typeface="Arial"/>
                <a:cs typeface="Arial"/>
                <a:sym typeface="Arial"/>
              </a:rPr>
              <a:t>M8 • HistGradientBoosting • 72 características</a:t>
            </a:r>
            <a:endParaRPr/>
          </a:p>
        </p:txBody>
      </p:sp>
      <p:sp>
        <p:nvSpPr>
          <p:cNvPr id="1520" name="Google Shape;1520;p54"/>
          <p:cNvSpPr/>
          <p:nvPr/>
        </p:nvSpPr>
        <p:spPr>
          <a:xfrm>
            <a:off x="1803373" y="1603389"/>
            <a:ext cx="3483083" cy="3930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217" u="none" cap="none" strike="noStrike">
                <a:solidFill>
                  <a:srgbClr val="070A7E"/>
                </a:solidFill>
                <a:latin typeface="Arial Narrow"/>
                <a:ea typeface="Arial Narrow"/>
                <a:cs typeface="Arial Narrow"/>
                <a:sym typeface="Arial Narrow"/>
              </a:rPr>
              <a:t>Se entrenó y probó un modelo</a:t>
            </a:r>
            <a:endParaRPr/>
          </a:p>
        </p:txBody>
      </p:sp>
      <p:sp>
        <p:nvSpPr>
          <p:cNvPr id="1521" name="Google Shape;1521;p54"/>
          <p:cNvSpPr/>
          <p:nvPr/>
        </p:nvSpPr>
        <p:spPr>
          <a:xfrm>
            <a:off x="1810661" y="1923767"/>
            <a:ext cx="3548675" cy="3750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78" u="none" cap="none" strike="noStrike">
                <a:solidFill>
                  <a:srgbClr val="070B7F"/>
                </a:solidFill>
                <a:latin typeface="Arial Narrow"/>
                <a:ea typeface="Arial Narrow"/>
                <a:cs typeface="Arial Narrow"/>
                <a:sym typeface="Arial Narrow"/>
              </a:rPr>
              <a:t>por separado en cada conjunto</a:t>
            </a:r>
            <a:endParaRPr/>
          </a:p>
        </p:txBody>
      </p:sp>
      <p:sp>
        <p:nvSpPr>
          <p:cNvPr id="1522" name="Google Shape;1522;p54"/>
          <p:cNvSpPr/>
          <p:nvPr/>
        </p:nvSpPr>
        <p:spPr>
          <a:xfrm>
            <a:off x="1803373" y="2207284"/>
            <a:ext cx="1063470" cy="37267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81" u="none" cap="none" strike="noStrike">
                <a:solidFill>
                  <a:srgbClr val="070B7F"/>
                </a:solidFill>
                <a:latin typeface="Arial Narrow"/>
                <a:ea typeface="Arial Narrow"/>
                <a:cs typeface="Arial Narrow"/>
                <a:sym typeface="Arial Narrow"/>
              </a:rPr>
              <a:t>de datos.</a:t>
            </a:r>
            <a:endParaRPr/>
          </a:p>
        </p:txBody>
      </p:sp>
      <p:sp>
        <p:nvSpPr>
          <p:cNvPr id="1523" name="Google Shape;1523;p54"/>
          <p:cNvSpPr/>
          <p:nvPr/>
        </p:nvSpPr>
        <p:spPr>
          <a:xfrm>
            <a:off x="7801390" y="1516305"/>
            <a:ext cx="3402915" cy="372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26" u="none" cap="none" strike="noStrike">
                <a:solidFill>
                  <a:srgbClr val="080C7C"/>
                </a:solidFill>
                <a:latin typeface="Arial Narrow"/>
                <a:ea typeface="Arial Narrow"/>
                <a:cs typeface="Arial Narrow"/>
                <a:sym typeface="Arial Narrow"/>
              </a:rPr>
              <a:t>Se separaron filas y se consultó</a:t>
            </a:r>
            <a:endParaRPr/>
          </a:p>
        </p:txBody>
      </p:sp>
      <p:sp>
        <p:nvSpPr>
          <p:cNvPr id="1524" name="Google Shape;1524;p54"/>
          <p:cNvSpPr/>
          <p:nvPr/>
        </p:nvSpPr>
        <p:spPr>
          <a:xfrm>
            <a:off x="7815966" y="1806411"/>
            <a:ext cx="3410203" cy="3585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57" u="none" cap="none" strike="noStrike">
                <a:solidFill>
                  <a:srgbClr val="080D80"/>
                </a:solidFill>
                <a:latin typeface="Arial Narrow"/>
                <a:ea typeface="Arial Narrow"/>
                <a:cs typeface="Arial Narrow"/>
                <a:sym typeface="Arial Narrow"/>
              </a:rPr>
              <a:t>la prueba durante el desarrollo.</a:t>
            </a:r>
            <a:endParaRPr/>
          </a:p>
        </p:txBody>
      </p:sp>
      <p:sp>
        <p:nvSpPr>
          <p:cNvPr id="1525" name="Google Shape;1525;p54"/>
          <p:cNvSpPr/>
          <p:nvPr/>
        </p:nvSpPr>
        <p:spPr>
          <a:xfrm>
            <a:off x="7815966" y="2065249"/>
            <a:ext cx="3461219" cy="3510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60" u="none" cap="none" strike="noStrike">
                <a:solidFill>
                  <a:srgbClr val="090E82"/>
                </a:solidFill>
                <a:latin typeface="Arial Narrow"/>
                <a:ea typeface="Arial Narrow"/>
                <a:cs typeface="Arial Narrow"/>
                <a:sym typeface="Arial Narrow"/>
              </a:rPr>
              <a:t>Falta confirmar estos resultados</a:t>
            </a:r>
            <a:endParaRPr/>
          </a:p>
        </p:txBody>
      </p:sp>
      <p:sp>
        <p:nvSpPr>
          <p:cNvPr id="1526" name="Google Shape;1526;p54"/>
          <p:cNvSpPr/>
          <p:nvPr/>
        </p:nvSpPr>
        <p:spPr>
          <a:xfrm>
            <a:off x="7808678" y="2331119"/>
            <a:ext cx="1967181" cy="3634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21" u="none" cap="none" strike="noStrike">
                <a:solidFill>
                  <a:srgbClr val="070E81"/>
                </a:solidFill>
                <a:latin typeface="Arial Narrow"/>
                <a:ea typeface="Arial Narrow"/>
                <a:cs typeface="Arial Narrow"/>
                <a:sym typeface="Arial Narrow"/>
              </a:rPr>
              <a:t>con datos nuevos.</a:t>
            </a:r>
            <a:endParaRPr/>
          </a:p>
        </p:txBody>
      </p:sp>
      <p:sp>
        <p:nvSpPr>
          <p:cNvPr id="1527" name="Google Shape;1527;p54"/>
          <p:cNvSpPr/>
          <p:nvPr/>
        </p:nvSpPr>
        <p:spPr>
          <a:xfrm>
            <a:off x="7036151" y="5572008"/>
            <a:ext cx="3738163" cy="3044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7" u="none" cap="none" strike="noStrike">
                <a:solidFill>
                  <a:srgbClr val="0E1282"/>
                </a:solidFill>
                <a:latin typeface="Arial Narrow"/>
                <a:ea typeface="Arial Narrow"/>
                <a:cs typeface="Arial Narrow"/>
                <a:sym typeface="Arial Narrow"/>
              </a:rPr>
              <a:t>En DS-Augmented-v2 hubo clases difíciles:</a:t>
            </a:r>
            <a:endParaRPr/>
          </a:p>
        </p:txBody>
      </p:sp>
      <p:sp>
        <p:nvSpPr>
          <p:cNvPr id="1528" name="Google Shape;1528;p54"/>
          <p:cNvSpPr/>
          <p:nvPr/>
        </p:nvSpPr>
        <p:spPr>
          <a:xfrm>
            <a:off x="1643037" y="5576833"/>
            <a:ext cx="4452386" cy="3124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10" u="none" cap="none" strike="noStrike">
                <a:solidFill>
                  <a:srgbClr val="0A107E"/>
                </a:solidFill>
                <a:latin typeface="Arial Narrow"/>
                <a:ea typeface="Arial Narrow"/>
                <a:cs typeface="Arial Narrow"/>
                <a:sym typeface="Arial Narrow"/>
              </a:rPr>
              <a:t>Exactitud: porcentaje de casos bien clasificados.</a:t>
            </a:r>
            <a:endParaRPr/>
          </a:p>
        </p:txBody>
      </p:sp>
      <p:sp>
        <p:nvSpPr>
          <p:cNvPr id="1529" name="Google Shape;1529;p54"/>
          <p:cNvSpPr/>
          <p:nvPr/>
        </p:nvSpPr>
        <p:spPr>
          <a:xfrm>
            <a:off x="1643037" y="5839299"/>
            <a:ext cx="4780345" cy="3026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70" u="none" cap="none" strike="noStrike">
                <a:solidFill>
                  <a:srgbClr val="0A1184"/>
                </a:solidFill>
                <a:latin typeface="Arial Narrow"/>
                <a:ea typeface="Arial Narrow"/>
                <a:cs typeface="Arial Narrow"/>
                <a:sym typeface="Arial Narrow"/>
              </a:rPr>
              <a:t>F1 macro: promedio que da igual peso a cada clase.</a:t>
            </a:r>
            <a:endParaRPr/>
          </a:p>
        </p:txBody>
      </p:sp>
      <p:sp>
        <p:nvSpPr>
          <p:cNvPr id="1530" name="Google Shape;1530;p54"/>
          <p:cNvSpPr/>
          <p:nvPr/>
        </p:nvSpPr>
        <p:spPr>
          <a:xfrm>
            <a:off x="7028863" y="5835079"/>
            <a:ext cx="3133259" cy="2974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84" u="none" cap="none" strike="noStrike">
                <a:solidFill>
                  <a:srgbClr val="0F1484"/>
                </a:solidFill>
                <a:latin typeface="Arial Narrow"/>
                <a:ea typeface="Arial Narrow"/>
                <a:cs typeface="Arial Narrow"/>
                <a:sym typeface="Arial Narrow"/>
              </a:rPr>
              <a:t>SSTI, 39,65 % de F1; XSS, 64,32 %.</a:t>
            </a:r>
            <a:endParaRPr/>
          </a:p>
        </p:txBody>
      </p:sp>
      <p:sp>
        <p:nvSpPr>
          <p:cNvPr id="1531" name="Google Shape;1531;p54"/>
          <p:cNvSpPr/>
          <p:nvPr/>
        </p:nvSpPr>
        <p:spPr>
          <a:xfrm>
            <a:off x="272895" y="6555007"/>
            <a:ext cx="10669043" cy="2504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18" u="none" cap="none" strike="noStrike">
                <a:solidFill>
                  <a:srgbClr val="181D80"/>
                </a:solidFill>
                <a:latin typeface="Arial Narrow"/>
                <a:ea typeface="Arial Narrow"/>
                <a:cs typeface="Arial Narrow"/>
                <a:sym typeface="Arial Narrow"/>
              </a:rPr>
              <a:t>* DS-Augmented-v2: Osama et al. (2026). Enhanced Web Payload Classification Using WAMM... https://doi.org/10.1109/ACCESS.2026.3685450</a:t>
            </a:r>
            <a:endParaRPr/>
          </a:p>
        </p:txBody>
      </p:sp>
      <p:graphicFrame>
        <p:nvGraphicFramePr>
          <p:cNvPr id="1532" name="Google Shape;1532;p54"/>
          <p:cNvGraphicFramePr/>
          <p:nvPr/>
        </p:nvGraphicFramePr>
        <p:xfrm>
          <a:off x="258319" y="2791301"/>
          <a:ext cx="3000000" cy="3000000"/>
        </p:xfrm>
        <a:graphic>
          <a:graphicData uri="http://schemas.openxmlformats.org/drawingml/2006/table">
            <a:tbl>
              <a:tblPr>
                <a:noFill/>
                <a:tableStyleId>{F1B291AF-9CB1-4793-AFE8-E70834C1BA4F}</a:tableStyleId>
              </a:tblPr>
              <a:tblGrid>
                <a:gridCol w="5181750"/>
                <a:gridCol w="3257725"/>
                <a:gridCol w="3243150"/>
              </a:tblGrid>
              <a:tr h="619475">
                <a:tc>
                  <a:txBody>
                    <a:bodyPr/>
                    <a:lstStyle/>
                    <a:p>
                      <a:pPr indent="0" lvl="0" marL="0" marR="0" rtl="0" algn="l">
                        <a:spcBef>
                          <a:spcPts val="0"/>
                        </a:spcBef>
                        <a:spcAft>
                          <a:spcPts val="0"/>
                        </a:spcAft>
                        <a:buNone/>
                      </a:pPr>
                      <a:r>
                        <a:rPr b="1" lang="en-US" sz="2247" u="none" cap="none" strike="noStrike">
                          <a:solidFill>
                            <a:srgbClr val="FFFFFF"/>
                          </a:solidFill>
                          <a:latin typeface="Arial"/>
                          <a:ea typeface="Arial"/>
                          <a:cs typeface="Arial"/>
                          <a:sym typeface="Arial"/>
                        </a:rPr>
                        <a:t>Conjunto de datos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247" u="none" cap="none" strike="noStrike">
                          <a:solidFill>
                            <a:srgbClr val="FFFFFF"/>
                          </a:solidFill>
                          <a:latin typeface="Arial"/>
                          <a:ea typeface="Arial"/>
                          <a:cs typeface="Arial"/>
                          <a:sym typeface="Arial"/>
                        </a:rPr>
                        <a:t>Exactitud</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247" u="none" cap="none" strike="noStrike">
                          <a:solidFill>
                            <a:srgbClr val="FFFFFF"/>
                          </a:solidFill>
                          <a:latin typeface="Arial"/>
                          <a:ea typeface="Arial"/>
                          <a:cs typeface="Arial"/>
                          <a:sym typeface="Arial"/>
                        </a:rPr>
                        <a:t>F1 macro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604900">
                <a:tc>
                  <a:txBody>
                    <a:bodyPr/>
                    <a:lstStyle/>
                    <a:p>
                      <a:pPr indent="0" lvl="0" marL="0" marR="0" rtl="0" algn="l">
                        <a:lnSpc>
                          <a:spcPct val="100000"/>
                        </a:lnSpc>
                        <a:spcBef>
                          <a:spcPts val="0"/>
                        </a:spcBef>
                        <a:spcAft>
                          <a:spcPts val="0"/>
                        </a:spcAft>
                        <a:buNone/>
                      </a:pPr>
                      <a:r>
                        <a:rPr b="1" lang="en-US" sz="2145">
                          <a:solidFill>
                            <a:srgbClr val="070F64"/>
                          </a:solidFill>
                        </a:rPr>
                        <a:t>TorpEda · 10 clases nativas</a:t>
                      </a:r>
                      <a:endParaRPr b="1" sz="2145">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99,777 %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98,68 %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612200">
                <a:tc>
                  <a:txBody>
                    <a:bodyPr/>
                    <a:lstStyle/>
                    <a:p>
                      <a:pPr indent="0" lvl="0" marL="0" marR="0" rtl="0" algn="l">
                        <a:lnSpc>
                          <a:spcPct val="100000"/>
                        </a:lnSpc>
                        <a:spcBef>
                          <a:spcPts val="0"/>
                        </a:spcBef>
                        <a:spcAft>
                          <a:spcPts val="0"/>
                        </a:spcAft>
                        <a:buNone/>
                      </a:pPr>
                      <a:r>
                        <a:rPr b="1" lang="en-US" sz="2145">
                          <a:solidFill>
                            <a:srgbClr val="070F64"/>
                          </a:solidFill>
                        </a:rPr>
                        <a:t>SR-BH (Harvard) · 10 clases</a:t>
                      </a:r>
                      <a:endParaRPr b="1" sz="2145">
                        <a:solidFill>
                          <a:srgbClr val="070F64"/>
                        </a:solidFill>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97,745 %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97,23 %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41350">
                <a:tc>
                  <a:txBody>
                    <a:bodyPr/>
                    <a:lstStyle/>
                    <a:p>
                      <a:pPr indent="0" lvl="0" marL="0" marR="0" rtl="0" algn="l">
                        <a:spcBef>
                          <a:spcPts val="0"/>
                        </a:spcBef>
                        <a:spcAft>
                          <a:spcPts val="0"/>
                        </a:spcAft>
                        <a:buNone/>
                      </a:pPr>
                      <a:r>
                        <a:rPr b="1" lang="en-US" sz="2145" u="none" cap="none" strike="noStrike">
                          <a:solidFill>
                            <a:srgbClr val="070F64"/>
                          </a:solidFill>
                          <a:latin typeface="Arial"/>
                          <a:ea typeface="Arial"/>
                          <a:cs typeface="Arial"/>
                          <a:sym typeface="Arial"/>
                        </a:rPr>
                        <a:t>DS-Augmented-v2 · 8 clases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99,425 %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2145" u="none" cap="none" strike="noStrike">
                          <a:solidFill>
                            <a:srgbClr val="070F64"/>
                          </a:solidFill>
                          <a:latin typeface="Arial"/>
                          <a:ea typeface="Arial"/>
                          <a:cs typeface="Arial"/>
                          <a:sym typeface="Arial"/>
                        </a:rPr>
                        <a:t>84,49 %</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1533" name="Google Shape;1533;p5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34" name="Google Shape;1534;p54" title="DEFENSA_SEGURA_V2:barra-3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35" name="Google Shape;1535;p54" title="DEFENSA_SEGURA_V2:avance-39"/>
          <p:cNvSpPr/>
          <p:nvPr/>
        </p:nvSpPr>
        <p:spPr>
          <a:xfrm>
            <a:off x="0" y="0"/>
            <a:ext cx="6096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36" name="Google Shape;1536;p54" title="DEFENSA_SEGURA_V2:seccion-3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
        <p:nvSpPr>
          <p:cNvPr id="1537" name="Google Shape;1537;p54"/>
          <p:cNvSpPr/>
          <p:nvPr/>
        </p:nvSpPr>
        <p:spPr>
          <a:xfrm>
            <a:off x="7028863" y="6299200"/>
            <a:ext cx="48261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50">
                <a:solidFill>
                  <a:srgbClr val="0F1484"/>
                </a:solidFill>
                <a:latin typeface="Arial Narrow"/>
                <a:ea typeface="Arial Narrow"/>
                <a:cs typeface="Arial Narrow"/>
                <a:sym typeface="Arial Narrow"/>
              </a:rPr>
              <a:t>SSTI: inyección en plantillas del servidor.</a:t>
            </a:r>
            <a:endParaRPr sz="1250">
              <a:solidFill>
                <a:srgbClr val="0F1484"/>
              </a:solidFill>
              <a:latin typeface="Arial Narrow"/>
              <a:ea typeface="Arial Narrow"/>
              <a:cs typeface="Arial Narrow"/>
              <a:sym typeface="Arial Narro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2" name="Shape 1542"/>
        <p:cNvGrpSpPr/>
        <p:nvPr/>
      </p:nvGrpSpPr>
      <p:grpSpPr>
        <a:xfrm>
          <a:off x="0" y="0"/>
          <a:ext cx="0" cy="0"/>
          <a:chOff x="0" y="0"/>
          <a:chExt cx="0" cy="0"/>
        </a:xfrm>
      </p:grpSpPr>
      <p:sp>
        <p:nvSpPr>
          <p:cNvPr id="1543" name="Google Shape;1543;p55"/>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Multiclase: decisiones que cambiaron el F1</a:t>
            </a:r>
            <a:endParaRPr b="1">
              <a:solidFill>
                <a:srgbClr val="111F5B"/>
              </a:solidFill>
            </a:endParaRPr>
          </a:p>
        </p:txBody>
      </p:sp>
      <p:sp>
        <p:nvSpPr>
          <p:cNvPr id="1544" name="Google Shape;1544;p55"/>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800"/>
              <a:buFont typeface="Arial"/>
              <a:buNone/>
            </a:pPr>
            <a:r>
              <a:rPr b="0" lang="en-US" sz="1800">
                <a:solidFill>
                  <a:srgbClr val="070F64"/>
                </a:solidFill>
                <a:latin typeface="Arial"/>
                <a:ea typeface="Arial"/>
                <a:cs typeface="Arial"/>
                <a:sym typeface="Arial"/>
              </a:rPr>
              <a:t>La representación y la definición de clases tuvieron efectos distintos</a:t>
            </a:r>
            <a:endParaRPr/>
          </a:p>
        </p:txBody>
      </p:sp>
      <p:graphicFrame>
        <p:nvGraphicFramePr>
          <p:cNvPr id="1545" name="Google Shape;1545;p55"/>
          <p:cNvGraphicFramePr/>
          <p:nvPr/>
        </p:nvGraphicFramePr>
        <p:xfrm>
          <a:off x="285750" y="1447800"/>
          <a:ext cx="3000000" cy="3000000"/>
        </p:xfrm>
        <a:graphic>
          <a:graphicData uri="http://schemas.openxmlformats.org/drawingml/2006/table">
            <a:tbl>
              <a:tblPr>
                <a:noFill/>
                <a:tableStyleId>{F1B291AF-9CB1-4793-AFE8-E70834C1BA4F}</a:tableStyleId>
              </a:tblPr>
              <a:tblGrid>
                <a:gridCol w="3962400"/>
                <a:gridCol w="3333750"/>
                <a:gridCol w="4324350"/>
              </a:tblGrid>
              <a:tr h="419100">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Decisión</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F1 macro observado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Interpretación</a:t>
                      </a:r>
                      <a:endParaRPr/>
                    </a:p>
                  </a:txBody>
                  <a:tcPr marT="76200" marB="76200" marR="95250" marL="114300" anchor="ctr">
                    <a:solidFill>
                      <a:srgbClr val="083672"/>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Ampliar de 30 a 84 variables</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Estructura HTTP y señales léxicas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Harvard: 80,81 % a 88,83 %</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+8,02 pp</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TorpEda: +5,14 pp</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Mayor salto con la misma taxonomía.</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El informe no permite aislar</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variables y configuración.</a:t>
                      </a:r>
                      <a:endParaRPr/>
                    </a:p>
                  </a:txBody>
                  <a:tcPr marT="76200" marB="76200" marR="95250" marL="114300" anchor="ctr">
                    <a:solidFill>
                      <a:srgbClr val="DFF4FC"/>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Añadir 14 variables: 58 a 72</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Petición completa y ejecución</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DS-v2: 81,17 %</a:t>
                      </a:r>
                      <a:r>
                        <a:rPr b="0" lang="en-US" sz="1575" u="none" cap="none">
                          <a:solidFill>
                            <a:srgbClr val="070F64"/>
                          </a:solidFill>
                          <a:latin typeface="Arial"/>
                          <a:ea typeface="Arial"/>
                          <a:cs typeface="Arial"/>
                          <a:sym typeface="Arial"/>
                        </a:rPr>
                        <a:t> a 84,49 %</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+3,32 pp</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Harvard: +0,13 pp</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La mejora depende del dataset.</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TorpEda pierde 0,69 pp.</a:t>
                      </a:r>
                      <a:endParaRPr/>
                    </a:p>
                    <a:p>
                      <a:pPr indent="0" lvl="0" marL="0" marR="0" rtl="0" algn="l">
                        <a:lnSpc>
                          <a:spcPct val="100000"/>
                        </a:lnSpc>
                        <a:spcBef>
                          <a:spcPts val="0"/>
                        </a:spcBef>
                        <a:spcAft>
                          <a:spcPts val="0"/>
                        </a:spcAft>
                        <a:buClr>
                          <a:srgbClr val="000000"/>
                        </a:buClr>
                        <a:buSzPts val="1575"/>
                        <a:buFont typeface="Arial"/>
                        <a:buNone/>
                      </a:pPr>
                      <a:r>
                        <a:rPr lang="en-US" sz="1575">
                          <a:solidFill>
                            <a:srgbClr val="070F64"/>
                          </a:solidFill>
                        </a:rPr>
                        <a:t>En DS-v2, XSS gana</a:t>
                      </a:r>
                      <a:r>
                        <a:rPr b="0" lang="en-US" sz="1575" u="none" cap="none">
                          <a:solidFill>
                            <a:srgbClr val="070F64"/>
                          </a:solidFill>
                          <a:latin typeface="Arial"/>
                          <a:ea typeface="Arial"/>
                          <a:cs typeface="Arial"/>
                          <a:sym typeface="Arial"/>
                        </a:rPr>
                        <a:t> 11,17 pp.</a:t>
                      </a:r>
                      <a:endParaRPr/>
                    </a:p>
                  </a:txBody>
                  <a:tcPr marT="76200" marB="76200" marR="95250" marL="114300" anchor="ctr">
                    <a:solidFill>
                      <a:srgbClr val="F6FBFD"/>
                    </a:solidFill>
                  </a:tcPr>
                </a:tc>
              </a:tr>
              <a:tr h="12192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Agrupar Harvard: 14 a 10 clases</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Unificar clases de manipulación</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88,81 % a 97,10 %</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+8,29 pp observados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Cambia la tarea y el promedio macro.</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Mejores cifras con menos detalle.</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No es una comparación equivalente.</a:t>
                      </a:r>
                      <a:endParaRPr/>
                    </a:p>
                  </a:txBody>
                  <a:tcPr marT="76200" marB="76200" marR="95250" marL="114300" anchor="ctr">
                    <a:solidFill>
                      <a:srgbClr val="DFF4FC"/>
                    </a:solidFill>
                  </a:tcPr>
                </a:tc>
              </a:tr>
            </a:tbl>
          </a:graphicData>
        </a:graphic>
      </p:graphicFrame>
      <p:sp>
        <p:nvSpPr>
          <p:cNvPr id="1546" name="Google Shape;1546;p55"/>
          <p:cNvSpPr/>
          <p:nvPr/>
        </p:nvSpPr>
        <p:spPr>
          <a:xfrm>
            <a:off x="304800" y="5686425"/>
            <a:ext cx="11525400" cy="60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500"/>
              <a:buFont typeface="Arial"/>
              <a:buNone/>
            </a:pPr>
            <a:r>
              <a:rPr lang="en-US" sz="1600">
                <a:solidFill>
                  <a:srgbClr val="070F64"/>
                </a:solidFill>
              </a:rPr>
              <a:t>En Harvard, pasar de 84 a 58 variables cambió F1 macro de 88,83 % a 88,81 %.</a:t>
            </a:r>
            <a:endParaRPr sz="1600">
              <a:solidFill>
                <a:srgbClr val="070F64"/>
              </a:solidFill>
            </a:endParaRPr>
          </a:p>
          <a:p>
            <a:pPr indent="0" lvl="0" marL="0" marR="0" rtl="0" algn="l">
              <a:spcBef>
                <a:spcPts val="0"/>
              </a:spcBef>
              <a:spcAft>
                <a:spcPts val="0"/>
              </a:spcAft>
              <a:buClr>
                <a:srgbClr val="070F64"/>
              </a:buClr>
              <a:buSzPts val="1500"/>
              <a:buFont typeface="Arial"/>
              <a:buNone/>
            </a:pPr>
            <a:r>
              <a:rPr lang="en-US" sz="1600">
                <a:solidFill>
                  <a:srgbClr val="070F64"/>
                </a:solidFill>
              </a:rPr>
              <a:t>Son 26 variables menos y 0,02 pp de diferencia. pp = puntos porcentuales.</a:t>
            </a:r>
            <a:endParaRPr sz="1600">
              <a:solidFill>
                <a:srgbClr val="070F64"/>
              </a:solidFill>
            </a:endParaRPr>
          </a:p>
        </p:txBody>
      </p:sp>
      <p:sp>
        <p:nvSpPr>
          <p:cNvPr id="1547" name="Google Shape;1547;p5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48" name="Google Shape;1548;p55" title="DEFENSA_SEGURA_V2:barra-4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49" name="Google Shape;1549;p55" title="DEFENSA_SEGURA_V2:avance-40"/>
          <p:cNvSpPr/>
          <p:nvPr/>
        </p:nvSpPr>
        <p:spPr>
          <a:xfrm>
            <a:off x="0" y="0"/>
            <a:ext cx="731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50" name="Google Shape;1550;p55" title="DEFENSA_SEGURA_V2:seccion-4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5" name="Shape 1555"/>
        <p:cNvGrpSpPr/>
        <p:nvPr/>
      </p:nvGrpSpPr>
      <p:grpSpPr>
        <a:xfrm>
          <a:off x="0" y="0"/>
          <a:ext cx="0" cy="0"/>
          <a:chOff x="0" y="0"/>
          <a:chExt cx="0" cy="0"/>
        </a:xfrm>
      </p:grpSpPr>
      <p:sp>
        <p:nvSpPr>
          <p:cNvPr id="1556" name="Google Shape;1556;p56"/>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111F5B"/>
                </a:solidFill>
              </a:rPr>
              <a:t>Multiclase: comparación en SR-BH 2020</a:t>
            </a:r>
            <a:endParaRPr b="1" sz="3600">
              <a:solidFill>
                <a:srgbClr val="111F5B"/>
              </a:solidFill>
            </a:endParaRPr>
          </a:p>
        </p:txBody>
      </p:sp>
      <p:sp>
        <p:nvSpPr>
          <p:cNvPr id="1557" name="Google Shape;1557;p56"/>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solidFill>
                  <a:srgbClr val="070F64"/>
                </a:solidFill>
              </a:rPr>
              <a:t>SR-BH 2020 (Harvard). Cada estudio define sus clases y su evaluación.</a:t>
            </a:r>
            <a:endParaRPr sz="1800">
              <a:solidFill>
                <a:srgbClr val="070F64"/>
              </a:solidFill>
            </a:endParaRPr>
          </a:p>
        </p:txBody>
      </p:sp>
      <p:graphicFrame>
        <p:nvGraphicFramePr>
          <p:cNvPr id="1558" name="Google Shape;1558;p56"/>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2413000"/>
                <a:gridCol w="3175000"/>
                <a:gridCol w="2730500"/>
                <a:gridCol w="33020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 y 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Detección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Costo de ejecución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Relación con la propuesta</a:t>
                      </a:r>
                      <a:endParaRPr b="1" sz="1700">
                        <a:solidFill>
                          <a:srgbClr val="FFFFFF"/>
                        </a:solidFill>
                      </a:endParaRPr>
                    </a:p>
                  </a:txBody>
                  <a:tcPr marT="76200" marB="76200" marR="114300" marL="114300" anchor="ctr">
                    <a:solidFill>
                      <a:srgbClr val="070F64"/>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Nguyen et al. (2023)</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(Harvard)</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7 clases agrupadas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origen: 98,90 %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destino: 61,50 %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Promedio no especificado</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informa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Fusiona ataques similares.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Evalúa transferencia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entre dominios.</a:t>
                      </a:r>
                      <a:endParaRPr sz="1600">
                        <a:solidFill>
                          <a:srgbClr val="070F64"/>
                        </a:solidFill>
                      </a:endParaRPr>
                    </a:p>
                  </a:txBody>
                  <a:tcPr marT="76200" marB="76200" marR="114300" marL="114300" anchor="ctr">
                    <a:solidFill>
                      <a:srgbClr val="DFF4FC"/>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Zhou et al. (2025)</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(Harvard)</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13 clases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Exactitud: 99,63 %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multiclase: NV</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Cifra de latencia o</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peticiones/s: NV</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Usa 13 clases.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M8 usa 10 tras agrupar.</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Las salidas difieren.</a:t>
                      </a:r>
                      <a:endParaRPr sz="1600">
                        <a:solidFill>
                          <a:srgbClr val="070F64"/>
                        </a:solidFill>
                      </a:endParaRPr>
                    </a:p>
                  </a:txBody>
                  <a:tcPr marT="76200" marB="76200" marR="114300" marL="114300" anchor="ctr">
                    <a:solidFill>
                      <a:srgbClr val="F6FBFD"/>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Este trabajo: M8</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SR-BH (Harvard)</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10 clases agrupadas</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F1 macro: 97,23 %</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Exactitud: 97,745 %</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39,63 peticiones/s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p50: 25,19 ms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Preparación + predicción</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b="1" lang="en-US" sz="1600">
                          <a:solidFill>
                            <a:srgbClr val="070F64"/>
                          </a:solidFill>
                        </a:rPr>
                        <a:t>HGB con 72 variables.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División por filas.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Prueba consultada</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durante el desarrollo.</a:t>
                      </a:r>
                      <a:endParaRPr b="1" sz="1600">
                        <a:solidFill>
                          <a:srgbClr val="070F64"/>
                        </a:solidFill>
                      </a:endParaRPr>
                    </a:p>
                  </a:txBody>
                  <a:tcPr marT="76200" marB="76200" marR="114300" marL="114300" anchor="ctr">
                    <a:solidFill>
                      <a:srgbClr val="DFF4FC"/>
                    </a:solidFill>
                  </a:tcPr>
                </a:tc>
              </a:tr>
            </a:tbl>
          </a:graphicData>
        </a:graphic>
      </p:graphicFrame>
      <p:sp>
        <p:nvSpPr>
          <p:cNvPr id="1559" name="Google Shape;1559;p56"/>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700">
                <a:solidFill>
                  <a:srgbClr val="070F64"/>
                </a:solidFill>
              </a:rPr>
              <a:t>Compartir el corpus no iguala las clases, las particiones ni la métrica utilizada.</a:t>
            </a:r>
            <a:endParaRPr b="1" sz="1700">
              <a:solidFill>
                <a:srgbClr val="070F64"/>
              </a:solidFill>
            </a:endParaRPr>
          </a:p>
        </p:txBody>
      </p:sp>
      <p:sp>
        <p:nvSpPr>
          <p:cNvPr id="1560" name="Google Shape;1560;p56"/>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000">
                <a:solidFill>
                  <a:srgbClr val="070F64"/>
                </a:solidFill>
              </a:rPr>
              <a:t>Nguyen: sec. IV-A y tabla II. M8: tesis e informe de 72 características. NV = no verificado. Fuentes en notas.</a:t>
            </a:r>
            <a:endParaRPr sz="1000">
              <a:solidFill>
                <a:srgbClr val="070F64"/>
              </a:solidFill>
            </a:endParaRPr>
          </a:p>
        </p:txBody>
      </p:sp>
      <p:sp>
        <p:nvSpPr>
          <p:cNvPr id="1561" name="Google Shape;1561;p5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62" name="Google Shape;1562;p56" title="DEFENSA_SEGURA_V2:barra-2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63" name="Google Shape;1563;p56" title="DEFENSA_SEGURA_V2:avance-21"/>
          <p:cNvSpPr/>
          <p:nvPr/>
        </p:nvSpPr>
        <p:spPr>
          <a:xfrm>
            <a:off x="0" y="0"/>
            <a:ext cx="886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64" name="Google Shape;1564;p56" title="DEFENSA_SEGURA_V2:seccion-2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9" name="Shape 1569"/>
        <p:cNvGrpSpPr/>
        <p:nvPr/>
      </p:nvGrpSpPr>
      <p:grpSpPr>
        <a:xfrm>
          <a:off x="0" y="0"/>
          <a:ext cx="0" cy="0"/>
          <a:chOff x="0" y="0"/>
          <a:chExt cx="0" cy="0"/>
        </a:xfrm>
      </p:grpSpPr>
      <p:sp>
        <p:nvSpPr>
          <p:cNvPr id="1570" name="Google Shape;1570;p57"/>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111F5B"/>
                </a:solidFill>
              </a:rPr>
              <a:t>Multiclase: DS-Augmented-v2 y TorpEda</a:t>
            </a:r>
            <a:endParaRPr b="1" sz="3600">
              <a:solidFill>
                <a:srgbClr val="111F5B"/>
              </a:solidFill>
            </a:endParaRPr>
          </a:p>
        </p:txBody>
      </p:sp>
      <p:sp>
        <p:nvSpPr>
          <p:cNvPr id="1571" name="Google Shape;1571;p57"/>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800">
                <a:solidFill>
                  <a:srgbClr val="070F64"/>
                </a:solidFill>
              </a:rPr>
              <a:t>Comparación en DS-Augmented-v2 y alcance de la evaluación en TorpEda.</a:t>
            </a:r>
            <a:endParaRPr sz="1800">
              <a:solidFill>
                <a:srgbClr val="070F64"/>
              </a:solidFill>
            </a:endParaRPr>
          </a:p>
        </p:txBody>
      </p:sp>
      <p:graphicFrame>
        <p:nvGraphicFramePr>
          <p:cNvPr id="1572" name="Google Shape;1572;p57"/>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2413000"/>
                <a:gridCol w="3175000"/>
                <a:gridCol w="2730500"/>
                <a:gridCol w="33020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 y 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Detección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Costo de ejecución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Relación con la propuesta</a:t>
                      </a:r>
                      <a:endParaRPr b="1" sz="1700">
                        <a:solidFill>
                          <a:srgbClr val="FFFFFF"/>
                        </a:solidFill>
                      </a:endParaRPr>
                    </a:p>
                  </a:txBody>
                  <a:tcPr marT="76200" marB="76200" marR="114300" marL="114300" anchor="ctr">
                    <a:solidFill>
                      <a:srgbClr val="070F64"/>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Osama et al. (2026)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DS-Augmented-v2</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9 clases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macro: 86,07 %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Exactitud: 99,59 %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Predicción: 0,049 ms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por muestra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Distingue Command</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Injection y OS Command</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Injection por separado.</a:t>
                      </a:r>
                      <a:endParaRPr sz="1600">
                        <a:solidFill>
                          <a:srgbClr val="070F64"/>
                        </a:solidFill>
                      </a:endParaRPr>
                    </a:p>
                  </a:txBody>
                  <a:tcPr marT="76200" marB="76200" marR="114300" marL="114300" anchor="ctr">
                    <a:solidFill>
                      <a:srgbClr val="DFF4FC"/>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Este trabajo: M8</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DS-Augmented-v2</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8 clases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F1 macro: 84,49 %</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Exactitud: 99,425 %</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55,11 peticiones/s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p50: 13,68 ms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Preparación + predicción</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Unimos ambas clases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de inyección de comandos.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Cambia la salida evaluada.</a:t>
                      </a:r>
                      <a:endParaRPr b="1" sz="1600">
                        <a:solidFill>
                          <a:srgbClr val="070F64"/>
                        </a:solidFill>
                      </a:endParaRPr>
                    </a:p>
                  </a:txBody>
                  <a:tcPr marT="76200" marB="76200" marR="114300" marL="114300" anchor="ctr">
                    <a:solidFill>
                      <a:srgbClr val="F6FBFD"/>
                    </a:solidFill>
                  </a:tcPr>
                </a:tc>
              </a:tr>
              <a:tr h="1320800">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Este trabajo: M8</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TorpEda</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10 clases nativas</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F1 macro: 98,68 %</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Exactitud: 99,777 %</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49,68 peticiones/s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p50: 20,14 ms</a:t>
                      </a:r>
                      <a:endParaRPr b="1"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b="1" lang="en-US" sz="1600">
                          <a:solidFill>
                            <a:srgbClr val="070F64"/>
                          </a:solidFill>
                        </a:rPr>
                        <a:t>Preparación + predicción</a:t>
                      </a:r>
                      <a:endParaRPr b="1"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b="1" lang="en-US" sz="1600">
                          <a:solidFill>
                            <a:srgbClr val="070F64"/>
                          </a:solidFill>
                        </a:rPr>
                        <a:t>Conservamos las familias.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Sin antecedente multiclase</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de TorpEda en esta selección.</a:t>
                      </a:r>
                      <a:endParaRPr b="1" sz="1600">
                        <a:solidFill>
                          <a:srgbClr val="070F64"/>
                        </a:solidFill>
                      </a:endParaRPr>
                    </a:p>
                  </a:txBody>
                  <a:tcPr marT="76200" marB="76200" marR="114300" marL="114300" anchor="ctr">
                    <a:solidFill>
                      <a:srgbClr val="DFF4FC"/>
                    </a:solidFill>
                  </a:tcPr>
                </a:tc>
              </a:tr>
            </a:tbl>
          </a:graphicData>
        </a:graphic>
      </p:graphicFrame>
      <p:sp>
        <p:nvSpPr>
          <p:cNvPr id="1573" name="Google Shape;1573;p57"/>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700">
                <a:solidFill>
                  <a:srgbClr val="070F64"/>
                </a:solidFill>
              </a:rPr>
              <a:t>M8 incluye preparación y predicción en sus tiempos. </a:t>
            </a:r>
            <a:r>
              <a:rPr b="1" lang="en-US" sz="1700">
                <a:solidFill>
                  <a:srgbClr val="070F64"/>
                </a:solidFill>
              </a:rPr>
              <a:t>WAMM informa tiempo de predicción.</a:t>
            </a:r>
            <a:endParaRPr b="1" sz="1700">
              <a:solidFill>
                <a:srgbClr val="070F64"/>
              </a:solidFill>
            </a:endParaRPr>
          </a:p>
        </p:txBody>
      </p:sp>
      <p:sp>
        <p:nvSpPr>
          <p:cNvPr id="1574" name="Google Shape;1574;p57"/>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000">
                <a:solidFill>
                  <a:srgbClr val="070F64"/>
                </a:solidFill>
              </a:rPr>
              <a:t>M8 usa HGB y 72 variables, con un modelo por corpus. Fuentes, agrupaciones y alcance de los tiempos en las notas.</a:t>
            </a:r>
            <a:endParaRPr sz="1000">
              <a:solidFill>
                <a:srgbClr val="070F64"/>
              </a:solidFill>
            </a:endParaRPr>
          </a:p>
        </p:txBody>
      </p:sp>
      <p:sp>
        <p:nvSpPr>
          <p:cNvPr id="1575" name="Google Shape;1575;p5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76" name="Google Shape;1576;p57" title="DEFENSA_SEGURA_V2:barra-2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77" name="Google Shape;1577;p57" title="DEFENSA_SEGURA_V2:avance-21"/>
          <p:cNvSpPr/>
          <p:nvPr/>
        </p:nvSpPr>
        <p:spPr>
          <a:xfrm>
            <a:off x="0" y="0"/>
            <a:ext cx="886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78" name="Google Shape;1578;p57" title="DEFENSA_SEGURA_V2:seccion-2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3" name="Shape 1583"/>
        <p:cNvGrpSpPr/>
        <p:nvPr/>
      </p:nvGrpSpPr>
      <p:grpSpPr>
        <a:xfrm>
          <a:off x="0" y="0"/>
          <a:ext cx="0" cy="0"/>
          <a:chOff x="0" y="0"/>
          <a:chExt cx="0" cy="0"/>
        </a:xfrm>
      </p:grpSpPr>
      <p:sp>
        <p:nvSpPr>
          <p:cNvPr id="1584" name="Google Shape;1584;p58"/>
          <p:cNvSpPr/>
          <p:nvPr/>
        </p:nvSpPr>
        <p:spPr>
          <a:xfrm>
            <a:off x="8343900" y="1485900"/>
            <a:ext cx="3555900" cy="4140300"/>
          </a:xfrm>
          <a:prstGeom prst="roundRect">
            <a:avLst>
              <a:gd fmla="val 16667" name="adj"/>
            </a:avLst>
          </a:prstGeom>
          <a:solidFill>
            <a:srgbClr val="EBFCFC"/>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85" name="Google Shape;1585;p58"/>
          <p:cNvSpPr/>
          <p:nvPr/>
        </p:nvSpPr>
        <p:spPr>
          <a:xfrm>
            <a:off x="3822700" y="1485900"/>
            <a:ext cx="4292700" cy="4140300"/>
          </a:xfrm>
          <a:prstGeom prst="roundRect">
            <a:avLst>
              <a:gd fmla="val 1136" name="adj"/>
            </a:avLst>
          </a:prstGeom>
          <a:solidFill>
            <a:srgbClr val="EBFCFC"/>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8"/>
          <p:cNvSpPr/>
          <p:nvPr/>
        </p:nvSpPr>
        <p:spPr>
          <a:xfrm>
            <a:off x="292100" y="1485900"/>
            <a:ext cx="3302100" cy="4140300"/>
          </a:xfrm>
          <a:prstGeom prst="roundRect">
            <a:avLst>
              <a:gd fmla="val 1550" name="adj"/>
            </a:avLst>
          </a:prstGeom>
          <a:solidFill>
            <a:srgbClr val="E6F7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8"/>
          <p:cNvSpPr/>
          <p:nvPr/>
        </p:nvSpPr>
        <p:spPr>
          <a:xfrm>
            <a:off x="5981700" y="2438400"/>
            <a:ext cx="927000" cy="1384200"/>
          </a:xfrm>
          <a:prstGeom prst="roundRect">
            <a:avLst>
              <a:gd fmla="val 5096" name="adj"/>
            </a:avLst>
          </a:prstGeom>
          <a:solidFill>
            <a:srgbClr val="FFF1D8"/>
          </a:solidFill>
          <a:ln cap="flat" cmpd="sng" w="9525">
            <a:solidFill>
              <a:srgbClr val="FFF1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8"/>
          <p:cNvSpPr/>
          <p:nvPr/>
        </p:nvSpPr>
        <p:spPr>
          <a:xfrm>
            <a:off x="4978400" y="2438400"/>
            <a:ext cx="927000" cy="1384200"/>
          </a:xfrm>
          <a:prstGeom prst="roundRect">
            <a:avLst>
              <a:gd fmla="val 5096" name="adj"/>
            </a:avLst>
          </a:prstGeom>
          <a:solidFill>
            <a:srgbClr val="D5FBF4"/>
          </a:solidFill>
          <a:ln cap="flat" cmpd="sng" w="9525">
            <a:solidFill>
              <a:srgbClr val="D5F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8"/>
          <p:cNvSpPr/>
          <p:nvPr/>
        </p:nvSpPr>
        <p:spPr>
          <a:xfrm>
            <a:off x="6985000" y="2438400"/>
            <a:ext cx="927000" cy="1384200"/>
          </a:xfrm>
          <a:prstGeom prst="roundRect">
            <a:avLst>
              <a:gd fmla="val 5096" name="adj"/>
            </a:avLst>
          </a:prstGeom>
          <a:solidFill>
            <a:srgbClr val="EBE3FF"/>
          </a:solidFill>
          <a:ln cap="flat" cmpd="sng" w="9525">
            <a:solidFill>
              <a:srgbClr val="EBE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8"/>
          <p:cNvSpPr/>
          <p:nvPr/>
        </p:nvSpPr>
        <p:spPr>
          <a:xfrm>
            <a:off x="3975100" y="2438400"/>
            <a:ext cx="927000" cy="1384200"/>
          </a:xfrm>
          <a:prstGeom prst="roundRect">
            <a:avLst>
              <a:gd fmla="val 5096" name="adj"/>
            </a:avLst>
          </a:prstGeom>
          <a:solidFill>
            <a:srgbClr val="DFF4FF"/>
          </a:solidFill>
          <a:ln cap="flat" cmpd="sng" w="9525">
            <a:solidFill>
              <a:srgbClr val="DF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8"/>
          <p:cNvSpPr/>
          <p:nvPr/>
        </p:nvSpPr>
        <p:spPr>
          <a:xfrm>
            <a:off x="5981700" y="2438400"/>
            <a:ext cx="927000" cy="520800"/>
          </a:xfrm>
          <a:prstGeom prst="roundRect">
            <a:avLst>
              <a:gd fmla="val 10526" name="adj"/>
            </a:avLst>
          </a:prstGeom>
          <a:solidFill>
            <a:srgbClr val="FFAC13"/>
          </a:solidFill>
          <a:ln cap="flat" cmpd="sng" w="9525">
            <a:solidFill>
              <a:srgbClr val="FFAC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8"/>
          <p:cNvSpPr/>
          <p:nvPr/>
        </p:nvSpPr>
        <p:spPr>
          <a:xfrm>
            <a:off x="4978400" y="2438400"/>
            <a:ext cx="927000" cy="520800"/>
          </a:xfrm>
          <a:prstGeom prst="roundRect">
            <a:avLst>
              <a:gd fmla="val 10526" name="adj"/>
            </a:avLst>
          </a:prstGeom>
          <a:solidFill>
            <a:srgbClr val="00BDA9"/>
          </a:solidFill>
          <a:ln cap="flat" cmpd="sng" w="9525">
            <a:solidFill>
              <a:srgbClr val="00BD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8"/>
          <p:cNvSpPr/>
          <p:nvPr/>
        </p:nvSpPr>
        <p:spPr>
          <a:xfrm>
            <a:off x="6985000" y="2438400"/>
            <a:ext cx="927000" cy="520800"/>
          </a:xfrm>
          <a:prstGeom prst="roundRect">
            <a:avLst>
              <a:gd fmla="val 10526" name="adj"/>
            </a:avLst>
          </a:prstGeom>
          <a:solidFill>
            <a:srgbClr val="8557E9"/>
          </a:solidFill>
          <a:ln cap="flat" cmpd="sng" w="9525">
            <a:solidFill>
              <a:srgbClr val="8557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8"/>
          <p:cNvSpPr/>
          <p:nvPr/>
        </p:nvSpPr>
        <p:spPr>
          <a:xfrm>
            <a:off x="3975100" y="2438400"/>
            <a:ext cx="927000" cy="520800"/>
          </a:xfrm>
          <a:prstGeom prst="roundRect">
            <a:avLst>
              <a:gd fmla="val 10526" name="adj"/>
            </a:avLst>
          </a:prstGeom>
          <a:solidFill>
            <a:srgbClr val="008EFF"/>
          </a:solidFill>
          <a:ln cap="flat" cmpd="sng" w="9525">
            <a:solidFill>
              <a:srgbClr val="008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5" name="Google Shape;1595;p58"/>
          <p:cNvPicPr preferRelativeResize="0"/>
          <p:nvPr/>
        </p:nvPicPr>
        <p:blipFill rotWithShape="1">
          <a:blip r:embed="rId4">
            <a:alphaModFix/>
          </a:blip>
          <a:srcRect b="0" l="0" r="0" t="0"/>
          <a:stretch/>
        </p:blipFill>
        <p:spPr>
          <a:xfrm>
            <a:off x="1168400" y="2273300"/>
            <a:ext cx="1371600" cy="1054100"/>
          </a:xfrm>
          <a:prstGeom prst="rect">
            <a:avLst/>
          </a:prstGeom>
          <a:noFill/>
          <a:ln>
            <a:noFill/>
          </a:ln>
        </p:spPr>
      </p:pic>
      <p:sp>
        <p:nvSpPr>
          <p:cNvPr id="1596" name="Google Shape;1596;p58"/>
          <p:cNvSpPr/>
          <p:nvPr/>
        </p:nvSpPr>
        <p:spPr>
          <a:xfrm>
            <a:off x="3606800" y="3441700"/>
            <a:ext cx="216000" cy="203100"/>
          </a:xfrm>
          <a:prstGeom prst="rightArrow">
            <a:avLst>
              <a:gd fmla="val 50000" name="adj1"/>
              <a:gd fmla="val 50000" name="adj2"/>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8"/>
          <p:cNvSpPr/>
          <p:nvPr/>
        </p:nvSpPr>
        <p:spPr>
          <a:xfrm>
            <a:off x="8128000" y="3441700"/>
            <a:ext cx="216000" cy="203100"/>
          </a:xfrm>
          <a:prstGeom prst="rightArrow">
            <a:avLst>
              <a:gd fmla="val 50000" name="adj1"/>
              <a:gd fmla="val 50000" name="adj2"/>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8"/>
          <p:cNvSpPr/>
          <p:nvPr/>
        </p:nvSpPr>
        <p:spPr>
          <a:xfrm>
            <a:off x="292100" y="266700"/>
            <a:ext cx="11607900" cy="62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00">
                <a:solidFill>
                  <a:srgbClr val="111F5B"/>
                </a:solidFill>
              </a:rPr>
              <a:t>Método multietiqueta: de peticiones a etiquetas</a:t>
            </a:r>
            <a:endParaRPr b="1" sz="3400">
              <a:solidFill>
                <a:srgbClr val="111F5B"/>
              </a:solidFill>
            </a:endParaRPr>
          </a:p>
        </p:txBody>
      </p:sp>
      <p:sp>
        <p:nvSpPr>
          <p:cNvPr id="1599" name="Google Shape;1599;p58"/>
          <p:cNvSpPr/>
          <p:nvPr/>
        </p:nvSpPr>
        <p:spPr>
          <a:xfrm>
            <a:off x="444500" y="1651000"/>
            <a:ext cx="30735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a:solidFill>
                  <a:srgbClr val="050E5A"/>
                </a:solidFill>
                <a:latin typeface="Arial Narrow"/>
                <a:ea typeface="Arial Narrow"/>
                <a:cs typeface="Arial Narrow"/>
                <a:sym typeface="Arial Narrow"/>
              </a:rPr>
              <a:t>1. Agrupar peticiones</a:t>
            </a:r>
            <a:endParaRPr b="1" sz="2400">
              <a:solidFill>
                <a:srgbClr val="050E5A"/>
              </a:solidFill>
              <a:latin typeface="Arial Narrow"/>
              <a:ea typeface="Arial Narrow"/>
              <a:cs typeface="Arial Narrow"/>
              <a:sym typeface="Arial Narrow"/>
            </a:endParaRPr>
          </a:p>
        </p:txBody>
      </p:sp>
      <p:sp>
        <p:nvSpPr>
          <p:cNvPr id="1600" name="Google Shape;1600;p58"/>
          <p:cNvSpPr/>
          <p:nvPr/>
        </p:nvSpPr>
        <p:spPr>
          <a:xfrm>
            <a:off x="495300" y="3530600"/>
            <a:ext cx="2908200" cy="35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00">
                <a:solidFill>
                  <a:srgbClr val="060AA7"/>
                </a:solidFill>
                <a:latin typeface="Arial Narrow"/>
                <a:ea typeface="Arial Narrow"/>
                <a:cs typeface="Arial Narrow"/>
                <a:sym typeface="Arial Narrow"/>
              </a:rPr>
              <a:t>Huella de 15 campos HTTP</a:t>
            </a:r>
            <a:endParaRPr b="1" sz="1800">
              <a:solidFill>
                <a:srgbClr val="060AA7"/>
              </a:solidFill>
              <a:latin typeface="Arial Narrow"/>
              <a:ea typeface="Arial Narrow"/>
              <a:cs typeface="Arial Narrow"/>
              <a:sym typeface="Arial Narrow"/>
            </a:endParaRPr>
          </a:p>
        </p:txBody>
      </p:sp>
      <p:sp>
        <p:nvSpPr>
          <p:cNvPr id="1601" name="Google Shape;1601;p58"/>
          <p:cNvSpPr/>
          <p:nvPr/>
        </p:nvSpPr>
        <p:spPr>
          <a:xfrm>
            <a:off x="495300" y="3949700"/>
            <a:ext cx="2921100" cy="10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900">
                <a:solidFill>
                  <a:srgbClr val="080CA5"/>
                </a:solidFill>
                <a:latin typeface="Arial Narrow"/>
                <a:ea typeface="Arial Narrow"/>
                <a:cs typeface="Arial Narrow"/>
                <a:sym typeface="Arial Narrow"/>
              </a:rPr>
              <a:t>Reunimos coincidencias y</a:t>
            </a:r>
            <a:endParaRPr sz="1900">
              <a:solidFill>
                <a:srgbClr val="080CA5"/>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900">
                <a:solidFill>
                  <a:srgbClr val="080CA5"/>
                </a:solidFill>
                <a:latin typeface="Arial Narrow"/>
                <a:ea typeface="Arial Narrow"/>
                <a:cs typeface="Arial Narrow"/>
                <a:sym typeface="Arial Narrow"/>
              </a:rPr>
              <a:t>conservamos las etiquetas</a:t>
            </a:r>
            <a:endParaRPr sz="1900">
              <a:solidFill>
                <a:srgbClr val="080CA5"/>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900">
                <a:solidFill>
                  <a:srgbClr val="080CA5"/>
                </a:solidFill>
                <a:latin typeface="Arial Narrow"/>
                <a:ea typeface="Arial Narrow"/>
                <a:cs typeface="Arial Narrow"/>
                <a:sym typeface="Arial Narrow"/>
              </a:rPr>
              <a:t>presentes en el grupo.</a:t>
            </a:r>
            <a:endParaRPr sz="1900">
              <a:solidFill>
                <a:srgbClr val="080CA5"/>
              </a:solidFill>
              <a:latin typeface="Arial Narrow"/>
              <a:ea typeface="Arial Narrow"/>
              <a:cs typeface="Arial Narrow"/>
              <a:sym typeface="Arial Narrow"/>
            </a:endParaRPr>
          </a:p>
        </p:txBody>
      </p:sp>
      <p:sp>
        <p:nvSpPr>
          <p:cNvPr id="1602" name="Google Shape;1602;p58"/>
          <p:cNvSpPr/>
          <p:nvPr/>
        </p:nvSpPr>
        <p:spPr>
          <a:xfrm>
            <a:off x="495300" y="5016500"/>
            <a:ext cx="2921100" cy="54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600">
                <a:solidFill>
                  <a:srgbClr val="061B6E"/>
                </a:solidFill>
              </a:rPr>
              <a:t>La huella define la unidad</a:t>
            </a:r>
            <a:endParaRPr sz="1600">
              <a:solidFill>
                <a:srgbClr val="061B6E"/>
              </a:solidFill>
            </a:endParaRPr>
          </a:p>
          <a:p>
            <a:pPr indent="0" lvl="0" marL="0" marR="0" rtl="0" algn="l">
              <a:lnSpc>
                <a:spcPct val="100000"/>
              </a:lnSpc>
              <a:spcBef>
                <a:spcPts val="0"/>
              </a:spcBef>
              <a:spcAft>
                <a:spcPts val="0"/>
              </a:spcAft>
              <a:buNone/>
            </a:pPr>
            <a:r>
              <a:rPr lang="en-US" sz="1600">
                <a:solidFill>
                  <a:srgbClr val="061B6E"/>
                </a:solidFill>
              </a:rPr>
              <a:t>que pasa a la evaluación.</a:t>
            </a:r>
            <a:endParaRPr sz="1600">
              <a:solidFill>
                <a:srgbClr val="061B6E"/>
              </a:solidFill>
            </a:endParaRPr>
          </a:p>
        </p:txBody>
      </p:sp>
      <p:sp>
        <p:nvSpPr>
          <p:cNvPr id="1603" name="Google Shape;1603;p58"/>
          <p:cNvSpPr/>
          <p:nvPr/>
        </p:nvSpPr>
        <p:spPr>
          <a:xfrm>
            <a:off x="4000500" y="1651000"/>
            <a:ext cx="3962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a:solidFill>
                  <a:srgbClr val="06105E"/>
                </a:solidFill>
                <a:latin typeface="Arial Narrow"/>
                <a:ea typeface="Arial Narrow"/>
                <a:cs typeface="Arial Narrow"/>
                <a:sym typeface="Arial Narrow"/>
              </a:rPr>
              <a:t>2. Separar los grupos</a:t>
            </a:r>
            <a:endParaRPr b="1" sz="2400">
              <a:solidFill>
                <a:srgbClr val="06105E"/>
              </a:solidFill>
              <a:latin typeface="Arial Narrow"/>
              <a:ea typeface="Arial Narrow"/>
              <a:cs typeface="Arial Narrow"/>
              <a:sym typeface="Arial Narrow"/>
            </a:endParaRPr>
          </a:p>
        </p:txBody>
      </p:sp>
      <p:sp>
        <p:nvSpPr>
          <p:cNvPr id="1604" name="Google Shape;1604;p58"/>
          <p:cNvSpPr/>
          <p:nvPr/>
        </p:nvSpPr>
        <p:spPr>
          <a:xfrm>
            <a:off x="8509000" y="1651000"/>
            <a:ext cx="32511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a:solidFill>
                  <a:srgbClr val="071070"/>
                </a:solidFill>
                <a:latin typeface="Arial Narrow"/>
                <a:ea typeface="Arial Narrow"/>
                <a:cs typeface="Arial Narrow"/>
                <a:sym typeface="Arial Narrow"/>
              </a:rPr>
              <a:t>3. Entrenar y decidir</a:t>
            </a:r>
            <a:endParaRPr b="1" sz="2400">
              <a:solidFill>
                <a:srgbClr val="071070"/>
              </a:solidFill>
              <a:latin typeface="Arial Narrow"/>
              <a:ea typeface="Arial Narrow"/>
              <a:cs typeface="Arial Narrow"/>
              <a:sym typeface="Arial Narrow"/>
            </a:endParaRPr>
          </a:p>
        </p:txBody>
      </p:sp>
      <p:sp>
        <p:nvSpPr>
          <p:cNvPr id="1605" name="Google Shape;1605;p58"/>
          <p:cNvSpPr/>
          <p:nvPr/>
        </p:nvSpPr>
        <p:spPr>
          <a:xfrm>
            <a:off x="8559800" y="2324100"/>
            <a:ext cx="3187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00">
                <a:solidFill>
                  <a:srgbClr val="101979"/>
                </a:solidFill>
                <a:latin typeface="Arial Narrow"/>
                <a:ea typeface="Arial Narrow"/>
                <a:cs typeface="Arial Narrow"/>
                <a:sym typeface="Arial Narrow"/>
              </a:rPr>
              <a:t>90 características HTTP</a:t>
            </a:r>
            <a:endParaRPr b="1" sz="2000">
              <a:solidFill>
                <a:srgbClr val="101979"/>
              </a:solidFill>
              <a:latin typeface="Arial Narrow"/>
              <a:ea typeface="Arial Narrow"/>
              <a:cs typeface="Arial Narrow"/>
              <a:sym typeface="Arial Narrow"/>
            </a:endParaRPr>
          </a:p>
        </p:txBody>
      </p:sp>
      <p:sp>
        <p:nvSpPr>
          <p:cNvPr id="1606" name="Google Shape;1606;p58"/>
          <p:cNvSpPr/>
          <p:nvPr/>
        </p:nvSpPr>
        <p:spPr>
          <a:xfrm>
            <a:off x="8559800" y="2921000"/>
            <a:ext cx="3187800" cy="8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00">
                <a:solidFill>
                  <a:srgbClr val="111878"/>
                </a:solidFill>
                <a:latin typeface="Arial Narrow"/>
                <a:ea typeface="Arial Narrow"/>
                <a:cs typeface="Arial Narrow"/>
                <a:sym typeface="Arial Narrow"/>
              </a:rPr>
              <a:t>12 clasificadores XGBoost</a:t>
            </a:r>
            <a:endParaRPr b="1" sz="2100">
              <a:solidFill>
                <a:srgbClr val="111878"/>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b="1" lang="en-US" sz="2100">
                <a:solidFill>
                  <a:srgbClr val="111878"/>
                </a:solidFill>
                <a:latin typeface="Arial Narrow"/>
                <a:ea typeface="Arial Narrow"/>
                <a:cs typeface="Arial Narrow"/>
                <a:sym typeface="Arial Narrow"/>
              </a:rPr>
              <a:t>Uno por etiqueta CAPEC</a:t>
            </a:r>
            <a:endParaRPr b="1" sz="2100">
              <a:solidFill>
                <a:srgbClr val="111878"/>
              </a:solidFill>
              <a:latin typeface="Arial Narrow"/>
              <a:ea typeface="Arial Narrow"/>
              <a:cs typeface="Arial Narrow"/>
              <a:sym typeface="Arial Narrow"/>
            </a:endParaRPr>
          </a:p>
        </p:txBody>
      </p:sp>
      <p:sp>
        <p:nvSpPr>
          <p:cNvPr id="1607" name="Google Shape;1607;p58"/>
          <p:cNvSpPr/>
          <p:nvPr/>
        </p:nvSpPr>
        <p:spPr>
          <a:xfrm>
            <a:off x="4000500" y="3111500"/>
            <a:ext cx="876300"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US" sz="1600">
                <a:solidFill>
                  <a:srgbClr val="0F15A6"/>
                </a:solidFill>
                <a:latin typeface="Arial Narrow"/>
                <a:ea typeface="Arial Narrow"/>
                <a:cs typeface="Arial Narrow"/>
                <a:sym typeface="Arial Narrow"/>
              </a:rPr>
              <a:t>Entrenar</a:t>
            </a:r>
            <a:endParaRPr sz="1600">
              <a:solidFill>
                <a:srgbClr val="0F15A6"/>
              </a:solidFill>
              <a:latin typeface="Arial Narrow"/>
              <a:ea typeface="Arial Narrow"/>
              <a:cs typeface="Arial Narrow"/>
              <a:sym typeface="Arial Narrow"/>
            </a:endParaRPr>
          </a:p>
        </p:txBody>
      </p:sp>
      <p:sp>
        <p:nvSpPr>
          <p:cNvPr id="1608" name="Google Shape;1608;p58"/>
          <p:cNvSpPr/>
          <p:nvPr/>
        </p:nvSpPr>
        <p:spPr>
          <a:xfrm>
            <a:off x="5003800" y="3111500"/>
            <a:ext cx="876300"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US" sz="1600">
                <a:solidFill>
                  <a:srgbClr val="112280"/>
                </a:solidFill>
                <a:latin typeface="Arial Narrow"/>
                <a:ea typeface="Arial Narrow"/>
                <a:cs typeface="Arial Narrow"/>
                <a:sym typeface="Arial Narrow"/>
              </a:rPr>
              <a:t>Elegir</a:t>
            </a:r>
            <a:endParaRPr sz="1600">
              <a:solidFill>
                <a:srgbClr val="112280"/>
              </a:solidFill>
              <a:latin typeface="Arial Narrow"/>
              <a:ea typeface="Arial Narrow"/>
              <a:cs typeface="Arial Narrow"/>
              <a:sym typeface="Arial Narrow"/>
            </a:endParaRPr>
          </a:p>
          <a:p>
            <a:pPr indent="0" lvl="0" marL="0" marR="0" rtl="0" algn="ctr">
              <a:lnSpc>
                <a:spcPct val="100000"/>
              </a:lnSpc>
              <a:spcBef>
                <a:spcPts val="0"/>
              </a:spcBef>
              <a:spcAft>
                <a:spcPts val="0"/>
              </a:spcAft>
              <a:buNone/>
            </a:pPr>
            <a:r>
              <a:rPr lang="en-US" sz="1600">
                <a:solidFill>
                  <a:srgbClr val="112280"/>
                </a:solidFill>
                <a:latin typeface="Arial Narrow"/>
                <a:ea typeface="Arial Narrow"/>
                <a:cs typeface="Arial Narrow"/>
                <a:sym typeface="Arial Narrow"/>
              </a:rPr>
              <a:t>ajustes</a:t>
            </a:r>
            <a:endParaRPr sz="1600">
              <a:solidFill>
                <a:srgbClr val="112280"/>
              </a:solidFill>
              <a:latin typeface="Arial Narrow"/>
              <a:ea typeface="Arial Narrow"/>
              <a:cs typeface="Arial Narrow"/>
              <a:sym typeface="Arial Narrow"/>
            </a:endParaRPr>
          </a:p>
        </p:txBody>
      </p:sp>
      <p:sp>
        <p:nvSpPr>
          <p:cNvPr id="1609" name="Google Shape;1609;p58"/>
          <p:cNvSpPr/>
          <p:nvPr/>
        </p:nvSpPr>
        <p:spPr>
          <a:xfrm>
            <a:off x="6007100" y="3111500"/>
            <a:ext cx="876300"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US" sz="1600">
                <a:solidFill>
                  <a:srgbClr val="17208C"/>
                </a:solidFill>
                <a:latin typeface="Arial Narrow"/>
                <a:ea typeface="Arial Narrow"/>
                <a:cs typeface="Arial Narrow"/>
                <a:sym typeface="Arial Narrow"/>
              </a:rPr>
              <a:t>Fijar</a:t>
            </a:r>
            <a:endParaRPr sz="1600">
              <a:solidFill>
                <a:srgbClr val="17208C"/>
              </a:solidFill>
              <a:latin typeface="Arial Narrow"/>
              <a:ea typeface="Arial Narrow"/>
              <a:cs typeface="Arial Narrow"/>
              <a:sym typeface="Arial Narrow"/>
            </a:endParaRPr>
          </a:p>
          <a:p>
            <a:pPr indent="0" lvl="0" marL="0" marR="0" rtl="0" algn="ctr">
              <a:lnSpc>
                <a:spcPct val="100000"/>
              </a:lnSpc>
              <a:spcBef>
                <a:spcPts val="0"/>
              </a:spcBef>
              <a:spcAft>
                <a:spcPts val="0"/>
              </a:spcAft>
              <a:buNone/>
            </a:pPr>
            <a:r>
              <a:rPr lang="en-US" sz="1600">
                <a:solidFill>
                  <a:srgbClr val="17208C"/>
                </a:solidFill>
                <a:latin typeface="Arial Narrow"/>
                <a:ea typeface="Arial Narrow"/>
                <a:cs typeface="Arial Narrow"/>
                <a:sym typeface="Arial Narrow"/>
              </a:rPr>
              <a:t>umbrales</a:t>
            </a:r>
            <a:endParaRPr sz="1600">
              <a:solidFill>
                <a:srgbClr val="17208C"/>
              </a:solidFill>
              <a:latin typeface="Arial Narrow"/>
              <a:ea typeface="Arial Narrow"/>
              <a:cs typeface="Arial Narrow"/>
              <a:sym typeface="Arial Narrow"/>
            </a:endParaRPr>
          </a:p>
        </p:txBody>
      </p:sp>
      <p:sp>
        <p:nvSpPr>
          <p:cNvPr id="1610" name="Google Shape;1610;p58"/>
          <p:cNvSpPr/>
          <p:nvPr/>
        </p:nvSpPr>
        <p:spPr>
          <a:xfrm>
            <a:off x="8559800" y="3949700"/>
            <a:ext cx="3187800" cy="87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rgbClr val="12197D"/>
                </a:solidFill>
                <a:latin typeface="Arial Narrow"/>
                <a:ea typeface="Arial Narrow"/>
                <a:cs typeface="Arial Narrow"/>
                <a:sym typeface="Arial Narrow"/>
              </a:rPr>
              <a:t>192 pruebas de configuración.</a:t>
            </a:r>
            <a:endParaRPr sz="1800">
              <a:solidFill>
                <a:srgbClr val="12197D"/>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12197D"/>
                </a:solidFill>
                <a:latin typeface="Arial Narrow"/>
                <a:ea typeface="Arial Narrow"/>
                <a:cs typeface="Arial Narrow"/>
                <a:sym typeface="Arial Narrow"/>
              </a:rPr>
              <a:t>Umbral propio por etiqueta,</a:t>
            </a:r>
            <a:endParaRPr sz="1800">
              <a:solidFill>
                <a:srgbClr val="12197D"/>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12197D"/>
                </a:solidFill>
                <a:latin typeface="Arial Narrow"/>
                <a:ea typeface="Arial Narrow"/>
                <a:cs typeface="Arial Narrow"/>
                <a:sym typeface="Arial Narrow"/>
              </a:rPr>
              <a:t>ajustados en conjunto.</a:t>
            </a:r>
            <a:endParaRPr sz="1800">
              <a:solidFill>
                <a:srgbClr val="12197D"/>
              </a:solidFill>
              <a:latin typeface="Arial Narrow"/>
              <a:ea typeface="Arial Narrow"/>
              <a:cs typeface="Arial Narrow"/>
              <a:sym typeface="Arial Narrow"/>
            </a:endParaRPr>
          </a:p>
        </p:txBody>
      </p:sp>
      <p:sp>
        <p:nvSpPr>
          <p:cNvPr id="1611" name="Google Shape;1611;p58"/>
          <p:cNvSpPr/>
          <p:nvPr/>
        </p:nvSpPr>
        <p:spPr>
          <a:xfrm>
            <a:off x="7010400" y="3111500"/>
            <a:ext cx="876300" cy="647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US" sz="1600">
                <a:solidFill>
                  <a:srgbClr val="0B0FA5"/>
                </a:solidFill>
                <a:latin typeface="Arial Narrow"/>
                <a:ea typeface="Arial Narrow"/>
                <a:cs typeface="Arial Narrow"/>
                <a:sym typeface="Arial Narrow"/>
              </a:rPr>
              <a:t>Prueba</a:t>
            </a:r>
            <a:endParaRPr sz="1600">
              <a:solidFill>
                <a:srgbClr val="0B0FA5"/>
              </a:solidFill>
              <a:latin typeface="Arial Narrow"/>
              <a:ea typeface="Arial Narrow"/>
              <a:cs typeface="Arial Narrow"/>
              <a:sym typeface="Arial Narrow"/>
            </a:endParaRPr>
          </a:p>
          <a:p>
            <a:pPr indent="0" lvl="0" marL="0" marR="0" rtl="0" algn="ctr">
              <a:lnSpc>
                <a:spcPct val="100000"/>
              </a:lnSpc>
              <a:spcBef>
                <a:spcPts val="0"/>
              </a:spcBef>
              <a:spcAft>
                <a:spcPts val="0"/>
              </a:spcAft>
              <a:buNone/>
            </a:pPr>
            <a:r>
              <a:rPr lang="en-US" sz="1600">
                <a:solidFill>
                  <a:srgbClr val="0B0FA5"/>
                </a:solidFill>
                <a:latin typeface="Arial Narrow"/>
                <a:ea typeface="Arial Narrow"/>
                <a:cs typeface="Arial Narrow"/>
                <a:sym typeface="Arial Narrow"/>
              </a:rPr>
              <a:t>final</a:t>
            </a:r>
            <a:endParaRPr sz="1600">
              <a:solidFill>
                <a:srgbClr val="0B0FA5"/>
              </a:solidFill>
              <a:latin typeface="Arial Narrow"/>
              <a:ea typeface="Arial Narrow"/>
              <a:cs typeface="Arial Narrow"/>
              <a:sym typeface="Arial Narrow"/>
            </a:endParaRPr>
          </a:p>
        </p:txBody>
      </p:sp>
      <p:sp>
        <p:nvSpPr>
          <p:cNvPr id="1612" name="Google Shape;1612;p58"/>
          <p:cNvSpPr/>
          <p:nvPr/>
        </p:nvSpPr>
        <p:spPr>
          <a:xfrm>
            <a:off x="4051300" y="4140200"/>
            <a:ext cx="38481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00">
                <a:solidFill>
                  <a:srgbClr val="0E1483"/>
                </a:solidFill>
                <a:latin typeface="Arial Narrow"/>
                <a:ea typeface="Arial Narrow"/>
                <a:cs typeface="Arial Narrow"/>
                <a:sym typeface="Arial Narrow"/>
              </a:rPr>
              <a:t>Sin huellas compartidas</a:t>
            </a:r>
            <a:endParaRPr b="1" sz="2000">
              <a:solidFill>
                <a:srgbClr val="0E1483"/>
              </a:solidFill>
              <a:latin typeface="Arial Narrow"/>
              <a:ea typeface="Arial Narrow"/>
              <a:cs typeface="Arial Narrow"/>
              <a:sym typeface="Arial Narrow"/>
            </a:endParaRPr>
          </a:p>
        </p:txBody>
      </p:sp>
      <p:sp>
        <p:nvSpPr>
          <p:cNvPr id="1613" name="Google Shape;1613;p58"/>
          <p:cNvSpPr/>
          <p:nvPr/>
        </p:nvSpPr>
        <p:spPr>
          <a:xfrm>
            <a:off x="4051300" y="4597400"/>
            <a:ext cx="38481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rgbClr val="10178B"/>
                </a:solidFill>
                <a:latin typeface="Arial Narrow"/>
                <a:ea typeface="Arial Narrow"/>
                <a:cs typeface="Arial Narrow"/>
                <a:sym typeface="Arial Narrow"/>
              </a:rPr>
              <a:t>Comprobamos las seis comparaciones</a:t>
            </a:r>
            <a:endParaRPr sz="1800">
              <a:solidFill>
                <a:srgbClr val="10178B"/>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10178B"/>
                </a:solidFill>
                <a:latin typeface="Arial Narrow"/>
                <a:ea typeface="Arial Narrow"/>
                <a:cs typeface="Arial Narrow"/>
                <a:sym typeface="Arial Narrow"/>
              </a:rPr>
              <a:t>entre las cuatro particiones.</a:t>
            </a:r>
            <a:endParaRPr sz="1800">
              <a:solidFill>
                <a:srgbClr val="10178B"/>
              </a:solidFill>
              <a:latin typeface="Arial Narrow"/>
              <a:ea typeface="Arial Narrow"/>
              <a:cs typeface="Arial Narrow"/>
              <a:sym typeface="Arial Narrow"/>
            </a:endParaRPr>
          </a:p>
        </p:txBody>
      </p:sp>
      <p:sp>
        <p:nvSpPr>
          <p:cNvPr id="1614" name="Google Shape;1614;p58"/>
          <p:cNvSpPr/>
          <p:nvPr/>
        </p:nvSpPr>
        <p:spPr>
          <a:xfrm>
            <a:off x="8559800" y="4902200"/>
            <a:ext cx="31878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rgbClr val="0E1481"/>
                </a:solidFill>
                <a:latin typeface="Arial Narrow"/>
                <a:ea typeface="Arial Narrow"/>
                <a:cs typeface="Arial Narrow"/>
                <a:sym typeface="Arial Narrow"/>
              </a:rPr>
              <a:t>Salida: cero, una o varias CAPEC.</a:t>
            </a:r>
            <a:endParaRPr sz="1800">
              <a:solidFill>
                <a:srgbClr val="0E148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lang="en-US" sz="1800">
                <a:solidFill>
                  <a:srgbClr val="0E1481"/>
                </a:solidFill>
                <a:latin typeface="Arial Narrow"/>
                <a:ea typeface="Arial Narrow"/>
                <a:cs typeface="Arial Narrow"/>
                <a:sym typeface="Arial Narrow"/>
              </a:rPr>
              <a:t>Sin CAPEC activa: NORMAL.</a:t>
            </a:r>
            <a:endParaRPr sz="1800">
              <a:solidFill>
                <a:srgbClr val="0E1481"/>
              </a:solidFill>
              <a:latin typeface="Arial Narrow"/>
              <a:ea typeface="Arial Narrow"/>
              <a:cs typeface="Arial Narrow"/>
              <a:sym typeface="Arial Narrow"/>
            </a:endParaRPr>
          </a:p>
        </p:txBody>
      </p:sp>
      <p:sp>
        <p:nvSpPr>
          <p:cNvPr id="1615" name="Google Shape;1615;p58"/>
          <p:cNvSpPr/>
          <p:nvPr/>
        </p:nvSpPr>
        <p:spPr>
          <a:xfrm>
            <a:off x="304800" y="6477000"/>
            <a:ext cx="11175900" cy="29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1E2582"/>
                </a:solidFill>
                <a:latin typeface="Arial Narrow"/>
                <a:ea typeface="Arial Narrow"/>
                <a:cs typeface="Arial Narrow"/>
                <a:sym typeface="Arial Narrow"/>
              </a:rPr>
              <a:t>Datos: Sureda Riera et al. (2022). SR-BH 2020. doi:10.7910/DVN/OGOIXX. Método y fuentes de XGBoost en notas.</a:t>
            </a:r>
            <a:endParaRPr b="1" sz="1200">
              <a:solidFill>
                <a:srgbClr val="1E2582"/>
              </a:solidFill>
              <a:latin typeface="Arial Narrow"/>
              <a:ea typeface="Arial Narrow"/>
              <a:cs typeface="Arial Narrow"/>
              <a:sym typeface="Arial Narrow"/>
            </a:endParaRPr>
          </a:p>
        </p:txBody>
      </p:sp>
      <p:sp>
        <p:nvSpPr>
          <p:cNvPr id="1616" name="Google Shape;1616;p58"/>
          <p:cNvSpPr/>
          <p:nvPr/>
        </p:nvSpPr>
        <p:spPr>
          <a:xfrm>
            <a:off x="4013200" y="2501900"/>
            <a:ext cx="863700" cy="39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300">
                <a:solidFill>
                  <a:srgbClr val="FFFFFF"/>
                </a:solidFill>
                <a:latin typeface="Arial Narrow"/>
                <a:ea typeface="Arial Narrow"/>
                <a:cs typeface="Arial Narrow"/>
                <a:sym typeface="Arial Narrow"/>
              </a:rPr>
              <a:t>64 %</a:t>
            </a:r>
            <a:endParaRPr b="1" sz="2300">
              <a:solidFill>
                <a:srgbClr val="FFFFFF"/>
              </a:solidFill>
              <a:latin typeface="Arial Narrow"/>
              <a:ea typeface="Arial Narrow"/>
              <a:cs typeface="Arial Narrow"/>
              <a:sym typeface="Arial Narrow"/>
            </a:endParaRPr>
          </a:p>
        </p:txBody>
      </p:sp>
      <p:sp>
        <p:nvSpPr>
          <p:cNvPr id="1617" name="Google Shape;1617;p58"/>
          <p:cNvSpPr/>
          <p:nvPr/>
        </p:nvSpPr>
        <p:spPr>
          <a:xfrm>
            <a:off x="5016500" y="2501900"/>
            <a:ext cx="863700" cy="39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300">
                <a:solidFill>
                  <a:srgbClr val="FFFFFF"/>
                </a:solidFill>
                <a:latin typeface="Arial Narrow"/>
                <a:ea typeface="Arial Narrow"/>
                <a:cs typeface="Arial Narrow"/>
                <a:sym typeface="Arial Narrow"/>
              </a:rPr>
              <a:t>8 %</a:t>
            </a:r>
            <a:endParaRPr b="1" sz="2300">
              <a:solidFill>
                <a:srgbClr val="FFFFFF"/>
              </a:solidFill>
              <a:latin typeface="Arial Narrow"/>
              <a:ea typeface="Arial Narrow"/>
              <a:cs typeface="Arial Narrow"/>
              <a:sym typeface="Arial Narrow"/>
            </a:endParaRPr>
          </a:p>
        </p:txBody>
      </p:sp>
      <p:sp>
        <p:nvSpPr>
          <p:cNvPr id="1618" name="Google Shape;1618;p58"/>
          <p:cNvSpPr/>
          <p:nvPr/>
        </p:nvSpPr>
        <p:spPr>
          <a:xfrm>
            <a:off x="6019800" y="2501900"/>
            <a:ext cx="863700" cy="39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300">
                <a:solidFill>
                  <a:srgbClr val="FFFFFF"/>
                </a:solidFill>
                <a:latin typeface="Arial Narrow"/>
                <a:ea typeface="Arial Narrow"/>
                <a:cs typeface="Arial Narrow"/>
                <a:sym typeface="Arial Narrow"/>
              </a:rPr>
              <a:t>8 %</a:t>
            </a:r>
            <a:endParaRPr b="1" sz="2300">
              <a:solidFill>
                <a:srgbClr val="FFFFFF"/>
              </a:solidFill>
              <a:latin typeface="Arial Narrow"/>
              <a:ea typeface="Arial Narrow"/>
              <a:cs typeface="Arial Narrow"/>
              <a:sym typeface="Arial Narrow"/>
            </a:endParaRPr>
          </a:p>
        </p:txBody>
      </p:sp>
      <p:sp>
        <p:nvSpPr>
          <p:cNvPr id="1619" name="Google Shape;1619;p58"/>
          <p:cNvSpPr/>
          <p:nvPr/>
        </p:nvSpPr>
        <p:spPr>
          <a:xfrm>
            <a:off x="7023100" y="2501900"/>
            <a:ext cx="863700" cy="39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300">
                <a:solidFill>
                  <a:srgbClr val="FFFFFF"/>
                </a:solidFill>
                <a:latin typeface="Arial Narrow"/>
                <a:ea typeface="Arial Narrow"/>
                <a:cs typeface="Arial Narrow"/>
                <a:sym typeface="Arial Narrow"/>
              </a:rPr>
              <a:t>20 %</a:t>
            </a:r>
            <a:endParaRPr b="1" sz="2300">
              <a:solidFill>
                <a:srgbClr val="FFFFFF"/>
              </a:solidFill>
              <a:latin typeface="Arial Narrow"/>
              <a:ea typeface="Arial Narrow"/>
              <a:cs typeface="Arial Narrow"/>
              <a:sym typeface="Arial Narrow"/>
            </a:endParaRPr>
          </a:p>
        </p:txBody>
      </p:sp>
      <p:sp>
        <p:nvSpPr>
          <p:cNvPr id="1620" name="Google Shape;1620;p58"/>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1" name="Google Shape;1621;p58" title="DEFENSA_SEGURA_V2:barra-26"/>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2" name="Google Shape;1622;p58" title="DEFENSA_SEGURA_V2:avance-26"/>
          <p:cNvSpPr/>
          <p:nvPr/>
        </p:nvSpPr>
        <p:spPr>
          <a:xfrm>
            <a:off x="0" y="0"/>
            <a:ext cx="2438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3" name="Google Shape;1623;p58" title="DEFENSA_SEGURA_V2:seccion-26"/>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PROPUESTA</a:t>
            </a:r>
            <a:endParaRPr b="1" sz="650">
              <a:solidFill>
                <a:srgbClr val="647184"/>
              </a:solidFill>
            </a:endParaRPr>
          </a:p>
        </p:txBody>
      </p:sp>
      <p:sp>
        <p:nvSpPr>
          <p:cNvPr id="1624" name="Google Shape;1624;p58"/>
          <p:cNvSpPr/>
          <p:nvPr/>
        </p:nvSpPr>
        <p:spPr>
          <a:xfrm>
            <a:off x="304800" y="927100"/>
            <a:ext cx="115824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800">
                <a:solidFill>
                  <a:srgbClr val="070F64"/>
                </a:solidFill>
              </a:rPr>
              <a:t>L2 usa SR-BH (Harvard). Cada grupo de peticiones se evalúa como un caso.</a:t>
            </a:r>
            <a:endParaRPr sz="1800">
              <a:solidFill>
                <a:srgbClr val="070F64"/>
              </a:solidFill>
            </a:endParaRPr>
          </a:p>
        </p:txBody>
      </p:sp>
      <p:sp>
        <p:nvSpPr>
          <p:cNvPr id="1625" name="Google Shape;1625;p58"/>
          <p:cNvSpPr/>
          <p:nvPr/>
        </p:nvSpPr>
        <p:spPr>
          <a:xfrm>
            <a:off x="304800" y="5842000"/>
            <a:ext cx="11582400" cy="5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600">
                <a:solidFill>
                  <a:srgbClr val="070F64"/>
                </a:solidFill>
              </a:rPr>
              <a:t>La unión conserva las etiquetas del grupo. No demuestra que todos los ataques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ocurrieran simultáneamente en cada petición original.</a:t>
            </a:r>
            <a:endParaRPr sz="1600">
              <a:solidFill>
                <a:srgbClr val="070F64"/>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0" name="Shape 1630"/>
        <p:cNvGrpSpPr/>
        <p:nvPr/>
      </p:nvGrpSpPr>
      <p:grpSpPr>
        <a:xfrm>
          <a:off x="0" y="0"/>
          <a:ext cx="0" cy="0"/>
          <a:chOff x="0" y="0"/>
          <a:chExt cx="0" cy="0"/>
        </a:xfrm>
      </p:grpSpPr>
      <p:sp>
        <p:nvSpPr>
          <p:cNvPr id="1631" name="Google Shape;1631;p59"/>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Clasificación multietiqueta: método</a:t>
            </a:r>
            <a:endParaRPr b="1" sz="3600">
              <a:solidFill>
                <a:srgbClr val="111F5B"/>
              </a:solidFill>
            </a:endParaRPr>
          </a:p>
        </p:txBody>
      </p:sp>
      <p:sp>
        <p:nvSpPr>
          <p:cNvPr id="1632" name="Google Shape;1632;p59"/>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Datos, organización del modelo, características y forma de aprendizaje.</a:t>
            </a:r>
            <a:endParaRPr sz="1800">
              <a:solidFill>
                <a:srgbClr val="070F64"/>
              </a:solidFill>
            </a:endParaRPr>
          </a:p>
        </p:txBody>
      </p:sp>
      <p:graphicFrame>
        <p:nvGraphicFramePr>
          <p:cNvPr id="1633" name="Google Shape;1633;p59"/>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1905000"/>
                <a:gridCol w="2032000"/>
                <a:gridCol w="2476500"/>
                <a:gridCol w="3111500"/>
                <a:gridCol w="2095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Modelo / alcance</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Características y selección</a:t>
                      </a:r>
                      <a:endParaRPr b="1" sz="1700" u="none" cap="none">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Aprendizaje</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Sureda Riera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(2022)</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2020</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13 salidas,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incluye NORMAL</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CatBoost, 2 fases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Un modelo por etiqueta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9 de 19 campos; RFECV.</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Medias ASCII: petición</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y respuesta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Varias etiquetas</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Chindrus y Caruntu</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(2025)</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ECML/PKDD 2007</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8 salidas con NORMAL</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GRU</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Red con múltiples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salidas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≈45 variables manuales: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longitud, caracteres,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entropía y palabras clave</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Varias etiquetas</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Surendran et al.</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TIPNN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2020</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13 salidas,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incluye NORMAL</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Red temporal TIPNN</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Agrupa por sesión</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9 de 19 campos; APO.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Selección automática: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petición y respuesta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Supervisado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Varias etiquetas</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L2</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Solo SR-BH</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(Harvard)</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12 CAPEC</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12 XGBoost</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Uno por etiqueta;</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división por grupos</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90 variables manuales: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longitud, estructura,</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patrones y entropía</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Supervisado</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Varias CAPEC</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Sin CAPEC: NORMAL</a:t>
                      </a:r>
                      <a:endParaRPr b="1" sz="1600">
                        <a:solidFill>
                          <a:srgbClr val="070F64"/>
                        </a:solidFill>
                      </a:endParaRPr>
                    </a:p>
                  </a:txBody>
                  <a:tcPr marT="76200" marB="76200" marR="114300" marL="114300" anchor="ctr">
                    <a:solidFill>
                      <a:srgbClr val="F6FBFD"/>
                    </a:solidFill>
                  </a:tcPr>
                </a:tc>
              </a:tr>
            </a:tbl>
          </a:graphicData>
        </a:graphic>
      </p:graphicFrame>
      <p:sp>
        <p:nvSpPr>
          <p:cNvPr id="1634" name="Google Shape;1634;p59"/>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700">
                <a:solidFill>
                  <a:srgbClr val="070F64"/>
                </a:solidFill>
              </a:rPr>
              <a:t>L2 usa solo SR-BH (Harvard). Agrupa peticiones por huella y conserva las 12 CAPEC por separado.</a:t>
            </a:r>
            <a:endParaRPr b="1" sz="1700">
              <a:solidFill>
                <a:srgbClr val="070F64"/>
              </a:solidFill>
            </a:endParaRPr>
          </a:p>
        </p:txBody>
      </p:sp>
      <p:sp>
        <p:nvSpPr>
          <p:cNvPr id="1635" name="Google Shape;1635;p59"/>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Fuentes y configuración de cada estudio en las notas. NV = dato no verificado; no significa que el artículo lo omita.</a:t>
            </a:r>
            <a:endParaRPr sz="1000">
              <a:solidFill>
                <a:srgbClr val="070F64"/>
              </a:solidFill>
            </a:endParaRPr>
          </a:p>
        </p:txBody>
      </p:sp>
      <p:sp>
        <p:nvSpPr>
          <p:cNvPr id="1636" name="Google Shape;1636;p5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37" name="Google Shape;1637;p59" title="DEFENSA_SEGURA_V2:barra-2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38" name="Google Shape;1638;p59" title="DEFENSA_SEGURA_V2:avance-22"/>
          <p:cNvSpPr/>
          <p:nvPr/>
        </p:nvSpPr>
        <p:spPr>
          <a:xfrm>
            <a:off x="0" y="0"/>
            <a:ext cx="99753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39" name="Google Shape;1639;p59" title="DEFENSA_SEGURA_V2:seccion-2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TRABAJOS RELACIONADOS</a:t>
            </a:r>
            <a:endParaRPr b="1" sz="650">
              <a:solidFill>
                <a:srgbClr val="647184"/>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4" name="Shape 1644"/>
        <p:cNvGrpSpPr/>
        <p:nvPr/>
      </p:nvGrpSpPr>
      <p:grpSpPr>
        <a:xfrm>
          <a:off x="0" y="0"/>
          <a:ext cx="0" cy="0"/>
          <a:chOff x="0" y="0"/>
          <a:chExt cx="0" cy="0"/>
        </a:xfrm>
      </p:grpSpPr>
      <p:sp>
        <p:nvSpPr>
          <p:cNvPr id="1645" name="Google Shape;1645;p60"/>
          <p:cNvSpPr/>
          <p:nvPr/>
        </p:nvSpPr>
        <p:spPr>
          <a:xfrm>
            <a:off x="265607" y="4401947"/>
            <a:ext cx="11660786" cy="1136927"/>
          </a:xfrm>
          <a:prstGeom prst="roundRect">
            <a:avLst>
              <a:gd fmla="val 5128" name="adj"/>
            </a:avLst>
          </a:prstGeom>
          <a:solidFill>
            <a:srgbClr val="E2F4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60"/>
          <p:cNvSpPr/>
          <p:nvPr/>
        </p:nvSpPr>
        <p:spPr>
          <a:xfrm>
            <a:off x="6183456" y="1370142"/>
            <a:ext cx="5742937" cy="1428446"/>
          </a:xfrm>
          <a:prstGeom prst="roundRect">
            <a:avLst>
              <a:gd fmla="val 4082" name="adj"/>
            </a:avLst>
          </a:prstGeom>
          <a:solidFill>
            <a:srgbClr val="E5FCFA"/>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0"/>
          <p:cNvSpPr/>
          <p:nvPr/>
        </p:nvSpPr>
        <p:spPr>
          <a:xfrm>
            <a:off x="265607" y="1399294"/>
            <a:ext cx="5742937" cy="1399294"/>
          </a:xfrm>
          <a:prstGeom prst="roundRect">
            <a:avLst>
              <a:gd fmla="val 4167" name="adj"/>
            </a:avLst>
          </a:prstGeom>
          <a:solidFill>
            <a:srgbClr val="E2F4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60"/>
          <p:cNvSpPr/>
          <p:nvPr/>
        </p:nvSpPr>
        <p:spPr>
          <a:xfrm>
            <a:off x="265607" y="2856893"/>
            <a:ext cx="5742937" cy="1399294"/>
          </a:xfrm>
          <a:prstGeom prst="roundRect">
            <a:avLst>
              <a:gd fmla="val 4167" name="adj"/>
            </a:avLst>
          </a:prstGeom>
          <a:solidFill>
            <a:srgbClr val="E2F4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60"/>
          <p:cNvSpPr/>
          <p:nvPr/>
        </p:nvSpPr>
        <p:spPr>
          <a:xfrm>
            <a:off x="6183456" y="2856893"/>
            <a:ext cx="5742937" cy="1399294"/>
          </a:xfrm>
          <a:prstGeom prst="roundRect">
            <a:avLst>
              <a:gd fmla="val 4167" name="adj"/>
            </a:avLst>
          </a:prstGeom>
          <a:solidFill>
            <a:srgbClr val="E5FCFA"/>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60"/>
          <p:cNvSpPr/>
          <p:nvPr/>
        </p:nvSpPr>
        <p:spPr>
          <a:xfrm>
            <a:off x="265607" y="5626329"/>
            <a:ext cx="11660786" cy="612191"/>
          </a:xfrm>
          <a:prstGeom prst="roundRect">
            <a:avLst>
              <a:gd fmla="val 9524" name="adj"/>
            </a:avLst>
          </a:prstGeom>
          <a:solidFill>
            <a:srgbClr val="E5FCFA"/>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1" name="Google Shape;1651;p60"/>
          <p:cNvPicPr preferRelativeResize="0"/>
          <p:nvPr/>
        </p:nvPicPr>
        <p:blipFill rotWithShape="1">
          <a:blip r:embed="rId3">
            <a:alphaModFix/>
          </a:blip>
          <a:srcRect b="0" l="0" r="0" t="0"/>
          <a:stretch/>
        </p:blipFill>
        <p:spPr>
          <a:xfrm>
            <a:off x="1679477" y="1530478"/>
            <a:ext cx="116608" cy="1107775"/>
          </a:xfrm>
          <a:prstGeom prst="rect">
            <a:avLst/>
          </a:prstGeom>
          <a:noFill/>
          <a:ln>
            <a:noFill/>
          </a:ln>
        </p:spPr>
      </p:pic>
      <p:pic>
        <p:nvPicPr>
          <p:cNvPr id="1652" name="Google Shape;1652;p60"/>
          <p:cNvPicPr preferRelativeResize="0"/>
          <p:nvPr/>
        </p:nvPicPr>
        <p:blipFill rotWithShape="1">
          <a:blip r:embed="rId4">
            <a:alphaModFix/>
          </a:blip>
          <a:srcRect b="0" l="0" r="0" t="0"/>
          <a:stretch/>
        </p:blipFill>
        <p:spPr>
          <a:xfrm>
            <a:off x="7539022" y="1530478"/>
            <a:ext cx="145760" cy="1107775"/>
          </a:xfrm>
          <a:prstGeom prst="rect">
            <a:avLst/>
          </a:prstGeom>
          <a:noFill/>
          <a:ln>
            <a:noFill/>
          </a:ln>
        </p:spPr>
      </p:pic>
      <p:pic>
        <p:nvPicPr>
          <p:cNvPr id="1653" name="Google Shape;1653;p60"/>
          <p:cNvPicPr preferRelativeResize="0"/>
          <p:nvPr/>
        </p:nvPicPr>
        <p:blipFill rotWithShape="1">
          <a:blip r:embed="rId5">
            <a:alphaModFix/>
          </a:blip>
          <a:srcRect b="0" l="0" r="0" t="0"/>
          <a:stretch/>
        </p:blipFill>
        <p:spPr>
          <a:xfrm>
            <a:off x="513399" y="1617934"/>
            <a:ext cx="903711" cy="874559"/>
          </a:xfrm>
          <a:prstGeom prst="rect">
            <a:avLst/>
          </a:prstGeom>
          <a:noFill/>
          <a:ln>
            <a:noFill/>
          </a:ln>
        </p:spPr>
      </p:pic>
      <p:pic>
        <p:nvPicPr>
          <p:cNvPr id="1654" name="Google Shape;1654;p60"/>
          <p:cNvPicPr preferRelativeResize="0"/>
          <p:nvPr/>
        </p:nvPicPr>
        <p:blipFill rotWithShape="1">
          <a:blip r:embed="rId6">
            <a:alphaModFix/>
          </a:blip>
          <a:srcRect b="0" l="0" r="0" t="0"/>
          <a:stretch/>
        </p:blipFill>
        <p:spPr>
          <a:xfrm>
            <a:off x="6460400" y="1647086"/>
            <a:ext cx="845407" cy="874559"/>
          </a:xfrm>
          <a:prstGeom prst="rect">
            <a:avLst/>
          </a:prstGeom>
          <a:noFill/>
          <a:ln>
            <a:noFill/>
          </a:ln>
        </p:spPr>
      </p:pic>
      <p:pic>
        <p:nvPicPr>
          <p:cNvPr id="1655" name="Google Shape;1655;p60"/>
          <p:cNvPicPr preferRelativeResize="0"/>
          <p:nvPr/>
        </p:nvPicPr>
        <p:blipFill rotWithShape="1">
          <a:blip r:embed="rId7">
            <a:alphaModFix/>
          </a:blip>
          <a:srcRect b="0" l="0" r="0" t="0"/>
          <a:stretch/>
        </p:blipFill>
        <p:spPr>
          <a:xfrm>
            <a:off x="1679477" y="3017228"/>
            <a:ext cx="116608" cy="1136927"/>
          </a:xfrm>
          <a:prstGeom prst="rect">
            <a:avLst/>
          </a:prstGeom>
          <a:noFill/>
          <a:ln>
            <a:noFill/>
          </a:ln>
        </p:spPr>
      </p:pic>
      <p:pic>
        <p:nvPicPr>
          <p:cNvPr id="1656" name="Google Shape;1656;p60"/>
          <p:cNvPicPr preferRelativeResize="0"/>
          <p:nvPr/>
        </p:nvPicPr>
        <p:blipFill rotWithShape="1">
          <a:blip r:embed="rId8">
            <a:alphaModFix/>
          </a:blip>
          <a:srcRect b="0" l="0" r="0" t="0"/>
          <a:stretch/>
        </p:blipFill>
        <p:spPr>
          <a:xfrm>
            <a:off x="7539022" y="3017228"/>
            <a:ext cx="145760" cy="1136927"/>
          </a:xfrm>
          <a:prstGeom prst="rect">
            <a:avLst/>
          </a:prstGeom>
          <a:noFill/>
          <a:ln>
            <a:noFill/>
          </a:ln>
        </p:spPr>
      </p:pic>
      <p:pic>
        <p:nvPicPr>
          <p:cNvPr id="1657" name="Google Shape;1657;p60"/>
          <p:cNvPicPr preferRelativeResize="0"/>
          <p:nvPr/>
        </p:nvPicPr>
        <p:blipFill rotWithShape="1">
          <a:blip r:embed="rId9">
            <a:alphaModFix/>
          </a:blip>
          <a:srcRect b="0" l="0" r="0" t="0"/>
          <a:stretch/>
        </p:blipFill>
        <p:spPr>
          <a:xfrm>
            <a:off x="513399" y="3104684"/>
            <a:ext cx="903711" cy="903711"/>
          </a:xfrm>
          <a:prstGeom prst="rect">
            <a:avLst/>
          </a:prstGeom>
          <a:noFill/>
          <a:ln>
            <a:noFill/>
          </a:ln>
        </p:spPr>
      </p:pic>
      <p:pic>
        <p:nvPicPr>
          <p:cNvPr id="1658" name="Google Shape;1658;p60"/>
          <p:cNvPicPr preferRelativeResize="0"/>
          <p:nvPr/>
        </p:nvPicPr>
        <p:blipFill rotWithShape="1">
          <a:blip r:embed="rId10">
            <a:alphaModFix/>
          </a:blip>
          <a:srcRect b="0" l="0" r="0" t="0"/>
          <a:stretch/>
        </p:blipFill>
        <p:spPr>
          <a:xfrm>
            <a:off x="6547855" y="3133836"/>
            <a:ext cx="670495" cy="874559"/>
          </a:xfrm>
          <a:prstGeom prst="rect">
            <a:avLst/>
          </a:prstGeom>
          <a:noFill/>
          <a:ln>
            <a:noFill/>
          </a:ln>
        </p:spPr>
      </p:pic>
      <p:pic>
        <p:nvPicPr>
          <p:cNvPr id="1659" name="Google Shape;1659;p60"/>
          <p:cNvPicPr preferRelativeResize="0"/>
          <p:nvPr/>
        </p:nvPicPr>
        <p:blipFill rotWithShape="1">
          <a:blip r:embed="rId11">
            <a:alphaModFix/>
          </a:blip>
          <a:srcRect b="0" l="0" r="0" t="0"/>
          <a:stretch/>
        </p:blipFill>
        <p:spPr>
          <a:xfrm>
            <a:off x="630006" y="4474827"/>
            <a:ext cx="320672" cy="320672"/>
          </a:xfrm>
          <a:prstGeom prst="rect">
            <a:avLst/>
          </a:prstGeom>
          <a:noFill/>
          <a:ln>
            <a:noFill/>
          </a:ln>
        </p:spPr>
      </p:pic>
      <p:pic>
        <p:nvPicPr>
          <p:cNvPr id="1660" name="Google Shape;1660;p60"/>
          <p:cNvPicPr preferRelativeResize="0"/>
          <p:nvPr/>
        </p:nvPicPr>
        <p:blipFill rotWithShape="1">
          <a:blip r:embed="rId12">
            <a:alphaModFix/>
          </a:blip>
          <a:srcRect b="0" l="0" r="0" t="0"/>
          <a:stretch/>
        </p:blipFill>
        <p:spPr>
          <a:xfrm>
            <a:off x="630006" y="5145322"/>
            <a:ext cx="320672" cy="320672"/>
          </a:xfrm>
          <a:prstGeom prst="rect">
            <a:avLst/>
          </a:prstGeom>
          <a:noFill/>
          <a:ln>
            <a:noFill/>
          </a:ln>
        </p:spPr>
      </p:pic>
      <p:pic>
        <p:nvPicPr>
          <p:cNvPr id="1661" name="Google Shape;1661;p60"/>
          <p:cNvPicPr preferRelativeResize="0"/>
          <p:nvPr/>
        </p:nvPicPr>
        <p:blipFill rotWithShape="1">
          <a:blip r:embed="rId13">
            <a:alphaModFix/>
          </a:blip>
          <a:srcRect b="0" l="0" r="0" t="0"/>
          <a:stretch/>
        </p:blipFill>
        <p:spPr>
          <a:xfrm>
            <a:off x="571702" y="5670057"/>
            <a:ext cx="495583" cy="553887"/>
          </a:xfrm>
          <a:prstGeom prst="rect">
            <a:avLst/>
          </a:prstGeom>
          <a:noFill/>
          <a:ln>
            <a:noFill/>
          </a:ln>
        </p:spPr>
      </p:pic>
      <p:pic>
        <p:nvPicPr>
          <p:cNvPr id="1662" name="Google Shape;1662;p60"/>
          <p:cNvPicPr preferRelativeResize="0"/>
          <p:nvPr/>
        </p:nvPicPr>
        <p:blipFill rotWithShape="1">
          <a:blip r:embed="rId14">
            <a:alphaModFix/>
          </a:blip>
          <a:srcRect b="0" l="0" r="0" t="0"/>
          <a:stretch/>
        </p:blipFill>
        <p:spPr>
          <a:xfrm>
            <a:off x="1271350" y="5699209"/>
            <a:ext cx="145760" cy="495583"/>
          </a:xfrm>
          <a:prstGeom prst="rect">
            <a:avLst/>
          </a:prstGeom>
          <a:noFill/>
          <a:ln>
            <a:noFill/>
          </a:ln>
        </p:spPr>
      </p:pic>
      <p:sp>
        <p:nvSpPr>
          <p:cNvPr id="1663" name="Google Shape;1663;p60"/>
          <p:cNvSpPr/>
          <p:nvPr/>
        </p:nvSpPr>
        <p:spPr>
          <a:xfrm>
            <a:off x="309335" y="109320"/>
            <a:ext cx="8898061" cy="9681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864" u="none" cap="none" strike="noStrike">
                <a:solidFill>
                  <a:srgbClr val="111F5B"/>
                </a:solidFill>
              </a:rPr>
              <a:t>Resultados multietiqueta</a:t>
            </a:r>
            <a:endParaRPr b="1">
              <a:solidFill>
                <a:srgbClr val="111F5B"/>
              </a:solidFill>
            </a:endParaRPr>
          </a:p>
        </p:txBody>
      </p:sp>
      <p:sp>
        <p:nvSpPr>
          <p:cNvPr id="1664" name="Google Shape;1664;p60"/>
          <p:cNvSpPr/>
          <p:nvPr/>
        </p:nvSpPr>
        <p:spPr>
          <a:xfrm>
            <a:off x="294759" y="889135"/>
            <a:ext cx="9342628" cy="4853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939" u="none" cap="none" strike="noStrike">
                <a:solidFill>
                  <a:srgbClr val="050635"/>
                </a:solidFill>
                <a:latin typeface="Arial"/>
                <a:ea typeface="Arial"/>
                <a:cs typeface="Arial"/>
                <a:sym typeface="Arial"/>
              </a:rPr>
              <a:t>L2 • 108.598 grupos de prueba • 12 etiquetas CAPEC</a:t>
            </a:r>
            <a:endParaRPr/>
          </a:p>
        </p:txBody>
      </p:sp>
      <p:sp>
        <p:nvSpPr>
          <p:cNvPr id="1665" name="Google Shape;1665;p60"/>
          <p:cNvSpPr/>
          <p:nvPr/>
        </p:nvSpPr>
        <p:spPr>
          <a:xfrm>
            <a:off x="2029301" y="1523726"/>
            <a:ext cx="1048894" cy="3867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28" u="none" cap="none" strike="noStrike">
                <a:solidFill>
                  <a:srgbClr val="090A3E"/>
                </a:solidFill>
                <a:latin typeface="Arial Narrow"/>
                <a:ea typeface="Arial Narrow"/>
                <a:cs typeface="Arial Narrow"/>
                <a:sym typeface="Arial Narrow"/>
              </a:rPr>
              <a:t>F1 micro</a:t>
            </a:r>
            <a:endParaRPr/>
          </a:p>
        </p:txBody>
      </p:sp>
      <p:sp>
        <p:nvSpPr>
          <p:cNvPr id="1666" name="Google Shape;1666;p60"/>
          <p:cNvSpPr/>
          <p:nvPr/>
        </p:nvSpPr>
        <p:spPr>
          <a:xfrm>
            <a:off x="2043877" y="1884593"/>
            <a:ext cx="2491916" cy="73453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449" u="none" cap="none" strike="noStrike">
                <a:solidFill>
                  <a:srgbClr val="02033E"/>
                </a:solidFill>
                <a:latin typeface="Arial"/>
                <a:ea typeface="Arial"/>
                <a:cs typeface="Arial"/>
                <a:sym typeface="Arial"/>
              </a:rPr>
              <a:t>97,604 %</a:t>
            </a:r>
            <a:endParaRPr/>
          </a:p>
        </p:txBody>
      </p:sp>
      <p:sp>
        <p:nvSpPr>
          <p:cNvPr id="1667" name="Google Shape;1667;p60"/>
          <p:cNvSpPr/>
          <p:nvPr/>
        </p:nvSpPr>
        <p:spPr>
          <a:xfrm>
            <a:off x="2029301" y="2436766"/>
            <a:ext cx="3723587" cy="29006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32" u="none" cap="none" strike="noStrike">
                <a:solidFill>
                  <a:srgbClr val="0C1360"/>
                </a:solidFill>
                <a:latin typeface="Arial Narrow"/>
                <a:ea typeface="Arial Narrow"/>
                <a:cs typeface="Arial Narrow"/>
                <a:sym typeface="Arial Narrow"/>
              </a:rPr>
              <a:t>Calculado con todas las decisiones juntas</a:t>
            </a:r>
            <a:endParaRPr/>
          </a:p>
        </p:txBody>
      </p:sp>
      <p:sp>
        <p:nvSpPr>
          <p:cNvPr id="1668" name="Google Shape;1668;p60"/>
          <p:cNvSpPr/>
          <p:nvPr/>
        </p:nvSpPr>
        <p:spPr>
          <a:xfrm>
            <a:off x="2029301" y="3008365"/>
            <a:ext cx="2404460" cy="38409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18" u="none" cap="none" strike="noStrike">
                <a:solidFill>
                  <a:srgbClr val="07083E"/>
                </a:solidFill>
                <a:latin typeface="Arial Narrow"/>
                <a:ea typeface="Arial Narrow"/>
                <a:cs typeface="Arial Narrow"/>
                <a:sym typeface="Arial Narrow"/>
              </a:rPr>
              <a:t>Coincidencia exacta</a:t>
            </a:r>
            <a:endParaRPr/>
          </a:p>
        </p:txBody>
      </p:sp>
      <p:sp>
        <p:nvSpPr>
          <p:cNvPr id="1669" name="Google Shape;1669;p60"/>
          <p:cNvSpPr/>
          <p:nvPr/>
        </p:nvSpPr>
        <p:spPr>
          <a:xfrm>
            <a:off x="2022013" y="3956769"/>
            <a:ext cx="3730875" cy="2672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9" u="none" cap="none" strike="noStrike">
                <a:solidFill>
                  <a:srgbClr val="0E135F"/>
                </a:solidFill>
                <a:latin typeface="Quattrocento Sans"/>
                <a:ea typeface="Quattrocento Sans"/>
                <a:cs typeface="Quattrocento Sans"/>
                <a:sym typeface="Quattrocento Sans"/>
              </a:rPr>
              <a:t>Todas las etiquetas correctas en el grupo</a:t>
            </a:r>
            <a:endParaRPr/>
          </a:p>
        </p:txBody>
      </p:sp>
      <p:sp>
        <p:nvSpPr>
          <p:cNvPr id="1670" name="Google Shape;1670;p60"/>
          <p:cNvSpPr/>
          <p:nvPr/>
        </p:nvSpPr>
        <p:spPr>
          <a:xfrm>
            <a:off x="1111014" y="4547973"/>
            <a:ext cx="6106760" cy="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32" u="none" cap="none" strike="noStrike">
                <a:solidFill>
                  <a:srgbClr val="080D5A"/>
                </a:solidFill>
                <a:latin typeface="Arial Narrow"/>
                <a:ea typeface="Arial Narrow"/>
                <a:cs typeface="Arial Narrow"/>
                <a:sym typeface="Arial Narrow"/>
              </a:rPr>
              <a:t>La coincidencia exacta incluye grupos normales y de ataque.</a:t>
            </a:r>
            <a:endParaRPr/>
          </a:p>
        </p:txBody>
      </p:sp>
      <p:sp>
        <p:nvSpPr>
          <p:cNvPr id="1671" name="Google Shape;1671;p60"/>
          <p:cNvSpPr/>
          <p:nvPr/>
        </p:nvSpPr>
        <p:spPr>
          <a:xfrm>
            <a:off x="7910710" y="1546955"/>
            <a:ext cx="1136350" cy="3538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43" u="none" cap="none" strike="noStrike">
                <a:solidFill>
                  <a:srgbClr val="07083B"/>
                </a:solidFill>
                <a:latin typeface="Quattrocento Sans"/>
                <a:ea typeface="Quattrocento Sans"/>
                <a:cs typeface="Quattrocento Sans"/>
                <a:sym typeface="Quattrocento Sans"/>
              </a:rPr>
              <a:t>F1 macro</a:t>
            </a:r>
            <a:endParaRPr/>
          </a:p>
        </p:txBody>
      </p:sp>
      <p:sp>
        <p:nvSpPr>
          <p:cNvPr id="1672" name="Google Shape;1672;p60"/>
          <p:cNvSpPr/>
          <p:nvPr/>
        </p:nvSpPr>
        <p:spPr>
          <a:xfrm>
            <a:off x="7910710" y="1892220"/>
            <a:ext cx="2426324" cy="7334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442" u="none" cap="none" strike="noStrike">
                <a:solidFill>
                  <a:srgbClr val="02033B"/>
                </a:solidFill>
                <a:latin typeface="Arial"/>
                <a:ea typeface="Arial"/>
                <a:cs typeface="Arial"/>
                <a:sym typeface="Arial"/>
              </a:rPr>
              <a:t>93,940 %</a:t>
            </a:r>
            <a:endParaRPr/>
          </a:p>
        </p:txBody>
      </p:sp>
      <p:sp>
        <p:nvSpPr>
          <p:cNvPr id="1673" name="Google Shape;1673;p60"/>
          <p:cNvSpPr/>
          <p:nvPr/>
        </p:nvSpPr>
        <p:spPr>
          <a:xfrm>
            <a:off x="7917998" y="2448345"/>
            <a:ext cx="3453931" cy="2666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5" u="none" cap="none" strike="noStrike">
                <a:solidFill>
                  <a:srgbClr val="0E1A6A"/>
                </a:solidFill>
                <a:latin typeface="Quattrocento Sans"/>
                <a:ea typeface="Quattrocento Sans"/>
                <a:cs typeface="Quattrocento Sans"/>
                <a:sym typeface="Quattrocento Sans"/>
              </a:rPr>
              <a:t>Promedio con igual peso por etiqueta</a:t>
            </a:r>
            <a:endParaRPr/>
          </a:p>
        </p:txBody>
      </p:sp>
      <p:sp>
        <p:nvSpPr>
          <p:cNvPr id="1674" name="Google Shape;1674;p60"/>
          <p:cNvSpPr/>
          <p:nvPr/>
        </p:nvSpPr>
        <p:spPr>
          <a:xfrm>
            <a:off x="7910710" y="3038262"/>
            <a:ext cx="3723587" cy="376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24">
                <a:solidFill>
                  <a:srgbClr val="07073B"/>
                </a:solidFill>
                <a:latin typeface="Arial Narrow"/>
                <a:ea typeface="Arial Narrow"/>
                <a:cs typeface="Arial Narrow"/>
                <a:sym typeface="Arial Narrow"/>
              </a:rPr>
              <a:t>Pérdida de Hamming</a:t>
            </a:r>
            <a:endParaRPr/>
          </a:p>
        </p:txBody>
      </p:sp>
      <p:sp>
        <p:nvSpPr>
          <p:cNvPr id="1675" name="Google Shape;1675;p60"/>
          <p:cNvSpPr/>
          <p:nvPr/>
        </p:nvSpPr>
        <p:spPr>
          <a:xfrm>
            <a:off x="7910710" y="3390231"/>
            <a:ext cx="2127517" cy="7394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479" u="none" cap="none" strike="noStrike">
                <a:solidFill>
                  <a:srgbClr val="03033A"/>
                </a:solidFill>
                <a:latin typeface="Arial"/>
                <a:ea typeface="Arial"/>
                <a:cs typeface="Arial"/>
                <a:sym typeface="Arial"/>
              </a:rPr>
              <a:t>0,276 %</a:t>
            </a:r>
            <a:endParaRPr/>
          </a:p>
        </p:txBody>
      </p:sp>
      <p:sp>
        <p:nvSpPr>
          <p:cNvPr id="1676" name="Google Shape;1676;p60"/>
          <p:cNvSpPr/>
          <p:nvPr/>
        </p:nvSpPr>
        <p:spPr>
          <a:xfrm>
            <a:off x="7917998" y="3962485"/>
            <a:ext cx="3818331" cy="2629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2" u="none" cap="none" strike="noStrike">
                <a:solidFill>
                  <a:srgbClr val="0D196D"/>
                </a:solidFill>
                <a:latin typeface="Quattrocento Sans"/>
                <a:ea typeface="Quattrocento Sans"/>
                <a:cs typeface="Quattrocento Sans"/>
                <a:sym typeface="Quattrocento Sans"/>
              </a:rPr>
              <a:t>Decisiones incorrectas sobre cada etiqueta</a:t>
            </a:r>
            <a:endParaRPr/>
          </a:p>
        </p:txBody>
      </p:sp>
      <p:sp>
        <p:nvSpPr>
          <p:cNvPr id="1677" name="Google Shape;1677;p60"/>
          <p:cNvSpPr/>
          <p:nvPr/>
        </p:nvSpPr>
        <p:spPr>
          <a:xfrm>
            <a:off x="1103726" y="5211400"/>
            <a:ext cx="8205701" cy="3158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86" u="none" cap="none" strike="noStrike">
                <a:solidFill>
                  <a:srgbClr val="0A0F5C"/>
                </a:solidFill>
                <a:latin typeface="Arial Narrow"/>
                <a:ea typeface="Arial Narrow"/>
                <a:cs typeface="Arial Narrow"/>
                <a:sym typeface="Arial Narrow"/>
              </a:rPr>
              <a:t>Grupos normales reconocidos: 98,9933 %. No se alcanzó la meta de al menos 99 %.</a:t>
            </a:r>
            <a:endParaRPr/>
          </a:p>
        </p:txBody>
      </p:sp>
      <p:sp>
        <p:nvSpPr>
          <p:cNvPr id="1678" name="Google Shape;1678;p60"/>
          <p:cNvSpPr/>
          <p:nvPr/>
        </p:nvSpPr>
        <p:spPr>
          <a:xfrm>
            <a:off x="1584733" y="5853219"/>
            <a:ext cx="10042275" cy="3426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21" u="none" cap="none" strike="noStrike">
                <a:solidFill>
                  <a:srgbClr val="07073F"/>
                </a:solidFill>
                <a:latin typeface="Arial Narrow"/>
                <a:ea typeface="Arial Narrow"/>
                <a:cs typeface="Arial Narrow"/>
                <a:sym typeface="Arial Narrow"/>
              </a:rPr>
              <a:t>No hubo grupos compartidos entre las partes de los datos, según la comparación de 15 campos HTTP.</a:t>
            </a:r>
            <a:endParaRPr/>
          </a:p>
        </p:txBody>
      </p:sp>
      <p:sp>
        <p:nvSpPr>
          <p:cNvPr id="1679" name="Google Shape;1679;p60"/>
          <p:cNvSpPr/>
          <p:nvPr/>
        </p:nvSpPr>
        <p:spPr>
          <a:xfrm>
            <a:off x="272895" y="6591353"/>
            <a:ext cx="7367582" cy="2318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20" u="none" cap="none" strike="noStrike">
                <a:solidFill>
                  <a:srgbClr val="1B226C"/>
                </a:solidFill>
                <a:latin typeface="Arial Narrow"/>
                <a:ea typeface="Arial Narrow"/>
                <a:cs typeface="Arial Narrow"/>
                <a:sym typeface="Arial Narrow"/>
              </a:rPr>
              <a:t>* Datos: Sureda Riera et al. (2022). SR-BH 2020 multi-label dataset. https://doi.org/10.7910/DVN/OGOIXX</a:t>
            </a:r>
            <a:endParaRPr/>
          </a:p>
        </p:txBody>
      </p:sp>
      <p:sp>
        <p:nvSpPr>
          <p:cNvPr id="1680" name="Google Shape;1680;p60"/>
          <p:cNvSpPr/>
          <p:nvPr/>
        </p:nvSpPr>
        <p:spPr>
          <a:xfrm>
            <a:off x="2022013" y="3348103"/>
            <a:ext cx="2557508" cy="7390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476" u="none" cap="none" strike="noStrike">
                <a:solidFill>
                  <a:srgbClr val="08125F"/>
                </a:solidFill>
                <a:latin typeface="Arial Narrow"/>
                <a:ea typeface="Arial Narrow"/>
                <a:cs typeface="Arial Narrow"/>
                <a:sym typeface="Arial Narrow"/>
              </a:rPr>
              <a:t>96,920 %</a:t>
            </a:r>
            <a:endParaRPr/>
          </a:p>
        </p:txBody>
      </p:sp>
      <p:sp>
        <p:nvSpPr>
          <p:cNvPr id="1681" name="Google Shape;1681;p60"/>
          <p:cNvSpPr/>
          <p:nvPr/>
        </p:nvSpPr>
        <p:spPr>
          <a:xfrm>
            <a:off x="1089150" y="4897530"/>
            <a:ext cx="10384811" cy="2937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79" u="none" cap="none" strike="noStrike">
                <a:solidFill>
                  <a:srgbClr val="08125F"/>
                </a:solidFill>
                <a:latin typeface="Arial Narrow"/>
                <a:ea typeface="Arial Narrow"/>
                <a:cs typeface="Arial Narrow"/>
                <a:sym typeface="Arial Narrow"/>
              </a:rPr>
              <a:t>Diez etiquetas superaron 85 % de F1. CAPEC-153: 80,86 %. CAPEC-272: 58,04 %.</a:t>
            </a:r>
            <a:endParaRPr/>
          </a:p>
        </p:txBody>
      </p:sp>
      <p:sp>
        <p:nvSpPr>
          <p:cNvPr id="1682" name="Google Shape;1682;p6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83" name="Google Shape;1683;p60" title="DEFENSA_SEGURA_V2:barra-4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84" name="Google Shape;1684;p60" title="DEFENSA_SEGURA_V2:avance-41"/>
          <p:cNvSpPr/>
          <p:nvPr/>
        </p:nvSpPr>
        <p:spPr>
          <a:xfrm>
            <a:off x="0" y="0"/>
            <a:ext cx="8534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85" name="Google Shape;1685;p60" title="DEFENSA_SEGURA_V2:seccion-4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0" name="Shape 1690"/>
        <p:cNvGrpSpPr/>
        <p:nvPr/>
      </p:nvGrpSpPr>
      <p:grpSpPr>
        <a:xfrm>
          <a:off x="0" y="0"/>
          <a:ext cx="0" cy="0"/>
          <a:chOff x="0" y="0"/>
          <a:chExt cx="0" cy="0"/>
        </a:xfrm>
      </p:grpSpPr>
      <p:sp>
        <p:nvSpPr>
          <p:cNvPr id="1691" name="Google Shape;1691;p61"/>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Multietiqueta: decisiones de la corrida L2</a:t>
            </a:r>
            <a:endParaRPr b="1">
              <a:solidFill>
                <a:srgbClr val="111F5B"/>
              </a:solidFill>
            </a:endParaRPr>
          </a:p>
        </p:txBody>
      </p:sp>
      <p:sp>
        <p:nvSpPr>
          <p:cNvPr id="1692" name="Google Shape;1692;p61"/>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800"/>
              <a:buFont typeface="Arial"/>
              <a:buNone/>
            </a:pPr>
            <a:r>
              <a:rPr lang="en-US" sz="1800">
                <a:solidFill>
                  <a:srgbClr val="070F64"/>
                </a:solidFill>
              </a:rPr>
              <a:t>Qué cambió en la preparación, el entrenamiento y la evaluación</a:t>
            </a:r>
            <a:endParaRPr sz="1800">
              <a:solidFill>
                <a:srgbClr val="070F64"/>
              </a:solidFill>
            </a:endParaRPr>
          </a:p>
        </p:txBody>
      </p:sp>
      <p:graphicFrame>
        <p:nvGraphicFramePr>
          <p:cNvPr id="1693" name="Google Shape;1693;p61"/>
          <p:cNvGraphicFramePr/>
          <p:nvPr/>
        </p:nvGraphicFramePr>
        <p:xfrm>
          <a:off x="285750" y="1524000"/>
          <a:ext cx="3000000" cy="3000000"/>
        </p:xfrm>
        <a:graphic>
          <a:graphicData uri="http://schemas.openxmlformats.org/drawingml/2006/table">
            <a:tbl>
              <a:tblPr>
                <a:noFill/>
                <a:tableStyleId>{F1B291AF-9CB1-4793-AFE8-E70834C1BA4F}</a:tableStyleId>
              </a:tblPr>
              <a:tblGrid>
                <a:gridCol w="3962400"/>
                <a:gridCol w="3857625"/>
                <a:gridCol w="3800475"/>
              </a:tblGrid>
              <a:tr h="419100">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Decisión metodológica</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Qué aporta</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a:solidFill>
                            <a:srgbClr val="FFFFFF"/>
                          </a:solidFill>
                          <a:latin typeface="Arial"/>
                          <a:ea typeface="Arial"/>
                          <a:cs typeface="Arial"/>
                          <a:sym typeface="Arial"/>
                        </a:rPr>
                        <a:t>Evidencia disponible</a:t>
                      </a:r>
                      <a:endParaRPr/>
                    </a:p>
                  </a:txBody>
                  <a:tcPr marT="76200" marB="76200" marR="95250" marL="114300" anchor="ctr">
                    <a:solidFill>
                      <a:srgbClr val="083672"/>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Agrupar por huella de 15 campos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y reunir las etiquetas del grupo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070F64"/>
                          </a:solidFill>
                        </a:rPr>
                        <a:t>Agrupa peticiones equivalentes</a:t>
                      </a:r>
                      <a:endParaRPr sz="1650">
                        <a:solidFill>
                          <a:srgbClr val="070F64"/>
                        </a:solidFill>
                      </a:endParaRPr>
                    </a:p>
                    <a:p>
                      <a:pPr indent="0" lvl="0" marL="0" marR="0" rtl="0" algn="l">
                        <a:lnSpc>
                          <a:spcPct val="100000"/>
                        </a:lnSpc>
                        <a:spcBef>
                          <a:spcPts val="0"/>
                        </a:spcBef>
                        <a:spcAft>
                          <a:spcPts val="0"/>
                        </a:spcAft>
                        <a:buClr>
                          <a:srgbClr val="000000"/>
                        </a:buClr>
                        <a:buSzPts val="1650"/>
                        <a:buFont typeface="Arial"/>
                        <a:buNone/>
                      </a:pPr>
                      <a:r>
                        <a:rPr lang="en-US" sz="1650">
                          <a:solidFill>
                            <a:srgbClr val="070F64"/>
                          </a:solidFill>
                        </a:rPr>
                        <a:t>y conserva las etiquetas del grupo.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108.598 grupos en prueba.</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Cero huellas compartidas entre</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las cuatro particiones.</a:t>
                      </a:r>
                      <a:endParaRPr/>
                    </a:p>
                  </a:txBody>
                  <a:tcPr marT="76200" marB="76200" marR="95250" marL="114300" anchor="ctr">
                    <a:solidFill>
                      <a:srgbClr val="DFF4FC"/>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Ampliar a 90 características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y ajustar cada clasificador</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Más señales de la petición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y configuración propia por CAPEC.</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12 clasificadores.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192 pruebas de configuración.</a:t>
                      </a:r>
                      <a:endParaRPr/>
                    </a:p>
                  </a:txBody>
                  <a:tcPr marT="76200" marB="76200" marR="95250" marL="114300" anchor="ctr">
                    <a:solidFill>
                      <a:srgbClr val="F6FBFD"/>
                    </a:solidFill>
                  </a:tcPr>
                </a:tc>
              </a:tr>
              <a:tr h="1181100">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Separar ajuste y evaluación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64 / 8 / 8 / 20 %</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Entrenar, validar, fijar umbrales</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y medir en particiones distintas.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Un umbral por etiqueta.</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Mejora el control de la evaluación,</a:t>
                      </a:r>
                      <a:endParaRPr/>
                    </a:p>
                    <a:p>
                      <a:pPr indent="0" lvl="0" marL="0" marR="0" rtl="0" algn="l">
                        <a:lnSpc>
                          <a:spcPct val="100000"/>
                        </a:lnSpc>
                        <a:spcBef>
                          <a:spcPts val="0"/>
                        </a:spcBef>
                        <a:spcAft>
                          <a:spcPts val="0"/>
                        </a:spcAft>
                        <a:buClr>
                          <a:srgbClr val="000000"/>
                        </a:buClr>
                        <a:buSzPts val="1650"/>
                        <a:buFont typeface="Arial"/>
                        <a:buNone/>
                      </a:pPr>
                      <a:r>
                        <a:rPr b="0" lang="en-US" sz="1650" u="none" cap="none">
                          <a:solidFill>
                            <a:srgbClr val="070F64"/>
                          </a:solidFill>
                          <a:latin typeface="Arial"/>
                          <a:ea typeface="Arial"/>
                          <a:cs typeface="Arial"/>
                          <a:sym typeface="Arial"/>
                        </a:rPr>
                        <a:t>sin una ganancia de F1 aislada.</a:t>
                      </a:r>
                      <a:endParaRPr/>
                    </a:p>
                  </a:txBody>
                  <a:tcPr marT="76200" marB="76200" marR="95250" marL="114300" anchor="ctr">
                    <a:solidFill>
                      <a:srgbClr val="DFF4FC"/>
                    </a:solidFill>
                  </a:tcPr>
                </a:tc>
              </a:tr>
            </a:tbl>
          </a:graphicData>
        </a:graphic>
      </p:graphicFrame>
      <p:sp>
        <p:nvSpPr>
          <p:cNvPr id="1694" name="Google Shape;1694;p61"/>
          <p:cNvSpPr/>
          <p:nvPr/>
        </p:nvSpPr>
        <p:spPr>
          <a:xfrm>
            <a:off x="304800" y="5648325"/>
            <a:ext cx="11525400" cy="6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500"/>
              <a:buFont typeface="Arial"/>
              <a:buNone/>
            </a:pPr>
            <a:r>
              <a:rPr lang="en-US" sz="1800">
                <a:solidFill>
                  <a:srgbClr val="070F64"/>
                </a:solidFill>
              </a:rPr>
              <a:t>L2 cambia las características, la agrupación y la evaluación. La mejora observada no puede atribuirse a una sola decisión.</a:t>
            </a:r>
            <a:endParaRPr sz="1800">
              <a:solidFill>
                <a:srgbClr val="070F64"/>
              </a:solidFill>
            </a:endParaRPr>
          </a:p>
        </p:txBody>
      </p:sp>
      <p:sp>
        <p:nvSpPr>
          <p:cNvPr id="1695" name="Google Shape;1695;p6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96" name="Google Shape;1696;p61" title="DEFENSA_SEGURA_V2:barra-4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97" name="Google Shape;1697;p61" title="DEFENSA_SEGURA_V2:avance-42"/>
          <p:cNvSpPr/>
          <p:nvPr/>
        </p:nvSpPr>
        <p:spPr>
          <a:xfrm>
            <a:off x="0" y="0"/>
            <a:ext cx="9753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98" name="Google Shape;1698;p61" title="DEFENSA_SEGURA_V2:seccion-4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3" name="Shape 1703"/>
        <p:cNvGrpSpPr/>
        <p:nvPr/>
      </p:nvGrpSpPr>
      <p:grpSpPr>
        <a:xfrm>
          <a:off x="0" y="0"/>
          <a:ext cx="0" cy="0"/>
          <a:chOff x="0" y="0"/>
          <a:chExt cx="0" cy="0"/>
        </a:xfrm>
      </p:grpSpPr>
      <p:sp>
        <p:nvSpPr>
          <p:cNvPr id="1704" name="Google Shape;1704;p62"/>
          <p:cNvSpPr/>
          <p:nvPr/>
        </p:nvSpPr>
        <p:spPr>
          <a:xfrm>
            <a:off x="236455" y="3643996"/>
            <a:ext cx="11719090" cy="1749118"/>
          </a:xfrm>
          <a:prstGeom prst="roundRect">
            <a:avLst>
              <a:gd fmla="val 3333" name="adj"/>
            </a:avLst>
          </a:prstGeom>
          <a:solidFill>
            <a:srgbClr val="DDF2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62"/>
          <p:cNvSpPr/>
          <p:nvPr/>
        </p:nvSpPr>
        <p:spPr>
          <a:xfrm>
            <a:off x="236455" y="5480570"/>
            <a:ext cx="11719090" cy="962015"/>
          </a:xfrm>
          <a:prstGeom prst="roundRect">
            <a:avLst>
              <a:gd fmla="val 6061" name="adj"/>
            </a:avLst>
          </a:prstGeom>
          <a:solidFill>
            <a:srgbClr val="EBFD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62"/>
          <p:cNvSpPr/>
          <p:nvPr/>
        </p:nvSpPr>
        <p:spPr>
          <a:xfrm>
            <a:off x="4201122" y="1428446"/>
            <a:ext cx="3789756" cy="1515902"/>
          </a:xfrm>
          <a:prstGeom prst="roundRect">
            <a:avLst>
              <a:gd fmla="val 3846" name="adj"/>
            </a:avLst>
          </a:prstGeom>
          <a:solidFill>
            <a:srgbClr val="EB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62"/>
          <p:cNvSpPr/>
          <p:nvPr/>
        </p:nvSpPr>
        <p:spPr>
          <a:xfrm>
            <a:off x="8136638" y="1428446"/>
            <a:ext cx="3818908" cy="1486750"/>
          </a:xfrm>
          <a:prstGeom prst="roundRect">
            <a:avLst>
              <a:gd fmla="val 3922" name="adj"/>
            </a:avLst>
          </a:prstGeom>
          <a:solidFill>
            <a:srgbClr val="DD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62"/>
          <p:cNvSpPr/>
          <p:nvPr/>
        </p:nvSpPr>
        <p:spPr>
          <a:xfrm>
            <a:off x="236455" y="1457598"/>
            <a:ext cx="3818908" cy="1457598"/>
          </a:xfrm>
          <a:prstGeom prst="roundRect">
            <a:avLst>
              <a:gd fmla="val 4000" name="adj"/>
            </a:avLst>
          </a:prstGeom>
          <a:solidFill>
            <a:srgbClr val="DC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9" name="Google Shape;1709;p62"/>
          <p:cNvPicPr preferRelativeResize="0"/>
          <p:nvPr/>
        </p:nvPicPr>
        <p:blipFill rotWithShape="1">
          <a:blip r:embed="rId3">
            <a:alphaModFix/>
          </a:blip>
          <a:srcRect b="0" l="0" r="0" t="0"/>
          <a:stretch/>
        </p:blipFill>
        <p:spPr>
          <a:xfrm>
            <a:off x="1329654" y="1559630"/>
            <a:ext cx="145760" cy="1166079"/>
          </a:xfrm>
          <a:prstGeom prst="rect">
            <a:avLst/>
          </a:prstGeom>
          <a:noFill/>
          <a:ln>
            <a:noFill/>
          </a:ln>
        </p:spPr>
      </p:pic>
      <p:pic>
        <p:nvPicPr>
          <p:cNvPr id="1710" name="Google Shape;1710;p62"/>
          <p:cNvPicPr preferRelativeResize="0"/>
          <p:nvPr/>
        </p:nvPicPr>
        <p:blipFill rotWithShape="1">
          <a:blip r:embed="rId4">
            <a:alphaModFix/>
          </a:blip>
          <a:srcRect b="0" l="0" r="0" t="0"/>
          <a:stretch/>
        </p:blipFill>
        <p:spPr>
          <a:xfrm>
            <a:off x="5410929" y="1588782"/>
            <a:ext cx="116608" cy="1136927"/>
          </a:xfrm>
          <a:prstGeom prst="rect">
            <a:avLst/>
          </a:prstGeom>
          <a:noFill/>
          <a:ln>
            <a:noFill/>
          </a:ln>
        </p:spPr>
      </p:pic>
      <p:pic>
        <p:nvPicPr>
          <p:cNvPr id="1711" name="Google Shape;1711;p62"/>
          <p:cNvPicPr preferRelativeResize="0"/>
          <p:nvPr/>
        </p:nvPicPr>
        <p:blipFill rotWithShape="1">
          <a:blip r:embed="rId5">
            <a:alphaModFix/>
          </a:blip>
          <a:srcRect b="0" l="0" r="0" t="0"/>
          <a:stretch/>
        </p:blipFill>
        <p:spPr>
          <a:xfrm>
            <a:off x="9171532" y="1588782"/>
            <a:ext cx="116608" cy="1136927"/>
          </a:xfrm>
          <a:prstGeom prst="rect">
            <a:avLst/>
          </a:prstGeom>
          <a:noFill/>
          <a:ln>
            <a:noFill/>
          </a:ln>
        </p:spPr>
      </p:pic>
      <p:pic>
        <p:nvPicPr>
          <p:cNvPr id="1712" name="Google Shape;1712;p62"/>
          <p:cNvPicPr preferRelativeResize="0"/>
          <p:nvPr/>
        </p:nvPicPr>
        <p:blipFill rotWithShape="1">
          <a:blip r:embed="rId6">
            <a:alphaModFix/>
          </a:blip>
          <a:srcRect b="0" l="0" r="0" t="0"/>
          <a:stretch/>
        </p:blipFill>
        <p:spPr>
          <a:xfrm>
            <a:off x="396791" y="1647086"/>
            <a:ext cx="845407" cy="962015"/>
          </a:xfrm>
          <a:prstGeom prst="rect">
            <a:avLst/>
          </a:prstGeom>
          <a:noFill/>
          <a:ln>
            <a:noFill/>
          </a:ln>
        </p:spPr>
      </p:pic>
      <p:pic>
        <p:nvPicPr>
          <p:cNvPr id="1713" name="Google Shape;1713;p62"/>
          <p:cNvPicPr preferRelativeResize="0"/>
          <p:nvPr/>
        </p:nvPicPr>
        <p:blipFill rotWithShape="1">
          <a:blip r:embed="rId7">
            <a:alphaModFix/>
          </a:blip>
          <a:srcRect b="0" l="0" r="0" t="0"/>
          <a:stretch/>
        </p:blipFill>
        <p:spPr>
          <a:xfrm>
            <a:off x="4390610" y="1705390"/>
            <a:ext cx="932863" cy="728799"/>
          </a:xfrm>
          <a:prstGeom prst="rect">
            <a:avLst/>
          </a:prstGeom>
          <a:noFill/>
          <a:ln>
            <a:noFill/>
          </a:ln>
        </p:spPr>
      </p:pic>
      <p:pic>
        <p:nvPicPr>
          <p:cNvPr id="1714" name="Google Shape;1714;p62"/>
          <p:cNvPicPr preferRelativeResize="0"/>
          <p:nvPr/>
        </p:nvPicPr>
        <p:blipFill rotWithShape="1">
          <a:blip r:embed="rId8">
            <a:alphaModFix/>
          </a:blip>
          <a:srcRect b="0" l="0" r="0" t="0"/>
          <a:stretch/>
        </p:blipFill>
        <p:spPr>
          <a:xfrm>
            <a:off x="8355277" y="1734542"/>
            <a:ext cx="699647" cy="874559"/>
          </a:xfrm>
          <a:prstGeom prst="rect">
            <a:avLst/>
          </a:prstGeom>
          <a:noFill/>
          <a:ln>
            <a:noFill/>
          </a:ln>
        </p:spPr>
      </p:pic>
      <p:pic>
        <p:nvPicPr>
          <p:cNvPr id="1715" name="Google Shape;1715;p62"/>
          <p:cNvPicPr preferRelativeResize="0"/>
          <p:nvPr/>
        </p:nvPicPr>
        <p:blipFill rotWithShape="1">
          <a:blip r:embed="rId9">
            <a:alphaModFix/>
          </a:blip>
          <a:srcRect b="0" l="0" r="0" t="0"/>
          <a:stretch/>
        </p:blipFill>
        <p:spPr>
          <a:xfrm>
            <a:off x="1475413" y="5611753"/>
            <a:ext cx="145760" cy="699647"/>
          </a:xfrm>
          <a:prstGeom prst="rect">
            <a:avLst/>
          </a:prstGeom>
          <a:noFill/>
          <a:ln>
            <a:noFill/>
          </a:ln>
        </p:spPr>
      </p:pic>
      <p:sp>
        <p:nvSpPr>
          <p:cNvPr id="1716" name="Google Shape;1716;p62"/>
          <p:cNvSpPr/>
          <p:nvPr/>
        </p:nvSpPr>
        <p:spPr>
          <a:xfrm>
            <a:off x="294759" y="116608"/>
            <a:ext cx="10464979" cy="982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600">
                <a:solidFill>
                  <a:srgbClr val="111F5B"/>
                </a:solidFill>
              </a:rPr>
              <a:t>Rendimiento y tamaño de los modelos</a:t>
            </a:r>
            <a:endParaRPr b="1" sz="2600">
              <a:solidFill>
                <a:srgbClr val="111F5B"/>
              </a:solidFill>
            </a:endParaRPr>
          </a:p>
        </p:txBody>
      </p:sp>
      <p:sp>
        <p:nvSpPr>
          <p:cNvPr id="1717" name="Google Shape;1717;p62"/>
          <p:cNvSpPr/>
          <p:nvPr/>
        </p:nvSpPr>
        <p:spPr>
          <a:xfrm>
            <a:off x="1577445" y="1625107"/>
            <a:ext cx="2411748" cy="31776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A0F76"/>
                </a:solidFill>
                <a:latin typeface="Arial Narrow"/>
                <a:ea typeface="Arial Narrow"/>
                <a:cs typeface="Arial Narrow"/>
                <a:sym typeface="Arial Narrow"/>
              </a:rPr>
              <a:t>Tiempo por grupo, mediana</a:t>
            </a:r>
            <a:endParaRPr sz="1800">
              <a:solidFill>
                <a:srgbClr val="0A0F76"/>
              </a:solidFill>
              <a:latin typeface="Arial Narrow"/>
              <a:ea typeface="Arial Narrow"/>
              <a:cs typeface="Arial Narrow"/>
              <a:sym typeface="Arial Narrow"/>
            </a:endParaRPr>
          </a:p>
        </p:txBody>
      </p:sp>
      <p:sp>
        <p:nvSpPr>
          <p:cNvPr id="1718" name="Google Shape;1718;p62"/>
          <p:cNvSpPr/>
          <p:nvPr/>
        </p:nvSpPr>
        <p:spPr>
          <a:xfrm>
            <a:off x="1606597" y="1927116"/>
            <a:ext cx="2040061" cy="6152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727" u="none" cap="none" strike="noStrike">
                <a:solidFill>
                  <a:srgbClr val="031069"/>
                </a:solidFill>
                <a:latin typeface="Arial"/>
                <a:ea typeface="Arial"/>
                <a:cs typeface="Arial"/>
                <a:sym typeface="Arial"/>
              </a:rPr>
              <a:t>7,125 ms</a:t>
            </a:r>
            <a:endParaRPr/>
          </a:p>
        </p:txBody>
      </p:sp>
      <p:sp>
        <p:nvSpPr>
          <p:cNvPr id="1719" name="Google Shape;1719;p62"/>
          <p:cNvSpPr/>
          <p:nvPr/>
        </p:nvSpPr>
        <p:spPr>
          <a:xfrm>
            <a:off x="1592021" y="2418294"/>
            <a:ext cx="2302428" cy="2932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54" u="none" cap="none" strike="noStrike">
                <a:solidFill>
                  <a:srgbClr val="0C1476"/>
                </a:solidFill>
                <a:latin typeface="Arial Narrow"/>
                <a:ea typeface="Arial Narrow"/>
                <a:cs typeface="Arial Narrow"/>
                <a:sym typeface="Arial Narrow"/>
              </a:rPr>
              <a:t>La mitad de los casos tardó</a:t>
            </a:r>
            <a:endParaRPr/>
          </a:p>
        </p:txBody>
      </p:sp>
      <p:sp>
        <p:nvSpPr>
          <p:cNvPr id="1720" name="Google Shape;1720;p62"/>
          <p:cNvSpPr/>
          <p:nvPr/>
        </p:nvSpPr>
        <p:spPr>
          <a:xfrm>
            <a:off x="1592021" y="2638620"/>
            <a:ext cx="1362277" cy="2783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u="none" cap="none" strike="noStrike">
                <a:solidFill>
                  <a:srgbClr val="13197A"/>
                </a:solidFill>
                <a:latin typeface="Arial Narrow"/>
                <a:ea typeface="Arial Narrow"/>
                <a:cs typeface="Arial Narrow"/>
                <a:sym typeface="Arial Narrow"/>
              </a:rPr>
              <a:t>hasta este valor</a:t>
            </a:r>
            <a:endParaRPr/>
          </a:p>
        </p:txBody>
      </p:sp>
      <p:sp>
        <p:nvSpPr>
          <p:cNvPr id="1721" name="Google Shape;1721;p62"/>
          <p:cNvSpPr/>
          <p:nvPr/>
        </p:nvSpPr>
        <p:spPr>
          <a:xfrm>
            <a:off x="5666009" y="1632994"/>
            <a:ext cx="2083789" cy="3158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080A70"/>
                </a:solidFill>
                <a:latin typeface="Arial Narrow"/>
                <a:ea typeface="Arial Narrow"/>
                <a:cs typeface="Arial Narrow"/>
                <a:sym typeface="Arial Narrow"/>
              </a:rPr>
              <a:t>Tiempo por grupo, p95</a:t>
            </a:r>
            <a:endParaRPr b="1" sz="1800">
              <a:solidFill>
                <a:srgbClr val="080A70"/>
              </a:solidFill>
              <a:latin typeface="Arial Narrow"/>
              <a:ea typeface="Arial Narrow"/>
              <a:cs typeface="Arial Narrow"/>
              <a:sym typeface="Arial Narrow"/>
            </a:endParaRPr>
          </a:p>
        </p:txBody>
      </p:sp>
      <p:sp>
        <p:nvSpPr>
          <p:cNvPr id="1722" name="Google Shape;1722;p62"/>
          <p:cNvSpPr/>
          <p:nvPr/>
        </p:nvSpPr>
        <p:spPr>
          <a:xfrm>
            <a:off x="5680584" y="1931918"/>
            <a:ext cx="1989045" cy="5996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632" u="none" cap="none" strike="noStrike">
                <a:solidFill>
                  <a:srgbClr val="03106A"/>
                </a:solidFill>
                <a:latin typeface="Arial"/>
                <a:ea typeface="Arial"/>
                <a:cs typeface="Arial"/>
                <a:sym typeface="Arial"/>
              </a:rPr>
              <a:t>7,627 ms</a:t>
            </a:r>
            <a:endParaRPr/>
          </a:p>
        </p:txBody>
      </p:sp>
      <p:sp>
        <p:nvSpPr>
          <p:cNvPr id="1723" name="Google Shape;1723;p62"/>
          <p:cNvSpPr/>
          <p:nvPr/>
        </p:nvSpPr>
        <p:spPr>
          <a:xfrm>
            <a:off x="5673296" y="2423998"/>
            <a:ext cx="2091077" cy="2747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3" u="none" cap="none" strike="noStrike">
                <a:solidFill>
                  <a:srgbClr val="0E1074"/>
                </a:solidFill>
                <a:latin typeface="Arial Narrow"/>
                <a:ea typeface="Arial Narrow"/>
                <a:cs typeface="Arial Narrow"/>
                <a:sym typeface="Arial Narrow"/>
              </a:rPr>
              <a:t>El 95 % de los casos tardó</a:t>
            </a:r>
            <a:endParaRPr/>
          </a:p>
        </p:txBody>
      </p:sp>
      <p:sp>
        <p:nvSpPr>
          <p:cNvPr id="1724" name="Google Shape;1724;p62"/>
          <p:cNvSpPr/>
          <p:nvPr/>
        </p:nvSpPr>
        <p:spPr>
          <a:xfrm>
            <a:off x="5673296" y="2643684"/>
            <a:ext cx="1311262" cy="2855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28" u="none" cap="none" strike="noStrike">
                <a:solidFill>
                  <a:srgbClr val="0F1277"/>
                </a:solidFill>
                <a:latin typeface="Arial Narrow"/>
                <a:ea typeface="Arial Narrow"/>
                <a:cs typeface="Arial Narrow"/>
                <a:sym typeface="Arial Narrow"/>
              </a:rPr>
              <a:t>hasta este valor</a:t>
            </a:r>
            <a:endParaRPr/>
          </a:p>
        </p:txBody>
      </p:sp>
      <p:sp>
        <p:nvSpPr>
          <p:cNvPr id="1725" name="Google Shape;1725;p62"/>
          <p:cNvSpPr/>
          <p:nvPr/>
        </p:nvSpPr>
        <p:spPr>
          <a:xfrm>
            <a:off x="1752357" y="5729734"/>
            <a:ext cx="5851680" cy="3224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42" u="none" cap="none" strike="noStrike">
                <a:solidFill>
                  <a:srgbClr val="070970"/>
                </a:solidFill>
                <a:latin typeface="Arial Narrow"/>
                <a:ea typeface="Arial Narrow"/>
                <a:cs typeface="Arial Narrow"/>
                <a:sym typeface="Arial Narrow"/>
              </a:rPr>
              <a:t>La preparación incluye calcular las características de la petición.</a:t>
            </a:r>
            <a:endParaRPr/>
          </a:p>
        </p:txBody>
      </p:sp>
      <p:sp>
        <p:nvSpPr>
          <p:cNvPr id="1726" name="Google Shape;1726;p62"/>
          <p:cNvSpPr/>
          <p:nvPr/>
        </p:nvSpPr>
        <p:spPr>
          <a:xfrm>
            <a:off x="9441188" y="1713284"/>
            <a:ext cx="2098365" cy="3485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012" u="none" cap="none" strike="noStrike">
                <a:solidFill>
                  <a:srgbClr val="070B70"/>
                </a:solidFill>
                <a:latin typeface="Arial Narrow"/>
                <a:ea typeface="Arial Narrow"/>
                <a:cs typeface="Arial Narrow"/>
                <a:sym typeface="Arial Narrow"/>
              </a:rPr>
              <a:t>Tamaño del modelo</a:t>
            </a:r>
            <a:endParaRPr/>
          </a:p>
        </p:txBody>
      </p:sp>
      <p:sp>
        <p:nvSpPr>
          <p:cNvPr id="1727" name="Google Shape;1727;p62"/>
          <p:cNvSpPr/>
          <p:nvPr/>
        </p:nvSpPr>
        <p:spPr>
          <a:xfrm>
            <a:off x="9448476" y="2060702"/>
            <a:ext cx="2360732" cy="7116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281" u="none" cap="none" strike="noStrike">
                <a:solidFill>
                  <a:srgbClr val="03116A"/>
                </a:solidFill>
                <a:latin typeface="Arial Narrow"/>
                <a:ea typeface="Arial Narrow"/>
                <a:cs typeface="Arial Narrow"/>
                <a:sym typeface="Arial Narrow"/>
              </a:rPr>
              <a:t>12,933 MiB</a:t>
            </a:r>
            <a:endParaRPr/>
          </a:p>
        </p:txBody>
      </p:sp>
      <p:sp>
        <p:nvSpPr>
          <p:cNvPr id="1728" name="Google Shape;1728;p62"/>
          <p:cNvSpPr/>
          <p:nvPr/>
        </p:nvSpPr>
        <p:spPr>
          <a:xfrm>
            <a:off x="1745069" y="6024311"/>
            <a:ext cx="10005835" cy="3124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A0C75"/>
                </a:solidFill>
                <a:latin typeface="Arial Narrow"/>
                <a:ea typeface="Arial Narrow"/>
                <a:cs typeface="Arial Narrow"/>
                <a:sym typeface="Arial Narrow"/>
              </a:rPr>
              <a:t>Incluye preparación y predicción. Excluye red, TLS y concurrencia. Falta comparar con un WAF por firmas.</a:t>
            </a:r>
            <a:endParaRPr sz="1800">
              <a:solidFill>
                <a:srgbClr val="0A0C75"/>
              </a:solidFill>
              <a:latin typeface="Arial Narrow"/>
              <a:ea typeface="Arial Narrow"/>
              <a:cs typeface="Arial Narrow"/>
              <a:sym typeface="Arial Narrow"/>
            </a:endParaRPr>
          </a:p>
        </p:txBody>
      </p:sp>
      <p:sp>
        <p:nvSpPr>
          <p:cNvPr id="1729" name="Google Shape;1729;p62"/>
          <p:cNvSpPr/>
          <p:nvPr/>
        </p:nvSpPr>
        <p:spPr>
          <a:xfrm>
            <a:off x="265607" y="868729"/>
            <a:ext cx="10843954" cy="5021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041" u="none" cap="none" strike="noStrike">
                <a:solidFill>
                  <a:srgbClr val="08125F"/>
                </a:solidFill>
                <a:latin typeface="Arial Narrow"/>
                <a:ea typeface="Arial Narrow"/>
                <a:cs typeface="Arial Narrow"/>
                <a:sym typeface="Arial Narrow"/>
              </a:rPr>
              <a:t>L2 · 10.000 grupos en el equipo de prueba</a:t>
            </a:r>
            <a:endParaRPr/>
          </a:p>
        </p:txBody>
      </p:sp>
      <p:graphicFrame>
        <p:nvGraphicFramePr>
          <p:cNvPr id="1730" name="Google Shape;1730;p62"/>
          <p:cNvGraphicFramePr/>
          <p:nvPr/>
        </p:nvGraphicFramePr>
        <p:xfrm>
          <a:off x="258319" y="3068244"/>
          <a:ext cx="3000000" cy="3000000"/>
        </p:xfrm>
        <a:graphic>
          <a:graphicData uri="http://schemas.openxmlformats.org/drawingml/2006/table">
            <a:tbl>
              <a:tblPr>
                <a:noFill/>
                <a:tableStyleId>{F1B291AF-9CB1-4793-AFE8-E70834C1BA4F}</a:tableStyleId>
              </a:tblPr>
              <a:tblGrid>
                <a:gridCol w="7608675"/>
                <a:gridCol w="4073975"/>
              </a:tblGrid>
              <a:tr h="568475">
                <a:tc>
                  <a:txBody>
                    <a:bodyPr/>
                    <a:lstStyle/>
                    <a:p>
                      <a:pPr indent="0" lvl="0" marL="0" marR="0" rtl="0" algn="l">
                        <a:spcBef>
                          <a:spcPts val="0"/>
                        </a:spcBef>
                        <a:spcAft>
                          <a:spcPts val="0"/>
                        </a:spcAft>
                        <a:buNone/>
                      </a:pPr>
                      <a:r>
                        <a:rPr b="1" lang="en-US" sz="2349" u="none" cap="none" strike="noStrike">
                          <a:solidFill>
                            <a:srgbClr val="FFFFFF"/>
                          </a:solidFill>
                          <a:latin typeface="Arial"/>
                          <a:ea typeface="Arial"/>
                          <a:cs typeface="Arial"/>
                          <a:sym typeface="Arial"/>
                        </a:rPr>
                        <a:t>Forma de procesar</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c>
                  <a:txBody>
                    <a:bodyPr/>
                    <a:lstStyle/>
                    <a:p>
                      <a:pPr indent="0" lvl="0" marL="0" marR="0" rtl="0" algn="ctr">
                        <a:spcBef>
                          <a:spcPts val="0"/>
                        </a:spcBef>
                        <a:spcAft>
                          <a:spcPts val="0"/>
                        </a:spcAft>
                        <a:buNone/>
                      </a:pPr>
                      <a:r>
                        <a:rPr b="1" lang="en-US" sz="2349" u="none" cap="none" strike="noStrike">
                          <a:solidFill>
                            <a:srgbClr val="FFFFFF"/>
                          </a:solidFill>
                          <a:latin typeface="Arial"/>
                          <a:ea typeface="Arial"/>
                          <a:cs typeface="Arial"/>
                          <a:sym typeface="Arial"/>
                        </a:rPr>
                        <a:t>Casos por segundo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083672"/>
                    </a:solidFill>
                  </a:tcPr>
                </a:tc>
              </a:tr>
              <a:tr h="532025">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Preparación y predicción, uno por vez</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lang="en-US" sz="1992">
                          <a:solidFill>
                            <a:srgbClr val="070F64"/>
                          </a:solidFill>
                        </a:rPr>
                        <a:t>138,9</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68475">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Preparación y predicción, varios casos juntos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lang="en-US" sz="1992">
                          <a:solidFill>
                            <a:srgbClr val="070F64"/>
                          </a:solidFill>
                        </a:rPr>
                        <a:t>1.832,3</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26775">
                <a:tc>
                  <a:txBody>
                    <a:bodyPr/>
                    <a:lstStyle/>
                    <a:p>
                      <a:pPr indent="0" lvl="0" marL="0" marR="0" rtl="0" algn="l">
                        <a:spcBef>
                          <a:spcPts val="0"/>
                        </a:spcBef>
                        <a:spcAft>
                          <a:spcPts val="0"/>
                        </a:spcAft>
                        <a:buNone/>
                      </a:pPr>
                      <a:r>
                        <a:rPr b="1" lang="en-US" sz="1992" u="none" cap="none" strike="noStrike">
                          <a:solidFill>
                            <a:srgbClr val="070F64"/>
                          </a:solidFill>
                          <a:latin typeface="Arial"/>
                          <a:ea typeface="Arial"/>
                          <a:cs typeface="Arial"/>
                          <a:sym typeface="Arial"/>
                        </a:rPr>
                        <a:t>Solo predicción, características ya calculadas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lang="en-US" sz="1992">
                          <a:solidFill>
                            <a:srgbClr val="070F64"/>
                          </a:solidFill>
                        </a:rPr>
                        <a:t>65.010,9</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1731" name="Google Shape;1731;p6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32" name="Google Shape;1732;p62" title="DEFENSA_SEGURA_V2:barra-4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3" name="Google Shape;1733;p62" title="DEFENSA_SEGURA_V2:avance-43"/>
          <p:cNvSpPr/>
          <p:nvPr/>
        </p:nvSpPr>
        <p:spPr>
          <a:xfrm>
            <a:off x="0" y="0"/>
            <a:ext cx="10972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4" name="Google Shape;1734;p62" title="DEFENSA_SEGURA_V2:seccion-4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9" name="Shape 1739"/>
        <p:cNvGrpSpPr/>
        <p:nvPr/>
      </p:nvGrpSpPr>
      <p:grpSpPr>
        <a:xfrm>
          <a:off x="0" y="0"/>
          <a:ext cx="0" cy="0"/>
          <a:chOff x="0" y="0"/>
          <a:chExt cx="0" cy="0"/>
        </a:xfrm>
      </p:grpSpPr>
      <p:sp>
        <p:nvSpPr>
          <p:cNvPr id="1740" name="Google Shape;1740;p63"/>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111F5B"/>
                </a:solidFill>
              </a:rPr>
              <a:t>Comparación con antecedentes</a:t>
            </a:r>
            <a:endParaRPr b="1" sz="3600">
              <a:solidFill>
                <a:srgbClr val="111F5B"/>
              </a:solidFill>
            </a:endParaRPr>
          </a:p>
        </p:txBody>
      </p:sp>
      <p:sp>
        <p:nvSpPr>
          <p:cNvPr id="1741" name="Google Shape;1741;p63"/>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Clasificación multietiqueta · Calidad de detección y costo de ejecución.</a:t>
            </a:r>
            <a:endParaRPr sz="1800">
              <a:solidFill>
                <a:srgbClr val="070F64"/>
              </a:solidFill>
            </a:endParaRPr>
          </a:p>
        </p:txBody>
      </p:sp>
      <p:graphicFrame>
        <p:nvGraphicFramePr>
          <p:cNvPr id="1742" name="Google Shape;1742;p63"/>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2413000"/>
                <a:gridCol w="3175000"/>
                <a:gridCol w="2730500"/>
                <a:gridCol w="33020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Trabajo y datos</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Detección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700">
                          <a:solidFill>
                            <a:srgbClr val="FFFFFF"/>
                          </a:solidFill>
                        </a:rPr>
                        <a:t>Costo de ejecución</a:t>
                      </a:r>
                      <a:endParaRPr b="1" sz="17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None/>
                      </a:pPr>
                      <a:r>
                        <a:rPr b="1" lang="en-US" sz="1700">
                          <a:solidFill>
                            <a:srgbClr val="FFFFFF"/>
                          </a:solidFill>
                        </a:rPr>
                        <a:t>Relación con la propuesta</a:t>
                      </a:r>
                      <a:endParaRPr b="1" sz="1700" u="none" cap="none">
                        <a:solidFill>
                          <a:srgbClr val="FFFFFF"/>
                        </a:solidFill>
                      </a:endParaRPr>
                    </a:p>
                  </a:txBody>
                  <a:tcPr marT="76200" marB="76200" marR="114300" marL="114300" anchor="ctr">
                    <a:solidFill>
                      <a:srgbClr val="070F64"/>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Sureda Riera et al. (2022)</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2020</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Coincidencia exacta: 88,445 %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Pérdida Hamming: 1,703 %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informa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Incluye respuesta HTTP y</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NORMAL como salida;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L2 usa solo la petición.</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Chindrus y Caruntu (2025)</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ECML/PKDD 2007</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micro: 91,1 %</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macro: 84,2 %</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cuantifica latencia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ni peticiones/s</a:t>
                      </a:r>
                      <a:endParaRPr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lang="en-US" sz="1600">
                          <a:solidFill>
                            <a:srgbClr val="070F64"/>
                          </a:solidFill>
                        </a:rPr>
                        <a:t>Compara 7 algoritmos;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GRU logra el mejor F1 micro</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en su evaluación.</a:t>
                      </a:r>
                      <a:endParaRPr sz="1600">
                        <a:solidFill>
                          <a:srgbClr val="070F64"/>
                        </a:solidFill>
                      </a:endParaRPr>
                    </a:p>
                  </a:txBody>
                  <a:tcPr marT="76200" marB="76200" marR="114300" marL="114300" anchor="ctr">
                    <a:solidFill>
                      <a:srgbClr val="F6FBFD"/>
                    </a:solidFill>
                  </a:tcPr>
                </a:tc>
              </a:tr>
              <a:tr h="990600">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Surendran et al. (2026)</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SR-BH 2020</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F1 por categoría:</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98,30–99,17 %</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Mide tiempo por lotes;</a:t>
                      </a:r>
                      <a:endParaRPr sz="16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600">
                          <a:solidFill>
                            <a:srgbClr val="070F64"/>
                          </a:solidFill>
                        </a:rPr>
                        <a:t>no evalúa latencia en línea</a:t>
                      </a:r>
                      <a:endParaRPr sz="1600">
                        <a:solidFill>
                          <a:srgbClr val="070F64"/>
                        </a:solidFill>
                      </a:endParaRPr>
                    </a:p>
                  </a:txBody>
                  <a:tcPr marT="76200" marB="76200" marR="114300" marL="114300" anchor="ctr">
                    <a:solidFill>
                      <a:srgbClr val="DFF4FC"/>
                    </a:solidFill>
                  </a:tcPr>
                </a:tc>
                <a:tc>
                  <a:txBody>
                    <a:bodyPr/>
                    <a:lstStyle/>
                    <a:p>
                      <a:pPr indent="0" lvl="0" marL="0" marR="0" rtl="0" algn="l">
                        <a:lnSpc>
                          <a:spcPct val="100000"/>
                        </a:lnSpc>
                        <a:spcBef>
                          <a:spcPts val="0"/>
                        </a:spcBef>
                        <a:spcAft>
                          <a:spcPts val="0"/>
                        </a:spcAft>
                        <a:buNone/>
                      </a:pPr>
                      <a:r>
                        <a:rPr lang="en-US" sz="1600">
                          <a:solidFill>
                            <a:srgbClr val="070F64"/>
                          </a:solidFill>
                        </a:rPr>
                        <a:t>F1 por categoría no es</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F1 macro. Usa respuesta</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HTTP y contexto temporal.</a:t>
                      </a:r>
                      <a:endParaRPr sz="1600">
                        <a:solidFill>
                          <a:srgbClr val="070F64"/>
                        </a:solidFill>
                      </a:endParaRPr>
                    </a:p>
                  </a:txBody>
                  <a:tcPr marT="76200" marB="76200" marR="114300" marL="114300" anchor="ctr">
                    <a:solidFill>
                      <a:srgbClr val="DFF4FC"/>
                    </a:solidFill>
                  </a:tcPr>
                </a:tc>
              </a:tr>
              <a:tr h="990600">
                <a:tc>
                  <a:txBody>
                    <a:bodyPr/>
                    <a:lstStyle/>
                    <a:p>
                      <a:pPr indent="0" lvl="0" marL="0" marR="0" rtl="0" algn="l">
                        <a:lnSpc>
                          <a:spcPct val="100000"/>
                        </a:lnSpc>
                        <a:spcBef>
                          <a:spcPts val="0"/>
                        </a:spcBef>
                        <a:spcAft>
                          <a:spcPts val="0"/>
                        </a:spcAft>
                        <a:buNone/>
                      </a:pPr>
                      <a:r>
                        <a:rPr b="1" lang="en-US" sz="1600">
                          <a:solidFill>
                            <a:srgbClr val="070F64"/>
                          </a:solidFill>
                        </a:rPr>
                        <a:t>Este trabajo: L2</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SR-BH 2020</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F1 micro: 97,604 %</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F1 macro: 93,940 %</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Coincidencia exacta: 96,920 %</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138,929 grupos/s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p50: 7,125 ms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Preparación + predicción</a:t>
                      </a:r>
                      <a:endParaRPr b="1" sz="1600">
                        <a:solidFill>
                          <a:srgbClr val="070F64"/>
                        </a:solidFill>
                      </a:endParaRPr>
                    </a:p>
                  </a:txBody>
                  <a:tcPr marT="76200" marB="76200" marR="114300" marL="114300" anchor="ctr">
                    <a:solidFill>
                      <a:srgbClr val="F6FBFD"/>
                    </a:solidFill>
                  </a:tcPr>
                </a:tc>
                <a:tc>
                  <a:txBody>
                    <a:bodyPr/>
                    <a:lstStyle/>
                    <a:p>
                      <a:pPr indent="0" lvl="0" marL="0" marR="0" rtl="0" algn="l">
                        <a:lnSpc>
                          <a:spcPct val="100000"/>
                        </a:lnSpc>
                        <a:spcBef>
                          <a:spcPts val="0"/>
                        </a:spcBef>
                        <a:spcAft>
                          <a:spcPts val="0"/>
                        </a:spcAft>
                        <a:buNone/>
                      </a:pPr>
                      <a:r>
                        <a:rPr b="1" lang="en-US" sz="1600">
                          <a:solidFill>
                            <a:srgbClr val="070F64"/>
                          </a:solidFill>
                        </a:rPr>
                        <a:t>12 XGBoost, 90 variables.</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NORMAL = ninguna CAPEC;</a:t>
                      </a:r>
                      <a:endParaRPr b="1" sz="1600">
                        <a:solidFill>
                          <a:srgbClr val="070F64"/>
                        </a:solidFill>
                      </a:endParaRPr>
                    </a:p>
                    <a:p>
                      <a:pPr indent="0" lvl="0" marL="0" marR="0" rtl="0" algn="l">
                        <a:lnSpc>
                          <a:spcPct val="100000"/>
                        </a:lnSpc>
                        <a:spcBef>
                          <a:spcPts val="0"/>
                        </a:spcBef>
                        <a:spcAft>
                          <a:spcPts val="0"/>
                        </a:spcAft>
                        <a:buNone/>
                      </a:pPr>
                      <a:r>
                        <a:rPr b="1" lang="en-US" sz="1600">
                          <a:solidFill>
                            <a:srgbClr val="070F64"/>
                          </a:solidFill>
                        </a:rPr>
                        <a:t>grupos separados entre particiones.</a:t>
                      </a:r>
                      <a:endParaRPr b="1" sz="1600">
                        <a:solidFill>
                          <a:srgbClr val="070F64"/>
                        </a:solidFill>
                      </a:endParaRPr>
                    </a:p>
                  </a:txBody>
                  <a:tcPr marT="76200" marB="76200" marR="114300" marL="114300" anchor="ctr">
                    <a:solidFill>
                      <a:srgbClr val="F6FBFD"/>
                    </a:solidFill>
                  </a:tcPr>
                </a:tc>
              </a:tr>
            </a:tbl>
          </a:graphicData>
        </a:graphic>
      </p:graphicFrame>
      <p:sp>
        <p:nvSpPr>
          <p:cNvPr id="1743" name="Google Shape;1743;p63"/>
          <p:cNvSpPr/>
          <p:nvPr/>
        </p:nvSpPr>
        <p:spPr>
          <a:xfrm>
            <a:off x="304800" y="6045200"/>
            <a:ext cx="115824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p50 = mediana. Grupos/s y peticiones/s no son equivalentes; tampoco los protocolos de los artículos.</a:t>
            </a:r>
            <a:endParaRPr b="1" sz="1700">
              <a:solidFill>
                <a:srgbClr val="070F64"/>
              </a:solidFill>
            </a:endParaRPr>
          </a:p>
        </p:txBody>
      </p:sp>
      <p:sp>
        <p:nvSpPr>
          <p:cNvPr id="1744" name="Google Shape;1744;p63"/>
          <p:cNvSpPr/>
          <p:nvPr/>
        </p:nvSpPr>
        <p:spPr>
          <a:xfrm>
            <a:off x="304800" y="6505575"/>
            <a:ext cx="110682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70F64"/>
                </a:solidFill>
              </a:rPr>
              <a:t>Fuentes, alcance y protocolo en las notas. Las cifras corresponden al modelo y corpus indicados en cada fila.</a:t>
            </a:r>
            <a:endParaRPr sz="1000">
              <a:solidFill>
                <a:srgbClr val="070F64"/>
              </a:solidFill>
            </a:endParaRPr>
          </a:p>
        </p:txBody>
      </p:sp>
      <p:sp>
        <p:nvSpPr>
          <p:cNvPr id="1745" name="Google Shape;1745;p6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46" name="Google Shape;1746;p63" title="DEFENSA_SEGURA_V2:barra-2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7" name="Google Shape;1747;p63" title="DEFENSA_SEGURA_V2:avance-22"/>
          <p:cNvSpPr/>
          <p:nvPr/>
        </p:nvSpPr>
        <p:spPr>
          <a:xfrm>
            <a:off x="0" y="0"/>
            <a:ext cx="99753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8" name="Google Shape;1748;p63" title="DEFENSA_SEGURA_V2:seccion-2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RESULTADOS</a:t>
            </a:r>
            <a:endParaRPr b="1" sz="650">
              <a:solidFill>
                <a:srgbClr val="647184"/>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3" name="Shape 1753"/>
        <p:cNvGrpSpPr/>
        <p:nvPr/>
      </p:nvGrpSpPr>
      <p:grpSpPr>
        <a:xfrm>
          <a:off x="0" y="0"/>
          <a:ext cx="0" cy="0"/>
          <a:chOff x="0" y="0"/>
          <a:chExt cx="0" cy="0"/>
        </a:xfrm>
      </p:grpSpPr>
      <p:sp>
        <p:nvSpPr>
          <p:cNvPr id="1754" name="Google Shape;1754;p64"/>
          <p:cNvSpPr/>
          <p:nvPr/>
        </p:nvSpPr>
        <p:spPr>
          <a:xfrm>
            <a:off x="342900" y="266700"/>
            <a:ext cx="115062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111F5B"/>
                </a:solidFill>
              </a:rPr>
              <a:t>Aportes del trabajo: un flujo documentado</a:t>
            </a:r>
            <a:endParaRPr b="1">
              <a:solidFill>
                <a:srgbClr val="111F5B"/>
              </a:solidFill>
            </a:endParaRPr>
          </a:p>
        </p:txBody>
      </p:sp>
      <p:sp>
        <p:nvSpPr>
          <p:cNvPr id="1755" name="Google Shape;1755;p64"/>
          <p:cNvSpPr/>
          <p:nvPr/>
        </p:nvSpPr>
        <p:spPr>
          <a:xfrm>
            <a:off x="361950" y="981075"/>
            <a:ext cx="114681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070F64"/>
                </a:solidFill>
              </a:rPr>
              <a:t>El proceso integra preparación, aprendizaje y evaluación de peticiones HTTP.</a:t>
            </a:r>
            <a:endParaRPr/>
          </a:p>
        </p:txBody>
      </p:sp>
      <p:graphicFrame>
        <p:nvGraphicFramePr>
          <p:cNvPr id="1756" name="Google Shape;1756;p64"/>
          <p:cNvGraphicFramePr/>
          <p:nvPr/>
        </p:nvGraphicFramePr>
        <p:xfrm>
          <a:off x="361950" y="1657350"/>
          <a:ext cx="3000000" cy="3000000"/>
        </p:xfrm>
        <a:graphic>
          <a:graphicData uri="http://schemas.openxmlformats.org/drawingml/2006/table">
            <a:tbl>
              <a:tblPr>
                <a:noFill/>
                <a:tableStyleId>{F1B291AF-9CB1-4793-AFE8-E70834C1BA4F}</a:tableStyleId>
              </a:tblPr>
              <a:tblGrid>
                <a:gridCol w="4057650"/>
                <a:gridCol w="7410450"/>
              </a:tblGrid>
              <a:tr h="561975">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Etapa</a:t>
                      </a:r>
                      <a:endParaRPr/>
                    </a:p>
                  </a:txBody>
                  <a:tcPr marT="45725" marB="45725" marR="91450" marL="91450" anchor="ctr">
                    <a:solidFill>
                      <a:srgbClr val="070F64"/>
                    </a:solidFill>
                  </a:tcPr>
                </a:tc>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Qué deja disponible</a:t>
                      </a:r>
                      <a:endParaRPr/>
                    </a:p>
                  </a:txBody>
                  <a:tcPr marT="45725" marB="45725" marR="91450" marL="91450" anchor="ctr">
                    <a:solidFill>
                      <a:srgbClr val="070F64"/>
                    </a:solidFill>
                  </a:tcPr>
                </a:tc>
              </a:tr>
              <a:tr h="561975">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1. Preparar las peticiones</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Esquema HTTP adaptado a cuatro conjuntos de datos.</a:t>
                      </a:r>
                      <a:endParaRPr/>
                    </a:p>
                  </a:txBody>
                  <a:tcPr marT="45725" marB="45725" marR="91450" marL="91450" anchor="ctr">
                    <a:solidFill>
                      <a:srgbClr val="DFF4FC"/>
                    </a:solidFill>
                  </a:tcPr>
                </a:tc>
              </a:tr>
              <a:tr h="561975">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2. Calcular características y etiquetas</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Representaciones para salidas binarias, multiclase y multietiqueta.</a:t>
                      </a:r>
                      <a:endParaRPr/>
                    </a:p>
                  </a:txBody>
                  <a:tcPr marT="45725" marB="45725" marR="91450" marL="91450" anchor="ctr">
                    <a:solidFill>
                      <a:srgbClr val="F6FBFD"/>
                    </a:solidFill>
                  </a:tcPr>
                </a:tc>
              </a:tr>
              <a:tr h="561975">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3. Separar y revisar los datos</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Particiones documentadas y auditoría de huellas compartidas en L2.</a:t>
                      </a:r>
                      <a:endParaRPr/>
                    </a:p>
                  </a:txBody>
                  <a:tcPr marT="45725" marB="45725" marR="91450" marL="91450" anchor="ctr">
                    <a:solidFill>
                      <a:srgbClr val="DFF4FC"/>
                    </a:solidFill>
                  </a:tcPr>
                </a:tc>
              </a:tr>
              <a:tr h="561975">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4. Entrenar y ajustar</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Modelos, hiperparámetros y umbrales registrados.</a:t>
                      </a:r>
                      <a:endParaRPr/>
                    </a:p>
                  </a:txBody>
                  <a:tcPr marT="45725" marB="45725" marR="91450" marL="91450" anchor="ctr">
                    <a:solidFill>
                      <a:srgbClr val="F6FBFD"/>
                    </a:solidFill>
                  </a:tcPr>
                </a:tc>
              </a:tr>
              <a:tr h="561975">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5. Evaluar y guardar</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875"/>
                        <a:buFont typeface="Arial"/>
                        <a:buNone/>
                      </a:pPr>
                      <a:r>
                        <a:rPr b="0" lang="en-US" sz="1875" u="none" cap="none" strike="noStrike">
                          <a:solidFill>
                            <a:srgbClr val="070F64"/>
                          </a:solidFill>
                          <a:latin typeface="Arial"/>
                          <a:ea typeface="Arial"/>
                          <a:cs typeface="Arial"/>
                          <a:sym typeface="Arial"/>
                        </a:rPr>
                        <a:t>Predicciones, métricas, importancia de características y tiempos.</a:t>
                      </a:r>
                      <a:endParaRPr/>
                    </a:p>
                  </a:txBody>
                  <a:tcPr marT="45725" marB="45725" marR="91450" marL="91450" anchor="ctr">
                    <a:solidFill>
                      <a:srgbClr val="DFF4FC"/>
                    </a:solidFill>
                  </a:tcPr>
                </a:tc>
              </a:tr>
            </a:tbl>
          </a:graphicData>
        </a:graphic>
      </p:graphicFrame>
      <p:sp>
        <p:nvSpPr>
          <p:cNvPr id="1757" name="Google Shape;1757;p64"/>
          <p:cNvSpPr/>
          <p:nvPr/>
        </p:nvSpPr>
        <p:spPr>
          <a:xfrm>
            <a:off x="361950" y="5391150"/>
            <a:ext cx="11468100" cy="7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70F64"/>
                </a:solidFill>
                <a:latin typeface="Arial"/>
                <a:ea typeface="Arial"/>
                <a:cs typeface="Arial"/>
                <a:sym typeface="Arial"/>
              </a:rPr>
              <a:t>En L2, la agrupación por huella ocurre antes de dividir los datos.</a:t>
            </a:r>
            <a:endParaRPr/>
          </a:p>
        </p:txBody>
      </p:sp>
      <p:sp>
        <p:nvSpPr>
          <p:cNvPr id="1758" name="Google Shape;1758;p6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9" name="Google Shape;1759;p64" title="DEFENSA_SEGURA_V2:barra-45"/>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0" name="Google Shape;1760;p64" title="DEFENSA_SEGURA_V2:avance-45"/>
          <p:cNvSpPr/>
          <p:nvPr/>
        </p:nvSpPr>
        <p:spPr>
          <a:xfrm>
            <a:off x="0" y="0"/>
            <a:ext cx="2438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1" name="Google Shape;1761;p64" title="DEFENSA_SEGURA_V2:seccion-45"/>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CONCLUSIONES</a:t>
            </a:r>
            <a:endParaRPr b="1" sz="650">
              <a:solidFill>
                <a:srgbClr val="647184"/>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6" name="Shape 1766"/>
        <p:cNvGrpSpPr/>
        <p:nvPr/>
      </p:nvGrpSpPr>
      <p:grpSpPr>
        <a:xfrm>
          <a:off x="0" y="0"/>
          <a:ext cx="0" cy="0"/>
          <a:chOff x="0" y="0"/>
          <a:chExt cx="0" cy="0"/>
        </a:xfrm>
      </p:grpSpPr>
      <p:sp>
        <p:nvSpPr>
          <p:cNvPr id="1767" name="Google Shape;1767;p65"/>
          <p:cNvSpPr/>
          <p:nvPr/>
        </p:nvSpPr>
        <p:spPr>
          <a:xfrm>
            <a:off x="236455" y="1690814"/>
            <a:ext cx="5801241" cy="2273853"/>
          </a:xfrm>
          <a:prstGeom prst="roundRect">
            <a:avLst>
              <a:gd fmla="val 2564" name="adj"/>
            </a:avLst>
          </a:prstGeom>
          <a:solidFill>
            <a:srgbClr val="E1F6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65"/>
          <p:cNvSpPr/>
          <p:nvPr/>
        </p:nvSpPr>
        <p:spPr>
          <a:xfrm>
            <a:off x="6154304" y="1690814"/>
            <a:ext cx="5801241" cy="2273853"/>
          </a:xfrm>
          <a:prstGeom prst="roundRect">
            <a:avLst>
              <a:gd fmla="val 2564" name="adj"/>
            </a:avLst>
          </a:prstGeom>
          <a:solidFill>
            <a:srgbClr val="E5FC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5"/>
          <p:cNvSpPr/>
          <p:nvPr/>
        </p:nvSpPr>
        <p:spPr>
          <a:xfrm>
            <a:off x="236455" y="4110427"/>
            <a:ext cx="5801241" cy="2098942"/>
          </a:xfrm>
          <a:prstGeom prst="roundRect">
            <a:avLst>
              <a:gd fmla="val 2778" name="adj"/>
            </a:avLst>
          </a:prstGeom>
          <a:solidFill>
            <a:srgbClr val="E1F5FE"/>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5"/>
          <p:cNvSpPr/>
          <p:nvPr/>
        </p:nvSpPr>
        <p:spPr>
          <a:xfrm>
            <a:off x="6154304" y="4110427"/>
            <a:ext cx="5801241" cy="2098942"/>
          </a:xfrm>
          <a:prstGeom prst="roundRect">
            <a:avLst>
              <a:gd fmla="val 2778" name="adj"/>
            </a:avLst>
          </a:prstGeom>
          <a:solidFill>
            <a:srgbClr val="E5FC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65"/>
          <p:cNvSpPr/>
          <p:nvPr/>
        </p:nvSpPr>
        <p:spPr>
          <a:xfrm>
            <a:off x="331199" y="269656"/>
            <a:ext cx="9590420" cy="92488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602" u="none" cap="none" strike="noStrike">
                <a:solidFill>
                  <a:srgbClr val="111F5B"/>
                </a:solidFill>
              </a:rPr>
              <a:t>Limitaciones de las pruebas</a:t>
            </a:r>
            <a:endParaRPr b="1">
              <a:solidFill>
                <a:srgbClr val="111F5B"/>
              </a:solidFill>
            </a:endParaRPr>
          </a:p>
        </p:txBody>
      </p:sp>
      <p:sp>
        <p:nvSpPr>
          <p:cNvPr id="1772" name="Google Shape;1772;p65"/>
          <p:cNvSpPr/>
          <p:nvPr/>
        </p:nvSpPr>
        <p:spPr>
          <a:xfrm>
            <a:off x="302047" y="1042183"/>
            <a:ext cx="4561706" cy="60133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642" u="none" cap="none" strike="noStrike">
                <a:solidFill>
                  <a:srgbClr val="030D57"/>
                </a:solidFill>
                <a:latin typeface="Arial"/>
                <a:ea typeface="Arial"/>
                <a:cs typeface="Arial"/>
                <a:sym typeface="Arial"/>
              </a:rPr>
              <a:t>Qué falta comprobar</a:t>
            </a:r>
            <a:endParaRPr/>
          </a:p>
        </p:txBody>
      </p:sp>
      <p:sp>
        <p:nvSpPr>
          <p:cNvPr id="1773" name="Google Shape;1773;p65"/>
          <p:cNvSpPr/>
          <p:nvPr/>
        </p:nvSpPr>
        <p:spPr>
          <a:xfrm>
            <a:off x="1934557" y="1977784"/>
            <a:ext cx="3876635" cy="4411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67" u="none" cap="none" strike="noStrike">
                <a:solidFill>
                  <a:srgbClr val="070878"/>
                </a:solidFill>
                <a:latin typeface="Arial Narrow"/>
                <a:ea typeface="Arial Narrow"/>
                <a:cs typeface="Arial Narrow"/>
                <a:sym typeface="Arial Narrow"/>
              </a:rPr>
              <a:t>Ajustes durante el desarrollo</a:t>
            </a:r>
            <a:endParaRPr/>
          </a:p>
        </p:txBody>
      </p:sp>
      <p:sp>
        <p:nvSpPr>
          <p:cNvPr id="1774" name="Google Shape;1774;p65"/>
          <p:cNvSpPr/>
          <p:nvPr/>
        </p:nvSpPr>
        <p:spPr>
          <a:xfrm>
            <a:off x="1963709" y="2389683"/>
            <a:ext cx="3366475" cy="35308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39" u="none" cap="none" strike="noStrike">
                <a:solidFill>
                  <a:srgbClr val="090CA2"/>
                </a:solidFill>
                <a:latin typeface="Quattrocento Sans"/>
                <a:ea typeface="Quattrocento Sans"/>
                <a:cs typeface="Quattrocento Sans"/>
                <a:sym typeface="Quattrocento Sans"/>
              </a:rPr>
              <a:t>Las filas de entrenamiento y</a:t>
            </a:r>
            <a:endParaRPr/>
          </a:p>
        </p:txBody>
      </p:sp>
      <p:sp>
        <p:nvSpPr>
          <p:cNvPr id="1775" name="Google Shape;1775;p65"/>
          <p:cNvSpPr/>
          <p:nvPr/>
        </p:nvSpPr>
        <p:spPr>
          <a:xfrm>
            <a:off x="1963709" y="2687178"/>
            <a:ext cx="3577827" cy="3810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70" u="none" cap="none" strike="noStrike">
                <a:solidFill>
                  <a:srgbClr val="0A0CA1"/>
                </a:solidFill>
                <a:latin typeface="Arial Narrow"/>
                <a:ea typeface="Arial Narrow"/>
                <a:cs typeface="Arial Narrow"/>
                <a:sym typeface="Arial Narrow"/>
              </a:rPr>
              <a:t>prueba estaban separadas. En</a:t>
            </a:r>
            <a:endParaRPr/>
          </a:p>
        </p:txBody>
      </p:sp>
      <p:sp>
        <p:nvSpPr>
          <p:cNvPr id="1776" name="Google Shape;1776;p65"/>
          <p:cNvSpPr/>
          <p:nvPr/>
        </p:nvSpPr>
        <p:spPr>
          <a:xfrm>
            <a:off x="1956421" y="2994534"/>
            <a:ext cx="3439355" cy="376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47" u="none" cap="none" strike="noStrike">
                <a:solidFill>
                  <a:srgbClr val="0C0EA3"/>
                </a:solidFill>
                <a:latin typeface="Arial Narrow"/>
                <a:ea typeface="Arial Narrow"/>
                <a:cs typeface="Arial Narrow"/>
                <a:sym typeface="Arial Narrow"/>
              </a:rPr>
              <a:t>algunas pruebas se ajustaron</a:t>
            </a:r>
            <a:endParaRPr/>
          </a:p>
        </p:txBody>
      </p:sp>
      <p:sp>
        <p:nvSpPr>
          <p:cNvPr id="1777" name="Google Shape;1777;p65"/>
          <p:cNvSpPr/>
          <p:nvPr/>
        </p:nvSpPr>
        <p:spPr>
          <a:xfrm>
            <a:off x="1956421" y="3277480"/>
            <a:ext cx="3322747" cy="3763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48" u="none" cap="none" strike="noStrike">
                <a:solidFill>
                  <a:srgbClr val="0E12A3"/>
                </a:solidFill>
                <a:latin typeface="Arial Narrow"/>
                <a:ea typeface="Arial Narrow"/>
                <a:cs typeface="Arial Narrow"/>
                <a:sym typeface="Arial Narrow"/>
              </a:rPr>
              <a:t>decisiones tras consultar los</a:t>
            </a:r>
            <a:endParaRPr/>
          </a:p>
        </p:txBody>
      </p:sp>
      <p:sp>
        <p:nvSpPr>
          <p:cNvPr id="1778" name="Google Shape;1778;p65"/>
          <p:cNvSpPr/>
          <p:nvPr/>
        </p:nvSpPr>
        <p:spPr>
          <a:xfrm>
            <a:off x="1963709" y="3606576"/>
            <a:ext cx="2557508" cy="3442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85" u="none" cap="none" strike="noStrike">
                <a:solidFill>
                  <a:srgbClr val="0A0CA2"/>
                </a:solidFill>
                <a:latin typeface="Quattrocento Sans"/>
                <a:ea typeface="Quattrocento Sans"/>
                <a:cs typeface="Quattrocento Sans"/>
                <a:sym typeface="Quattrocento Sans"/>
              </a:rPr>
              <a:t>resultados de prueba.</a:t>
            </a:r>
            <a:endParaRPr/>
          </a:p>
        </p:txBody>
      </p:sp>
      <p:sp>
        <p:nvSpPr>
          <p:cNvPr id="1779" name="Google Shape;1779;p65"/>
          <p:cNvSpPr/>
          <p:nvPr/>
        </p:nvSpPr>
        <p:spPr>
          <a:xfrm>
            <a:off x="1949133" y="4405765"/>
            <a:ext cx="2812588" cy="4518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646" u="none" cap="none" strike="noStrike">
                <a:solidFill>
                  <a:srgbClr val="070976"/>
                </a:solidFill>
                <a:latin typeface="Arial Narrow"/>
                <a:ea typeface="Arial Narrow"/>
                <a:cs typeface="Arial Narrow"/>
                <a:sym typeface="Arial Narrow"/>
              </a:rPr>
              <a:t>Peticiones repetidas</a:t>
            </a:r>
            <a:endParaRPr/>
          </a:p>
        </p:txBody>
      </p:sp>
      <p:sp>
        <p:nvSpPr>
          <p:cNvPr id="1780" name="Google Shape;1780;p65"/>
          <p:cNvSpPr/>
          <p:nvPr/>
        </p:nvSpPr>
        <p:spPr>
          <a:xfrm>
            <a:off x="1963709" y="4859814"/>
            <a:ext cx="2994788" cy="3736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263" u="none" cap="none" strike="noStrike">
                <a:solidFill>
                  <a:srgbClr val="090BA2"/>
                </a:solidFill>
                <a:latin typeface="Calibri"/>
                <a:ea typeface="Calibri"/>
                <a:cs typeface="Calibri"/>
                <a:sym typeface="Calibri"/>
              </a:rPr>
              <a:t>En Harvard, distintas filas</a:t>
            </a:r>
            <a:endParaRPr/>
          </a:p>
        </p:txBody>
      </p:sp>
      <p:sp>
        <p:nvSpPr>
          <p:cNvPr id="1781" name="Google Shape;1781;p65"/>
          <p:cNvSpPr/>
          <p:nvPr/>
        </p:nvSpPr>
        <p:spPr>
          <a:xfrm>
            <a:off x="1949133" y="5181738"/>
            <a:ext cx="3723587" cy="3506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24" u="none" cap="none" strike="noStrike">
                <a:solidFill>
                  <a:srgbClr val="0B0CA2"/>
                </a:solidFill>
                <a:latin typeface="Quattrocento Sans"/>
                <a:ea typeface="Quattrocento Sans"/>
                <a:cs typeface="Quattrocento Sans"/>
                <a:sym typeface="Quattrocento Sans"/>
              </a:rPr>
              <a:t>contenían peticiones repetidas.</a:t>
            </a:r>
            <a:endParaRPr/>
          </a:p>
        </p:txBody>
      </p:sp>
      <p:sp>
        <p:nvSpPr>
          <p:cNvPr id="1782" name="Google Shape;1782;p65"/>
          <p:cNvSpPr/>
          <p:nvPr/>
        </p:nvSpPr>
        <p:spPr>
          <a:xfrm>
            <a:off x="1963709" y="5487027"/>
            <a:ext cx="3592403" cy="376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83" u="none" cap="none" strike="noStrike">
                <a:solidFill>
                  <a:srgbClr val="0D0FA2"/>
                </a:solidFill>
                <a:latin typeface="Arial Narrow"/>
                <a:ea typeface="Arial Narrow"/>
                <a:cs typeface="Arial Narrow"/>
                <a:sym typeface="Arial Narrow"/>
              </a:rPr>
              <a:t>L2 las agrupó por huella antes</a:t>
            </a:r>
            <a:endParaRPr/>
          </a:p>
        </p:txBody>
      </p:sp>
      <p:sp>
        <p:nvSpPr>
          <p:cNvPr id="1783" name="Google Shape;1783;p65"/>
          <p:cNvSpPr/>
          <p:nvPr/>
        </p:nvSpPr>
        <p:spPr>
          <a:xfrm>
            <a:off x="1956421" y="5797995"/>
            <a:ext cx="2491916" cy="3516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30" u="none" cap="none" strike="noStrike">
                <a:solidFill>
                  <a:srgbClr val="0C0FA1"/>
                </a:solidFill>
                <a:latin typeface="Quattrocento Sans"/>
                <a:ea typeface="Quattrocento Sans"/>
                <a:cs typeface="Quattrocento Sans"/>
                <a:sym typeface="Quattrocento Sans"/>
              </a:rPr>
              <a:t>de separar los datos.</a:t>
            </a:r>
            <a:endParaRPr/>
          </a:p>
        </p:txBody>
      </p:sp>
      <p:sp>
        <p:nvSpPr>
          <p:cNvPr id="1784" name="Google Shape;1784;p65"/>
          <p:cNvSpPr/>
          <p:nvPr/>
        </p:nvSpPr>
        <p:spPr>
          <a:xfrm>
            <a:off x="7713934" y="1985967"/>
            <a:ext cx="2914620" cy="4666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761" u="none" cap="none" strike="noStrike">
                <a:solidFill>
                  <a:srgbClr val="06087A"/>
                </a:solidFill>
                <a:latin typeface="Arial Narrow"/>
                <a:ea typeface="Arial Narrow"/>
                <a:cs typeface="Arial Narrow"/>
                <a:sym typeface="Arial Narrow"/>
              </a:rPr>
              <a:t>Etiquetas con dudas</a:t>
            </a:r>
            <a:endParaRPr/>
          </a:p>
        </p:txBody>
      </p:sp>
      <p:sp>
        <p:nvSpPr>
          <p:cNvPr id="1785" name="Google Shape;1785;p65"/>
          <p:cNvSpPr/>
          <p:nvPr/>
        </p:nvSpPr>
        <p:spPr>
          <a:xfrm>
            <a:off x="7713934" y="2428852"/>
            <a:ext cx="3825619" cy="38684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66" u="none" cap="none" strike="noStrike">
                <a:solidFill>
                  <a:srgbClr val="0B0BA3"/>
                </a:solidFill>
                <a:latin typeface="Arial Narrow"/>
                <a:ea typeface="Arial Narrow"/>
                <a:cs typeface="Arial Narrow"/>
                <a:sym typeface="Arial Narrow"/>
              </a:rPr>
              <a:t>Algunas peticiones equivalentes</a:t>
            </a:r>
            <a:endParaRPr/>
          </a:p>
        </p:txBody>
      </p:sp>
      <p:sp>
        <p:nvSpPr>
          <p:cNvPr id="1786" name="Google Shape;1786;p65"/>
          <p:cNvSpPr/>
          <p:nvPr/>
        </p:nvSpPr>
        <p:spPr>
          <a:xfrm>
            <a:off x="7713934" y="2762020"/>
            <a:ext cx="3060379" cy="35097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26" u="none" cap="none" strike="noStrike">
                <a:solidFill>
                  <a:srgbClr val="0D0EA5"/>
                </a:solidFill>
                <a:latin typeface="Quattrocento Sans"/>
                <a:ea typeface="Quattrocento Sans"/>
                <a:cs typeface="Quattrocento Sans"/>
                <a:sym typeface="Quattrocento Sans"/>
              </a:rPr>
              <a:t>tenían etiquetas distintas.</a:t>
            </a:r>
            <a:endParaRPr/>
          </a:p>
        </p:txBody>
      </p:sp>
      <p:sp>
        <p:nvSpPr>
          <p:cNvPr id="1787" name="Google Shape;1787;p65"/>
          <p:cNvSpPr/>
          <p:nvPr/>
        </p:nvSpPr>
        <p:spPr>
          <a:xfrm>
            <a:off x="7721222" y="3067414"/>
            <a:ext cx="3074955" cy="37693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64" u="none" cap="none" strike="noStrike">
                <a:solidFill>
                  <a:srgbClr val="0B0BA5"/>
                </a:solidFill>
                <a:latin typeface="Arial Narrow"/>
                <a:ea typeface="Arial Narrow"/>
                <a:cs typeface="Arial Narrow"/>
                <a:sym typeface="Arial Narrow"/>
              </a:rPr>
              <a:t>Ciertos tipos de ataque se</a:t>
            </a:r>
            <a:endParaRPr/>
          </a:p>
        </p:txBody>
      </p:sp>
      <p:sp>
        <p:nvSpPr>
          <p:cNvPr id="1788" name="Google Shape;1788;p65"/>
          <p:cNvSpPr/>
          <p:nvPr/>
        </p:nvSpPr>
        <p:spPr>
          <a:xfrm>
            <a:off x="7721222" y="3372249"/>
            <a:ext cx="1945317" cy="38103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24" u="none" cap="none" strike="noStrike">
                <a:solidFill>
                  <a:srgbClr val="0E0EA4"/>
                </a:solidFill>
                <a:latin typeface="Arial Narrow"/>
                <a:ea typeface="Arial Narrow"/>
                <a:cs typeface="Arial Narrow"/>
                <a:sym typeface="Arial Narrow"/>
              </a:rPr>
              <a:t>detectaron peor.</a:t>
            </a:r>
            <a:endParaRPr/>
          </a:p>
        </p:txBody>
      </p:sp>
      <p:sp>
        <p:nvSpPr>
          <p:cNvPr id="1789" name="Google Shape;1789;p65"/>
          <p:cNvSpPr/>
          <p:nvPr/>
        </p:nvSpPr>
        <p:spPr>
          <a:xfrm>
            <a:off x="7743086" y="4396448"/>
            <a:ext cx="2827164" cy="444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574" u="none" cap="none" strike="noStrike">
                <a:solidFill>
                  <a:srgbClr val="070C5B"/>
                </a:solidFill>
                <a:latin typeface="Arial Narrow"/>
                <a:ea typeface="Arial Narrow"/>
                <a:cs typeface="Arial Narrow"/>
                <a:sym typeface="Arial Narrow"/>
              </a:rPr>
              <a:t>Carga de trabajo real</a:t>
            </a:r>
            <a:endParaRPr/>
          </a:p>
        </p:txBody>
      </p:sp>
      <p:sp>
        <p:nvSpPr>
          <p:cNvPr id="1790" name="Google Shape;1790;p65"/>
          <p:cNvSpPr/>
          <p:nvPr/>
        </p:nvSpPr>
        <p:spPr>
          <a:xfrm>
            <a:off x="7757662" y="4851964"/>
            <a:ext cx="3388339" cy="3707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91" u="none" cap="none" strike="noStrike">
                <a:solidFill>
                  <a:srgbClr val="0D0E96"/>
                </a:solidFill>
                <a:latin typeface="Arial Narrow"/>
                <a:ea typeface="Arial Narrow"/>
                <a:cs typeface="Arial Narrow"/>
                <a:sym typeface="Arial Narrow"/>
              </a:rPr>
              <a:t>No se midió qué pasa cuando</a:t>
            </a:r>
            <a:endParaRPr/>
          </a:p>
        </p:txBody>
      </p:sp>
      <p:sp>
        <p:nvSpPr>
          <p:cNvPr id="1791" name="Google Shape;1791;p65"/>
          <p:cNvSpPr/>
          <p:nvPr/>
        </p:nvSpPr>
        <p:spPr>
          <a:xfrm>
            <a:off x="7757662" y="5159666"/>
            <a:ext cx="3184275" cy="3749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08" u="none" cap="none" strike="noStrike">
                <a:solidFill>
                  <a:srgbClr val="0D0D9C"/>
                </a:solidFill>
                <a:latin typeface="Arial Narrow"/>
                <a:ea typeface="Arial Narrow"/>
                <a:cs typeface="Arial Narrow"/>
                <a:sym typeface="Arial Narrow"/>
              </a:rPr>
              <a:t>llegan muchas peticiones al</a:t>
            </a:r>
            <a:endParaRPr/>
          </a:p>
        </p:txBody>
      </p:sp>
      <p:sp>
        <p:nvSpPr>
          <p:cNvPr id="1792" name="Google Shape;1792;p65"/>
          <p:cNvSpPr/>
          <p:nvPr/>
        </p:nvSpPr>
        <p:spPr>
          <a:xfrm>
            <a:off x="7757662" y="5471444"/>
            <a:ext cx="2827164" cy="3707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72" u="none" cap="none" strike="noStrike">
                <a:solidFill>
                  <a:srgbClr val="10119C"/>
                </a:solidFill>
                <a:latin typeface="Arial Narrow"/>
                <a:ea typeface="Arial Narrow"/>
                <a:cs typeface="Arial Narrow"/>
                <a:sym typeface="Arial Narrow"/>
              </a:rPr>
              <a:t>mismo tiempo o durante</a:t>
            </a:r>
            <a:endParaRPr/>
          </a:p>
        </p:txBody>
      </p:sp>
      <p:sp>
        <p:nvSpPr>
          <p:cNvPr id="1793" name="Google Shape;1793;p65"/>
          <p:cNvSpPr/>
          <p:nvPr/>
        </p:nvSpPr>
        <p:spPr>
          <a:xfrm>
            <a:off x="7757662" y="5774235"/>
            <a:ext cx="2542932" cy="3672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51" u="none" cap="none" strike="noStrike">
                <a:solidFill>
                  <a:srgbClr val="0C0C9C"/>
                </a:solidFill>
                <a:latin typeface="Arial Narrow"/>
                <a:ea typeface="Arial Narrow"/>
                <a:cs typeface="Arial Narrow"/>
                <a:sym typeface="Arial Narrow"/>
              </a:rPr>
              <a:t>períodos prolongados.</a:t>
            </a:r>
            <a:endParaRPr/>
          </a:p>
        </p:txBody>
      </p:sp>
      <p:sp>
        <p:nvSpPr>
          <p:cNvPr id="1794" name="Google Shape;1794;p6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95" name="Google Shape;1795;p65" title="DEFENSA_SEGURA_V2:barra-4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96" name="Google Shape;1796;p65" title="DEFENSA_SEGURA_V2:avance-47"/>
          <p:cNvSpPr/>
          <p:nvPr/>
        </p:nvSpPr>
        <p:spPr>
          <a:xfrm>
            <a:off x="0" y="0"/>
            <a:ext cx="731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97" name="Google Shape;1797;p65" title="DEFENSA_SEGURA_V2:seccion-4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CONCLUSIONES</a:t>
            </a:r>
            <a:endParaRPr b="1" sz="650">
              <a:solidFill>
                <a:srgbClr val="647184"/>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2" name="Shape 1802"/>
        <p:cNvGrpSpPr/>
        <p:nvPr/>
      </p:nvGrpSpPr>
      <p:grpSpPr>
        <a:xfrm>
          <a:off x="0" y="0"/>
          <a:ext cx="0" cy="0"/>
          <a:chOff x="0" y="0"/>
          <a:chExt cx="0" cy="0"/>
        </a:xfrm>
      </p:grpSpPr>
      <p:sp>
        <p:nvSpPr>
          <p:cNvPr id="1803" name="Google Shape;1803;p66"/>
          <p:cNvSpPr/>
          <p:nvPr/>
        </p:nvSpPr>
        <p:spPr>
          <a:xfrm>
            <a:off x="342900" y="266700"/>
            <a:ext cx="115062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600">
                <a:solidFill>
                  <a:srgbClr val="070F64"/>
                </a:solidFill>
              </a:rPr>
              <a:t>Qué permiten concluir las pruebas</a:t>
            </a:r>
            <a:endParaRPr sz="3600">
              <a:solidFill>
                <a:srgbClr val="070F64"/>
              </a:solidFill>
            </a:endParaRPr>
          </a:p>
        </p:txBody>
      </p:sp>
      <p:graphicFrame>
        <p:nvGraphicFramePr>
          <p:cNvPr id="1804" name="Google Shape;1804;p66"/>
          <p:cNvGraphicFramePr/>
          <p:nvPr/>
        </p:nvGraphicFramePr>
        <p:xfrm>
          <a:off x="361950" y="1219200"/>
          <a:ext cx="3000000" cy="3000000"/>
        </p:xfrm>
        <a:graphic>
          <a:graphicData uri="http://schemas.openxmlformats.org/drawingml/2006/table">
            <a:tbl>
              <a:tblPr>
                <a:noFill/>
                <a:tableStyleId>{F1B291AF-9CB1-4793-AFE8-E70834C1BA4F}</a:tableStyleId>
              </a:tblPr>
              <a:tblGrid>
                <a:gridCol w="2371725"/>
                <a:gridCol w="9096375"/>
              </a:tblGrid>
              <a:tr h="457200">
                <a:tc>
                  <a:txBody>
                    <a:bodyPr/>
                    <a:lstStyle/>
                    <a:p>
                      <a:pPr indent="0" lvl="0" marL="0" marR="0" rtl="0" algn="l">
                        <a:spcBef>
                          <a:spcPts val="0"/>
                        </a:spcBef>
                        <a:spcAft>
                          <a:spcPts val="0"/>
                        </a:spcAft>
                        <a:buClr>
                          <a:srgbClr val="FFFFFF"/>
                        </a:buClr>
                        <a:buSzPts val="1725"/>
                        <a:buFont typeface="Arial"/>
                        <a:buNone/>
                      </a:pPr>
                      <a:r>
                        <a:rPr b="1" lang="en-US" sz="1800">
                          <a:solidFill>
                            <a:srgbClr val="FFFFFF"/>
                          </a:solidFill>
                        </a:rPr>
                        <a:t>Aspecto</a:t>
                      </a:r>
                      <a:endParaRPr b="1" sz="1800">
                        <a:solidFill>
                          <a:srgbClr val="FFFFFF"/>
                        </a:solidFill>
                      </a:endParaRPr>
                    </a:p>
                  </a:txBody>
                  <a:tcPr marT="45725" marB="45725" marR="91450" marL="91450" anchor="ctr">
                    <a:solidFill>
                      <a:srgbClr val="070F64"/>
                    </a:solidFill>
                  </a:tcPr>
                </a:tc>
                <a:tc>
                  <a:txBody>
                    <a:bodyPr/>
                    <a:lstStyle/>
                    <a:p>
                      <a:pPr indent="0" lvl="0" marL="0" marR="0" rtl="0" algn="l">
                        <a:spcBef>
                          <a:spcPts val="0"/>
                        </a:spcBef>
                        <a:spcAft>
                          <a:spcPts val="0"/>
                        </a:spcAft>
                        <a:buClr>
                          <a:srgbClr val="FFFFFF"/>
                        </a:buClr>
                        <a:buSzPts val="1725"/>
                        <a:buFont typeface="Arial"/>
                        <a:buNone/>
                      </a:pPr>
                      <a:r>
                        <a:rPr b="1" lang="en-US" sz="1800">
                          <a:solidFill>
                            <a:srgbClr val="FFFFFF"/>
                          </a:solidFill>
                        </a:rPr>
                        <a:t>Qué respaldan las pruebas</a:t>
                      </a:r>
                      <a:endParaRPr b="1" sz="1800">
                        <a:solidFill>
                          <a:srgbClr val="FFFFFF"/>
                        </a:solidFill>
                      </a:endParaRPr>
                    </a:p>
                  </a:txBody>
                  <a:tcPr marT="45725" marB="45725" marR="91450" marL="91450" anchor="ctr">
                    <a:solidFill>
                      <a:srgbClr val="070F64"/>
                    </a:solidFill>
                  </a:tcPr>
                </a:tc>
              </a:tr>
              <a:tr h="914400">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Detección</a:t>
                      </a:r>
                      <a:endParaRPr sz="1850">
                        <a:solidFill>
                          <a:srgbClr val="070F64"/>
                        </a:solidFill>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En CSIC, Random Forest detectó más ataques y produjo menos falsas alarmas que el OCSVM calibrado. Cambiaron el algoritmo y los ejemplos usados para aprender.</a:t>
                      </a:r>
                      <a:endParaRPr sz="1850">
                        <a:solidFill>
                          <a:srgbClr val="070F64"/>
                        </a:solidFill>
                      </a:endParaRPr>
                    </a:p>
                  </a:txBody>
                  <a:tcPr marT="45725" marB="45725" marR="91450" marL="91450" anchor="ctr">
                    <a:solidFill>
                      <a:srgbClr val="DFF4FC"/>
                    </a:solidFill>
                  </a:tcPr>
                </a:tc>
              </a:tr>
              <a:tr h="914400">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Características</a:t>
                      </a:r>
                      <a:endParaRPr sz="1850">
                        <a:solidFill>
                          <a:srgbClr val="070F64"/>
                        </a:solidFill>
                      </a:endParaRPr>
                    </a:p>
                    <a:p>
                      <a:pPr indent="0" lvl="0" marL="0" marR="0" rtl="0" algn="l">
                        <a:spcBef>
                          <a:spcPts val="0"/>
                        </a:spcBef>
                        <a:spcAft>
                          <a:spcPts val="0"/>
                        </a:spcAft>
                        <a:buClr>
                          <a:srgbClr val="070F64"/>
                        </a:buClr>
                        <a:buSzPts val="1950"/>
                        <a:buFont typeface="Arial"/>
                        <a:buNone/>
                      </a:pPr>
                      <a:r>
                        <a:rPr lang="en-US" sz="1850">
                          <a:solidFill>
                            <a:srgbClr val="070F64"/>
                          </a:solidFill>
                        </a:rPr>
                        <a:t>y clases</a:t>
                      </a:r>
                      <a:endParaRPr sz="1850">
                        <a:solidFill>
                          <a:srgbClr val="070F64"/>
                        </a:solidFill>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Más características no siempre mejoraron el resultado: el efecto dependió del enfoque y del corpus. Agrupar clases elevó la métrica, pero redujo el detalle.</a:t>
                      </a:r>
                      <a:endParaRPr sz="1850">
                        <a:solidFill>
                          <a:srgbClr val="070F64"/>
                        </a:solidFill>
                      </a:endParaRPr>
                    </a:p>
                  </a:txBody>
                  <a:tcPr marT="45725" marB="45725" marR="91450" marL="91450" anchor="ctr">
                    <a:solidFill>
                      <a:srgbClr val="F6FBFD"/>
                    </a:solidFill>
                  </a:tcPr>
                </a:tc>
              </a:tr>
              <a:tr h="914400">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Evaluación</a:t>
                      </a:r>
                      <a:endParaRPr sz="1850">
                        <a:solidFill>
                          <a:srgbClr val="070F64"/>
                        </a:solidFill>
                      </a:endParaRPr>
                    </a:p>
                    <a:p>
                      <a:pPr indent="0" lvl="0" marL="0" marR="0" rtl="0" algn="l">
                        <a:spcBef>
                          <a:spcPts val="0"/>
                        </a:spcBef>
                        <a:spcAft>
                          <a:spcPts val="0"/>
                        </a:spcAft>
                        <a:buClr>
                          <a:srgbClr val="070F64"/>
                        </a:buClr>
                        <a:buSzPts val="1950"/>
                        <a:buFont typeface="Arial"/>
                        <a:buNone/>
                      </a:pPr>
                      <a:r>
                        <a:rPr lang="en-US" sz="1850">
                          <a:solidFill>
                            <a:srgbClr val="070F64"/>
                          </a:solidFill>
                        </a:rPr>
                        <a:t>multietiqueta</a:t>
                      </a:r>
                      <a:endParaRPr sz="1850">
                        <a:solidFill>
                          <a:srgbClr val="070F64"/>
                        </a:solidFill>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L2 evaluó varias CAPEC sin compartir huellas entre particiones. El resultado corresponde a los cambios aplicados juntos; no permite aislar el aporte de cada uno.</a:t>
                      </a:r>
                      <a:endParaRPr sz="1850">
                        <a:solidFill>
                          <a:srgbClr val="070F64"/>
                        </a:solidFill>
                      </a:endParaRPr>
                    </a:p>
                  </a:txBody>
                  <a:tcPr marT="45725" marB="45725" marR="91450" marL="91450" anchor="ctr">
                    <a:solidFill>
                      <a:srgbClr val="DFF4FC"/>
                    </a:solidFill>
                  </a:tcPr>
                </a:tc>
              </a:tr>
              <a:tr h="914400">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Costo de</a:t>
                      </a:r>
                      <a:endParaRPr sz="1850">
                        <a:solidFill>
                          <a:srgbClr val="070F64"/>
                        </a:solidFill>
                      </a:endParaRPr>
                    </a:p>
                    <a:p>
                      <a:pPr indent="0" lvl="0" marL="0" marR="0" rtl="0" algn="l">
                        <a:spcBef>
                          <a:spcPts val="0"/>
                        </a:spcBef>
                        <a:spcAft>
                          <a:spcPts val="0"/>
                        </a:spcAft>
                        <a:buClr>
                          <a:srgbClr val="070F64"/>
                        </a:buClr>
                        <a:buSzPts val="1950"/>
                        <a:buFont typeface="Arial"/>
                        <a:buNone/>
                      </a:pPr>
                      <a:r>
                        <a:rPr lang="en-US" sz="1850">
                          <a:solidFill>
                            <a:srgbClr val="070F64"/>
                          </a:solidFill>
                        </a:rPr>
                        <a:t>ejecución</a:t>
                      </a:r>
                      <a:endParaRPr sz="1850">
                        <a:solidFill>
                          <a:srgbClr val="070F64"/>
                        </a:solidFill>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950"/>
                        <a:buFont typeface="Arial"/>
                        <a:buNone/>
                      </a:pPr>
                      <a:r>
                        <a:rPr lang="en-US" sz="1850">
                          <a:solidFill>
                            <a:srgbClr val="070F64"/>
                          </a:solidFill>
                        </a:rPr>
                        <a:t>Las mediciones describen el flujo local y dependen de la preparación y del modo de procesamiento. Falta probarlo con tráfico concurrente y un WAF integrado.</a:t>
                      </a:r>
                      <a:endParaRPr sz="1850">
                        <a:solidFill>
                          <a:srgbClr val="070F64"/>
                        </a:solidFill>
                      </a:endParaRPr>
                    </a:p>
                  </a:txBody>
                  <a:tcPr marT="45725" marB="45725" marR="91450" marL="91450" anchor="ctr">
                    <a:solidFill>
                      <a:srgbClr val="F6FBFD"/>
                    </a:solidFill>
                  </a:tcPr>
                </a:tc>
              </a:tr>
            </a:tbl>
          </a:graphicData>
        </a:graphic>
      </p:graphicFrame>
      <p:sp>
        <p:nvSpPr>
          <p:cNvPr id="1805" name="Google Shape;1805;p66"/>
          <p:cNvSpPr/>
          <p:nvPr/>
        </p:nvSpPr>
        <p:spPr>
          <a:xfrm>
            <a:off x="361950" y="5651500"/>
            <a:ext cx="111759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00">
                <a:solidFill>
                  <a:srgbClr val="070F64"/>
                </a:solidFill>
              </a:rPr>
              <a:t>La elección del modelo depende de la salida requerida, la calidad de detección y el costo medido.</a:t>
            </a:r>
            <a:endParaRPr b="1" sz="1900">
              <a:solidFill>
                <a:srgbClr val="070F64"/>
              </a:solidFill>
            </a:endParaRPr>
          </a:p>
        </p:txBody>
      </p:sp>
      <p:sp>
        <p:nvSpPr>
          <p:cNvPr id="1806" name="Google Shape;1806;p66"/>
          <p:cNvSpPr/>
          <p:nvPr/>
        </p:nvSpPr>
        <p:spPr>
          <a:xfrm>
            <a:off x="361950" y="6311900"/>
            <a:ext cx="10731600" cy="292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00">
                <a:solidFill>
                  <a:srgbClr val="070F64"/>
                </a:solidFill>
              </a:rPr>
              <a:t>Estas pruebas no establecen un algoritmo superior para todos los escenarios.</a:t>
            </a:r>
            <a:endParaRPr sz="1500">
              <a:solidFill>
                <a:srgbClr val="070F64"/>
              </a:solidFill>
            </a:endParaRPr>
          </a:p>
        </p:txBody>
      </p:sp>
      <p:sp>
        <p:nvSpPr>
          <p:cNvPr id="1807" name="Google Shape;1807;p66"/>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08" name="Google Shape;1808;p66" title="DEFENSA_SEGURA_V2:barra-4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9" name="Google Shape;1809;p66" title="DEFENSA_SEGURA_V2:avance-48"/>
          <p:cNvSpPr/>
          <p:nvPr/>
        </p:nvSpPr>
        <p:spPr>
          <a:xfrm>
            <a:off x="0" y="0"/>
            <a:ext cx="9753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0" name="Google Shape;1810;p66" title="DEFENSA_SEGURA_V2:seccion-4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CONCLUSIONES</a:t>
            </a:r>
            <a:endParaRPr b="1" sz="650">
              <a:solidFill>
                <a:srgbClr val="647184"/>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5" name="Shape 1815"/>
        <p:cNvGrpSpPr/>
        <p:nvPr/>
      </p:nvGrpSpPr>
      <p:grpSpPr>
        <a:xfrm>
          <a:off x="0" y="0"/>
          <a:ext cx="0" cy="0"/>
          <a:chOff x="0" y="0"/>
          <a:chExt cx="0" cy="0"/>
        </a:xfrm>
      </p:grpSpPr>
      <p:sp>
        <p:nvSpPr>
          <p:cNvPr id="1816" name="Google Shape;1816;p67"/>
          <p:cNvSpPr/>
          <p:nvPr/>
        </p:nvSpPr>
        <p:spPr>
          <a:xfrm>
            <a:off x="6125152" y="3702300"/>
            <a:ext cx="5859600" cy="1399200"/>
          </a:xfrm>
          <a:prstGeom prst="roundRect">
            <a:avLst>
              <a:gd fmla="val 4167" name="adj"/>
            </a:avLst>
          </a:prstGeom>
          <a:solidFill>
            <a:srgbClr val="E8FAFA"/>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67"/>
          <p:cNvSpPr/>
          <p:nvPr/>
        </p:nvSpPr>
        <p:spPr>
          <a:xfrm>
            <a:off x="265607" y="3702300"/>
            <a:ext cx="5801241" cy="1399294"/>
          </a:xfrm>
          <a:prstGeom prst="roundRect">
            <a:avLst>
              <a:gd fmla="val 4167" name="adj"/>
            </a:avLst>
          </a:prstGeom>
          <a:solidFill>
            <a:srgbClr val="E0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67"/>
          <p:cNvSpPr/>
          <p:nvPr/>
        </p:nvSpPr>
        <p:spPr>
          <a:xfrm>
            <a:off x="265607" y="1953182"/>
            <a:ext cx="3906363" cy="1661662"/>
          </a:xfrm>
          <a:prstGeom prst="roundRect">
            <a:avLst>
              <a:gd fmla="val 3509" name="adj"/>
            </a:avLst>
          </a:prstGeom>
          <a:solidFill>
            <a:srgbClr val="E0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67"/>
          <p:cNvSpPr/>
          <p:nvPr/>
        </p:nvSpPr>
        <p:spPr>
          <a:xfrm>
            <a:off x="8078334" y="1953182"/>
            <a:ext cx="3906363" cy="1661662"/>
          </a:xfrm>
          <a:prstGeom prst="roundRect">
            <a:avLst>
              <a:gd fmla="val 3509" name="adj"/>
            </a:avLst>
          </a:prstGeom>
          <a:solidFill>
            <a:srgbClr val="E8FAFA"/>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67"/>
          <p:cNvSpPr/>
          <p:nvPr/>
        </p:nvSpPr>
        <p:spPr>
          <a:xfrm>
            <a:off x="4259426" y="1924030"/>
            <a:ext cx="3731452" cy="1661662"/>
          </a:xfrm>
          <a:prstGeom prst="roundRect">
            <a:avLst>
              <a:gd fmla="val 3509" name="adj"/>
            </a:avLst>
          </a:prstGeom>
          <a:solidFill>
            <a:srgbClr val="E0F1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67"/>
          <p:cNvSpPr/>
          <p:nvPr/>
        </p:nvSpPr>
        <p:spPr>
          <a:xfrm>
            <a:off x="1154742" y="2106230"/>
            <a:ext cx="524735" cy="524735"/>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314" u="none" cap="none" strike="noStrike">
                <a:solidFill>
                  <a:srgbClr val="FFFFFF"/>
                </a:solidFill>
                <a:latin typeface="Arial"/>
                <a:ea typeface="Arial"/>
                <a:cs typeface="Arial"/>
                <a:sym typeface="Arial"/>
              </a:rPr>
              <a:t>1</a:t>
            </a:r>
            <a:endParaRPr/>
          </a:p>
        </p:txBody>
      </p:sp>
      <p:sp>
        <p:nvSpPr>
          <p:cNvPr id="1822" name="Google Shape;1822;p67"/>
          <p:cNvSpPr/>
          <p:nvPr/>
        </p:nvSpPr>
        <p:spPr>
          <a:xfrm>
            <a:off x="5214153" y="2106230"/>
            <a:ext cx="524735" cy="524735"/>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314" u="none" cap="none" strike="noStrike">
                <a:solidFill>
                  <a:srgbClr val="FFFFFF"/>
                </a:solidFill>
                <a:latin typeface="Arial"/>
                <a:ea typeface="Arial"/>
                <a:cs typeface="Arial"/>
                <a:sym typeface="Arial"/>
              </a:rPr>
              <a:t>2</a:t>
            </a:r>
            <a:endParaRPr/>
          </a:p>
        </p:txBody>
      </p:sp>
      <p:sp>
        <p:nvSpPr>
          <p:cNvPr id="1823" name="Google Shape;1823;p67"/>
          <p:cNvSpPr/>
          <p:nvPr/>
        </p:nvSpPr>
        <p:spPr>
          <a:xfrm>
            <a:off x="9054925" y="2106230"/>
            <a:ext cx="524735" cy="524735"/>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314" u="none" cap="none" strike="noStrike">
                <a:solidFill>
                  <a:srgbClr val="FFFFFF"/>
                </a:solidFill>
                <a:latin typeface="Arial"/>
                <a:ea typeface="Arial"/>
                <a:cs typeface="Arial"/>
                <a:sym typeface="Arial"/>
              </a:rPr>
              <a:t>3</a:t>
            </a:r>
            <a:endParaRPr/>
          </a:p>
        </p:txBody>
      </p:sp>
      <p:sp>
        <p:nvSpPr>
          <p:cNvPr id="1824" name="Google Shape;1824;p67"/>
          <p:cNvSpPr/>
          <p:nvPr/>
        </p:nvSpPr>
        <p:spPr>
          <a:xfrm>
            <a:off x="1453549" y="3891787"/>
            <a:ext cx="524735" cy="524735"/>
          </a:xfrm>
          <a:prstGeom prst="ellipse">
            <a:avLst/>
          </a:prstGeom>
          <a:solidFill>
            <a:srgbClr val="008F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314" u="none" cap="none" strike="noStrike">
                <a:solidFill>
                  <a:srgbClr val="FFFFFF"/>
                </a:solidFill>
                <a:latin typeface="Arial"/>
                <a:ea typeface="Arial"/>
                <a:cs typeface="Arial"/>
                <a:sym typeface="Arial"/>
              </a:rPr>
              <a:t>4</a:t>
            </a:r>
            <a:endParaRPr/>
          </a:p>
        </p:txBody>
      </p:sp>
      <p:sp>
        <p:nvSpPr>
          <p:cNvPr id="1825" name="Google Shape;1825;p67"/>
          <p:cNvSpPr/>
          <p:nvPr/>
        </p:nvSpPr>
        <p:spPr>
          <a:xfrm>
            <a:off x="7553598" y="3891787"/>
            <a:ext cx="524735" cy="524735"/>
          </a:xfrm>
          <a:prstGeom prst="ellipse">
            <a:avLst/>
          </a:prstGeom>
          <a:solidFill>
            <a:srgbClr val="00A78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2314" u="none" cap="none" strike="noStrike">
                <a:solidFill>
                  <a:srgbClr val="FFFFFF"/>
                </a:solidFill>
                <a:latin typeface="Arial"/>
                <a:ea typeface="Arial"/>
                <a:cs typeface="Arial"/>
                <a:sym typeface="Arial"/>
              </a:rPr>
              <a:t>5</a:t>
            </a:r>
            <a:endParaRPr/>
          </a:p>
        </p:txBody>
      </p:sp>
      <p:sp>
        <p:nvSpPr>
          <p:cNvPr id="1826" name="Google Shape;1826;p67"/>
          <p:cNvSpPr/>
          <p:nvPr/>
        </p:nvSpPr>
        <p:spPr>
          <a:xfrm>
            <a:off x="265593" y="658542"/>
            <a:ext cx="5458200" cy="104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6307" u="none" cap="none" strike="noStrike">
                <a:solidFill>
                  <a:srgbClr val="111F5B"/>
                </a:solidFill>
              </a:rPr>
              <a:t>Trabajo futuro</a:t>
            </a:r>
            <a:endParaRPr b="1">
              <a:solidFill>
                <a:srgbClr val="111F5B"/>
              </a:solidFill>
            </a:endParaRPr>
          </a:p>
        </p:txBody>
      </p:sp>
      <p:sp>
        <p:nvSpPr>
          <p:cNvPr id="1827" name="Google Shape;1827;p67"/>
          <p:cNvSpPr/>
          <p:nvPr/>
        </p:nvSpPr>
        <p:spPr>
          <a:xfrm>
            <a:off x="1810661" y="2310371"/>
            <a:ext cx="1770405" cy="3171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96" u="none" cap="none" strike="noStrike">
                <a:solidFill>
                  <a:srgbClr val="0807E6"/>
                </a:solidFill>
                <a:latin typeface="Arial Narrow"/>
                <a:ea typeface="Arial Narrow"/>
                <a:cs typeface="Arial Narrow"/>
                <a:sym typeface="Arial Narrow"/>
              </a:rPr>
              <a:t>Repetir las pruebas</a:t>
            </a:r>
            <a:endParaRPr/>
          </a:p>
        </p:txBody>
      </p:sp>
      <p:sp>
        <p:nvSpPr>
          <p:cNvPr id="1828" name="Google Shape;1828;p67"/>
          <p:cNvSpPr/>
          <p:nvPr/>
        </p:nvSpPr>
        <p:spPr>
          <a:xfrm>
            <a:off x="1796085" y="2587942"/>
            <a:ext cx="2025485" cy="305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88" u="none" cap="none" strike="noStrike">
                <a:solidFill>
                  <a:srgbClr val="0C09E6"/>
                </a:solidFill>
                <a:latin typeface="Arial Narrow"/>
                <a:ea typeface="Arial Narrow"/>
                <a:cs typeface="Arial Narrow"/>
                <a:sym typeface="Arial Narrow"/>
              </a:rPr>
              <a:t>varias veces y agrupar</a:t>
            </a:r>
            <a:endParaRPr/>
          </a:p>
        </p:txBody>
      </p:sp>
      <p:sp>
        <p:nvSpPr>
          <p:cNvPr id="1829" name="Google Shape;1829;p67"/>
          <p:cNvSpPr/>
          <p:nvPr/>
        </p:nvSpPr>
        <p:spPr>
          <a:xfrm>
            <a:off x="1810661" y="2849413"/>
            <a:ext cx="2134805" cy="3180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14" u="none" cap="none" strike="noStrike">
                <a:solidFill>
                  <a:srgbClr val="0D0BE3"/>
                </a:solidFill>
                <a:latin typeface="Arial Narrow"/>
                <a:ea typeface="Arial Narrow"/>
                <a:cs typeface="Arial Narrow"/>
                <a:sym typeface="Arial Narrow"/>
              </a:rPr>
              <a:t>las peticiones repetidas</a:t>
            </a:r>
            <a:endParaRPr/>
          </a:p>
        </p:txBody>
      </p:sp>
      <p:sp>
        <p:nvSpPr>
          <p:cNvPr id="1830" name="Google Shape;1830;p67"/>
          <p:cNvSpPr/>
          <p:nvPr/>
        </p:nvSpPr>
        <p:spPr>
          <a:xfrm>
            <a:off x="1803373" y="3132210"/>
            <a:ext cx="2317004" cy="2989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84" u="none" cap="none" strike="noStrike">
                <a:solidFill>
                  <a:srgbClr val="0D0BE7"/>
                </a:solidFill>
                <a:latin typeface="Arial Narrow"/>
                <a:ea typeface="Arial Narrow"/>
                <a:cs typeface="Arial Narrow"/>
                <a:sym typeface="Arial Narrow"/>
              </a:rPr>
              <a:t>antes de separar los datos.</a:t>
            </a:r>
            <a:endParaRPr/>
          </a:p>
        </p:txBody>
      </p:sp>
      <p:sp>
        <p:nvSpPr>
          <p:cNvPr id="1831" name="Google Shape;1831;p67"/>
          <p:cNvSpPr/>
          <p:nvPr/>
        </p:nvSpPr>
        <p:spPr>
          <a:xfrm>
            <a:off x="2175061" y="4097991"/>
            <a:ext cx="3330035" cy="329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99" u="none" cap="none" strike="noStrike">
                <a:solidFill>
                  <a:srgbClr val="0806DC"/>
                </a:solidFill>
                <a:latin typeface="Arial Narrow"/>
                <a:ea typeface="Arial Narrow"/>
                <a:cs typeface="Arial Narrow"/>
                <a:sym typeface="Arial Narrow"/>
              </a:rPr>
              <a:t>Reducir el tiempo de preparación</a:t>
            </a:r>
            <a:endParaRPr/>
          </a:p>
        </p:txBody>
      </p:sp>
      <p:sp>
        <p:nvSpPr>
          <p:cNvPr id="1832" name="Google Shape;1832;p67"/>
          <p:cNvSpPr/>
          <p:nvPr/>
        </p:nvSpPr>
        <p:spPr>
          <a:xfrm>
            <a:off x="2167773" y="4380130"/>
            <a:ext cx="2834452" cy="336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34" u="none" cap="none" strike="noStrike">
                <a:solidFill>
                  <a:srgbClr val="0909DB"/>
                </a:solidFill>
                <a:latin typeface="Arial Narrow"/>
                <a:ea typeface="Arial Narrow"/>
                <a:cs typeface="Arial Narrow"/>
                <a:sym typeface="Arial Narrow"/>
              </a:rPr>
              <a:t>de los datos y medir muchas</a:t>
            </a:r>
            <a:endParaRPr/>
          </a:p>
        </p:txBody>
      </p:sp>
      <p:sp>
        <p:nvSpPr>
          <p:cNvPr id="1833" name="Google Shape;1833;p67"/>
          <p:cNvSpPr/>
          <p:nvPr/>
        </p:nvSpPr>
        <p:spPr>
          <a:xfrm>
            <a:off x="2175061" y="4663237"/>
            <a:ext cx="2746996" cy="33984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40" u="none" cap="none" strike="noStrike">
                <a:solidFill>
                  <a:srgbClr val="0908DC"/>
                </a:solidFill>
                <a:latin typeface="Arial Narrow"/>
                <a:ea typeface="Arial Narrow"/>
                <a:cs typeface="Arial Narrow"/>
                <a:sym typeface="Arial Narrow"/>
              </a:rPr>
              <a:t>peticiones al mismo tiempo.</a:t>
            </a:r>
            <a:endParaRPr/>
          </a:p>
        </p:txBody>
      </p:sp>
      <p:sp>
        <p:nvSpPr>
          <p:cNvPr id="1834" name="Google Shape;1834;p67"/>
          <p:cNvSpPr/>
          <p:nvPr/>
        </p:nvSpPr>
        <p:spPr>
          <a:xfrm>
            <a:off x="5899224" y="2434304"/>
            <a:ext cx="1835997" cy="30754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48" u="none" cap="none" strike="noStrike">
                <a:solidFill>
                  <a:srgbClr val="0C0BE5"/>
                </a:solidFill>
                <a:latin typeface="Arial Narrow"/>
                <a:ea typeface="Arial Narrow"/>
                <a:cs typeface="Arial Narrow"/>
                <a:sym typeface="Arial Narrow"/>
              </a:rPr>
              <a:t>Revisar las etiquetas</a:t>
            </a:r>
            <a:endParaRPr/>
          </a:p>
        </p:txBody>
      </p:sp>
      <p:sp>
        <p:nvSpPr>
          <p:cNvPr id="1835" name="Google Shape;1835;p67"/>
          <p:cNvSpPr/>
          <p:nvPr/>
        </p:nvSpPr>
        <p:spPr>
          <a:xfrm>
            <a:off x="5899224" y="2704988"/>
            <a:ext cx="1938029" cy="30420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15" u="none" cap="none" strike="noStrike">
                <a:solidFill>
                  <a:srgbClr val="0D0AE5"/>
                </a:solidFill>
                <a:latin typeface="Arial Narrow"/>
                <a:ea typeface="Arial Narrow"/>
                <a:cs typeface="Arial Narrow"/>
                <a:sym typeface="Arial Narrow"/>
              </a:rPr>
              <a:t>dudosas y los tipos de</a:t>
            </a:r>
            <a:endParaRPr/>
          </a:p>
        </p:txBody>
      </p:sp>
      <p:sp>
        <p:nvSpPr>
          <p:cNvPr id="1836" name="Google Shape;1836;p67"/>
          <p:cNvSpPr/>
          <p:nvPr/>
        </p:nvSpPr>
        <p:spPr>
          <a:xfrm>
            <a:off x="5899224" y="2973119"/>
            <a:ext cx="2054637" cy="29494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80" u="none" cap="none" strike="noStrike">
                <a:solidFill>
                  <a:srgbClr val="0B09E7"/>
                </a:solidFill>
                <a:latin typeface="Arial Narrow"/>
                <a:ea typeface="Arial Narrow"/>
                <a:cs typeface="Arial Narrow"/>
                <a:sym typeface="Arial Narrow"/>
              </a:rPr>
              <a:t>ataque con más errores.</a:t>
            </a:r>
            <a:endParaRPr/>
          </a:p>
        </p:txBody>
      </p:sp>
      <p:sp>
        <p:nvSpPr>
          <p:cNvPr id="1837" name="Google Shape;1837;p67"/>
          <p:cNvSpPr/>
          <p:nvPr/>
        </p:nvSpPr>
        <p:spPr>
          <a:xfrm>
            <a:off x="9754572" y="2396428"/>
            <a:ext cx="2142093" cy="29800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66" u="none" cap="none" strike="noStrike">
                <a:solidFill>
                  <a:srgbClr val="0E0BE1"/>
                </a:solidFill>
                <a:latin typeface="Arial Narrow"/>
                <a:ea typeface="Arial Narrow"/>
                <a:cs typeface="Arial Narrow"/>
                <a:sym typeface="Arial Narrow"/>
              </a:rPr>
              <a:t>Entrenar con un conjunto</a:t>
            </a:r>
            <a:endParaRPr/>
          </a:p>
        </p:txBody>
      </p:sp>
      <p:sp>
        <p:nvSpPr>
          <p:cNvPr id="1838" name="Google Shape;1838;p67"/>
          <p:cNvSpPr/>
          <p:nvPr/>
        </p:nvSpPr>
        <p:spPr>
          <a:xfrm>
            <a:off x="9754572" y="2675659"/>
            <a:ext cx="1974469" cy="3047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6" u="none" cap="none" strike="noStrike">
                <a:solidFill>
                  <a:srgbClr val="0C09DE"/>
                </a:solidFill>
                <a:latin typeface="Arial Narrow"/>
                <a:ea typeface="Arial Narrow"/>
                <a:cs typeface="Arial Narrow"/>
                <a:sym typeface="Arial Narrow"/>
              </a:rPr>
              <a:t>de datos y evaluar ese</a:t>
            </a:r>
            <a:endParaRPr/>
          </a:p>
        </p:txBody>
      </p:sp>
      <p:sp>
        <p:nvSpPr>
          <p:cNvPr id="1839" name="Google Shape;1839;p67"/>
          <p:cNvSpPr/>
          <p:nvPr/>
        </p:nvSpPr>
        <p:spPr>
          <a:xfrm>
            <a:off x="9754572" y="2926642"/>
            <a:ext cx="2112941" cy="3086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10" u="none" cap="none" strike="noStrike">
                <a:solidFill>
                  <a:srgbClr val="0E09DF"/>
                </a:solidFill>
                <a:latin typeface="Arial Narrow"/>
                <a:ea typeface="Arial Narrow"/>
                <a:cs typeface="Arial Narrow"/>
                <a:sym typeface="Arial Narrow"/>
              </a:rPr>
              <a:t>mismo modelo con otro.</a:t>
            </a:r>
            <a:endParaRPr/>
          </a:p>
        </p:txBody>
      </p:sp>
      <p:sp>
        <p:nvSpPr>
          <p:cNvPr id="1840" name="Google Shape;1840;p67"/>
          <p:cNvSpPr/>
          <p:nvPr/>
        </p:nvSpPr>
        <p:spPr>
          <a:xfrm>
            <a:off x="8362565" y="4068753"/>
            <a:ext cx="2499204" cy="34387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52" u="none" cap="none" strike="noStrike">
                <a:solidFill>
                  <a:srgbClr val="0A07DA"/>
                </a:solidFill>
                <a:latin typeface="Arial Narrow"/>
                <a:ea typeface="Arial Narrow"/>
                <a:cs typeface="Arial Narrow"/>
                <a:sym typeface="Arial Narrow"/>
              </a:rPr>
              <a:t>Probar con tráfico en vivo</a:t>
            </a:r>
            <a:endParaRPr/>
          </a:p>
        </p:txBody>
      </p:sp>
      <p:sp>
        <p:nvSpPr>
          <p:cNvPr id="1841" name="Google Shape;1841;p67"/>
          <p:cNvSpPr/>
          <p:nvPr/>
        </p:nvSpPr>
        <p:spPr>
          <a:xfrm>
            <a:off x="8347989" y="4380130"/>
            <a:ext cx="2455476" cy="3361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908" u="none" cap="none" strike="noStrike">
                <a:solidFill>
                  <a:srgbClr val="0806D8"/>
                </a:solidFill>
                <a:latin typeface="Arial Narrow"/>
                <a:ea typeface="Arial Narrow"/>
                <a:cs typeface="Arial Narrow"/>
                <a:sym typeface="Arial Narrow"/>
              </a:rPr>
              <a:t>y registrar las decisiones,</a:t>
            </a:r>
            <a:endParaRPr/>
          </a:p>
        </p:txBody>
      </p:sp>
      <p:sp>
        <p:nvSpPr>
          <p:cNvPr id="1842" name="Google Shape;1842;p67"/>
          <p:cNvSpPr/>
          <p:nvPr/>
        </p:nvSpPr>
        <p:spPr>
          <a:xfrm>
            <a:off x="8347989" y="4657393"/>
            <a:ext cx="2324292" cy="3446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47" u="none" cap="none" strike="noStrike">
                <a:solidFill>
                  <a:srgbClr val="0B08D9"/>
                </a:solidFill>
                <a:latin typeface="Arial Narrow"/>
                <a:ea typeface="Arial Narrow"/>
                <a:cs typeface="Arial Narrow"/>
                <a:sym typeface="Arial Narrow"/>
              </a:rPr>
              <a:t>sin bloquear peticiones.</a:t>
            </a:r>
            <a:endParaRPr/>
          </a:p>
        </p:txBody>
      </p:sp>
      <p:sp>
        <p:nvSpPr>
          <p:cNvPr id="1843" name="Google Shape;1843;p6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44" name="Google Shape;1844;p67" title="DEFENSA_SEGURA_V2:barra-4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45" name="Google Shape;1845;p67" title="DEFENSA_SEGURA_V2:avance-49"/>
          <p:cNvSpPr/>
          <p:nvPr/>
        </p:nvSpPr>
        <p:spPr>
          <a:xfrm>
            <a:off x="0" y="0"/>
            <a:ext cx="12192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46" name="Google Shape;1846;p67" title="DEFENSA_SEGURA_V2:seccion-4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CONCLUSIONES</a:t>
            </a:r>
            <a:endParaRPr b="1" sz="650">
              <a:solidFill>
                <a:srgbClr val="647184"/>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F5B"/>
        </a:solidFill>
      </p:bgPr>
    </p:bg>
    <p:spTree>
      <p:nvGrpSpPr>
        <p:cNvPr id="1851" name="Shape 1851"/>
        <p:cNvGrpSpPr/>
        <p:nvPr/>
      </p:nvGrpSpPr>
      <p:grpSpPr>
        <a:xfrm>
          <a:off x="0" y="0"/>
          <a:ext cx="0" cy="0"/>
          <a:chOff x="0" y="0"/>
          <a:chExt cx="0" cy="0"/>
        </a:xfrm>
      </p:grpSpPr>
      <p:sp>
        <p:nvSpPr>
          <p:cNvPr id="1852" name="Google Shape;1852;p68" title="DEFENSA_SEGURA_V2:anexo-acento"/>
          <p:cNvSpPr/>
          <p:nvPr/>
        </p:nvSpPr>
        <p:spPr>
          <a:xfrm>
            <a:off x="792480" y="960120"/>
            <a:ext cx="60900" cy="48006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53" name="Google Shape;1853;p68" title="DEFENSA_SEGURA_V2:anexo-titulo"/>
          <p:cNvSpPr txBox="1"/>
          <p:nvPr/>
        </p:nvSpPr>
        <p:spPr>
          <a:xfrm>
            <a:off x="1280160" y="1508760"/>
            <a:ext cx="3413700" cy="89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3600">
                <a:solidFill>
                  <a:srgbClr val="FFFFFF"/>
                </a:solidFill>
              </a:rPr>
              <a:t>Anexo</a:t>
            </a:r>
            <a:endParaRPr b="1" sz="3600">
              <a:solidFill>
                <a:srgbClr val="FFFFFF"/>
              </a:solidFill>
            </a:endParaRPr>
          </a:p>
        </p:txBody>
      </p:sp>
      <p:sp>
        <p:nvSpPr>
          <p:cNvPr id="1854" name="Google Shape;1854;p68" title="DEFENSA_SEGURA_V2:anexo-subtitulo"/>
          <p:cNvSpPr txBox="1"/>
          <p:nvPr/>
        </p:nvSpPr>
        <p:spPr>
          <a:xfrm>
            <a:off x="1280160" y="2468880"/>
            <a:ext cx="3779400" cy="75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C6D4E7"/>
                </a:solidFill>
              </a:rPr>
              <a:t>Diapositivas de respaldo para preguntas del tribunal</a:t>
            </a:r>
            <a:endParaRPr sz="1200">
              <a:solidFill>
                <a:srgbClr val="C6D4E7"/>
              </a:solidFill>
            </a:endParaRPr>
          </a:p>
        </p:txBody>
      </p:sp>
      <p:sp>
        <p:nvSpPr>
          <p:cNvPr id="1855" name="Google Shape;1855;p68" title="DEFENSA_SEGURA_V2:anexo-numero-0"/>
          <p:cNvSpPr txBox="1"/>
          <p:nvPr/>
        </p:nvSpPr>
        <p:spPr>
          <a:xfrm>
            <a:off x="6217920" y="1577340"/>
            <a:ext cx="6705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rgbClr val="18A7A0"/>
                </a:solidFill>
              </a:rPr>
              <a:t>01</a:t>
            </a:r>
            <a:endParaRPr b="1" sz="1500">
              <a:solidFill>
                <a:srgbClr val="18A7A0"/>
              </a:solidFill>
            </a:endParaRPr>
          </a:p>
        </p:txBody>
      </p:sp>
      <p:sp>
        <p:nvSpPr>
          <p:cNvPr id="1856" name="Google Shape;1856;p68" title="DEFENSA_SEGURA_V2:anexo-item-0">
            <a:hlinkClick action="ppaction://hlinksldjump" r:id="rId3"/>
          </p:cNvPr>
          <p:cNvSpPr txBox="1"/>
          <p:nvPr/>
        </p:nvSpPr>
        <p:spPr>
          <a:xfrm>
            <a:off x="7132320" y="1577340"/>
            <a:ext cx="4267200" cy="41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solidFill>
                  <a:srgbClr val="FFFFFF"/>
                </a:solidFill>
              </a:rPr>
              <a:t>Niveles de detección y técnicas</a:t>
            </a:r>
            <a:endParaRPr b="1">
              <a:solidFill>
                <a:srgbClr val="FFFFFF"/>
              </a:solidFill>
            </a:endParaRPr>
          </a:p>
        </p:txBody>
      </p:sp>
      <p:sp>
        <p:nvSpPr>
          <p:cNvPr id="1857" name="Google Shape;1857;p68" title="DEFENSA_SEGURA_V2:anexo-paginas-0">
            <a:hlinkClick action="ppaction://hlinksldjump" r:id="rId4"/>
          </p:cNvPr>
          <p:cNvSpPr txBox="1"/>
          <p:nvPr/>
        </p:nvSpPr>
        <p:spPr>
          <a:xfrm>
            <a:off x="7132320" y="1975104"/>
            <a:ext cx="1828800" cy="24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900">
                <a:solidFill>
                  <a:srgbClr val="ABC0DC"/>
                </a:solidFill>
              </a:rPr>
              <a:t>57–58</a:t>
            </a:r>
            <a:endParaRPr sz="900">
              <a:solidFill>
                <a:srgbClr val="ABC0DC"/>
              </a:solidFill>
            </a:endParaRPr>
          </a:p>
        </p:txBody>
      </p:sp>
      <p:sp>
        <p:nvSpPr>
          <p:cNvPr id="1858" name="Google Shape;1858;p68" title="DEFENSA_SEGURA_V2:anexo-numero-1"/>
          <p:cNvSpPr txBox="1"/>
          <p:nvPr/>
        </p:nvSpPr>
        <p:spPr>
          <a:xfrm>
            <a:off x="6217920" y="2571750"/>
            <a:ext cx="6705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rgbClr val="18A7A0"/>
                </a:solidFill>
              </a:rPr>
              <a:t>02</a:t>
            </a:r>
            <a:endParaRPr b="1" sz="1500">
              <a:solidFill>
                <a:srgbClr val="18A7A0"/>
              </a:solidFill>
            </a:endParaRPr>
          </a:p>
        </p:txBody>
      </p:sp>
      <p:sp>
        <p:nvSpPr>
          <p:cNvPr id="1859" name="Google Shape;1859;p68" title="DEFENSA_SEGURA_V2:anexo-item-1">
            <a:hlinkClick action="ppaction://hlinksldjump" r:id="rId5"/>
          </p:cNvPr>
          <p:cNvSpPr txBox="1"/>
          <p:nvPr/>
        </p:nvSpPr>
        <p:spPr>
          <a:xfrm>
            <a:off x="7132320" y="2571750"/>
            <a:ext cx="4267200" cy="41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solidFill>
                  <a:srgbClr val="FFFFFF"/>
                </a:solidFill>
              </a:rPr>
              <a:t>Algoritmos y fórmulas</a:t>
            </a:r>
            <a:endParaRPr b="1">
              <a:solidFill>
                <a:srgbClr val="FFFFFF"/>
              </a:solidFill>
            </a:endParaRPr>
          </a:p>
        </p:txBody>
      </p:sp>
      <p:sp>
        <p:nvSpPr>
          <p:cNvPr id="1860" name="Google Shape;1860;p68" title="DEFENSA_SEGURA_V2:anexo-paginas-1">
            <a:hlinkClick action="ppaction://hlinksldjump" r:id="rId6"/>
          </p:cNvPr>
          <p:cNvSpPr txBox="1"/>
          <p:nvPr/>
        </p:nvSpPr>
        <p:spPr>
          <a:xfrm>
            <a:off x="7132320" y="2969514"/>
            <a:ext cx="1828800" cy="24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900">
                <a:solidFill>
                  <a:srgbClr val="ABC0DC"/>
                </a:solidFill>
              </a:rPr>
              <a:t>59–66</a:t>
            </a:r>
            <a:endParaRPr sz="900">
              <a:solidFill>
                <a:srgbClr val="ABC0DC"/>
              </a:solidFill>
            </a:endParaRPr>
          </a:p>
        </p:txBody>
      </p:sp>
      <p:sp>
        <p:nvSpPr>
          <p:cNvPr id="1861" name="Google Shape;1861;p68" title="DEFENSA_SEGURA_V2:anexo-numero-2"/>
          <p:cNvSpPr txBox="1"/>
          <p:nvPr/>
        </p:nvSpPr>
        <p:spPr>
          <a:xfrm>
            <a:off x="6217920" y="3566160"/>
            <a:ext cx="6705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rgbClr val="18A7A0"/>
                </a:solidFill>
              </a:rPr>
              <a:t>03</a:t>
            </a:r>
            <a:endParaRPr b="1" sz="1500">
              <a:solidFill>
                <a:srgbClr val="18A7A0"/>
              </a:solidFill>
            </a:endParaRPr>
          </a:p>
        </p:txBody>
      </p:sp>
      <p:sp>
        <p:nvSpPr>
          <p:cNvPr id="1862" name="Google Shape;1862;p68" title="DEFENSA_SEGURA_V2:anexo-item-2">
            <a:hlinkClick action="ppaction://hlinksldjump" r:id="rId7"/>
          </p:cNvPr>
          <p:cNvSpPr txBox="1"/>
          <p:nvPr/>
        </p:nvSpPr>
        <p:spPr>
          <a:xfrm>
            <a:off x="7132320" y="3566160"/>
            <a:ext cx="4267200" cy="41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solidFill>
                  <a:srgbClr val="FFFFFF"/>
                </a:solidFill>
              </a:rPr>
              <a:t>Características destacadas</a:t>
            </a:r>
            <a:endParaRPr b="1">
              <a:solidFill>
                <a:srgbClr val="FFFFFF"/>
              </a:solidFill>
            </a:endParaRPr>
          </a:p>
        </p:txBody>
      </p:sp>
      <p:sp>
        <p:nvSpPr>
          <p:cNvPr id="1863" name="Google Shape;1863;p68" title="DEFENSA_SEGURA_V2:anexo-paginas-2">
            <a:hlinkClick action="ppaction://hlinksldjump" r:id="rId8"/>
          </p:cNvPr>
          <p:cNvSpPr txBox="1"/>
          <p:nvPr/>
        </p:nvSpPr>
        <p:spPr>
          <a:xfrm>
            <a:off x="7132320" y="3963924"/>
            <a:ext cx="1828800" cy="24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900">
                <a:solidFill>
                  <a:srgbClr val="ABC0DC"/>
                </a:solidFill>
              </a:rPr>
              <a:t>67–69</a:t>
            </a:r>
            <a:endParaRPr sz="900">
              <a:solidFill>
                <a:srgbClr val="ABC0DC"/>
              </a:solidFill>
            </a:endParaRPr>
          </a:p>
        </p:txBody>
      </p:sp>
      <p:sp>
        <p:nvSpPr>
          <p:cNvPr id="1864" name="Google Shape;1864;p68" title="DEFENSA_SEGURA_V2:anexo-numero-3"/>
          <p:cNvSpPr txBox="1"/>
          <p:nvPr/>
        </p:nvSpPr>
        <p:spPr>
          <a:xfrm>
            <a:off x="6217920" y="4560570"/>
            <a:ext cx="670500" cy="34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rgbClr val="18A7A0"/>
                </a:solidFill>
              </a:rPr>
              <a:t>04</a:t>
            </a:r>
            <a:endParaRPr b="1" sz="1500">
              <a:solidFill>
                <a:srgbClr val="18A7A0"/>
              </a:solidFill>
            </a:endParaRPr>
          </a:p>
        </p:txBody>
      </p:sp>
      <p:sp>
        <p:nvSpPr>
          <p:cNvPr id="1865" name="Google Shape;1865;p68" title="DEFENSA_SEGURA_V2:anexo-item-3">
            <a:hlinkClick action="ppaction://hlinksldjump" r:id="rId9"/>
          </p:cNvPr>
          <p:cNvSpPr txBox="1"/>
          <p:nvPr/>
        </p:nvSpPr>
        <p:spPr>
          <a:xfrm>
            <a:off x="7132320" y="4560570"/>
            <a:ext cx="4267200" cy="411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US">
                <a:solidFill>
                  <a:srgbClr val="FFFFFF"/>
                </a:solidFill>
              </a:rPr>
              <a:t>Corridas y registros operativos</a:t>
            </a:r>
            <a:endParaRPr b="1">
              <a:solidFill>
                <a:srgbClr val="FFFFFF"/>
              </a:solidFill>
            </a:endParaRPr>
          </a:p>
        </p:txBody>
      </p:sp>
      <p:sp>
        <p:nvSpPr>
          <p:cNvPr id="1866" name="Google Shape;1866;p68" title="DEFENSA_SEGURA_V2:anexo-paginas-3">
            <a:hlinkClick action="ppaction://hlinksldjump" r:id="rId10"/>
          </p:cNvPr>
          <p:cNvSpPr txBox="1"/>
          <p:nvPr/>
        </p:nvSpPr>
        <p:spPr>
          <a:xfrm>
            <a:off x="7132320" y="4958334"/>
            <a:ext cx="1828800" cy="24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900">
                <a:solidFill>
                  <a:srgbClr val="ABC0DC"/>
                </a:solidFill>
              </a:rPr>
              <a:t>70–71</a:t>
            </a:r>
            <a:endParaRPr sz="900">
              <a:solidFill>
                <a:srgbClr val="ABC0DC"/>
              </a:solidFill>
            </a:endParaRPr>
          </a:p>
        </p:txBody>
      </p:sp>
      <p:sp>
        <p:nvSpPr>
          <p:cNvPr id="1867" name="Google Shape;1867;p68" title="DEFENSA_SEGURA_V2:pagina-50"/>
          <p:cNvSpPr txBox="1"/>
          <p:nvPr/>
        </p:nvSpPr>
        <p:spPr>
          <a:xfrm>
            <a:off x="11704320" y="6515100"/>
            <a:ext cx="304800" cy="171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US" sz="700">
                <a:solidFill>
                  <a:srgbClr val="ABC0DC"/>
                </a:solidFill>
              </a:rPr>
              <a:t>56</a:t>
            </a:r>
            <a:endParaRPr sz="700">
              <a:solidFill>
                <a:srgbClr val="ABC0DC"/>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2" name="Shape 1872"/>
        <p:cNvGrpSpPr/>
        <p:nvPr/>
      </p:nvGrpSpPr>
      <p:grpSpPr>
        <a:xfrm>
          <a:off x="0" y="0"/>
          <a:ext cx="0" cy="0"/>
          <a:chOff x="0" y="0"/>
          <a:chExt cx="0" cy="0"/>
        </a:xfrm>
      </p:grpSpPr>
      <p:sp>
        <p:nvSpPr>
          <p:cNvPr id="1873" name="Google Shape;1873;p69"/>
          <p:cNvSpPr/>
          <p:nvPr/>
        </p:nvSpPr>
        <p:spPr>
          <a:xfrm>
            <a:off x="285750" y="238125"/>
            <a:ext cx="116205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3525"/>
              <a:buFont typeface="Arial"/>
              <a:buNone/>
            </a:pPr>
            <a:r>
              <a:rPr b="1" lang="en-US" sz="3125">
                <a:solidFill>
                  <a:srgbClr val="111F5B"/>
                </a:solidFill>
              </a:rPr>
              <a:t>De la detección a la tipificación del ataque</a:t>
            </a:r>
            <a:endParaRPr b="1" sz="1000">
              <a:solidFill>
                <a:srgbClr val="111F5B"/>
              </a:solidFill>
            </a:endParaRPr>
          </a:p>
        </p:txBody>
      </p:sp>
      <p:sp>
        <p:nvSpPr>
          <p:cNvPr id="1874" name="Google Shape;1874;p69"/>
          <p:cNvSpPr/>
          <p:nvPr/>
        </p:nvSpPr>
        <p:spPr>
          <a:xfrm>
            <a:off x="304800" y="962025"/>
            <a:ext cx="115824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1950"/>
              <a:buFont typeface="Arial"/>
              <a:buNone/>
            </a:pPr>
            <a:r>
              <a:rPr b="0" lang="en-US" sz="1950">
                <a:solidFill>
                  <a:srgbClr val="070F64"/>
                </a:solidFill>
                <a:latin typeface="Arial"/>
                <a:ea typeface="Arial"/>
                <a:cs typeface="Arial"/>
                <a:sym typeface="Arial"/>
              </a:rPr>
              <a:t>Las señales detectadas pueden expresarse con distintos niveles de detalle.</a:t>
            </a:r>
            <a:endParaRPr/>
          </a:p>
        </p:txBody>
      </p:sp>
      <p:graphicFrame>
        <p:nvGraphicFramePr>
          <p:cNvPr id="1875" name="Google Shape;1875;p69"/>
          <p:cNvGraphicFramePr/>
          <p:nvPr/>
        </p:nvGraphicFramePr>
        <p:xfrm>
          <a:off x="266700" y="1600200"/>
          <a:ext cx="3000000" cy="3000000"/>
        </p:xfrm>
        <a:graphic>
          <a:graphicData uri="http://schemas.openxmlformats.org/drawingml/2006/table">
            <a:tbl>
              <a:tblPr>
                <a:noFill/>
                <a:tableStyleId>{F1B291AF-9CB1-4793-AFE8-E70834C1BA4F}</a:tableStyleId>
              </a:tblPr>
              <a:tblGrid>
                <a:gridCol w="2114550"/>
                <a:gridCol w="3238500"/>
                <a:gridCol w="3200400"/>
                <a:gridCol w="3105150"/>
              </a:tblGrid>
              <a:tr h="571500">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Planteamiento</a:t>
                      </a:r>
                      <a:endParaRPr/>
                    </a:p>
                  </a:txBody>
                  <a:tcPr marT="45725" marB="45725" marR="91450" marL="91450" anchor="ctr">
                    <a:solidFill>
                      <a:srgbClr val="D4EEF9"/>
                    </a:solidFill>
                  </a:tcPr>
                </a:tc>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Salida del detector</a:t>
                      </a:r>
                      <a:endParaRPr/>
                    </a:p>
                  </a:txBody>
                  <a:tcPr marT="45725" marB="45725" marR="91450" marL="91450" anchor="ctr">
                    <a:solidFill>
                      <a:srgbClr val="D4EEF9"/>
                    </a:solidFill>
                  </a:tcPr>
                </a:tc>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Ventaja</a:t>
                      </a:r>
                      <a:endParaRPr/>
                    </a:p>
                  </a:txBody>
                  <a:tcPr marT="45725" marB="45725" marR="91450" marL="91450" anchor="ctr">
                    <a:solidFill>
                      <a:srgbClr val="D4EEF9"/>
                    </a:solidFill>
                  </a:tcPr>
                </a:tc>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Limitación</a:t>
                      </a:r>
                      <a:endParaRPr/>
                    </a:p>
                  </a:txBody>
                  <a:tcPr marT="45725" marB="45725" marR="91450" marL="91450" anchor="ctr">
                    <a:solidFill>
                      <a:srgbClr val="D4EEF9"/>
                    </a:solidFill>
                  </a:tcPr>
                </a:tc>
              </a:tr>
              <a:tr h="933450">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Binaria</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Normal o ataque</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Ofrece una señal sencilla</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para apoyar la decisión.</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No identifica el tipo</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de ataque.</a:t>
                      </a:r>
                      <a:endParaRPr/>
                    </a:p>
                  </a:txBody>
                  <a:tcPr marT="45725" marB="45725" marR="91450" marL="91450" anchor="ctr">
                    <a:solidFill>
                      <a:srgbClr val="E5F5FC"/>
                    </a:solidFill>
                  </a:tcPr>
                </a:tc>
              </a:tr>
              <a:tr h="971550">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Multiclase</a:t>
                      </a:r>
                      <a:endParaRPr/>
                    </a:p>
                  </a:txBody>
                  <a:tcPr marT="45725" marB="45725" marR="91450" marL="91450" anchor="ctr">
                    <a:solidFill>
                      <a:srgbClr val="F5FAFD"/>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Una clase:</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normal, SQLi o XSS</a:t>
                      </a:r>
                      <a:endParaRPr/>
                    </a:p>
                  </a:txBody>
                  <a:tcPr marT="45725" marB="45725" marR="91450" marL="91450" anchor="ctr">
                    <a:solidFill>
                      <a:srgbClr val="F5FAFD"/>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El tipo orienta el análisis</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y la prioridad.</a:t>
                      </a:r>
                      <a:endParaRPr/>
                    </a:p>
                  </a:txBody>
                  <a:tcPr marT="45725" marB="45725" marR="91450" marL="91450" anchor="ctr">
                    <a:solidFill>
                      <a:srgbClr val="F5FAFD"/>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Fuerza una sola clase</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y puede confundir tipos.</a:t>
                      </a:r>
                      <a:endParaRPr/>
                    </a:p>
                  </a:txBody>
                  <a:tcPr marT="45725" marB="45725" marR="91450" marL="91450" anchor="ctr">
                    <a:solidFill>
                      <a:srgbClr val="F5FAFD"/>
                    </a:solidFill>
                  </a:tcPr>
                </a:tc>
              </a:tr>
              <a:tr h="1133475">
                <a:tc>
                  <a:txBody>
                    <a:bodyPr/>
                    <a:lstStyle/>
                    <a:p>
                      <a:pPr indent="0" lvl="0" marL="0" marR="0" rtl="0" algn="l">
                        <a:spcBef>
                          <a:spcPts val="0"/>
                        </a:spcBef>
                        <a:spcAft>
                          <a:spcPts val="0"/>
                        </a:spcAft>
                        <a:buClr>
                          <a:srgbClr val="070F64"/>
                        </a:buClr>
                        <a:buSzPts val="1800"/>
                        <a:buFont typeface="Arial"/>
                        <a:buNone/>
                      </a:pPr>
                      <a:r>
                        <a:rPr b="1" lang="en-US" sz="1800" u="none" cap="none" strike="noStrike">
                          <a:solidFill>
                            <a:srgbClr val="070F64"/>
                          </a:solidFill>
                          <a:latin typeface="Arial"/>
                          <a:ea typeface="Arial"/>
                          <a:cs typeface="Arial"/>
                          <a:sym typeface="Arial"/>
                        </a:rPr>
                        <a:t>Multietiqueta</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Cero, una o varias etiquetas.</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Ejemplo: SQLi y XSS</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Conserva el detalle de</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los tipos que coexisten.</a:t>
                      </a:r>
                      <a:endParaRPr/>
                    </a:p>
                  </a:txBody>
                  <a:tcPr marT="45725" marB="45725" marR="91450" marL="91450" anchor="ctr">
                    <a:solidFill>
                      <a:srgbClr val="E5F5FC"/>
                    </a:solidFill>
                  </a:tcPr>
                </a:tc>
                <a:tc>
                  <a:txBody>
                    <a:bodyPr/>
                    <a:lstStyle/>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Mayor complejidad de</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definición, ajuste</a:t>
                      </a:r>
                      <a:endParaRPr/>
                    </a:p>
                    <a:p>
                      <a:pPr indent="0" lvl="0" marL="0" marR="0" rtl="0" algn="l">
                        <a:spcBef>
                          <a:spcPts val="0"/>
                        </a:spcBef>
                        <a:spcAft>
                          <a:spcPts val="0"/>
                        </a:spcAft>
                        <a:buClr>
                          <a:srgbClr val="070F64"/>
                        </a:buClr>
                        <a:buSzPts val="1800"/>
                        <a:buFont typeface="Arial"/>
                        <a:buNone/>
                      </a:pPr>
                      <a:r>
                        <a:rPr b="0" lang="en-US" sz="1800" u="none" cap="none" strike="noStrike">
                          <a:solidFill>
                            <a:srgbClr val="070F64"/>
                          </a:solidFill>
                          <a:latin typeface="Arial"/>
                          <a:ea typeface="Arial"/>
                          <a:cs typeface="Arial"/>
                          <a:sym typeface="Arial"/>
                        </a:rPr>
                        <a:t>y evaluación.</a:t>
                      </a:r>
                      <a:endParaRPr/>
                    </a:p>
                  </a:txBody>
                  <a:tcPr marT="45725" marB="45725" marR="91450" marL="91450" anchor="ctr">
                    <a:solidFill>
                      <a:srgbClr val="E5F5FC"/>
                    </a:solidFill>
                  </a:tcPr>
                </a:tc>
              </a:tr>
            </a:tbl>
          </a:graphicData>
        </a:graphic>
      </p:graphicFrame>
      <p:sp>
        <p:nvSpPr>
          <p:cNvPr id="1876" name="Google Shape;1876;p69"/>
          <p:cNvSpPr/>
          <p:nvPr/>
        </p:nvSpPr>
        <p:spPr>
          <a:xfrm>
            <a:off x="266700" y="5600700"/>
            <a:ext cx="11658600" cy="809700"/>
          </a:xfrm>
          <a:prstGeom prst="rect">
            <a:avLst/>
          </a:prstGeom>
          <a:solidFill>
            <a:srgbClr val="E5F5FC"/>
          </a:solidFill>
          <a:ln cap="flat" cmpd="sng" w="9525">
            <a:solidFill>
              <a:srgbClr val="9A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69"/>
          <p:cNvSpPr/>
          <p:nvPr/>
        </p:nvSpPr>
        <p:spPr>
          <a:xfrm>
            <a:off x="447675" y="5734050"/>
            <a:ext cx="112968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2100"/>
              <a:buFont typeface="Arial"/>
              <a:buNone/>
            </a:pPr>
            <a:r>
              <a:rPr b="1" lang="en-US" sz="2100">
                <a:solidFill>
                  <a:srgbClr val="070F64"/>
                </a:solidFill>
                <a:latin typeface="Arial"/>
                <a:ea typeface="Arial"/>
                <a:cs typeface="Arial"/>
                <a:sym typeface="Arial"/>
              </a:rPr>
              <a:t>Las señales identificadas en la petición permiten construir la salida del detector.</a:t>
            </a:r>
            <a:endParaRPr/>
          </a:p>
        </p:txBody>
      </p:sp>
      <p:sp>
        <p:nvSpPr>
          <p:cNvPr id="1878" name="Google Shape;1878;p69"/>
          <p:cNvSpPr/>
          <p:nvPr/>
        </p:nvSpPr>
        <p:spPr>
          <a:xfrm>
            <a:off x="447675" y="6105525"/>
            <a:ext cx="11296800" cy="29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70F64"/>
              </a:buClr>
              <a:buSzPts val="1800"/>
              <a:buFont typeface="Arial"/>
              <a:buNone/>
            </a:pPr>
            <a:r>
              <a:rPr b="0" lang="en-US" sz="1800">
                <a:solidFill>
                  <a:srgbClr val="070F64"/>
                </a:solidFill>
                <a:latin typeface="Arial"/>
                <a:ea typeface="Arial"/>
                <a:cs typeface="Arial"/>
                <a:sym typeface="Arial"/>
              </a:rPr>
              <a:t>La política determina la actuación: permitir, alertar o bloquear.</a:t>
            </a:r>
            <a:endParaRPr/>
          </a:p>
        </p:txBody>
      </p:sp>
      <p:sp>
        <p:nvSpPr>
          <p:cNvPr id="1879" name="Google Shape;1879;p69"/>
          <p:cNvSpPr/>
          <p:nvPr/>
        </p:nvSpPr>
        <p:spPr>
          <a:xfrm>
            <a:off x="285750" y="6667500"/>
            <a:ext cx="11239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5270"/>
              </a:buClr>
              <a:buSzPts val="975"/>
              <a:buFont typeface="Arial"/>
              <a:buNone/>
            </a:pPr>
            <a:r>
              <a:rPr b="0" lang="en-US" sz="975">
                <a:solidFill>
                  <a:srgbClr val="3F5270"/>
                </a:solidFill>
                <a:latin typeface="Arial"/>
                <a:ea typeface="Arial"/>
                <a:cs typeface="Arial"/>
                <a:sym typeface="Arial"/>
              </a:rPr>
              <a:t>Fuentes: NIST SP 800-94; scikit-learn, clasificación multiclase y multietiqueta.</a:t>
            </a:r>
            <a:endParaRPr/>
          </a:p>
        </p:txBody>
      </p:sp>
      <p:sp>
        <p:nvSpPr>
          <p:cNvPr id="1880" name="Google Shape;1880;p69"/>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81" name="Google Shape;1881;p69" title="DEFENSA_SEGURA_V2:barra-51"/>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82" name="Google Shape;1882;p69" title="DEFENSA_SEGURA_V2:avance-51"/>
          <p:cNvSpPr/>
          <p:nvPr/>
        </p:nvSpPr>
        <p:spPr>
          <a:xfrm>
            <a:off x="0" y="0"/>
            <a:ext cx="22167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83" name="Google Shape;1883;p69" title="DEFENSA_SEGURA_V2:seccion-51"/>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70"/>
          <p:cNvSpPr/>
          <p:nvPr/>
        </p:nvSpPr>
        <p:spPr>
          <a:xfrm>
            <a:off x="266700" y="209550"/>
            <a:ext cx="116586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25">
                <a:solidFill>
                  <a:srgbClr val="111F5B"/>
                </a:solidFill>
              </a:rPr>
              <a:t>¿Con qué técnicas puede hacerlo?</a:t>
            </a:r>
            <a:endParaRPr b="1">
              <a:solidFill>
                <a:srgbClr val="111F5B"/>
              </a:solidFill>
            </a:endParaRPr>
          </a:p>
        </p:txBody>
      </p:sp>
      <p:sp>
        <p:nvSpPr>
          <p:cNvPr id="1890" name="Google Shape;1890;p70"/>
          <p:cNvSpPr/>
          <p:nvPr/>
        </p:nvSpPr>
        <p:spPr>
          <a:xfrm>
            <a:off x="285750" y="828675"/>
            <a:ext cx="116205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070F64"/>
                </a:solidFill>
                <a:latin typeface="Arial"/>
                <a:ea typeface="Arial"/>
                <a:cs typeface="Arial"/>
                <a:sym typeface="Arial"/>
              </a:rPr>
              <a:t>Dos alternativas combinables dentro del WAF.</a:t>
            </a:r>
            <a:endParaRPr/>
          </a:p>
        </p:txBody>
      </p:sp>
      <p:sp>
        <p:nvSpPr>
          <p:cNvPr id="1891" name="Google Shape;1891;p70"/>
          <p:cNvSpPr/>
          <p:nvPr/>
        </p:nvSpPr>
        <p:spPr>
          <a:xfrm>
            <a:off x="285750" y="1228725"/>
            <a:ext cx="116205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070F64"/>
                </a:solidFill>
                <a:latin typeface="Arial"/>
                <a:ea typeface="Arial"/>
                <a:cs typeface="Arial"/>
                <a:sym typeface="Arial"/>
              </a:rPr>
              <a:t>Firmas: patrones de ataque. Reglas positivas (lista blanca): estructuras y valores permitidos.</a:t>
            </a:r>
            <a:endParaRPr/>
          </a:p>
        </p:txBody>
      </p:sp>
      <p:graphicFrame>
        <p:nvGraphicFramePr>
          <p:cNvPr id="1892" name="Google Shape;1892;p70"/>
          <p:cNvGraphicFramePr/>
          <p:nvPr/>
        </p:nvGraphicFramePr>
        <p:xfrm>
          <a:off x="266700" y="1685925"/>
          <a:ext cx="3000000" cy="3000000"/>
        </p:xfrm>
        <a:graphic>
          <a:graphicData uri="http://schemas.openxmlformats.org/drawingml/2006/table">
            <a:tbl>
              <a:tblPr>
                <a:noFill/>
                <a:tableStyleId>{F1B291AF-9CB1-4793-AFE8-E70834C1BA4F}</a:tableStyleId>
              </a:tblPr>
              <a:tblGrid>
                <a:gridCol w="4057650"/>
                <a:gridCol w="3781425"/>
                <a:gridCol w="3819525"/>
              </a:tblGrid>
              <a:tr h="590550">
                <a:tc>
                  <a:txBody>
                    <a:bodyPr/>
                    <a:lstStyle/>
                    <a:p>
                      <a:pPr indent="0" lvl="0" marL="0" marR="0" rtl="0" algn="l">
                        <a:spcBef>
                          <a:spcPts val="0"/>
                        </a:spcBef>
                        <a:spcAft>
                          <a:spcPts val="0"/>
                        </a:spcAft>
                        <a:buClr>
                          <a:srgbClr val="070F64"/>
                        </a:buClr>
                        <a:buSzPts val="1650"/>
                        <a:buFont typeface="Arial"/>
                        <a:buNone/>
                      </a:pPr>
                      <a:r>
                        <a:rPr b="1" lang="en-US" sz="1650" u="none" cap="none" strike="noStrike">
                          <a:solidFill>
                            <a:srgbClr val="070F64"/>
                          </a:solidFill>
                          <a:latin typeface="Arial"/>
                          <a:ea typeface="Arial"/>
                          <a:cs typeface="Arial"/>
                          <a:sym typeface="Arial"/>
                        </a:rPr>
                        <a:t>Capacidad</a:t>
                      </a:r>
                      <a:endParaRPr/>
                    </a:p>
                  </a:txBody>
                  <a:tcPr marT="45725" marB="45725" marR="91450" marL="91450" anchor="ctr">
                    <a:solidFill>
                      <a:srgbClr val="D5EFF9"/>
                    </a:solidFill>
                  </a:tcPr>
                </a:tc>
                <a:tc>
                  <a:txBody>
                    <a:bodyPr/>
                    <a:lstStyle/>
                    <a:p>
                      <a:pPr indent="0" lvl="0" marL="0" marR="0" rtl="0" algn="l">
                        <a:spcBef>
                          <a:spcPts val="0"/>
                        </a:spcBef>
                        <a:spcAft>
                          <a:spcPts val="0"/>
                        </a:spcAft>
                        <a:buClr>
                          <a:srgbClr val="070F64"/>
                        </a:buClr>
                        <a:buSzPts val="1650"/>
                        <a:buFont typeface="Arial"/>
                        <a:buNone/>
                      </a:pPr>
                      <a:r>
                        <a:rPr b="1" lang="en-US" sz="1650" u="none" cap="none" strike="noStrike">
                          <a:solidFill>
                            <a:srgbClr val="070F64"/>
                          </a:solidFill>
                          <a:latin typeface="Arial"/>
                          <a:ea typeface="Arial"/>
                          <a:cs typeface="Arial"/>
                          <a:sym typeface="Arial"/>
                        </a:rPr>
                        <a:t>Detección basada en reglas</a:t>
                      </a:r>
                      <a:endParaRPr/>
                    </a:p>
                    <a:p>
                      <a:pPr indent="0" lvl="0" marL="0" marR="0" rtl="0" algn="l">
                        <a:spcBef>
                          <a:spcPts val="0"/>
                        </a:spcBef>
                        <a:spcAft>
                          <a:spcPts val="0"/>
                        </a:spcAft>
                        <a:buClr>
                          <a:srgbClr val="070F64"/>
                        </a:buClr>
                        <a:buSzPts val="1650"/>
                        <a:buFont typeface="Arial"/>
                        <a:buNone/>
                      </a:pPr>
                      <a:r>
                        <a:rPr b="1" lang="en-US" sz="1650" u="none" cap="none" strike="noStrike">
                          <a:solidFill>
                            <a:srgbClr val="070F64"/>
                          </a:solidFill>
                          <a:latin typeface="Arial"/>
                          <a:ea typeface="Arial"/>
                          <a:cs typeface="Arial"/>
                          <a:sym typeface="Arial"/>
                        </a:rPr>
                        <a:t>Firmas y reglas positivas</a:t>
                      </a:r>
                      <a:endParaRPr/>
                    </a:p>
                  </a:txBody>
                  <a:tcPr marT="45725" marB="45725" marR="91450" marL="91450" anchor="ctr">
                    <a:solidFill>
                      <a:srgbClr val="D5EFF9"/>
                    </a:solidFill>
                  </a:tcPr>
                </a:tc>
                <a:tc>
                  <a:txBody>
                    <a:bodyPr/>
                    <a:lstStyle/>
                    <a:p>
                      <a:pPr indent="0" lvl="0" marL="0" marR="0" rtl="0" algn="l">
                        <a:spcBef>
                          <a:spcPts val="0"/>
                        </a:spcBef>
                        <a:spcAft>
                          <a:spcPts val="0"/>
                        </a:spcAft>
                        <a:buClr>
                          <a:srgbClr val="070F64"/>
                        </a:buClr>
                        <a:buSzPts val="1650"/>
                        <a:buFont typeface="Arial"/>
                        <a:buNone/>
                      </a:pPr>
                      <a:r>
                        <a:rPr b="1" lang="en-US" sz="1650" u="none" cap="none" strike="noStrike">
                          <a:solidFill>
                            <a:srgbClr val="070F64"/>
                          </a:solidFill>
                          <a:latin typeface="Arial"/>
                          <a:ea typeface="Arial"/>
                          <a:cs typeface="Arial"/>
                          <a:sym typeface="Arial"/>
                        </a:rPr>
                        <a:t>Machine learning (ML)</a:t>
                      </a:r>
                      <a:endParaRPr/>
                    </a:p>
                    <a:p>
                      <a:pPr indent="0" lvl="0" marL="0" marR="0" rtl="0" algn="l">
                        <a:spcBef>
                          <a:spcPts val="0"/>
                        </a:spcBef>
                        <a:spcAft>
                          <a:spcPts val="0"/>
                        </a:spcAft>
                        <a:buClr>
                          <a:srgbClr val="070F64"/>
                        </a:buClr>
                        <a:buSzPts val="1650"/>
                        <a:buFont typeface="Arial"/>
                        <a:buNone/>
                      </a:pPr>
                      <a:r>
                        <a:rPr b="1" lang="en-US" sz="1650" u="none" cap="none" strike="noStrike">
                          <a:solidFill>
                            <a:srgbClr val="070F64"/>
                          </a:solidFill>
                          <a:latin typeface="Arial"/>
                          <a:ea typeface="Arial"/>
                          <a:cs typeface="Arial"/>
                          <a:sym typeface="Arial"/>
                        </a:rPr>
                        <a:t>Patrones aprendidos</a:t>
                      </a:r>
                      <a:endParaRPr/>
                    </a:p>
                  </a:txBody>
                  <a:tcPr marT="45725" marB="45725" marR="91450" marL="91450" anchor="ctr">
                    <a:solidFill>
                      <a:srgbClr val="D5EFF9"/>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Generar una decisión binaria</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Sí, según la política</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Sí, según el modelo</a:t>
                      </a:r>
                      <a:endParaRPr/>
                    </a:p>
                  </a:txBody>
                  <a:tcPr marT="45725" marB="45725" marR="91450" marL="91450" anchor="ctr">
                    <a:solidFill>
                      <a:srgbClr val="E5F6FC"/>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Informar uno o varios tipos</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Con firmas categorizadas*</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Con clases o etiquetas</a:t>
                      </a:r>
                      <a:endParaRPr/>
                    </a:p>
                  </a:txBody>
                  <a:tcPr marT="45725" marB="45725" marR="91450" marL="91450" anchor="ctr">
                    <a:solidFill>
                      <a:srgbClr val="F4FAFD"/>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Aprender un perfil de normalidad</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No: condiciones predefinidas</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Sí, según el método</a:t>
                      </a:r>
                      <a:endParaRPr/>
                    </a:p>
                  </a:txBody>
                  <a:tcPr marT="45725" marB="45725" marR="91450" marL="91450" anchor="ctr">
                    <a:solidFill>
                      <a:srgbClr val="E5F6FC"/>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Aprender de datos etiquetados</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No</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Sí: normales y ataques</a:t>
                      </a:r>
                      <a:endParaRPr/>
                    </a:p>
                  </a:txBody>
                  <a:tcPr marT="45725" marB="45725" marR="91450" marL="91450" anchor="ctr">
                    <a:solidFill>
                      <a:srgbClr val="F4FAFD"/>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requiere entrenamiento</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lang="en-US" sz="1575">
                          <a:solidFill>
                            <a:srgbClr val="070F64"/>
                          </a:solidFill>
                        </a:rPr>
                        <a:t>No</a:t>
                      </a:r>
                      <a:r>
                        <a:rPr b="0" lang="en-US" sz="1575" u="none" cap="none" strike="noStrike">
                          <a:solidFill>
                            <a:srgbClr val="070F64"/>
                          </a:solidFill>
                          <a:latin typeface="Arial"/>
                          <a:ea typeface="Arial"/>
                          <a:cs typeface="Arial"/>
                          <a:sym typeface="Arial"/>
                        </a:rPr>
                        <a:t>, </a:t>
                      </a:r>
                      <a:r>
                        <a:rPr lang="en-US" sz="1575">
                          <a:solidFill>
                            <a:srgbClr val="070F64"/>
                          </a:solidFill>
                        </a:rPr>
                        <a:t>usa</a:t>
                      </a:r>
                      <a:r>
                        <a:rPr b="0" lang="en-US" sz="1575" u="none" cap="none" strike="noStrike">
                          <a:solidFill>
                            <a:srgbClr val="070F64"/>
                          </a:solidFill>
                          <a:latin typeface="Arial"/>
                          <a:ea typeface="Arial"/>
                          <a:cs typeface="Arial"/>
                          <a:sym typeface="Arial"/>
                        </a:rPr>
                        <a:t> reglas predefinidas</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lang="en-US" sz="1575">
                          <a:solidFill>
                            <a:srgbClr val="070F64"/>
                          </a:solidFill>
                        </a:rPr>
                        <a:t>Sí</a:t>
                      </a:r>
                      <a:r>
                        <a:rPr b="0" lang="en-US" sz="1575" u="none" cap="none" strike="noStrike">
                          <a:solidFill>
                            <a:srgbClr val="070F64"/>
                          </a:solidFill>
                          <a:latin typeface="Arial"/>
                          <a:ea typeface="Arial"/>
                          <a:cs typeface="Arial"/>
                          <a:sym typeface="Arial"/>
                        </a:rPr>
                        <a:t>: usa un modelo entrenado</a:t>
                      </a:r>
                      <a:endParaRPr/>
                    </a:p>
                  </a:txBody>
                  <a:tcPr marT="45725" marB="45725" marR="91450" marL="91450" anchor="ctr">
                    <a:solidFill>
                      <a:srgbClr val="E5F6FC"/>
                    </a:solidFill>
                  </a:tcPr>
                </a:tc>
              </a:tr>
              <a:tr h="428625">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Explicar la condición activada</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Regla y condición visibles</a:t>
                      </a:r>
                      <a:endParaRPr/>
                    </a:p>
                  </a:txBody>
                  <a:tcPr marT="45725" marB="45725" marR="91450" marL="91450" anchor="ctr">
                    <a:solidFill>
                      <a:srgbClr val="F4FAFD"/>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Depende del modelo</a:t>
                      </a:r>
                      <a:endParaRPr/>
                    </a:p>
                  </a:txBody>
                  <a:tcPr marT="45725" marB="45725" marR="91450" marL="91450" anchor="ctr">
                    <a:solidFill>
                      <a:srgbClr val="F4FAFD"/>
                    </a:solidFill>
                  </a:tcPr>
                </a:tc>
              </a:tr>
              <a:tr h="571500">
                <a:tc>
                  <a:txBody>
                    <a:bodyPr/>
                    <a:lstStyle/>
                    <a:p>
                      <a:pPr indent="0" lvl="0" marL="0" marR="0" rtl="0" algn="l">
                        <a:spcBef>
                          <a:spcPts val="0"/>
                        </a:spcBef>
                        <a:spcAft>
                          <a:spcPts val="0"/>
                        </a:spcAft>
                        <a:buClr>
                          <a:srgbClr val="070F64"/>
                        </a:buClr>
                        <a:buSzPts val="1575"/>
                        <a:buFont typeface="Arial"/>
                        <a:buNone/>
                      </a:pPr>
                      <a:r>
                        <a:rPr b="1" lang="en-US" sz="1575" u="none" cap="none" strike="noStrike">
                          <a:solidFill>
                            <a:srgbClr val="070F64"/>
                          </a:solidFill>
                          <a:latin typeface="Arial"/>
                          <a:ea typeface="Arial"/>
                          <a:cs typeface="Arial"/>
                          <a:sym typeface="Arial"/>
                        </a:rPr>
                        <a:t>Limitación central</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Mantener firmas y listas blancas.</a:t>
                      </a:r>
                      <a:endParaRPr/>
                    </a:p>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Posibles evasiones.</a:t>
                      </a:r>
                      <a:endParaRPr/>
                    </a:p>
                  </a:txBody>
                  <a:tcPr marT="45725" marB="45725" marR="91450" marL="91450" anchor="ctr">
                    <a:solidFill>
                      <a:srgbClr val="E5F6FC"/>
                    </a:solidFill>
                  </a:tcPr>
                </a:tc>
                <a:tc>
                  <a:txBody>
                    <a:bodyPr/>
                    <a:lstStyle/>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Datos representativos.</a:t>
                      </a:r>
                      <a:endParaRPr/>
                    </a:p>
                    <a:p>
                      <a:pPr indent="0" lvl="0" marL="0" marR="0" rtl="0" algn="l">
                        <a:spcBef>
                          <a:spcPts val="0"/>
                        </a:spcBef>
                        <a:spcAft>
                          <a:spcPts val="0"/>
                        </a:spcAft>
                        <a:buClr>
                          <a:srgbClr val="070F64"/>
                        </a:buClr>
                        <a:buSzPts val="1575"/>
                        <a:buFont typeface="Arial"/>
                        <a:buNone/>
                      </a:pPr>
                      <a:r>
                        <a:rPr b="0" lang="en-US" sz="1575" u="none" cap="none" strike="noStrike">
                          <a:solidFill>
                            <a:srgbClr val="070F64"/>
                          </a:solidFill>
                          <a:latin typeface="Arial"/>
                          <a:ea typeface="Arial"/>
                          <a:cs typeface="Arial"/>
                          <a:sym typeface="Arial"/>
                        </a:rPr>
                        <a:t>Validación y seguimiento.</a:t>
                      </a:r>
                      <a:endParaRPr/>
                    </a:p>
                  </a:txBody>
                  <a:tcPr marT="45725" marB="45725" marR="91450" marL="91450" anchor="ctr">
                    <a:solidFill>
                      <a:srgbClr val="E5F6FC"/>
                    </a:solidFill>
                  </a:tcPr>
                </a:tc>
              </a:tr>
            </a:tbl>
          </a:graphicData>
        </a:graphic>
      </p:graphicFrame>
      <p:sp>
        <p:nvSpPr>
          <p:cNvPr id="1893" name="Google Shape;1893;p70"/>
          <p:cNvSpPr/>
          <p:nvPr/>
        </p:nvSpPr>
        <p:spPr>
          <a:xfrm>
            <a:off x="285750" y="5448300"/>
            <a:ext cx="11620500" cy="48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070F64"/>
                </a:solidFill>
                <a:latin typeface="Arial"/>
                <a:ea typeface="Arial"/>
                <a:cs typeface="Arial"/>
                <a:sym typeface="Arial"/>
              </a:rPr>
              <a:t>* Una firma categorizada puede indicar el tipo de ataque. Incumplir una regla positiva señala una entrada</a:t>
            </a:r>
            <a:endParaRPr/>
          </a:p>
          <a:p>
            <a:pPr indent="0" lvl="0" marL="0" marR="0" rtl="0" algn="l">
              <a:spcBef>
                <a:spcPts val="0"/>
              </a:spcBef>
              <a:spcAft>
                <a:spcPts val="0"/>
              </a:spcAft>
              <a:buNone/>
            </a:pPr>
            <a:r>
              <a:rPr b="0" lang="en-US" sz="1500">
                <a:solidFill>
                  <a:srgbClr val="070F64"/>
                </a:solidFill>
                <a:latin typeface="Arial"/>
                <a:ea typeface="Arial"/>
                <a:cs typeface="Arial"/>
                <a:sym typeface="Arial"/>
              </a:rPr>
              <a:t>  no permitida, sin identificar por sí solo una familia de ataque.</a:t>
            </a:r>
            <a:endParaRPr/>
          </a:p>
        </p:txBody>
      </p:sp>
      <p:sp>
        <p:nvSpPr>
          <p:cNvPr id="1894" name="Google Shape;1894;p70"/>
          <p:cNvSpPr/>
          <p:nvPr/>
        </p:nvSpPr>
        <p:spPr>
          <a:xfrm>
            <a:off x="285750" y="6029325"/>
            <a:ext cx="11620500" cy="27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070F64"/>
                </a:solidFill>
                <a:latin typeface="Arial"/>
                <a:ea typeface="Arial"/>
                <a:cs typeface="Arial"/>
                <a:sym typeface="Arial"/>
              </a:rPr>
              <a:t>¿Por qué utilizar ML en un WAF?</a:t>
            </a:r>
            <a:endParaRPr/>
          </a:p>
        </p:txBody>
      </p:sp>
      <p:sp>
        <p:nvSpPr>
          <p:cNvPr id="1895" name="Google Shape;1895;p70"/>
          <p:cNvSpPr/>
          <p:nvPr/>
        </p:nvSpPr>
        <p:spPr>
          <a:xfrm>
            <a:off x="285750" y="6334125"/>
            <a:ext cx="11620500" cy="27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070F64"/>
                </a:solidFill>
                <a:latin typeface="Arial"/>
                <a:ea typeface="Arial"/>
                <a:cs typeface="Arial"/>
                <a:sym typeface="Arial"/>
              </a:rPr>
              <a:t>Permite aprender relaciones entre características HTTP y etiquetas, y estudiar el aporte de las variables.</a:t>
            </a:r>
            <a:endParaRPr/>
          </a:p>
        </p:txBody>
      </p:sp>
      <p:sp>
        <p:nvSpPr>
          <p:cNvPr id="1896" name="Google Shape;1896;p70"/>
          <p:cNvSpPr/>
          <p:nvPr/>
        </p:nvSpPr>
        <p:spPr>
          <a:xfrm>
            <a:off x="285750" y="6705600"/>
            <a:ext cx="1104900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3F5270"/>
                </a:solidFill>
                <a:latin typeface="Arial"/>
                <a:ea typeface="Arial"/>
                <a:cs typeface="Arial"/>
                <a:sym typeface="Arial"/>
              </a:rPr>
              <a:t>Fuentes: OWASP, Virtual Patching e Input Validation Cheat Sheets; ModSecurity / CRS; scikit-learn.</a:t>
            </a:r>
            <a:endParaRPr/>
          </a:p>
        </p:txBody>
      </p:sp>
      <p:sp>
        <p:nvSpPr>
          <p:cNvPr id="1897" name="Google Shape;1897;p70"/>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98" name="Google Shape;1898;p70" title="DEFENSA_SEGURA_V2:barra-52"/>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99" name="Google Shape;1899;p70" title="DEFENSA_SEGURA_V2:avance-52"/>
          <p:cNvSpPr/>
          <p:nvPr/>
        </p:nvSpPr>
        <p:spPr>
          <a:xfrm>
            <a:off x="0" y="0"/>
            <a:ext cx="33252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00" name="Google Shape;1900;p70" title="DEFENSA_SEGURA_V2:seccion-52"/>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4" name="Shape 1904"/>
        <p:cNvGrpSpPr/>
        <p:nvPr/>
      </p:nvGrpSpPr>
      <p:grpSpPr>
        <a:xfrm>
          <a:off x="0" y="0"/>
          <a:ext cx="0" cy="0"/>
          <a:chOff x="0" y="0"/>
          <a:chExt cx="0" cy="0"/>
        </a:xfrm>
      </p:grpSpPr>
      <p:sp>
        <p:nvSpPr>
          <p:cNvPr id="1905" name="Google Shape;1905;p71"/>
          <p:cNvSpPr/>
          <p:nvPr/>
        </p:nvSpPr>
        <p:spPr>
          <a:xfrm>
            <a:off x="236455" y="1486750"/>
            <a:ext cx="11689938" cy="3148412"/>
          </a:xfrm>
          <a:prstGeom prst="roundRect">
            <a:avLst>
              <a:gd fmla="val 1852" name="adj"/>
            </a:avLst>
          </a:prstGeom>
          <a:solidFill>
            <a:srgbClr val="E2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1"/>
          <p:cNvSpPr/>
          <p:nvPr/>
        </p:nvSpPr>
        <p:spPr>
          <a:xfrm>
            <a:off x="236455" y="5276506"/>
            <a:ext cx="11689938" cy="670495"/>
          </a:xfrm>
          <a:prstGeom prst="roundRect">
            <a:avLst>
              <a:gd fmla="val 8696" name="adj"/>
            </a:avLst>
          </a:prstGeom>
          <a:solidFill>
            <a:srgbClr val="DCEF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1"/>
          <p:cNvSpPr/>
          <p:nvPr/>
        </p:nvSpPr>
        <p:spPr>
          <a:xfrm>
            <a:off x="236455" y="991167"/>
            <a:ext cx="11719090" cy="437279"/>
          </a:xfrm>
          <a:prstGeom prst="roundRect">
            <a:avLst>
              <a:gd fmla="val 13333" name="adj"/>
            </a:avLst>
          </a:prstGeom>
          <a:solidFill>
            <a:srgbClr val="E1FBF8"/>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1"/>
          <p:cNvSpPr/>
          <p:nvPr/>
        </p:nvSpPr>
        <p:spPr>
          <a:xfrm>
            <a:off x="236455" y="5976153"/>
            <a:ext cx="11689938" cy="437279"/>
          </a:xfrm>
          <a:prstGeom prst="roundRect">
            <a:avLst>
              <a:gd fmla="val 13333" name="adj"/>
            </a:avLst>
          </a:prstGeom>
          <a:solidFill>
            <a:srgbClr val="E3FCF9"/>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9" name="Google Shape;1909;p71"/>
          <p:cNvPicPr preferRelativeResize="0"/>
          <p:nvPr/>
        </p:nvPicPr>
        <p:blipFill rotWithShape="1">
          <a:blip r:embed="rId3">
            <a:alphaModFix/>
          </a:blip>
          <a:srcRect b="0" l="0" r="0" t="0"/>
          <a:stretch/>
        </p:blipFill>
        <p:spPr>
          <a:xfrm>
            <a:off x="309335" y="4708043"/>
            <a:ext cx="291520" cy="291520"/>
          </a:xfrm>
          <a:prstGeom prst="rect">
            <a:avLst/>
          </a:prstGeom>
          <a:noFill/>
          <a:ln>
            <a:noFill/>
          </a:ln>
        </p:spPr>
      </p:pic>
      <p:pic>
        <p:nvPicPr>
          <p:cNvPr id="1910" name="Google Shape;1910;p71"/>
          <p:cNvPicPr preferRelativeResize="0"/>
          <p:nvPr/>
        </p:nvPicPr>
        <p:blipFill rotWithShape="1">
          <a:blip r:embed="rId4">
            <a:alphaModFix/>
          </a:blip>
          <a:srcRect b="0" l="0" r="0" t="0"/>
          <a:stretch/>
        </p:blipFill>
        <p:spPr>
          <a:xfrm>
            <a:off x="309335" y="5028714"/>
            <a:ext cx="378976" cy="145760"/>
          </a:xfrm>
          <a:prstGeom prst="rect">
            <a:avLst/>
          </a:prstGeom>
          <a:noFill/>
          <a:ln>
            <a:noFill/>
          </a:ln>
        </p:spPr>
      </p:pic>
      <p:pic>
        <p:nvPicPr>
          <p:cNvPr id="1911" name="Google Shape;1911;p71"/>
          <p:cNvPicPr preferRelativeResize="0"/>
          <p:nvPr/>
        </p:nvPicPr>
        <p:blipFill rotWithShape="1">
          <a:blip r:embed="rId5">
            <a:alphaModFix/>
          </a:blip>
          <a:srcRect b="0" l="0" r="0" t="0"/>
          <a:stretch/>
        </p:blipFill>
        <p:spPr>
          <a:xfrm>
            <a:off x="3370291" y="5349386"/>
            <a:ext cx="116608" cy="495583"/>
          </a:xfrm>
          <a:prstGeom prst="rect">
            <a:avLst/>
          </a:prstGeom>
          <a:noFill/>
          <a:ln>
            <a:noFill/>
          </a:ln>
        </p:spPr>
      </p:pic>
      <p:sp>
        <p:nvSpPr>
          <p:cNvPr id="1912" name="Google Shape;1912;p71"/>
          <p:cNvSpPr/>
          <p:nvPr/>
        </p:nvSpPr>
        <p:spPr>
          <a:xfrm>
            <a:off x="294759" y="26051"/>
            <a:ext cx="2462764" cy="7775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809" u="none" cap="none" strike="noStrike">
                <a:solidFill>
                  <a:srgbClr val="111F5B"/>
                </a:solidFill>
              </a:rPr>
              <a:t>One-Class</a:t>
            </a:r>
            <a:endParaRPr b="1" sz="500">
              <a:solidFill>
                <a:srgbClr val="111F5B"/>
              </a:solidFill>
            </a:endParaRPr>
          </a:p>
        </p:txBody>
      </p:sp>
      <p:sp>
        <p:nvSpPr>
          <p:cNvPr id="1913" name="Google Shape;1913;p71"/>
          <p:cNvSpPr/>
          <p:nvPr/>
        </p:nvSpPr>
        <p:spPr>
          <a:xfrm>
            <a:off x="302047" y="605788"/>
            <a:ext cx="7702830" cy="4045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71">
                <a:solidFill>
                  <a:srgbClr val="0606A4"/>
                </a:solidFill>
                <a:latin typeface="Arial Narrow"/>
                <a:ea typeface="Arial Narrow"/>
                <a:cs typeface="Arial Narrow"/>
                <a:sym typeface="Arial Narrow"/>
              </a:rPr>
              <a:t>Modelos evaluados con tráfico normal; salida normal o anómala.</a:t>
            </a:r>
            <a:endParaRPr/>
          </a:p>
        </p:txBody>
      </p:sp>
      <p:sp>
        <p:nvSpPr>
          <p:cNvPr id="1914" name="Google Shape;1914;p71"/>
          <p:cNvSpPr/>
          <p:nvPr/>
        </p:nvSpPr>
        <p:spPr>
          <a:xfrm>
            <a:off x="440519" y="1115549"/>
            <a:ext cx="11175900" cy="31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13">
                <a:solidFill>
                  <a:srgbClr val="0A0DA8"/>
                </a:solidFill>
                <a:latin typeface="Arial Narrow"/>
                <a:ea typeface="Arial Narrow"/>
                <a:cs typeface="Arial Narrow"/>
                <a:sym typeface="Arial Narrow"/>
              </a:rPr>
              <a:t>Se evaluaron One-Class SVM e Isolation Forest, ambos ajustados con tráfico normal.</a:t>
            </a:r>
            <a:endParaRPr/>
          </a:p>
        </p:txBody>
      </p:sp>
      <p:sp>
        <p:nvSpPr>
          <p:cNvPr id="1915" name="Google Shape;1915;p71"/>
          <p:cNvSpPr/>
          <p:nvPr/>
        </p:nvSpPr>
        <p:spPr>
          <a:xfrm>
            <a:off x="768478" y="4792882"/>
            <a:ext cx="4080698" cy="26431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64" u="none" cap="none" strike="noStrike">
                <a:solidFill>
                  <a:srgbClr val="0E0DF7"/>
                </a:solidFill>
                <a:latin typeface="Arial Narrow"/>
                <a:ea typeface="Arial Narrow"/>
                <a:cs typeface="Arial Narrow"/>
                <a:sym typeface="Arial Narrow"/>
              </a:rPr>
              <a:t>Disponible; en el modelo destacado, también utilizado.</a:t>
            </a:r>
            <a:endParaRPr/>
          </a:p>
        </p:txBody>
      </p:sp>
      <p:sp>
        <p:nvSpPr>
          <p:cNvPr id="1916" name="Google Shape;1916;p71"/>
          <p:cNvSpPr/>
          <p:nvPr/>
        </p:nvSpPr>
        <p:spPr>
          <a:xfrm>
            <a:off x="768478" y="5031164"/>
            <a:ext cx="4255610" cy="26205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66" u="none" cap="none" strike="noStrike">
                <a:solidFill>
                  <a:srgbClr val="0E0EF7"/>
                </a:solidFill>
                <a:latin typeface="Arial Narrow"/>
                <a:ea typeface="Arial Narrow"/>
                <a:cs typeface="Arial Narrow"/>
                <a:sym typeface="Arial Narrow"/>
              </a:rPr>
              <a:t>No corresponde al mecanismo o configuración indicados.</a:t>
            </a:r>
            <a:endParaRPr/>
          </a:p>
        </p:txBody>
      </p:sp>
      <p:sp>
        <p:nvSpPr>
          <p:cNvPr id="1917" name="Google Shape;1917;p71"/>
          <p:cNvSpPr/>
          <p:nvPr/>
        </p:nvSpPr>
        <p:spPr>
          <a:xfrm>
            <a:off x="3778419" y="5423629"/>
            <a:ext cx="5326945"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44" u="none" cap="none" strike="noStrike">
                <a:solidFill>
                  <a:srgbClr val="0D0FFC"/>
                </a:solidFill>
                <a:latin typeface="Arial Narrow"/>
                <a:ea typeface="Arial Narrow"/>
                <a:cs typeface="Arial Narrow"/>
                <a:sym typeface="Arial Narrow"/>
              </a:rPr>
              <a:t>Permite explorar One-Class mediante árboles sobre atributos HTTP.</a:t>
            </a:r>
            <a:endParaRPr/>
          </a:p>
        </p:txBody>
      </p:sp>
      <p:sp>
        <p:nvSpPr>
          <p:cNvPr id="1918" name="Google Shape;1918;p71"/>
          <p:cNvSpPr/>
          <p:nvPr/>
        </p:nvSpPr>
        <p:spPr>
          <a:xfrm>
            <a:off x="593566" y="5454433"/>
            <a:ext cx="2608524" cy="4023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294" u="none" cap="none" strike="noStrike">
                <a:solidFill>
                  <a:srgbClr val="0607B6"/>
                </a:solidFill>
                <a:latin typeface="Arial Narrow"/>
                <a:ea typeface="Arial Narrow"/>
                <a:cs typeface="Arial Narrow"/>
                <a:sym typeface="Arial Narrow"/>
              </a:rPr>
              <a:t>Motivo de evaluación</a:t>
            </a:r>
            <a:endParaRPr/>
          </a:p>
        </p:txBody>
      </p:sp>
      <p:sp>
        <p:nvSpPr>
          <p:cNvPr id="1919" name="Google Shape;1919;p71"/>
          <p:cNvSpPr/>
          <p:nvPr/>
        </p:nvSpPr>
        <p:spPr>
          <a:xfrm>
            <a:off x="3771131" y="5635881"/>
            <a:ext cx="6653359" cy="2721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10" u="none" cap="none" strike="noStrike">
                <a:solidFill>
                  <a:srgbClr val="0B0EFC"/>
                </a:solidFill>
                <a:latin typeface="Arial Narrow"/>
                <a:ea typeface="Arial Narrow"/>
                <a:cs typeface="Arial Narrow"/>
                <a:sym typeface="Arial Narrow"/>
              </a:rPr>
              <a:t>Se ajustó con tráfico normal y se analizó el aporte de </a:t>
            </a:r>
            <a:r>
              <a:rPr lang="en-US" sz="1610">
                <a:solidFill>
                  <a:srgbClr val="0B0EFC"/>
                </a:solidFill>
                <a:latin typeface="Arial Narrow"/>
                <a:ea typeface="Arial Narrow"/>
                <a:cs typeface="Arial Narrow"/>
                <a:sym typeface="Arial Narrow"/>
              </a:rPr>
              <a:t>atributos</a:t>
            </a:r>
            <a:r>
              <a:rPr b="0" i="0" lang="en-US" sz="1610" u="none" cap="none" strike="noStrike">
                <a:solidFill>
                  <a:srgbClr val="0B0EFC"/>
                </a:solidFill>
                <a:latin typeface="Arial Narrow"/>
                <a:ea typeface="Arial Narrow"/>
                <a:cs typeface="Arial Narrow"/>
                <a:sym typeface="Arial Narrow"/>
              </a:rPr>
              <a:t> mediante permutación.</a:t>
            </a:r>
            <a:endParaRPr/>
          </a:p>
        </p:txBody>
      </p:sp>
      <p:sp>
        <p:nvSpPr>
          <p:cNvPr id="1920" name="Google Shape;1920;p71"/>
          <p:cNvSpPr/>
          <p:nvPr/>
        </p:nvSpPr>
        <p:spPr>
          <a:xfrm>
            <a:off x="418655" y="6095392"/>
            <a:ext cx="6223368" cy="2898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7" u="none" cap="none" strike="noStrike">
                <a:solidFill>
                  <a:srgbClr val="0C0DB5"/>
                </a:solidFill>
                <a:latin typeface="Arial Narrow"/>
                <a:ea typeface="Arial Narrow"/>
                <a:cs typeface="Arial Narrow"/>
                <a:sym typeface="Arial Narrow"/>
              </a:rPr>
              <a:t>Límite: una anomalía puede ser legítima y un ataque puede parecer normal.</a:t>
            </a:r>
            <a:endParaRPr/>
          </a:p>
        </p:txBody>
      </p:sp>
      <p:sp>
        <p:nvSpPr>
          <p:cNvPr id="1921" name="Google Shape;1921;p71"/>
          <p:cNvSpPr/>
          <p:nvPr/>
        </p:nvSpPr>
        <p:spPr>
          <a:xfrm>
            <a:off x="294759" y="6452520"/>
            <a:ext cx="4729330" cy="2235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41" u="none" cap="none" strike="noStrike">
                <a:solidFill>
                  <a:srgbClr val="1310F5"/>
                </a:solidFill>
                <a:latin typeface="Arial Narrow"/>
                <a:ea typeface="Arial Narrow"/>
                <a:cs typeface="Arial Narrow"/>
                <a:sym typeface="Arial Narrow"/>
              </a:rPr>
              <a:t>Comparación técnica; Isolation Forest se presenta como modelo evaluado.</a:t>
            </a:r>
            <a:endParaRPr/>
          </a:p>
        </p:txBody>
      </p:sp>
      <p:graphicFrame>
        <p:nvGraphicFramePr>
          <p:cNvPr id="1922" name="Google Shape;1922;p71"/>
          <p:cNvGraphicFramePr/>
          <p:nvPr/>
        </p:nvGraphicFramePr>
        <p:xfrm>
          <a:off x="265607" y="1494038"/>
          <a:ext cx="3000000" cy="3000000"/>
        </p:xfrm>
        <a:graphic>
          <a:graphicData uri="http://schemas.openxmlformats.org/drawingml/2006/table">
            <a:tbl>
              <a:tblPr>
                <a:noFill/>
                <a:tableStyleId>{F1B291AF-9CB1-4793-AFE8-E70834C1BA4F}</a:tableStyleId>
              </a:tblPr>
              <a:tblGrid>
                <a:gridCol w="5298375"/>
                <a:gridCol w="3148400"/>
                <a:gridCol w="3214000"/>
              </a:tblGrid>
              <a:tr h="655925">
                <a:tc>
                  <a:txBody>
                    <a:bodyPr/>
                    <a:lstStyle/>
                    <a:p>
                      <a:pPr indent="0" lvl="0" marL="0" marR="0" rtl="0" algn="l">
                        <a:spcBef>
                          <a:spcPts val="0"/>
                        </a:spcBef>
                        <a:spcAft>
                          <a:spcPts val="0"/>
                        </a:spcAft>
                        <a:buNone/>
                      </a:pPr>
                      <a:r>
                        <a:rPr b="1" lang="en-US" sz="1839" u="none" cap="none" strike="noStrike">
                          <a:solidFill>
                            <a:srgbClr val="070F64"/>
                          </a:solidFill>
                          <a:latin typeface="Arial"/>
                          <a:ea typeface="Arial"/>
                          <a:cs typeface="Arial"/>
                          <a:sym typeface="Arial"/>
                        </a:rPr>
                        <a:t>Capacidad utilizada (utilidad en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839" u="none" cap="none" strike="noStrike">
                          <a:solidFill>
                            <a:srgbClr val="070F64"/>
                          </a:solidFill>
                          <a:latin typeface="Arial"/>
                          <a:ea typeface="Arial"/>
                          <a:cs typeface="Arial"/>
                          <a:sym typeface="Arial"/>
                        </a:rPr>
                        <a:t>Isolation Forest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839">
                          <a:solidFill>
                            <a:srgbClr val="070F64"/>
                          </a:solidFill>
                        </a:rPr>
                        <a:t>One-Class</a:t>
                      </a:r>
                      <a:r>
                        <a:rPr b="1" lang="en-US" sz="1839" u="none" cap="none" strike="noStrike">
                          <a:solidFill>
                            <a:srgbClr val="070F64"/>
                          </a:solidFill>
                          <a:latin typeface="Arial"/>
                          <a:ea typeface="Arial"/>
                          <a:cs typeface="Arial"/>
                          <a:sym typeface="Arial"/>
                        </a:rPr>
                        <a:t> SVM (RBF)</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r>
              <a:tr h="568475">
                <a:tc>
                  <a:txBody>
                    <a:bodyPr/>
                    <a:lstStyle/>
                    <a:p>
                      <a:pPr indent="0" lvl="0" marL="0" marR="0" rtl="0" algn="l">
                        <a:spcBef>
                          <a:spcPts val="0"/>
                        </a:spcBef>
                        <a:spcAft>
                          <a:spcPts val="0"/>
                        </a:spcAft>
                        <a:buNone/>
                      </a:pPr>
                      <a:r>
                        <a:rPr b="1" lang="en-US" sz="1298" u="none" cap="none" strike="noStrike">
                          <a:solidFill>
                            <a:srgbClr val="070F64"/>
                          </a:solidFill>
                          <a:latin typeface="Arial"/>
                          <a:ea typeface="Arial"/>
                          <a:cs typeface="Arial"/>
                          <a:sym typeface="Arial"/>
                        </a:rPr>
                        <a:t>Basado en árboles</a:t>
                      </a:r>
                      <a:endParaRPr/>
                    </a:p>
                    <a:p>
                      <a:pPr indent="0" lvl="0" marL="0" marR="0" rtl="0" algn="l">
                        <a:spcBef>
                          <a:spcPts val="0"/>
                        </a:spcBef>
                        <a:spcAft>
                          <a:spcPts val="0"/>
                        </a:spcAft>
                        <a:buNone/>
                      </a:pPr>
                      <a:r>
                        <a:rPr b="1" lang="en-US" sz="1298" u="none" cap="none" strike="noStrike">
                          <a:solidFill>
                            <a:srgbClr val="070F64"/>
                          </a:solidFill>
                          <a:latin typeface="Arial"/>
                          <a:ea typeface="Arial"/>
                          <a:cs typeface="Arial"/>
                          <a:sym typeface="Arial"/>
                        </a:rPr>
                        <a:t>(aislar peticiones mediante particiones de atributos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641350">
                <a:tc>
                  <a:txBody>
                    <a:bodyPr/>
                    <a:lstStyle/>
                    <a:p>
                      <a:pPr indent="0" lvl="0" marL="0" marR="0" rtl="0" algn="l">
                        <a:spcBef>
                          <a:spcPts val="0"/>
                        </a:spcBef>
                        <a:spcAft>
                          <a:spcPts val="0"/>
                        </a:spcAft>
                        <a:buNone/>
                      </a:pPr>
                      <a:r>
                        <a:rPr b="1" lang="en-US" sz="1303" u="none" cap="none" strike="noStrike">
                          <a:solidFill>
                            <a:srgbClr val="070F64"/>
                          </a:solidFill>
                          <a:latin typeface="Arial"/>
                          <a:ea typeface="Arial"/>
                          <a:cs typeface="Arial"/>
                          <a:sym typeface="Arial"/>
                        </a:rPr>
                        <a:t>Ajuste solo con tráfico normal</a:t>
                      </a:r>
                      <a:endParaRPr/>
                    </a:p>
                    <a:p>
                      <a:pPr indent="0" lvl="0" marL="0" marR="0" rtl="0" algn="l">
                        <a:spcBef>
                          <a:spcPts val="0"/>
                        </a:spcBef>
                        <a:spcAft>
                          <a:spcPts val="0"/>
                        </a:spcAft>
                        <a:buNone/>
                      </a:pPr>
                      <a:r>
                        <a:rPr b="1" lang="en-US" sz="1303" u="none" cap="none" strike="noStrike">
                          <a:solidFill>
                            <a:srgbClr val="070F64"/>
                          </a:solidFill>
                          <a:latin typeface="Arial"/>
                          <a:ea typeface="Arial"/>
                          <a:cs typeface="Arial"/>
                          <a:sym typeface="Arial"/>
                        </a:rPr>
                        <a:t>(aprender una referencia sin ataques en el entrenamiento)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48625">
                <a:tc>
                  <a:txBody>
                    <a:bodyPr/>
                    <a:lstStyle/>
                    <a:p>
                      <a:pPr indent="0" lvl="0" marL="0" marR="0" rtl="0" algn="l">
                        <a:spcBef>
                          <a:spcPts val="0"/>
                        </a:spcBef>
                        <a:spcAft>
                          <a:spcPts val="0"/>
                        </a:spcAft>
                        <a:buNone/>
                      </a:pPr>
                      <a:r>
                        <a:rPr b="1" lang="en-US" sz="1430" u="none" cap="none" strike="noStrike">
                          <a:solidFill>
                            <a:srgbClr val="070F64"/>
                          </a:solidFill>
                          <a:latin typeface="Arial"/>
                          <a:ea typeface="Arial"/>
                          <a:cs typeface="Arial"/>
                          <a:sym typeface="Arial"/>
                        </a:rPr>
                        <a:t>Decisión normal/anómalo</a:t>
                      </a:r>
                      <a:endParaRPr/>
                    </a:p>
                    <a:p>
                      <a:pPr indent="0" lvl="0" marL="0" marR="0" rtl="0" algn="l">
                        <a:spcBef>
                          <a:spcPts val="0"/>
                        </a:spcBef>
                        <a:spcAft>
                          <a:spcPts val="0"/>
                        </a:spcAft>
                        <a:buNone/>
                      </a:pPr>
                      <a:r>
                        <a:rPr b="1" lang="en-US" sz="1430" u="none" cap="none" strike="noStrike">
                          <a:solidFill>
                            <a:srgbClr val="070F64"/>
                          </a:solidFill>
                          <a:latin typeface="Arial"/>
                          <a:ea typeface="Arial"/>
                          <a:cs typeface="Arial"/>
                          <a:sym typeface="Arial"/>
                        </a:rPr>
                        <a:t>(señalar peticiones que se apartan de la normalidad)</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655925">
                <a:tc>
                  <a:txBody>
                    <a:bodyPr/>
                    <a:lstStyle/>
                    <a:p>
                      <a:pPr indent="0" lvl="0" marL="0" marR="0" rtl="0" algn="l">
                        <a:spcBef>
                          <a:spcPts val="0"/>
                        </a:spcBef>
                        <a:spcAft>
                          <a:spcPts val="0"/>
                        </a:spcAft>
                        <a:buNone/>
                      </a:pPr>
                      <a:r>
                        <a:rPr b="1" lang="en-US" sz="1430" u="none" cap="none" strike="noStrike">
                          <a:solidFill>
                            <a:srgbClr val="070F64"/>
                          </a:solidFill>
                          <a:latin typeface="Arial"/>
                          <a:ea typeface="Arial"/>
                          <a:cs typeface="Arial"/>
                          <a:sym typeface="Arial"/>
                        </a:rPr>
                        <a:t>Importancia por permutación</a:t>
                      </a:r>
                      <a:endParaRPr/>
                    </a:p>
                    <a:p>
                      <a:pPr indent="0" lvl="0" marL="0" marR="0" rtl="0" algn="l">
                        <a:spcBef>
                          <a:spcPts val="0"/>
                        </a:spcBef>
                        <a:spcAft>
                          <a:spcPts val="0"/>
                        </a:spcAft>
                        <a:buNone/>
                      </a:pPr>
                      <a:r>
                        <a:rPr b="1" lang="en-US" sz="1430" u="none" cap="none" strike="noStrike">
                          <a:solidFill>
                            <a:srgbClr val="070F64"/>
                          </a:solidFill>
                          <a:latin typeface="Arial"/>
                          <a:ea typeface="Arial"/>
                          <a:cs typeface="Arial"/>
                          <a:sym typeface="Arial"/>
                        </a:rPr>
                        <a:t>(estimar el aporte de los atributos a la detección)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1923" name="Google Shape;1923;p71"/>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24" name="Google Shape;1924;p71" title="DEFENSA_SEGURA_V2:barra-53"/>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25" name="Google Shape;1925;p71" title="DEFENSA_SEGURA_V2:avance-53"/>
          <p:cNvSpPr/>
          <p:nvPr/>
        </p:nvSpPr>
        <p:spPr>
          <a:xfrm>
            <a:off x="0" y="0"/>
            <a:ext cx="44334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26" name="Google Shape;1926;p71" title="DEFENSA_SEGURA_V2:seccion-53"/>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1" name="Shape 1931"/>
        <p:cNvGrpSpPr/>
        <p:nvPr/>
      </p:nvGrpSpPr>
      <p:grpSpPr>
        <a:xfrm>
          <a:off x="0" y="0"/>
          <a:ext cx="0" cy="0"/>
          <a:chOff x="0" y="0"/>
          <a:chExt cx="0" cy="0"/>
        </a:xfrm>
      </p:grpSpPr>
      <p:sp>
        <p:nvSpPr>
          <p:cNvPr id="1932" name="Google Shape;1932;p72"/>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070F64"/>
                </a:solidFill>
              </a:rPr>
              <a:t>Fórmulas: detección de anomalías</a:t>
            </a:r>
            <a:endParaRPr sz="3600">
              <a:solidFill>
                <a:srgbClr val="070F64"/>
              </a:solidFill>
            </a:endParaRPr>
          </a:p>
        </p:txBody>
      </p:sp>
      <p:sp>
        <p:nvSpPr>
          <p:cNvPr id="1933" name="Google Shape;1933;p72"/>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Entrada x: vector de características de una petición HTTP.</a:t>
            </a:r>
            <a:endParaRPr sz="1800">
              <a:solidFill>
                <a:srgbClr val="070F64"/>
              </a:solidFill>
            </a:endParaRPr>
          </a:p>
        </p:txBody>
      </p:sp>
      <p:graphicFrame>
        <p:nvGraphicFramePr>
          <p:cNvPr id="1934" name="Google Shape;1934;p72"/>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6096000"/>
                <a:gridCol w="5524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Fórmula central</a:t>
                      </a:r>
                      <a:endParaRPr b="1" sz="18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Símbolos e interpretación</a:t>
                      </a:r>
                      <a:endParaRPr b="1" sz="1800">
                        <a:solidFill>
                          <a:srgbClr val="FFFFFF"/>
                        </a:solidFill>
                      </a:endParaRPr>
                    </a:p>
                  </a:txBody>
                  <a:tcPr marT="76200" marB="76200" marR="114300" marL="114300" anchor="ctr">
                    <a:solidFill>
                      <a:srgbClr val="070F64"/>
                    </a:solidFill>
                  </a:tcPr>
                </a:tc>
              </a:tr>
              <a:tr h="19050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One-Class SVM con kernel RBF</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x</a:t>
                      </a:r>
                      <a:r>
                        <a:rPr baseline="-25000" lang="en-US" sz="1700">
                          <a:solidFill>
                            <a:srgbClr val="070F64"/>
                          </a:solidFill>
                        </a:rPr>
                        <a:t>i</a:t>
                      </a:r>
                      <a:r>
                        <a:rPr lang="en-US" sz="1700">
                          <a:solidFill>
                            <a:srgbClr val="070F64"/>
                          </a:solidFill>
                        </a:rPr>
                        <a:t>: vector de soporte; α</a:t>
                      </a:r>
                      <a:r>
                        <a:rPr baseline="-25000" lang="en-US" sz="1700">
                          <a:solidFill>
                            <a:srgbClr val="070F64"/>
                          </a:solidFill>
                        </a:rPr>
                        <a:t>i</a:t>
                      </a:r>
                      <a:r>
                        <a:rPr lang="en-US" sz="1700">
                          <a:solidFill>
                            <a:srgbClr val="070F64"/>
                          </a:solidFill>
                        </a:rPr>
                        <a:t>: peso aprendido.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S: índices de los vectores de soporte.</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γ: alcance del kernel; ρ: frontera.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g(x) &lt; 0: anomalía; g(x) &gt; 0: normal.</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g(x) = 0: punto de la frontera.</a:t>
                      </a:r>
                      <a:endParaRPr sz="1700">
                        <a:solidFill>
                          <a:srgbClr val="070F64"/>
                        </a:solidFill>
                      </a:endParaRPr>
                    </a:p>
                  </a:txBody>
                  <a:tcPr marT="76200" marB="76200" marR="114300" marL="114300" anchor="ctr">
                    <a:solidFill>
                      <a:srgbClr val="DFF4FC"/>
                    </a:solidFill>
                  </a:tcPr>
                </a:tc>
              </a:tr>
              <a:tr h="22860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Isolation Forest</a:t>
                      </a:r>
                      <a:endParaRPr b="1" sz="1800">
                        <a:solidFill>
                          <a:srgbClr val="070F64"/>
                        </a:solidFill>
                      </a:endParaRPr>
                    </a:p>
                  </a:txBody>
                  <a:tcPr marT="76200" marB="76200" marR="114300" marL="114300">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T: árboles; h</a:t>
                      </a:r>
                      <a:r>
                        <a:rPr baseline="-25000" lang="en-US" sz="1700">
                          <a:solidFill>
                            <a:srgbClr val="070F64"/>
                          </a:solidFill>
                        </a:rPr>
                        <a:t>t</a:t>
                      </a:r>
                      <a:r>
                        <a:rPr lang="en-US" sz="1700">
                          <a:solidFill>
                            <a:srgbClr val="070F64"/>
                          </a:solidFill>
                        </a:rPr>
                        <a:t>: camino en el árbol t.</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ψ: tamaño de muestra; c(ψ): normalización.</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Menor camino medio → mayor anomalía.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En scikit-learn se invierte el signo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y se aplica el umbral del modelo.</a:t>
                      </a:r>
                      <a:endParaRPr sz="1700">
                        <a:solidFill>
                          <a:srgbClr val="070F64"/>
                        </a:solidFill>
                      </a:endParaRPr>
                    </a:p>
                  </a:txBody>
                  <a:tcPr marT="76200" marB="76200" marR="114300" marL="114300" anchor="ctr">
                    <a:solidFill>
                      <a:srgbClr val="F6FBFD"/>
                    </a:solidFill>
                  </a:tcPr>
                </a:tc>
              </a:tr>
            </a:tbl>
          </a:graphicData>
        </a:graphic>
      </p:graphicFrame>
      <p:sp>
        <p:nvSpPr>
          <p:cNvPr id="1935" name="Google Shape;1935;p72"/>
          <p:cNvSpPr/>
          <p:nvPr/>
        </p:nvSpPr>
        <p:spPr>
          <a:xfrm>
            <a:off x="304800" y="6159500"/>
            <a:ext cx="11430000" cy="36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Ambos producen puntajes de anomalía; esos puntajes no son probabilidades de ataque.</a:t>
            </a:r>
            <a:endParaRPr b="1" sz="1700">
              <a:solidFill>
                <a:srgbClr val="070F64"/>
              </a:solidFill>
            </a:endParaRPr>
          </a:p>
        </p:txBody>
      </p:sp>
      <p:sp>
        <p:nvSpPr>
          <p:cNvPr id="1936" name="Google Shape;1936;p72"/>
          <p:cNvSpPr/>
          <p:nvPr/>
        </p:nvSpPr>
        <p:spPr>
          <a:xfrm>
            <a:off x="304800" y="6578600"/>
            <a:ext cx="11049000" cy="2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rgbClr val="070F64"/>
                </a:solidFill>
              </a:rPr>
              <a:t>Fuentes: Schölkopf et al.; Liu, Ting y Zhou; scikit-learn. Fórmulas de entrenamiento y enlaces en las notas.</a:t>
            </a:r>
            <a:endParaRPr sz="1100">
              <a:solidFill>
                <a:srgbClr val="070F64"/>
              </a:solidFill>
            </a:endParaRPr>
          </a:p>
        </p:txBody>
      </p:sp>
      <p:sp>
        <p:nvSpPr>
          <p:cNvPr id="1937" name="Google Shape;1937;p72"/>
          <p:cNvSpPr txBox="1"/>
          <p:nvPr>
            <p:ph idx="12" type="sldNum"/>
          </p:nvPr>
        </p:nvSpPr>
        <p:spPr>
          <a:xfrm>
            <a:off x="11468100" y="6578600"/>
            <a:ext cx="419100" cy="216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938" name="Google Shape;1938;p72"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39" name="Google Shape;1939;p72"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40" name="Google Shape;1940;p72"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00">
                <a:solidFill>
                  <a:srgbClr val="070F64"/>
                </a:solidFill>
              </a:rPr>
              <a:t>ANEXO</a:t>
            </a:r>
            <a:endParaRPr b="1" sz="800">
              <a:solidFill>
                <a:srgbClr val="070F64"/>
              </a:solidFill>
            </a:endParaRPr>
          </a:p>
        </p:txBody>
      </p:sp>
      <p:pic>
        <p:nvPicPr>
          <p:cNvPr descr="OCSVM: \begin{aligned}&#10;K(x_i,x) &amp;= \exp\!\left(-\gamma\lVert x_i-x\rVert^2\right) \\[0.35em]&#10;g(x) &amp;= \sum_{i\in\mathcal S}\alpha_i K(x_i,x)-\rho&#10;\end{aligned}&#10;Isolation Forest: \begin{aligned}\bar h(x)&amp;=\frac{1}{T}\sum_{t=1}^{T}h_t(x)\\[0.25em]s(x)&amp;=2^{-\frac{\bar h(x)}{c(\psi)}}\end{aligned}" id="1941" name="Google Shape;1941;p72" title="Ecuaciones de OCSVM, Isolation Forest"/>
          <p:cNvPicPr preferRelativeResize="0"/>
          <p:nvPr/>
        </p:nvPicPr>
        <p:blipFill>
          <a:blip r:embed="rId3">
            <a:alphaModFix/>
          </a:blip>
          <a:stretch>
            <a:fillRect/>
          </a:stretch>
        </p:blipFill>
        <p:spPr>
          <a:xfrm>
            <a:off x="285750" y="1879600"/>
            <a:ext cx="6096002" cy="419100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5" name="Shape 1945"/>
        <p:cNvGrpSpPr/>
        <p:nvPr/>
      </p:nvGrpSpPr>
      <p:grpSpPr>
        <a:xfrm>
          <a:off x="0" y="0"/>
          <a:ext cx="0" cy="0"/>
          <a:chOff x="0" y="0"/>
          <a:chExt cx="0" cy="0"/>
        </a:xfrm>
      </p:grpSpPr>
      <p:sp>
        <p:nvSpPr>
          <p:cNvPr id="1946" name="Google Shape;1946;p73"/>
          <p:cNvSpPr/>
          <p:nvPr/>
        </p:nvSpPr>
        <p:spPr>
          <a:xfrm>
            <a:off x="236455" y="1574206"/>
            <a:ext cx="11719090" cy="3352476"/>
          </a:xfrm>
          <a:prstGeom prst="roundRect">
            <a:avLst>
              <a:gd fmla="val 1739" name="adj"/>
            </a:avLst>
          </a:prstGeom>
          <a:solidFill>
            <a:srgbClr val="DDF0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73"/>
          <p:cNvSpPr/>
          <p:nvPr/>
        </p:nvSpPr>
        <p:spPr>
          <a:xfrm>
            <a:off x="236455" y="5422266"/>
            <a:ext cx="11719090" cy="670495"/>
          </a:xfrm>
          <a:prstGeom prst="roundRect">
            <a:avLst>
              <a:gd fmla="val 8696" name="adj"/>
            </a:avLst>
          </a:prstGeom>
          <a:solidFill>
            <a:srgbClr val="DCEF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73"/>
          <p:cNvSpPr/>
          <p:nvPr/>
        </p:nvSpPr>
        <p:spPr>
          <a:xfrm>
            <a:off x="236455" y="1107775"/>
            <a:ext cx="11719090" cy="437279"/>
          </a:xfrm>
          <a:prstGeom prst="roundRect">
            <a:avLst>
              <a:gd fmla="val 13333" name="adj"/>
            </a:avLst>
          </a:prstGeom>
          <a:solidFill>
            <a:srgbClr val="DBF9F7"/>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3"/>
          <p:cNvSpPr/>
          <p:nvPr/>
        </p:nvSpPr>
        <p:spPr>
          <a:xfrm>
            <a:off x="236455" y="6121913"/>
            <a:ext cx="11719090" cy="408128"/>
          </a:xfrm>
          <a:prstGeom prst="roundRect">
            <a:avLst>
              <a:gd fmla="val 14286" name="adj"/>
            </a:avLst>
          </a:prstGeom>
          <a:solidFill>
            <a:srgbClr val="DBFAF7"/>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0" name="Google Shape;1950;p73"/>
          <p:cNvPicPr preferRelativeResize="0"/>
          <p:nvPr/>
        </p:nvPicPr>
        <p:blipFill rotWithShape="1">
          <a:blip r:embed="rId3">
            <a:alphaModFix/>
          </a:blip>
          <a:srcRect b="0" l="0" r="0" t="0"/>
          <a:stretch/>
        </p:blipFill>
        <p:spPr>
          <a:xfrm>
            <a:off x="280183" y="4999562"/>
            <a:ext cx="349824" cy="349824"/>
          </a:xfrm>
          <a:prstGeom prst="rect">
            <a:avLst/>
          </a:prstGeom>
          <a:noFill/>
          <a:ln>
            <a:noFill/>
          </a:ln>
        </p:spPr>
      </p:pic>
      <p:pic>
        <p:nvPicPr>
          <p:cNvPr id="1951" name="Google Shape;1951;p73"/>
          <p:cNvPicPr preferRelativeResize="0"/>
          <p:nvPr/>
        </p:nvPicPr>
        <p:blipFill rotWithShape="1">
          <a:blip r:embed="rId4">
            <a:alphaModFix/>
          </a:blip>
          <a:srcRect b="0" l="0" r="0" t="0"/>
          <a:stretch/>
        </p:blipFill>
        <p:spPr>
          <a:xfrm>
            <a:off x="5265169" y="5116170"/>
            <a:ext cx="349824" cy="145760"/>
          </a:xfrm>
          <a:prstGeom prst="rect">
            <a:avLst/>
          </a:prstGeom>
          <a:noFill/>
          <a:ln>
            <a:noFill/>
          </a:ln>
        </p:spPr>
      </p:pic>
      <p:pic>
        <p:nvPicPr>
          <p:cNvPr id="1952" name="Google Shape;1952;p73"/>
          <p:cNvPicPr preferRelativeResize="0"/>
          <p:nvPr/>
        </p:nvPicPr>
        <p:blipFill rotWithShape="1">
          <a:blip r:embed="rId5">
            <a:alphaModFix/>
          </a:blip>
          <a:srcRect b="0" l="0" r="0" t="0"/>
          <a:stretch/>
        </p:blipFill>
        <p:spPr>
          <a:xfrm>
            <a:off x="2933012" y="5465994"/>
            <a:ext cx="116608" cy="583039"/>
          </a:xfrm>
          <a:prstGeom prst="rect">
            <a:avLst/>
          </a:prstGeom>
          <a:noFill/>
          <a:ln>
            <a:noFill/>
          </a:ln>
        </p:spPr>
      </p:pic>
      <p:sp>
        <p:nvSpPr>
          <p:cNvPr id="1953" name="Google Shape;1953;p73"/>
          <p:cNvSpPr/>
          <p:nvPr/>
        </p:nvSpPr>
        <p:spPr>
          <a:xfrm>
            <a:off x="309335" y="56733"/>
            <a:ext cx="1741253" cy="7867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706" u="none" cap="none" strike="noStrike">
                <a:solidFill>
                  <a:srgbClr val="111F5B"/>
                </a:solidFill>
              </a:rPr>
              <a:t>Binario</a:t>
            </a:r>
            <a:endParaRPr b="1" sz="500">
              <a:solidFill>
                <a:srgbClr val="111F5B"/>
              </a:solidFill>
            </a:endParaRPr>
          </a:p>
        </p:txBody>
      </p:sp>
      <p:sp>
        <p:nvSpPr>
          <p:cNvPr id="1954" name="Google Shape;1954;p73"/>
          <p:cNvSpPr/>
          <p:nvPr/>
        </p:nvSpPr>
        <p:spPr>
          <a:xfrm>
            <a:off x="309335" y="670495"/>
            <a:ext cx="8110958" cy="40333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443" u="none" cap="none" strike="noStrike">
                <a:solidFill>
                  <a:srgbClr val="0A0888"/>
                </a:solidFill>
                <a:latin typeface="Quattrocento Sans"/>
                <a:ea typeface="Quattrocento Sans"/>
                <a:cs typeface="Quattrocento Sans"/>
                <a:sym typeface="Quattrocento Sans"/>
              </a:rPr>
              <a:t>Clasificación supervisada de peticiones normales y ataques.</a:t>
            </a:r>
            <a:endParaRPr/>
          </a:p>
        </p:txBody>
      </p:sp>
      <p:sp>
        <p:nvSpPr>
          <p:cNvPr id="1955" name="Google Shape;1955;p73"/>
          <p:cNvSpPr/>
          <p:nvPr/>
        </p:nvSpPr>
        <p:spPr>
          <a:xfrm>
            <a:off x="440519" y="1218584"/>
            <a:ext cx="7382158" cy="293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706" u="none" cap="none" strike="noStrike">
                <a:solidFill>
                  <a:srgbClr val="12169B"/>
                </a:solidFill>
                <a:latin typeface="Arial Narrow"/>
                <a:ea typeface="Arial Narrow"/>
                <a:cs typeface="Arial Narrow"/>
                <a:sym typeface="Arial Narrow"/>
              </a:rPr>
              <a:t>Se priorizaron modelos basados en árboles para analizar atributos HTTP tabulares.</a:t>
            </a:r>
            <a:endParaRPr/>
          </a:p>
        </p:txBody>
      </p:sp>
      <p:sp>
        <p:nvSpPr>
          <p:cNvPr id="1956" name="Google Shape;1956;p73"/>
          <p:cNvSpPr/>
          <p:nvPr/>
        </p:nvSpPr>
        <p:spPr>
          <a:xfrm>
            <a:off x="688310" y="5102038"/>
            <a:ext cx="4379506" cy="2780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78" u="none" cap="none" strike="noStrike">
                <a:solidFill>
                  <a:srgbClr val="0E0FFB"/>
                </a:solidFill>
                <a:latin typeface="Arial Narrow"/>
                <a:ea typeface="Arial Narrow"/>
                <a:cs typeface="Arial Narrow"/>
                <a:sym typeface="Arial Narrow"/>
              </a:rPr>
              <a:t>Disponible; en el modelo destacado, también utilizado.</a:t>
            </a:r>
            <a:endParaRPr/>
          </a:p>
        </p:txBody>
      </p:sp>
      <p:sp>
        <p:nvSpPr>
          <p:cNvPr id="1957" name="Google Shape;1957;p73"/>
          <p:cNvSpPr/>
          <p:nvPr/>
        </p:nvSpPr>
        <p:spPr>
          <a:xfrm>
            <a:off x="5768040" y="5105086"/>
            <a:ext cx="4496114" cy="277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54" u="none" cap="none" strike="noStrike">
                <a:solidFill>
                  <a:srgbClr val="0D0CFB"/>
                </a:solidFill>
                <a:latin typeface="Arial Narrow"/>
                <a:ea typeface="Arial Narrow"/>
                <a:cs typeface="Arial Narrow"/>
                <a:sym typeface="Arial Narrow"/>
              </a:rPr>
              <a:t>No corresponde al mecanismo o configuración indicados.</a:t>
            </a:r>
            <a:endParaRPr/>
          </a:p>
        </p:txBody>
      </p:sp>
      <p:sp>
        <p:nvSpPr>
          <p:cNvPr id="1958" name="Google Shape;1958;p73"/>
          <p:cNvSpPr/>
          <p:nvPr/>
        </p:nvSpPr>
        <p:spPr>
          <a:xfrm>
            <a:off x="3268259" y="5563922"/>
            <a:ext cx="6033880" cy="2786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28" u="none" cap="none" strike="noStrike">
                <a:solidFill>
                  <a:srgbClr val="0F12FC"/>
                </a:solidFill>
                <a:latin typeface="Arial Narrow"/>
                <a:ea typeface="Arial Narrow"/>
                <a:cs typeface="Arial Narrow"/>
                <a:sym typeface="Arial Narrow"/>
              </a:rPr>
              <a:t>Integra árboles, aprendizaje con ambas clases y selección de atributos.</a:t>
            </a:r>
            <a:endParaRPr/>
          </a:p>
        </p:txBody>
      </p:sp>
      <p:sp>
        <p:nvSpPr>
          <p:cNvPr id="1959" name="Google Shape;1959;p73"/>
          <p:cNvSpPr/>
          <p:nvPr/>
        </p:nvSpPr>
        <p:spPr>
          <a:xfrm>
            <a:off x="433231" y="5613144"/>
            <a:ext cx="2287852" cy="3839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202" u="none" cap="none" strike="noStrike">
                <a:solidFill>
                  <a:srgbClr val="070784"/>
                </a:solidFill>
                <a:latin typeface="Arial Narrow"/>
                <a:ea typeface="Arial Narrow"/>
                <a:cs typeface="Arial Narrow"/>
                <a:sym typeface="Arial Narrow"/>
              </a:rPr>
              <a:t>Razones de elección</a:t>
            </a:r>
            <a:endParaRPr/>
          </a:p>
        </p:txBody>
      </p:sp>
      <p:sp>
        <p:nvSpPr>
          <p:cNvPr id="1960" name="Google Shape;1960;p73"/>
          <p:cNvSpPr/>
          <p:nvPr/>
        </p:nvSpPr>
        <p:spPr>
          <a:xfrm>
            <a:off x="3253683" y="5801241"/>
            <a:ext cx="6923015" cy="2541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39" u="none" cap="none" strike="noStrike">
                <a:solidFill>
                  <a:srgbClr val="1011FD"/>
                </a:solidFill>
                <a:latin typeface="Quattrocento Sans"/>
                <a:ea typeface="Quattrocento Sans"/>
                <a:cs typeface="Quattrocento Sans"/>
                <a:sym typeface="Quattrocento Sans"/>
              </a:rPr>
              <a:t>Se aplicaron importancia Gini y ablaciones para estudiar la representación HTTP.</a:t>
            </a:r>
            <a:endParaRPr/>
          </a:p>
        </p:txBody>
      </p:sp>
      <p:sp>
        <p:nvSpPr>
          <p:cNvPr id="1961" name="Google Shape;1961;p73"/>
          <p:cNvSpPr/>
          <p:nvPr/>
        </p:nvSpPr>
        <p:spPr>
          <a:xfrm>
            <a:off x="418655" y="6231423"/>
            <a:ext cx="7265551" cy="2883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20" u="none" cap="none" strike="noStrike">
                <a:solidFill>
                  <a:srgbClr val="0F10DE"/>
                </a:solidFill>
                <a:latin typeface="Arial Narrow"/>
                <a:ea typeface="Arial Narrow"/>
                <a:cs typeface="Arial Narrow"/>
                <a:sym typeface="Arial Narrow"/>
              </a:rPr>
              <a:t>Límite: depende de etiquetas representativas; la importancia no demuestra causalidad.</a:t>
            </a:r>
            <a:endParaRPr/>
          </a:p>
        </p:txBody>
      </p:sp>
      <p:sp>
        <p:nvSpPr>
          <p:cNvPr id="1962" name="Google Shape;1962;p73"/>
          <p:cNvSpPr/>
          <p:nvPr/>
        </p:nvSpPr>
        <p:spPr>
          <a:xfrm>
            <a:off x="302047" y="6594162"/>
            <a:ext cx="7243687" cy="2226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99" u="none" cap="none" strike="noStrike">
                <a:solidFill>
                  <a:srgbClr val="1310FB"/>
                </a:solidFill>
                <a:latin typeface="Arial Narrow"/>
                <a:ea typeface="Arial Narrow"/>
                <a:cs typeface="Arial Narrow"/>
                <a:sym typeface="Arial Narrow"/>
              </a:rPr>
              <a:t>Comparación de mecanismos utilizados, sin ranking de precisión.</a:t>
            </a:r>
            <a:endParaRPr/>
          </a:p>
        </p:txBody>
      </p:sp>
      <p:graphicFrame>
        <p:nvGraphicFramePr>
          <p:cNvPr id="1963" name="Google Shape;1963;p73"/>
          <p:cNvGraphicFramePr/>
          <p:nvPr/>
        </p:nvGraphicFramePr>
        <p:xfrm>
          <a:off x="265607" y="1610646"/>
          <a:ext cx="3000000" cy="3000000"/>
        </p:xfrm>
        <a:graphic>
          <a:graphicData uri="http://schemas.openxmlformats.org/drawingml/2006/table">
            <a:tbl>
              <a:tblPr>
                <a:noFill/>
                <a:tableStyleId>{F1B291AF-9CB1-4793-AFE8-E70834C1BA4F}</a:tableStyleId>
              </a:tblPr>
              <a:tblGrid>
                <a:gridCol w="4861100"/>
                <a:gridCol w="1822000"/>
                <a:gridCol w="1683525"/>
                <a:gridCol w="1705400"/>
                <a:gridCol w="1588775"/>
              </a:tblGrid>
              <a:tr h="677775">
                <a:tc>
                  <a:txBody>
                    <a:bodyPr/>
                    <a:lstStyle/>
                    <a:p>
                      <a:pPr indent="0" lvl="0" marL="0" marR="0" rtl="0" algn="l">
                        <a:spcBef>
                          <a:spcPts val="0"/>
                        </a:spcBef>
                        <a:spcAft>
                          <a:spcPts val="0"/>
                        </a:spcAft>
                        <a:buNone/>
                      </a:pPr>
                      <a:r>
                        <a:rPr b="1" lang="en-US" sz="1532" u="none" cap="none" strike="noStrike">
                          <a:solidFill>
                            <a:srgbClr val="070F64"/>
                          </a:solidFill>
                          <a:latin typeface="Arial"/>
                          <a:ea typeface="Arial"/>
                          <a:cs typeface="Arial"/>
                          <a:sym typeface="Arial"/>
                        </a:rPr>
                        <a:t>Capacidad utilizada (utilidad en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Random Forest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Isolation</a:t>
                      </a:r>
                      <a:endParaRPr/>
                    </a:p>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Forest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Regresión</a:t>
                      </a:r>
                      <a:endParaRPr/>
                    </a:p>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logística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One-Class</a:t>
                      </a:r>
                      <a:endParaRPr/>
                    </a:p>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SVM (RBF)</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r>
              <a:tr h="626775">
                <a:tc>
                  <a:txBody>
                    <a:bodyPr/>
                    <a:lstStyle/>
                    <a:p>
                      <a:pPr indent="0" lvl="0" marL="0" marR="0" rtl="0" algn="l">
                        <a:spcBef>
                          <a:spcPts val="0"/>
                        </a:spcBef>
                        <a:spcAft>
                          <a:spcPts val="0"/>
                        </a:spcAft>
                        <a:buNone/>
                      </a:pPr>
                      <a:r>
                        <a:rPr b="1" lang="en-US" sz="1379" u="none" cap="none" strike="noStrike">
                          <a:solidFill>
                            <a:srgbClr val="070F64"/>
                          </a:solidFill>
                          <a:latin typeface="Arial"/>
                          <a:ea typeface="Arial"/>
                          <a:cs typeface="Arial"/>
                          <a:sym typeface="Arial"/>
                        </a:rPr>
                        <a:t>Basado en árboles</a:t>
                      </a:r>
                      <a:endParaRPr/>
                    </a:p>
                    <a:p>
                      <a:pPr indent="0" lvl="0" marL="0" marR="0" rtl="0" algn="l">
                        <a:spcBef>
                          <a:spcPts val="0"/>
                        </a:spcBef>
                        <a:spcAft>
                          <a:spcPts val="0"/>
                        </a:spcAft>
                        <a:buNone/>
                      </a:pPr>
                      <a:r>
                        <a:rPr b="1" lang="en-US" sz="1379" u="none" cap="none" strike="noStrike">
                          <a:solidFill>
                            <a:srgbClr val="070F64"/>
                          </a:solidFill>
                          <a:latin typeface="Arial"/>
                          <a:ea typeface="Arial"/>
                          <a:cs typeface="Arial"/>
                          <a:sym typeface="Arial"/>
                        </a:rPr>
                        <a:t>(combinar condiciones sobre atributos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663200">
                <a:tc>
                  <a:txBody>
                    <a:bodyPr/>
                    <a:lstStyle/>
                    <a:p>
                      <a:pPr indent="0" lvl="0" marL="0" marR="0" rtl="0" algn="l">
                        <a:spcBef>
                          <a:spcPts val="0"/>
                        </a:spcBef>
                        <a:spcAft>
                          <a:spcPts val="0"/>
                        </a:spcAft>
                        <a:buNone/>
                      </a:pPr>
                      <a:r>
                        <a:rPr b="1" lang="en-US" sz="1337" u="none" cap="none" strike="noStrike">
                          <a:solidFill>
                            <a:srgbClr val="070F64"/>
                          </a:solidFill>
                          <a:latin typeface="Arial"/>
                          <a:ea typeface="Arial"/>
                          <a:cs typeface="Arial"/>
                          <a:sym typeface="Arial"/>
                        </a:rPr>
                        <a:t>Aprender de normales y ataques</a:t>
                      </a:r>
                      <a:endParaRPr/>
                    </a:p>
                    <a:p>
                      <a:pPr indent="0" lvl="0" marL="0" marR="0" rtl="0" algn="l">
                        <a:spcBef>
                          <a:spcPts val="0"/>
                        </a:spcBef>
                        <a:spcAft>
                          <a:spcPts val="0"/>
                        </a:spcAft>
                        <a:buNone/>
                      </a:pPr>
                      <a:r>
                        <a:rPr b="1" lang="en-US" sz="1337" u="none" cap="none" strike="noStrike">
                          <a:solidFill>
                            <a:srgbClr val="070F64"/>
                          </a:solidFill>
                          <a:latin typeface="Arial"/>
                          <a:ea typeface="Arial"/>
                          <a:cs typeface="Arial"/>
                          <a:sym typeface="Arial"/>
                        </a:rPr>
                        <a:t>(distinguir ambas clases con ejemplos etiquetados)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63200">
                <a:tc>
                  <a:txBody>
                    <a:bodyPr/>
                    <a:lstStyle/>
                    <a:p>
                      <a:pPr indent="0" lvl="0" marL="0" marR="0" rtl="0" algn="l">
                        <a:spcBef>
                          <a:spcPts val="0"/>
                        </a:spcBef>
                        <a:spcAft>
                          <a:spcPts val="0"/>
                        </a:spcAft>
                        <a:buNone/>
                      </a:pPr>
                      <a:r>
                        <a:rPr b="1" lang="en-US" sz="1164" u="none" cap="none" strike="noStrike">
                          <a:solidFill>
                            <a:srgbClr val="070F64"/>
                          </a:solidFill>
                          <a:latin typeface="Arial"/>
                          <a:ea typeface="Arial"/>
                          <a:cs typeface="Arial"/>
                          <a:sym typeface="Arial"/>
                        </a:rPr>
                        <a:t>Importancia por impureza (Gini)</a:t>
                      </a:r>
                      <a:endParaRPr/>
                    </a:p>
                    <a:p>
                      <a:pPr indent="0" lvl="0" marL="0" marR="0" rtl="0" algn="l">
                        <a:spcBef>
                          <a:spcPts val="0"/>
                        </a:spcBef>
                        <a:spcAft>
                          <a:spcPts val="0"/>
                        </a:spcAft>
                        <a:buNone/>
                      </a:pPr>
                      <a:r>
                        <a:rPr b="1" lang="en-US" sz="1164" u="none" cap="none" strike="noStrike">
                          <a:solidFill>
                            <a:srgbClr val="070F64"/>
                          </a:solidFill>
                          <a:latin typeface="Arial"/>
                          <a:ea typeface="Arial"/>
                          <a:cs typeface="Arial"/>
                          <a:sym typeface="Arial"/>
                        </a:rPr>
                        <a:t>(seleccionar atributos HTTP para reducir la representación)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706925">
                <a:tc>
                  <a:txBody>
                    <a:bodyPr/>
                    <a:lstStyle/>
                    <a:p>
                      <a:pPr indent="0" lvl="0" marL="0" marR="0" rtl="0" algn="l">
                        <a:spcBef>
                          <a:spcPts val="0"/>
                        </a:spcBef>
                        <a:spcAft>
                          <a:spcPts val="0"/>
                        </a:spcAft>
                        <a:buNone/>
                      </a:pPr>
                      <a:r>
                        <a:rPr b="1" lang="en-US" sz="1350" u="none" cap="none" strike="noStrike">
                          <a:solidFill>
                            <a:srgbClr val="070F64"/>
                          </a:solidFill>
                          <a:latin typeface="Arial"/>
                          <a:ea typeface="Arial"/>
                          <a:cs typeface="Arial"/>
                          <a:sym typeface="Arial"/>
                        </a:rPr>
                        <a:t>Ablación de atributos con reentrenamiento</a:t>
                      </a:r>
                      <a:endParaRPr/>
                    </a:p>
                    <a:p>
                      <a:pPr indent="0" lvl="0" marL="0" marR="0" rtl="0" algn="l">
                        <a:spcBef>
                          <a:spcPts val="0"/>
                        </a:spcBef>
                        <a:spcAft>
                          <a:spcPts val="0"/>
                        </a:spcAft>
                        <a:buNone/>
                      </a:pPr>
                      <a:r>
                        <a:rPr b="1" lang="en-US" sz="1350" u="none" cap="none" strike="noStrike">
                          <a:solidFill>
                            <a:srgbClr val="070F64"/>
                          </a:solidFill>
                          <a:latin typeface="Arial"/>
                          <a:ea typeface="Arial"/>
                          <a:cs typeface="Arial"/>
                          <a:sym typeface="Arial"/>
                        </a:rPr>
                        <a:t>(comprobar el aporte de grupos de atributos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1964" name="Google Shape;1964;p7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5" name="Google Shape;1965;p73" title="DEFENSA_SEGURA_V2:barra-54"/>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6" name="Google Shape;1966;p73" title="DEFENSA_SEGURA_V2:avance-54"/>
          <p:cNvSpPr/>
          <p:nvPr/>
        </p:nvSpPr>
        <p:spPr>
          <a:xfrm>
            <a:off x="0" y="0"/>
            <a:ext cx="55419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7" name="Google Shape;1967;p73" title="DEFENSA_SEGURA_V2:seccion-54"/>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2" name="Shape 1972"/>
        <p:cNvGrpSpPr/>
        <p:nvPr/>
      </p:nvGrpSpPr>
      <p:grpSpPr>
        <a:xfrm>
          <a:off x="0" y="0"/>
          <a:ext cx="0" cy="0"/>
          <a:chOff x="0" y="0"/>
          <a:chExt cx="0" cy="0"/>
        </a:xfrm>
      </p:grpSpPr>
      <p:sp>
        <p:nvSpPr>
          <p:cNvPr id="1973" name="Google Shape;1973;p74"/>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070F64"/>
                </a:solidFill>
              </a:rPr>
              <a:t>Fórmulas: clasificación binaria</a:t>
            </a:r>
            <a:endParaRPr sz="3600">
              <a:solidFill>
                <a:srgbClr val="070F64"/>
              </a:solidFill>
            </a:endParaRPr>
          </a:p>
        </p:txBody>
      </p:sp>
      <p:sp>
        <p:nvSpPr>
          <p:cNvPr id="1974" name="Google Shape;1974;p74"/>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Entrada x: características HTTP. Salida y = 1: ataque; y = 0: normal.</a:t>
            </a:r>
            <a:endParaRPr sz="1800">
              <a:solidFill>
                <a:srgbClr val="070F64"/>
              </a:solidFill>
            </a:endParaRPr>
          </a:p>
        </p:txBody>
      </p:sp>
      <p:graphicFrame>
        <p:nvGraphicFramePr>
          <p:cNvPr id="1975" name="Google Shape;1975;p74"/>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6096000"/>
                <a:gridCol w="5524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Fórmula central</a:t>
                      </a:r>
                      <a:endParaRPr b="1" sz="18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Símbolos e interpretación</a:t>
                      </a:r>
                      <a:endParaRPr b="1" sz="1800">
                        <a:solidFill>
                          <a:srgbClr val="FFFFFF"/>
                        </a:solidFill>
                      </a:endParaRPr>
                    </a:p>
                  </a:txBody>
                  <a:tcPr marT="76200" marB="76200" marR="114300" marL="114300" anchor="ctr">
                    <a:solidFill>
                      <a:srgbClr val="070F64"/>
                    </a:solidFill>
                  </a:tcPr>
                </a:tc>
              </a:tr>
              <a:tr h="21844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Random Forest (modelo de B2)</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T: árboles; p</a:t>
                      </a:r>
                      <a:r>
                        <a:rPr baseline="-25000" lang="en-US" sz="1700">
                          <a:solidFill>
                            <a:srgbClr val="070F64"/>
                          </a:solidFill>
                        </a:rPr>
                        <a:t>t</a:t>
                      </a:r>
                      <a:r>
                        <a:rPr lang="en-US" sz="1700">
                          <a:solidFill>
                            <a:srgbClr val="070F64"/>
                          </a:solidFill>
                        </a:rPr>
                        <a:t>: proporción de ataques</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en la hoja del árbol t; τ: umbral.</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q</a:t>
                      </a:r>
                      <a:r>
                        <a:rPr baseline="-25000" lang="en-US" sz="1700">
                          <a:solidFill>
                            <a:srgbClr val="070F64"/>
                          </a:solidFill>
                        </a:rPr>
                        <a:t>k</a:t>
                      </a:r>
                      <a:r>
                        <a:rPr lang="en-US" sz="1700">
                          <a:solidFill>
                            <a:srgbClr val="070F64"/>
                          </a:solidFill>
                        </a:rPr>
                        <a:t>: proporción de la clase k en un nodo.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El bosque promedia probabilidades.</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G: impureza Gini del nodo.</a:t>
                      </a:r>
                      <a:endParaRPr sz="1700">
                        <a:solidFill>
                          <a:srgbClr val="070F64"/>
                        </a:solidFill>
                      </a:endParaRPr>
                    </a:p>
                  </a:txBody>
                  <a:tcPr marT="76200" marB="76200" marR="114300" marL="114300" anchor="ctr">
                    <a:solidFill>
                      <a:srgbClr val="DFF4FC"/>
                    </a:solidFill>
                  </a:tcPr>
                </a:tc>
              </a:tr>
              <a:tr h="2006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Regresión logística (referencia)</a:t>
                      </a:r>
                      <a:endParaRPr b="1" sz="1800">
                        <a:solidFill>
                          <a:srgbClr val="070F64"/>
                        </a:solidFill>
                      </a:endParaRPr>
                    </a:p>
                  </a:txBody>
                  <a:tcPr marT="76200" marB="76200" marR="114300" marL="114300">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w: pesos; b: intercepto; τ: umbral.</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La sigmoide convierte z en una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probabilidad estimada de ataque.</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1[condición] vale 1 si se cumple;</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si no se cumple, vale 0.</a:t>
                      </a:r>
                      <a:endParaRPr sz="1700">
                        <a:solidFill>
                          <a:srgbClr val="070F64"/>
                        </a:solidFill>
                      </a:endParaRPr>
                    </a:p>
                  </a:txBody>
                  <a:tcPr marT="76200" marB="76200" marR="114300" marL="114300" anchor="ctr">
                    <a:solidFill>
                      <a:srgbClr val="F6FBFD"/>
                    </a:solidFill>
                  </a:tcPr>
                </a:tc>
              </a:tr>
            </a:tbl>
          </a:graphicData>
        </a:graphic>
      </p:graphicFrame>
      <p:sp>
        <p:nvSpPr>
          <p:cNvPr id="1976" name="Google Shape;1976;p74"/>
          <p:cNvSpPr/>
          <p:nvPr/>
        </p:nvSpPr>
        <p:spPr>
          <a:xfrm>
            <a:off x="304800" y="6159500"/>
            <a:ext cx="11430000" cy="36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En Random Forest se promedian probabilidades de las hojas. La logística usa una suma ponderada.</a:t>
            </a:r>
            <a:endParaRPr b="1" sz="1700">
              <a:solidFill>
                <a:srgbClr val="070F64"/>
              </a:solidFill>
            </a:endParaRPr>
          </a:p>
        </p:txBody>
      </p:sp>
      <p:sp>
        <p:nvSpPr>
          <p:cNvPr id="1977" name="Google Shape;1977;p74"/>
          <p:cNvSpPr/>
          <p:nvPr/>
        </p:nvSpPr>
        <p:spPr>
          <a:xfrm>
            <a:off x="304800" y="6578600"/>
            <a:ext cx="11049000" cy="2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rgbClr val="070F64"/>
                </a:solidFill>
              </a:rPr>
              <a:t>Fuentes: documentación oficial de RandomForestClassifier y regresión logística en scikit-learn. Enlaces en notas.</a:t>
            </a:r>
            <a:endParaRPr sz="1100">
              <a:solidFill>
                <a:srgbClr val="070F64"/>
              </a:solidFill>
            </a:endParaRPr>
          </a:p>
        </p:txBody>
      </p:sp>
      <p:sp>
        <p:nvSpPr>
          <p:cNvPr id="1978" name="Google Shape;1978;p74"/>
          <p:cNvSpPr txBox="1"/>
          <p:nvPr>
            <p:ph idx="12" type="sldNum"/>
          </p:nvPr>
        </p:nvSpPr>
        <p:spPr>
          <a:xfrm>
            <a:off x="11468100" y="6578600"/>
            <a:ext cx="419100" cy="216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979" name="Google Shape;1979;p74"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0" name="Google Shape;1980;p74"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1" name="Google Shape;1981;p74"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00">
                <a:solidFill>
                  <a:srgbClr val="070F64"/>
                </a:solidFill>
              </a:rPr>
              <a:t>ANEXO</a:t>
            </a:r>
            <a:endParaRPr b="1" sz="800">
              <a:solidFill>
                <a:srgbClr val="070F64"/>
              </a:solidFill>
            </a:endParaRPr>
          </a:p>
        </p:txBody>
      </p:sp>
      <p:pic>
        <p:nvPicPr>
          <p:cNvPr descr="Random Forest: \begin{gathered}p(x)=\frac{1}{T}\sum_{t=1}^{T}p_t(x)\qquad\widehat y(x)=\mathbf{1}\!\left[p(x)\geq\tau\right]\\[0.25em]G=1-\sum_{k=0}^{1}q_k^2\end{gathered}&#10;Regresión logística: \begin{aligned}&#10;z &amp;= w^{\mathsf T}x+b \\[0.35em]&#10;p(x) &amp;= \frac{1}{1+\exp(-z)} \\[0.35em]&#10;\widehat y(x) &amp;= \mathbf{1}\!\left[p(x)\geq\tau\right]&#10;\end{aligned}" id="1982" name="Google Shape;1982;p74" title="Ecuaciones de Random Forest, Regresión logística"/>
          <p:cNvPicPr preferRelativeResize="0"/>
          <p:nvPr/>
        </p:nvPicPr>
        <p:blipFill>
          <a:blip r:embed="rId3">
            <a:alphaModFix/>
          </a:blip>
          <a:stretch>
            <a:fillRect/>
          </a:stretch>
        </p:blipFill>
        <p:spPr>
          <a:xfrm>
            <a:off x="285750" y="1879600"/>
            <a:ext cx="6096002" cy="41910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6" name="Shape 1986"/>
        <p:cNvGrpSpPr/>
        <p:nvPr/>
      </p:nvGrpSpPr>
      <p:grpSpPr>
        <a:xfrm>
          <a:off x="0" y="0"/>
          <a:ext cx="0" cy="0"/>
          <a:chOff x="0" y="0"/>
          <a:chExt cx="0" cy="0"/>
        </a:xfrm>
      </p:grpSpPr>
      <p:sp>
        <p:nvSpPr>
          <p:cNvPr id="1987" name="Google Shape;1987;p75"/>
          <p:cNvSpPr/>
          <p:nvPr/>
        </p:nvSpPr>
        <p:spPr>
          <a:xfrm>
            <a:off x="236455" y="6034457"/>
            <a:ext cx="11689938" cy="553887"/>
          </a:xfrm>
          <a:prstGeom prst="roundRect">
            <a:avLst>
              <a:gd fmla="val 10526" name="adj"/>
            </a:avLst>
          </a:prstGeom>
          <a:solidFill>
            <a:srgbClr val="E2FBFB"/>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5"/>
          <p:cNvSpPr/>
          <p:nvPr/>
        </p:nvSpPr>
        <p:spPr>
          <a:xfrm>
            <a:off x="265607" y="5480570"/>
            <a:ext cx="11631634" cy="495583"/>
          </a:xfrm>
          <a:prstGeom prst="roundRect">
            <a:avLst>
              <a:gd fmla="val 11765" name="adj"/>
            </a:avLst>
          </a:prstGeom>
          <a:solidFill>
            <a:srgbClr val="E1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5"/>
          <p:cNvSpPr/>
          <p:nvPr/>
        </p:nvSpPr>
        <p:spPr>
          <a:xfrm>
            <a:off x="236455" y="962015"/>
            <a:ext cx="11719090" cy="437279"/>
          </a:xfrm>
          <a:prstGeom prst="roundRect">
            <a:avLst>
              <a:gd fmla="val 13333" name="adj"/>
            </a:avLst>
          </a:prstGeom>
          <a:solidFill>
            <a:srgbClr val="E4FC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0" name="Google Shape;1990;p75"/>
          <p:cNvPicPr preferRelativeResize="0"/>
          <p:nvPr/>
        </p:nvPicPr>
        <p:blipFill rotWithShape="1">
          <a:blip r:embed="rId3">
            <a:alphaModFix/>
          </a:blip>
          <a:srcRect b="0" l="0" r="0" t="0"/>
          <a:stretch/>
        </p:blipFill>
        <p:spPr>
          <a:xfrm>
            <a:off x="309335" y="4853802"/>
            <a:ext cx="320672" cy="291520"/>
          </a:xfrm>
          <a:prstGeom prst="rect">
            <a:avLst/>
          </a:prstGeom>
          <a:noFill/>
          <a:ln>
            <a:noFill/>
          </a:ln>
        </p:spPr>
      </p:pic>
      <p:pic>
        <p:nvPicPr>
          <p:cNvPr id="1991" name="Google Shape;1991;p75"/>
          <p:cNvPicPr preferRelativeResize="0"/>
          <p:nvPr/>
        </p:nvPicPr>
        <p:blipFill rotWithShape="1">
          <a:blip r:embed="rId4">
            <a:alphaModFix/>
          </a:blip>
          <a:srcRect b="0" l="0" r="0" t="0"/>
          <a:stretch/>
        </p:blipFill>
        <p:spPr>
          <a:xfrm>
            <a:off x="309335" y="5203626"/>
            <a:ext cx="320672" cy="145760"/>
          </a:xfrm>
          <a:prstGeom prst="rect">
            <a:avLst/>
          </a:prstGeom>
          <a:noFill/>
          <a:ln>
            <a:noFill/>
          </a:ln>
        </p:spPr>
      </p:pic>
      <p:pic>
        <p:nvPicPr>
          <p:cNvPr id="1992" name="Google Shape;1992;p75"/>
          <p:cNvPicPr preferRelativeResize="0"/>
          <p:nvPr/>
        </p:nvPicPr>
        <p:blipFill rotWithShape="1">
          <a:blip r:embed="rId5">
            <a:alphaModFix/>
          </a:blip>
          <a:srcRect b="0" l="0" r="0" t="0"/>
          <a:stretch/>
        </p:blipFill>
        <p:spPr>
          <a:xfrm>
            <a:off x="3107923" y="5495146"/>
            <a:ext cx="116608" cy="466431"/>
          </a:xfrm>
          <a:prstGeom prst="rect">
            <a:avLst/>
          </a:prstGeom>
          <a:noFill/>
          <a:ln>
            <a:noFill/>
          </a:ln>
        </p:spPr>
      </p:pic>
      <p:sp>
        <p:nvSpPr>
          <p:cNvPr id="1993" name="Google Shape;1993;p75"/>
          <p:cNvSpPr/>
          <p:nvPr/>
        </p:nvSpPr>
        <p:spPr>
          <a:xfrm>
            <a:off x="323911" y="104226"/>
            <a:ext cx="2440900" cy="6466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916" u="none" cap="none" strike="noStrike">
                <a:solidFill>
                  <a:srgbClr val="111F5B"/>
                </a:solidFill>
              </a:rPr>
              <a:t>Multiclase</a:t>
            </a:r>
            <a:endParaRPr b="1">
              <a:solidFill>
                <a:srgbClr val="111F5B"/>
              </a:solidFill>
            </a:endParaRPr>
          </a:p>
        </p:txBody>
      </p:sp>
      <p:sp>
        <p:nvSpPr>
          <p:cNvPr id="1994" name="Google Shape;1994;p75"/>
          <p:cNvSpPr/>
          <p:nvPr/>
        </p:nvSpPr>
        <p:spPr>
          <a:xfrm>
            <a:off x="331199" y="647542"/>
            <a:ext cx="7739270" cy="3540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145" u="none" cap="none" strike="noStrike">
                <a:solidFill>
                  <a:srgbClr val="07086B"/>
                </a:solidFill>
                <a:latin typeface="Quattrocento Sans"/>
                <a:ea typeface="Quattrocento Sans"/>
                <a:cs typeface="Quattrocento Sans"/>
                <a:sym typeface="Quattrocento Sans"/>
              </a:rPr>
              <a:t>Una categoría por petición, con probabilidades para cada clase.</a:t>
            </a:r>
            <a:endParaRPr/>
          </a:p>
        </p:txBody>
      </p:sp>
      <p:sp>
        <p:nvSpPr>
          <p:cNvPr id="1995" name="Google Shape;1995;p75"/>
          <p:cNvSpPr/>
          <p:nvPr/>
        </p:nvSpPr>
        <p:spPr>
          <a:xfrm>
            <a:off x="462383" y="1081024"/>
            <a:ext cx="8285869" cy="2811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3" u="none" cap="none" strike="noStrike">
                <a:solidFill>
                  <a:srgbClr val="0D0CFC"/>
                </a:solidFill>
                <a:latin typeface="Arial Narrow"/>
                <a:ea typeface="Arial Narrow"/>
                <a:cs typeface="Arial Narrow"/>
                <a:sym typeface="Arial Narrow"/>
              </a:rPr>
              <a:t>Priorizamos modelos basados en árboles para analizar las características de cada petición HTTP.</a:t>
            </a:r>
            <a:endParaRPr/>
          </a:p>
        </p:txBody>
      </p:sp>
      <p:sp>
        <p:nvSpPr>
          <p:cNvPr id="1996" name="Google Shape;1996;p75"/>
          <p:cNvSpPr/>
          <p:nvPr/>
        </p:nvSpPr>
        <p:spPr>
          <a:xfrm>
            <a:off x="790342" y="4920758"/>
            <a:ext cx="5501857"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69" u="none" cap="none" strike="noStrike">
                <a:solidFill>
                  <a:srgbClr val="0706FA"/>
                </a:solidFill>
                <a:latin typeface="Arial Narrow"/>
                <a:ea typeface="Arial Narrow"/>
                <a:cs typeface="Arial Narrow"/>
                <a:sym typeface="Arial Narrow"/>
              </a:rPr>
              <a:t>Capacidad disponible. También se utilizó en el modelo seleccionado.</a:t>
            </a:r>
            <a:endParaRPr/>
          </a:p>
        </p:txBody>
      </p:sp>
      <p:sp>
        <p:nvSpPr>
          <p:cNvPr id="1997" name="Google Shape;1997;p75"/>
          <p:cNvSpPr/>
          <p:nvPr/>
        </p:nvSpPr>
        <p:spPr>
          <a:xfrm>
            <a:off x="790342" y="5172389"/>
            <a:ext cx="3803755" cy="2625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42" u="none" cap="none" strike="noStrike">
                <a:solidFill>
                  <a:srgbClr val="0F0EFA"/>
                </a:solidFill>
                <a:latin typeface="Arial Narrow"/>
                <a:ea typeface="Arial Narrow"/>
                <a:cs typeface="Arial Narrow"/>
                <a:sym typeface="Arial Narrow"/>
              </a:rPr>
              <a:t>Capacidad no disponible en esta configuración.</a:t>
            </a:r>
            <a:endParaRPr/>
          </a:p>
        </p:txBody>
      </p:sp>
      <p:sp>
        <p:nvSpPr>
          <p:cNvPr id="1998" name="Google Shape;1998;p75"/>
          <p:cNvSpPr/>
          <p:nvPr/>
        </p:nvSpPr>
        <p:spPr>
          <a:xfrm>
            <a:off x="3406731" y="5556702"/>
            <a:ext cx="8001638" cy="2594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2" u="none" cap="none" strike="noStrike">
                <a:solidFill>
                  <a:srgbClr val="0E0FFC"/>
                </a:solidFill>
                <a:latin typeface="Arial Narrow"/>
                <a:ea typeface="Arial Narrow"/>
                <a:cs typeface="Arial Narrow"/>
                <a:sym typeface="Arial Narrow"/>
              </a:rPr>
              <a:t>Combina árboles y valores agrupados en intervalos. Permite estimar probabilidades por clase y medir</a:t>
            </a:r>
            <a:endParaRPr/>
          </a:p>
        </p:txBody>
      </p:sp>
      <p:sp>
        <p:nvSpPr>
          <p:cNvPr id="1999" name="Google Shape;1999;p75"/>
          <p:cNvSpPr/>
          <p:nvPr/>
        </p:nvSpPr>
        <p:spPr>
          <a:xfrm>
            <a:off x="418655" y="5572265"/>
            <a:ext cx="2317004" cy="3888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233" u="none" cap="none" strike="noStrike">
                <a:solidFill>
                  <a:srgbClr val="090860"/>
                </a:solidFill>
                <a:latin typeface="Arial Narrow"/>
                <a:ea typeface="Arial Narrow"/>
                <a:cs typeface="Arial Narrow"/>
                <a:sym typeface="Arial Narrow"/>
              </a:rPr>
              <a:t>Razones de elección</a:t>
            </a:r>
            <a:endParaRPr/>
          </a:p>
        </p:txBody>
      </p:sp>
      <p:sp>
        <p:nvSpPr>
          <p:cNvPr id="2000" name="Google Shape;2000;p75"/>
          <p:cNvSpPr/>
          <p:nvPr/>
        </p:nvSpPr>
        <p:spPr>
          <a:xfrm>
            <a:off x="3406731" y="5772089"/>
            <a:ext cx="4160866" cy="2357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8" u="none" cap="none" strike="noStrike">
                <a:solidFill>
                  <a:srgbClr val="0A0CFC"/>
                </a:solidFill>
                <a:latin typeface="Quattrocento Sans"/>
                <a:ea typeface="Quattrocento Sans"/>
                <a:cs typeface="Quattrocento Sans"/>
                <a:sym typeface="Quattrocento Sans"/>
              </a:rPr>
              <a:t>qué características ayudan a clasificar las peticiones.</a:t>
            </a:r>
            <a:endParaRPr/>
          </a:p>
        </p:txBody>
      </p:sp>
      <p:sp>
        <p:nvSpPr>
          <p:cNvPr id="2001" name="Google Shape;2001;p75"/>
          <p:cNvSpPr/>
          <p:nvPr/>
        </p:nvSpPr>
        <p:spPr>
          <a:xfrm>
            <a:off x="418655" y="6115988"/>
            <a:ext cx="3730875" cy="2750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82" u="none" cap="none" strike="noStrike">
                <a:solidFill>
                  <a:srgbClr val="0C0DF8"/>
                </a:solidFill>
                <a:latin typeface="Arial Narrow"/>
                <a:ea typeface="Arial Narrow"/>
                <a:cs typeface="Arial Narrow"/>
                <a:sym typeface="Arial Narrow"/>
              </a:rPr>
              <a:t>Límite: asigna una sola categoría por petición.</a:t>
            </a:r>
            <a:endParaRPr/>
          </a:p>
        </p:txBody>
      </p:sp>
      <p:sp>
        <p:nvSpPr>
          <p:cNvPr id="2002" name="Google Shape;2002;p75"/>
          <p:cNvSpPr/>
          <p:nvPr/>
        </p:nvSpPr>
        <p:spPr>
          <a:xfrm>
            <a:off x="418655" y="6350997"/>
            <a:ext cx="7695542" cy="2597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2" u="none" cap="none" strike="noStrike">
                <a:solidFill>
                  <a:srgbClr val="1315FB"/>
                </a:solidFill>
                <a:latin typeface="Arial Narrow"/>
                <a:ea typeface="Arial Narrow"/>
                <a:cs typeface="Arial Narrow"/>
                <a:sym typeface="Arial Narrow"/>
              </a:rPr>
              <a:t>Que el modelo indique 90 % no asegura que acierte 9 de cada 10 veces cuando da ese porcentaje.</a:t>
            </a:r>
            <a:endParaRPr/>
          </a:p>
        </p:txBody>
      </p:sp>
      <p:sp>
        <p:nvSpPr>
          <p:cNvPr id="2003" name="Google Shape;2003;p75"/>
          <p:cNvSpPr/>
          <p:nvPr/>
        </p:nvSpPr>
        <p:spPr>
          <a:xfrm>
            <a:off x="316623" y="6644188"/>
            <a:ext cx="7265551" cy="19748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52" u="none" cap="none" strike="noStrike">
                <a:solidFill>
                  <a:srgbClr val="1914F1"/>
                </a:solidFill>
                <a:latin typeface="Arial Narrow"/>
                <a:ea typeface="Arial Narrow"/>
                <a:cs typeface="Arial Narrow"/>
                <a:sym typeface="Arial Narrow"/>
              </a:rPr>
              <a:t>La tabla compara características de los modelos, no su precisión o velocidad.</a:t>
            </a:r>
            <a:endParaRPr/>
          </a:p>
        </p:txBody>
      </p:sp>
      <p:graphicFrame>
        <p:nvGraphicFramePr>
          <p:cNvPr id="2004" name="Google Shape;2004;p75"/>
          <p:cNvGraphicFramePr/>
          <p:nvPr/>
        </p:nvGraphicFramePr>
        <p:xfrm>
          <a:off x="258319" y="1443022"/>
          <a:ext cx="3000000" cy="3000000"/>
        </p:xfrm>
        <a:graphic>
          <a:graphicData uri="http://schemas.openxmlformats.org/drawingml/2006/table">
            <a:tbl>
              <a:tblPr>
                <a:noFill/>
                <a:tableStyleId>{F1B291AF-9CB1-4793-AFE8-E70834C1BA4F}</a:tableStyleId>
              </a:tblPr>
              <a:tblGrid>
                <a:gridCol w="4817350"/>
                <a:gridCol w="2514350"/>
                <a:gridCol w="2215550"/>
                <a:gridCol w="2120800"/>
              </a:tblGrid>
              <a:tr h="619475">
                <a:tc>
                  <a:txBody>
                    <a:bodyPr/>
                    <a:lstStyle/>
                    <a:p>
                      <a:pPr indent="0" lvl="0" marL="0" marR="0" rtl="0" algn="l">
                        <a:spcBef>
                          <a:spcPts val="0"/>
                        </a:spcBef>
                        <a:spcAft>
                          <a:spcPts val="0"/>
                        </a:spcAft>
                        <a:buNone/>
                      </a:pPr>
                      <a:r>
                        <a:rPr b="1" lang="en-US" sz="1481" u="none" cap="none" strike="noStrike">
                          <a:solidFill>
                            <a:srgbClr val="070F64"/>
                          </a:solidFill>
                          <a:latin typeface="Arial"/>
                          <a:ea typeface="Arial"/>
                          <a:cs typeface="Arial"/>
                          <a:sym typeface="Arial"/>
                        </a:rPr>
                        <a:t>Característica y uso en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481" u="none" cap="none" strike="noStrike">
                          <a:solidFill>
                            <a:srgbClr val="070F64"/>
                          </a:solidFill>
                          <a:latin typeface="Arial"/>
                          <a:ea typeface="Arial"/>
                          <a:cs typeface="Arial"/>
                          <a:sym typeface="Arial"/>
                        </a:rPr>
                        <a:t>HistGradientBoosting</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481" u="none" cap="none" strike="noStrike">
                          <a:solidFill>
                            <a:srgbClr val="070F64"/>
                          </a:solidFill>
                          <a:latin typeface="Arial"/>
                          <a:ea typeface="Arial"/>
                          <a:cs typeface="Arial"/>
                          <a:sym typeface="Arial"/>
                        </a:rPr>
                        <a:t>Random Forest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478" u="none" cap="none" strike="noStrike">
                          <a:solidFill>
                            <a:srgbClr val="070F64"/>
                          </a:solidFill>
                          <a:latin typeface="Arial"/>
                          <a:ea typeface="Arial"/>
                          <a:cs typeface="Arial"/>
                          <a:sym typeface="Arial"/>
                        </a:rPr>
                        <a:t>Regresión logística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r>
              <a:tr h="626775">
                <a:tc>
                  <a:txBody>
                    <a:bodyPr/>
                    <a:lstStyle/>
                    <a:p>
                      <a:pPr indent="0" lvl="0" marL="0" marR="0" rtl="0" algn="l">
                        <a:spcBef>
                          <a:spcPts val="0"/>
                        </a:spcBef>
                        <a:spcAft>
                          <a:spcPts val="0"/>
                        </a:spcAft>
                        <a:buNone/>
                      </a:pPr>
                      <a:r>
                        <a:rPr b="1" lang="en-US" sz="1055" u="none" cap="none" strike="noStrike">
                          <a:solidFill>
                            <a:srgbClr val="070F64"/>
                          </a:solidFill>
                          <a:latin typeface="Arial"/>
                          <a:ea typeface="Arial"/>
                          <a:cs typeface="Arial"/>
                          <a:sym typeface="Arial"/>
                        </a:rPr>
                        <a:t>Basado en árboles</a:t>
                      </a:r>
                      <a:endParaRPr/>
                    </a:p>
                    <a:p>
                      <a:pPr indent="0" lvl="0" marL="0" marR="0" rtl="0" algn="l">
                        <a:spcBef>
                          <a:spcPts val="0"/>
                        </a:spcBef>
                        <a:spcAft>
                          <a:spcPts val="0"/>
                        </a:spcAft>
                        <a:buNone/>
                      </a:pPr>
                      <a:r>
                        <a:rPr b="1" lang="en-US" sz="1055" u="none" cap="none" strike="noStrike">
                          <a:solidFill>
                            <a:srgbClr val="070F64"/>
                          </a:solidFill>
                          <a:latin typeface="Arial"/>
                          <a:ea typeface="Arial"/>
                          <a:cs typeface="Arial"/>
                          <a:sym typeface="Arial"/>
                        </a:rPr>
                        <a:t>(combinar condiciones sobre las características de una petición)</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663200">
                <a:tc>
                  <a:txBody>
                    <a:bodyPr/>
                    <a:lstStyle/>
                    <a:p>
                      <a:pPr indent="0" lvl="0" marL="0" marR="0" rtl="0" algn="l">
                        <a:spcBef>
                          <a:spcPts val="0"/>
                        </a:spcBef>
                        <a:spcAft>
                          <a:spcPts val="0"/>
                        </a:spcAft>
                        <a:buNone/>
                      </a:pPr>
                      <a:r>
                        <a:rPr b="1" lang="en-US" sz="1379" u="none" cap="none" strike="noStrike">
                          <a:solidFill>
                            <a:srgbClr val="070F64"/>
                          </a:solidFill>
                          <a:latin typeface="Arial"/>
                          <a:ea typeface="Arial"/>
                          <a:cs typeface="Arial"/>
                          <a:sym typeface="Arial"/>
                        </a:rPr>
                        <a:t>Probabilidades por clase</a:t>
                      </a:r>
                      <a:endParaRPr/>
                    </a:p>
                    <a:p>
                      <a:pPr indent="0" lvl="0" marL="0" marR="0" rtl="0" algn="l">
                        <a:spcBef>
                          <a:spcPts val="0"/>
                        </a:spcBef>
                        <a:spcAft>
                          <a:spcPts val="0"/>
                        </a:spcAft>
                        <a:buNone/>
                      </a:pPr>
                      <a:r>
                        <a:rPr b="1" lang="en-US" sz="1379" u="none" cap="none" strike="noStrike">
                          <a:solidFill>
                            <a:srgbClr val="070F64"/>
                          </a:solidFill>
                          <a:latin typeface="Arial"/>
                          <a:ea typeface="Arial"/>
                          <a:cs typeface="Arial"/>
                          <a:sym typeface="Arial"/>
                        </a:rPr>
                        <a:t>(estimar la probabilidad de cada categoría)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77775">
                <a:tc>
                  <a:txBody>
                    <a:bodyPr/>
                    <a:lstStyle/>
                    <a:p>
                      <a:pPr indent="0" lvl="0" marL="0" marR="0" rtl="0" algn="l">
                        <a:spcBef>
                          <a:spcPts val="0"/>
                        </a:spcBef>
                        <a:spcAft>
                          <a:spcPts val="0"/>
                        </a:spcAft>
                        <a:buNone/>
                      </a:pPr>
                      <a:r>
                        <a:rPr b="1" lang="en-US" sz="1197" u="none" cap="none" strike="noStrike">
                          <a:solidFill>
                            <a:srgbClr val="070F64"/>
                          </a:solidFill>
                          <a:latin typeface="Arial"/>
                          <a:ea typeface="Arial"/>
                          <a:cs typeface="Arial"/>
                          <a:sym typeface="Arial"/>
                        </a:rPr>
                        <a:t>Boosting con histogramas</a:t>
                      </a:r>
                      <a:endParaRPr/>
                    </a:p>
                    <a:p>
                      <a:pPr indent="0" lvl="0" marL="0" marR="0" rtl="0" algn="l">
                        <a:spcBef>
                          <a:spcPts val="0"/>
                        </a:spcBef>
                        <a:spcAft>
                          <a:spcPts val="0"/>
                        </a:spcAft>
                        <a:buNone/>
                      </a:pPr>
                      <a:r>
                        <a:rPr b="1" lang="en-US" sz="1197" u="none" cap="none" strike="noStrike">
                          <a:solidFill>
                            <a:srgbClr val="070F64"/>
                          </a:solidFill>
                          <a:latin typeface="Arial"/>
                          <a:ea typeface="Arial"/>
                          <a:cs typeface="Arial"/>
                          <a:sym typeface="Arial"/>
                        </a:rPr>
                        <a:t>(agrupar valores en intervalos para construir los árboles)</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772525">
                <a:tc>
                  <a:txBody>
                    <a:bodyPr/>
                    <a:lstStyle/>
                    <a:p>
                      <a:pPr indent="0" lvl="0" marL="0" marR="0" rtl="0" algn="l">
                        <a:spcBef>
                          <a:spcPts val="0"/>
                        </a:spcBef>
                        <a:spcAft>
                          <a:spcPts val="0"/>
                        </a:spcAft>
                        <a:buNone/>
                      </a:pPr>
                      <a:r>
                        <a:rPr b="1" lang="en-US" sz="1180" u="none" cap="none" strike="noStrike">
                          <a:solidFill>
                            <a:srgbClr val="070F64"/>
                          </a:solidFill>
                          <a:latin typeface="Arial"/>
                          <a:ea typeface="Arial"/>
                          <a:cs typeface="Arial"/>
                          <a:sym typeface="Arial"/>
                        </a:rPr>
                        <a:t>Importancia por permutación</a:t>
                      </a:r>
                      <a:endParaRPr/>
                    </a:p>
                    <a:p>
                      <a:pPr indent="0" lvl="0" marL="0" marR="0" rtl="0" algn="l">
                        <a:spcBef>
                          <a:spcPts val="0"/>
                        </a:spcBef>
                        <a:spcAft>
                          <a:spcPts val="0"/>
                        </a:spcAft>
                        <a:buNone/>
                      </a:pPr>
                      <a:r>
                        <a:rPr b="1" lang="en-US" sz="1180" u="none" cap="none" strike="noStrike">
                          <a:solidFill>
                            <a:srgbClr val="070F64"/>
                          </a:solidFill>
                          <a:latin typeface="Arial"/>
                          <a:ea typeface="Arial"/>
                          <a:cs typeface="Arial"/>
                          <a:sym typeface="Arial"/>
                        </a:rPr>
                        <a:t>(medir cuánto empeora el resultado al mezclar los valores</a:t>
                      </a:r>
                      <a:endParaRPr/>
                    </a:p>
                    <a:p>
                      <a:pPr indent="0" lvl="0" marL="0" marR="0" rtl="0" algn="l">
                        <a:spcBef>
                          <a:spcPts val="0"/>
                        </a:spcBef>
                        <a:spcAft>
                          <a:spcPts val="0"/>
                        </a:spcAft>
                        <a:buNone/>
                      </a:pPr>
                      <a:r>
                        <a:rPr b="1" lang="en-US" sz="1180" u="none" cap="none" strike="noStrike">
                          <a:solidFill>
                            <a:srgbClr val="070F64"/>
                          </a:solidFill>
                          <a:latin typeface="Arial"/>
                          <a:ea typeface="Arial"/>
                          <a:cs typeface="Arial"/>
                          <a:sym typeface="Arial"/>
                        </a:rPr>
                        <a:t>de una característica)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bl>
          </a:graphicData>
        </a:graphic>
      </p:graphicFrame>
      <p:sp>
        <p:nvSpPr>
          <p:cNvPr id="2005" name="Google Shape;2005;p75"/>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06" name="Google Shape;2006;p75" title="DEFENSA_SEGURA_V2:barra-55"/>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07" name="Google Shape;2007;p75" title="DEFENSA_SEGURA_V2:avance-55"/>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08" name="Google Shape;2008;p75" title="DEFENSA_SEGURA_V2:seccion-55"/>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3" name="Shape 2013"/>
        <p:cNvGrpSpPr/>
        <p:nvPr/>
      </p:nvGrpSpPr>
      <p:grpSpPr>
        <a:xfrm>
          <a:off x="0" y="0"/>
          <a:ext cx="0" cy="0"/>
          <a:chOff x="0" y="0"/>
          <a:chExt cx="0" cy="0"/>
        </a:xfrm>
      </p:grpSpPr>
      <p:sp>
        <p:nvSpPr>
          <p:cNvPr id="2014" name="Google Shape;2014;p76"/>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070F64"/>
                </a:solidFill>
              </a:rPr>
              <a:t>Fórmulas: HistGradientBoosting</a:t>
            </a:r>
            <a:endParaRPr sz="3600">
              <a:solidFill>
                <a:srgbClr val="070F64"/>
              </a:solidFill>
            </a:endParaRPr>
          </a:p>
        </p:txBody>
      </p:sp>
      <p:sp>
        <p:nvSpPr>
          <p:cNvPr id="2015" name="Google Shape;2015;p76"/>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Multiclase: x es el vector HTTP y k identifica una de las K clases.</a:t>
            </a:r>
            <a:endParaRPr sz="1800">
              <a:solidFill>
                <a:srgbClr val="070F64"/>
              </a:solidFill>
            </a:endParaRPr>
          </a:p>
        </p:txBody>
      </p:sp>
      <p:graphicFrame>
        <p:nvGraphicFramePr>
          <p:cNvPr id="2016" name="Google Shape;2016;p76"/>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6096000"/>
                <a:gridCol w="5524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Fórmula central</a:t>
                      </a:r>
                      <a:endParaRPr b="1" sz="18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Símbolos e interpretación</a:t>
                      </a:r>
                      <a:endParaRPr b="1" sz="1800">
                        <a:solidFill>
                          <a:srgbClr val="FFFFFF"/>
                        </a:solidFill>
                      </a:endParaRPr>
                    </a:p>
                  </a:txBody>
                  <a:tcPr marT="76200" marB="76200" marR="114300" marL="114300" anchor="ctr">
                    <a:solidFill>
                      <a:srgbClr val="070F64"/>
                    </a:solidFill>
                  </a:tcPr>
                </a:tc>
              </a:tr>
              <a:tr h="1244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Puntaje por clase</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b</a:t>
                      </a:r>
                      <a:r>
                        <a:rPr baseline="-25000" lang="en-US" sz="1700">
                          <a:solidFill>
                            <a:srgbClr val="070F64"/>
                          </a:solidFill>
                        </a:rPr>
                        <a:t>k</a:t>
                      </a:r>
                      <a:r>
                        <a:rPr lang="en-US" sz="1700">
                          <a:solidFill>
                            <a:srgbClr val="070F64"/>
                          </a:solidFill>
                        </a:rPr>
                        <a:t>: puntaje inicial; η: tasa de aprendizaje.</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f</a:t>
                      </a:r>
                      <a:r>
                        <a:rPr baseline="-25000" lang="en-US" sz="1700">
                          <a:solidFill>
                            <a:srgbClr val="070F64"/>
                          </a:solidFill>
                        </a:rPr>
                        <a:t>t</a:t>
                      </a:r>
                      <a:r>
                        <a:rPr lang="en-US" sz="1700">
                          <a:solidFill>
                            <a:srgbClr val="070F64"/>
                          </a:solidFill>
                        </a:rPr>
                        <a:t>,</a:t>
                      </a:r>
                      <a:r>
                        <a:rPr baseline="-25000" lang="en-US" sz="1700">
                          <a:solidFill>
                            <a:srgbClr val="070F64"/>
                          </a:solidFill>
                        </a:rPr>
                        <a:t>k</a:t>
                      </a:r>
                      <a:r>
                        <a:rPr lang="en-US" sz="1700">
                          <a:solidFill>
                            <a:srgbClr val="070F64"/>
                          </a:solidFill>
                        </a:rPr>
                        <a:t>: árbol de la ronda t para la clase k,</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antes de aplicar η. M: rondas.</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Se añade un árbol por clase y ronda.</a:t>
                      </a:r>
                      <a:endParaRPr sz="1700">
                        <a:solidFill>
                          <a:srgbClr val="070F64"/>
                        </a:solidFill>
                      </a:endParaRPr>
                    </a:p>
                  </a:txBody>
                  <a:tcPr marT="76200" marB="76200" marR="114300" marL="114300" anchor="ctr">
                    <a:solidFill>
                      <a:srgbClr val="DFF4FC"/>
                    </a:solidFill>
                  </a:tcPr>
                </a:tc>
              </a:tr>
              <a:tr h="17018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Probabilidad y decisión</a:t>
                      </a:r>
                      <a:endParaRPr b="1" sz="1800">
                        <a:solidFill>
                          <a:srgbClr val="070F64"/>
                        </a:solidFill>
                      </a:endParaRPr>
                    </a:p>
                  </a:txBody>
                  <a:tcPr marT="76200" marB="76200" marR="114300" marL="114300">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Softmax transforma los K puntajes</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en probabilidades que suman 1.</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argmax elige la clase de mayor</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probabilidad: una clase por petición.</a:t>
                      </a:r>
                      <a:endParaRPr sz="1700">
                        <a:solidFill>
                          <a:srgbClr val="070F64"/>
                        </a:solidFill>
                      </a:endParaRPr>
                    </a:p>
                  </a:txBody>
                  <a:tcPr marT="76200" marB="76200" marR="114300" marL="114300" anchor="ctr">
                    <a:solidFill>
                      <a:srgbClr val="F6FBFD"/>
                    </a:solidFill>
                  </a:tcPr>
                </a:tc>
              </a:tr>
              <a:tr h="1244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Pérdida de clasificación</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y</a:t>
                      </a:r>
                      <a:r>
                        <a:rPr baseline="-25000" lang="en-US" sz="1700">
                          <a:solidFill>
                            <a:srgbClr val="070F64"/>
                          </a:solidFill>
                        </a:rPr>
                        <a:t>i</a:t>
                      </a:r>
                      <a:r>
                        <a:rPr lang="en-US" sz="1700">
                          <a:solidFill>
                            <a:srgbClr val="070F64"/>
                          </a:solidFill>
                        </a:rPr>
                        <a:t>: clase real; p</a:t>
                      </a:r>
                      <a:r>
                        <a:rPr baseline="-25000" lang="en-US" sz="1700">
                          <a:solidFill>
                            <a:srgbClr val="070F64"/>
                          </a:solidFill>
                        </a:rPr>
                        <a:t>yi</a:t>
                      </a:r>
                      <a:r>
                        <a:rPr lang="en-US" sz="1700">
                          <a:solidFill>
                            <a:srgbClr val="070F64"/>
                          </a:solidFill>
                        </a:rPr>
                        <a:t>: probabilidad de esa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clase; a</a:t>
                      </a:r>
                      <a:r>
                        <a:rPr baseline="-25000" lang="en-US" sz="1700">
                          <a:solidFill>
                            <a:srgbClr val="070F64"/>
                          </a:solidFill>
                        </a:rPr>
                        <a:t>i</a:t>
                      </a:r>
                      <a:r>
                        <a:rPr lang="en-US" sz="1700">
                          <a:solidFill>
                            <a:srgbClr val="070F64"/>
                          </a:solidFill>
                        </a:rPr>
                        <a:t>: peso; n: cantidad de casos.</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La pérdida aumenta al asignar poca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probabilidad a la clase real.</a:t>
                      </a:r>
                      <a:endParaRPr sz="1700">
                        <a:solidFill>
                          <a:srgbClr val="070F64"/>
                        </a:solidFill>
                      </a:endParaRPr>
                    </a:p>
                  </a:txBody>
                  <a:tcPr marT="76200" marB="76200" marR="114300" marL="114300" anchor="ctr">
                    <a:solidFill>
                      <a:srgbClr val="DFF4FC"/>
                    </a:solidFill>
                  </a:tcPr>
                </a:tc>
              </a:tr>
            </a:tbl>
          </a:graphicData>
        </a:graphic>
      </p:graphicFrame>
      <p:sp>
        <p:nvSpPr>
          <p:cNvPr id="2017" name="Google Shape;2017;p76"/>
          <p:cNvSpPr/>
          <p:nvPr/>
        </p:nvSpPr>
        <p:spPr>
          <a:xfrm>
            <a:off x="304800" y="6159500"/>
            <a:ext cx="11430000" cy="36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Los histogramas agrupan valores para buscar cortes de los árboles; no cambian la función softmax.</a:t>
            </a:r>
            <a:endParaRPr b="1" sz="1700">
              <a:solidFill>
                <a:srgbClr val="070F64"/>
              </a:solidFill>
            </a:endParaRPr>
          </a:p>
        </p:txBody>
      </p:sp>
      <p:sp>
        <p:nvSpPr>
          <p:cNvPr id="2018" name="Google Shape;2018;p76"/>
          <p:cNvSpPr/>
          <p:nvPr/>
        </p:nvSpPr>
        <p:spPr>
          <a:xfrm>
            <a:off x="304800" y="6578600"/>
            <a:ext cx="11049000" cy="2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rgbClr val="070F64"/>
                </a:solidFill>
              </a:rPr>
              <a:t>Fuentes: guía y API oficial de HistGradientBoostingClassifier, scikit-learn. Detalles de M8 y enlaces en las notas.</a:t>
            </a:r>
            <a:endParaRPr sz="1100">
              <a:solidFill>
                <a:srgbClr val="070F64"/>
              </a:solidFill>
            </a:endParaRPr>
          </a:p>
        </p:txBody>
      </p:sp>
      <p:sp>
        <p:nvSpPr>
          <p:cNvPr id="2019" name="Google Shape;2019;p76"/>
          <p:cNvSpPr txBox="1"/>
          <p:nvPr>
            <p:ph idx="12" type="sldNum"/>
          </p:nvPr>
        </p:nvSpPr>
        <p:spPr>
          <a:xfrm>
            <a:off x="11468100" y="6578600"/>
            <a:ext cx="419100" cy="216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20" name="Google Shape;2020;p76"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1" name="Google Shape;2021;p76"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2" name="Google Shape;2022;p76"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00">
                <a:solidFill>
                  <a:srgbClr val="070F64"/>
                </a:solidFill>
              </a:rPr>
              <a:t>ANEXO</a:t>
            </a:r>
            <a:endParaRPr b="1" sz="800">
              <a:solidFill>
                <a:srgbClr val="070F64"/>
              </a:solidFill>
            </a:endParaRPr>
          </a:p>
        </p:txBody>
      </p:sp>
      <p:pic>
        <p:nvPicPr>
          <p:cNvPr descr="Puntaje multiclase: F_k(x)=b_k+\eta\sum_{t=1}^{M}f_{t,k}(x)&#10;Softmax: p_k(x)=\frac{\exp(F_k(x))}{\displaystyle\sum_{j=1}^{K}\exp(F_j(x))}\qquad\widehat y(x)=\operatorname*{arg\,max}_{k}p_k(x)&#10;Pérdida multiclase: L=-\sum_{i=1}^{n}a_i\log\!\left(p_{y_i}(x_i)\right)" id="2023" name="Google Shape;2023;p76" title="Ecuaciones de Puntaje multiclase, Softmax, Pérdida multiclase"/>
          <p:cNvPicPr preferRelativeResize="0"/>
          <p:nvPr/>
        </p:nvPicPr>
        <p:blipFill>
          <a:blip r:embed="rId3">
            <a:alphaModFix/>
          </a:blip>
          <a:stretch>
            <a:fillRect/>
          </a:stretch>
        </p:blipFill>
        <p:spPr>
          <a:xfrm>
            <a:off x="285750" y="1879600"/>
            <a:ext cx="6096002" cy="419100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77"/>
          <p:cNvSpPr/>
          <p:nvPr/>
        </p:nvSpPr>
        <p:spPr>
          <a:xfrm>
            <a:off x="265607" y="5393114"/>
            <a:ext cx="11631634" cy="728799"/>
          </a:xfrm>
          <a:prstGeom prst="roundRect">
            <a:avLst>
              <a:gd fmla="val 8000" name="adj"/>
            </a:avLst>
          </a:prstGeom>
          <a:solidFill>
            <a:srgbClr val="D9EF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7"/>
          <p:cNvSpPr/>
          <p:nvPr/>
        </p:nvSpPr>
        <p:spPr>
          <a:xfrm>
            <a:off x="294759" y="1078623"/>
            <a:ext cx="11602482" cy="408128"/>
          </a:xfrm>
          <a:prstGeom prst="roundRect">
            <a:avLst>
              <a:gd fmla="val 14286" name="adj"/>
            </a:avLst>
          </a:prstGeom>
          <a:solidFill>
            <a:srgbClr val="D5F7F5"/>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0" name="Google Shape;2030;p77"/>
          <p:cNvPicPr preferRelativeResize="0"/>
          <p:nvPr/>
        </p:nvPicPr>
        <p:blipFill rotWithShape="1">
          <a:blip r:embed="rId3">
            <a:alphaModFix/>
          </a:blip>
          <a:srcRect b="0" l="0" r="0" t="0"/>
          <a:stretch/>
        </p:blipFill>
        <p:spPr>
          <a:xfrm>
            <a:off x="309335" y="5028714"/>
            <a:ext cx="349824" cy="320672"/>
          </a:xfrm>
          <a:prstGeom prst="rect">
            <a:avLst/>
          </a:prstGeom>
          <a:noFill/>
          <a:ln>
            <a:noFill/>
          </a:ln>
        </p:spPr>
      </p:pic>
      <p:pic>
        <p:nvPicPr>
          <p:cNvPr id="2031" name="Google Shape;2031;p77"/>
          <p:cNvPicPr preferRelativeResize="0"/>
          <p:nvPr/>
        </p:nvPicPr>
        <p:blipFill rotWithShape="1">
          <a:blip r:embed="rId4">
            <a:alphaModFix/>
          </a:blip>
          <a:srcRect b="0" l="0" r="0" t="0"/>
          <a:stretch/>
        </p:blipFill>
        <p:spPr>
          <a:xfrm>
            <a:off x="5265169" y="5145322"/>
            <a:ext cx="408128" cy="145760"/>
          </a:xfrm>
          <a:prstGeom prst="rect">
            <a:avLst/>
          </a:prstGeom>
          <a:noFill/>
          <a:ln>
            <a:noFill/>
          </a:ln>
        </p:spPr>
      </p:pic>
      <p:sp>
        <p:nvSpPr>
          <p:cNvPr id="2032" name="Google Shape;2032;p77"/>
          <p:cNvSpPr/>
          <p:nvPr/>
        </p:nvSpPr>
        <p:spPr>
          <a:xfrm>
            <a:off x="294759" y="138472"/>
            <a:ext cx="3315459" cy="6925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4195" u="none" cap="none" strike="noStrike">
                <a:solidFill>
                  <a:srgbClr val="111F5B"/>
                </a:solidFill>
              </a:rPr>
              <a:t>Multietiqueta</a:t>
            </a:r>
            <a:endParaRPr b="1">
              <a:solidFill>
                <a:srgbClr val="111F5B"/>
              </a:solidFill>
            </a:endParaRPr>
          </a:p>
        </p:txBody>
      </p:sp>
      <p:sp>
        <p:nvSpPr>
          <p:cNvPr id="2033" name="Google Shape;2033;p77"/>
          <p:cNvSpPr/>
          <p:nvPr/>
        </p:nvSpPr>
        <p:spPr>
          <a:xfrm>
            <a:off x="272895" y="677783"/>
            <a:ext cx="7557070" cy="38750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347" u="none" cap="none" strike="noStrike">
                <a:solidFill>
                  <a:srgbClr val="0506C4"/>
                </a:solidFill>
                <a:latin typeface="Quattrocento Sans"/>
                <a:ea typeface="Quattrocento Sans"/>
                <a:cs typeface="Quattrocento Sans"/>
                <a:sym typeface="Quattrocento Sans"/>
              </a:rPr>
              <a:t>Varias categorías posibles para una misma petición HTTP.</a:t>
            </a:r>
            <a:endParaRPr/>
          </a:p>
        </p:txBody>
      </p:sp>
      <p:sp>
        <p:nvSpPr>
          <p:cNvPr id="2034" name="Google Shape;2034;p77"/>
          <p:cNvSpPr/>
          <p:nvPr/>
        </p:nvSpPr>
        <p:spPr>
          <a:xfrm>
            <a:off x="425943" y="1175225"/>
            <a:ext cx="7826726" cy="31135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5" u="none" cap="none" strike="noStrike">
                <a:solidFill>
                  <a:srgbClr val="070BBF"/>
                </a:solidFill>
                <a:latin typeface="Arial Narrow"/>
                <a:ea typeface="Arial Narrow"/>
                <a:cs typeface="Arial Narrow"/>
                <a:sym typeface="Arial Narrow"/>
              </a:rPr>
              <a:t>Se priorizaron modelos basados en árboles para analizar atributos HTTP tabulares.</a:t>
            </a:r>
            <a:endParaRPr/>
          </a:p>
        </p:txBody>
      </p:sp>
      <p:sp>
        <p:nvSpPr>
          <p:cNvPr id="2035" name="Google Shape;2035;p77"/>
          <p:cNvSpPr/>
          <p:nvPr/>
        </p:nvSpPr>
        <p:spPr>
          <a:xfrm>
            <a:off x="761190" y="5131443"/>
            <a:ext cx="4160866" cy="2677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91" u="none" cap="none" strike="noStrike">
                <a:solidFill>
                  <a:srgbClr val="1211D3"/>
                </a:solidFill>
                <a:latin typeface="Arial Narrow"/>
                <a:ea typeface="Arial Narrow"/>
                <a:cs typeface="Arial Narrow"/>
                <a:sym typeface="Arial Narrow"/>
              </a:rPr>
              <a:t>Disponible; en el modelo destacado, también utilizado.</a:t>
            </a:r>
            <a:endParaRPr/>
          </a:p>
        </p:txBody>
      </p:sp>
      <p:sp>
        <p:nvSpPr>
          <p:cNvPr id="2036" name="Google Shape;2036;p77"/>
          <p:cNvSpPr/>
          <p:nvPr/>
        </p:nvSpPr>
        <p:spPr>
          <a:xfrm>
            <a:off x="578990" y="5497946"/>
            <a:ext cx="2149381" cy="36039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2072" u="none" cap="none" strike="noStrike">
                <a:solidFill>
                  <a:srgbClr val="0607AC"/>
                </a:solidFill>
                <a:latin typeface="Arial Narrow"/>
                <a:ea typeface="Arial Narrow"/>
                <a:cs typeface="Arial Narrow"/>
                <a:sym typeface="Arial Narrow"/>
              </a:rPr>
              <a:t>Razones de elección</a:t>
            </a:r>
            <a:endParaRPr/>
          </a:p>
        </p:txBody>
      </p:sp>
      <p:sp>
        <p:nvSpPr>
          <p:cNvPr id="2037" name="Google Shape;2037;p77"/>
          <p:cNvSpPr/>
          <p:nvPr/>
        </p:nvSpPr>
        <p:spPr>
          <a:xfrm>
            <a:off x="5826344" y="5142084"/>
            <a:ext cx="4466962" cy="275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46" u="none" cap="none" strike="noStrike">
                <a:solidFill>
                  <a:srgbClr val="0D0CD5"/>
                </a:solidFill>
                <a:latin typeface="Arial Narrow"/>
                <a:ea typeface="Arial Narrow"/>
                <a:cs typeface="Arial Narrow"/>
                <a:sym typeface="Arial Narrow"/>
              </a:rPr>
              <a:t>No corresponde al mecanismo o configuración indicados.</a:t>
            </a:r>
            <a:endParaRPr/>
          </a:p>
        </p:txBody>
      </p:sp>
      <p:sp>
        <p:nvSpPr>
          <p:cNvPr id="2038" name="Google Shape;2038;p77"/>
          <p:cNvSpPr/>
          <p:nvPr/>
        </p:nvSpPr>
        <p:spPr>
          <a:xfrm>
            <a:off x="578990" y="5827890"/>
            <a:ext cx="11120898" cy="2734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36">
                <a:solidFill>
                  <a:srgbClr val="0F13D7"/>
                </a:solidFill>
                <a:latin typeface="Arial Narrow"/>
                <a:ea typeface="Arial Narrow"/>
                <a:cs typeface="Arial Narrow"/>
                <a:sym typeface="Arial Narrow"/>
              </a:rPr>
              <a:t>Integra árboles y decisiones por etiqueta. Ajusta umbrales con datos reservados y analiza la importancia por ganancia.</a:t>
            </a:r>
            <a:endParaRPr/>
          </a:p>
        </p:txBody>
      </p:sp>
      <p:sp>
        <p:nvSpPr>
          <p:cNvPr id="2039" name="Google Shape;2039;p77"/>
          <p:cNvSpPr/>
          <p:nvPr/>
        </p:nvSpPr>
        <p:spPr>
          <a:xfrm>
            <a:off x="272895" y="6167444"/>
            <a:ext cx="6237944" cy="27363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635" u="none" cap="none" strike="noStrike">
                <a:solidFill>
                  <a:srgbClr val="0D0CCF"/>
                </a:solidFill>
                <a:latin typeface="Arial Narrow"/>
                <a:ea typeface="Arial Narrow"/>
                <a:cs typeface="Arial Narrow"/>
                <a:sym typeface="Arial Narrow"/>
              </a:rPr>
              <a:t>Límite: One-vs-Rest no modela explícitamente las dependencias entre etiquetas.</a:t>
            </a:r>
            <a:endParaRPr/>
          </a:p>
        </p:txBody>
      </p:sp>
      <p:sp>
        <p:nvSpPr>
          <p:cNvPr id="2040" name="Google Shape;2040;p77"/>
          <p:cNvSpPr/>
          <p:nvPr/>
        </p:nvSpPr>
        <p:spPr>
          <a:xfrm>
            <a:off x="280183" y="6416627"/>
            <a:ext cx="5101017" cy="2217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35" u="none" cap="none" strike="noStrike">
                <a:solidFill>
                  <a:srgbClr val="1514D2"/>
                </a:solidFill>
                <a:latin typeface="Arial Narrow"/>
                <a:ea typeface="Arial Narrow"/>
                <a:cs typeface="Arial Narrow"/>
                <a:sym typeface="Arial Narrow"/>
              </a:rPr>
              <a:t>Random Forest ofrece importancia por impureza; no es la ganancia del boosting.</a:t>
            </a:r>
            <a:endParaRPr/>
          </a:p>
        </p:txBody>
      </p:sp>
      <p:sp>
        <p:nvSpPr>
          <p:cNvPr id="2041" name="Google Shape;2041;p77"/>
          <p:cNvSpPr/>
          <p:nvPr/>
        </p:nvSpPr>
        <p:spPr>
          <a:xfrm>
            <a:off x="272895" y="6606115"/>
            <a:ext cx="6493023" cy="2217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43" u="none" cap="none" strike="noStrike">
                <a:solidFill>
                  <a:srgbClr val="1616D4"/>
                </a:solidFill>
                <a:latin typeface="Arial Narrow"/>
                <a:ea typeface="Arial Narrow"/>
                <a:cs typeface="Arial Narrow"/>
                <a:sym typeface="Arial Narrow"/>
              </a:rPr>
              <a:t>Comparación técnica, sin ranking de precisión.</a:t>
            </a:r>
            <a:endParaRPr/>
          </a:p>
        </p:txBody>
      </p:sp>
      <p:graphicFrame>
        <p:nvGraphicFramePr>
          <p:cNvPr id="2042" name="Google Shape;2042;p77"/>
          <p:cNvGraphicFramePr/>
          <p:nvPr/>
        </p:nvGraphicFramePr>
        <p:xfrm>
          <a:off x="265607" y="1566918"/>
          <a:ext cx="3000000" cy="3000000"/>
        </p:xfrm>
        <a:graphic>
          <a:graphicData uri="http://schemas.openxmlformats.org/drawingml/2006/table">
            <a:tbl>
              <a:tblPr>
                <a:noFill/>
                <a:tableStyleId>{F1B291AF-9CB1-4793-AFE8-E70834C1BA4F}</a:tableStyleId>
              </a:tblPr>
              <a:tblGrid>
                <a:gridCol w="4438375"/>
                <a:gridCol w="2361300"/>
                <a:gridCol w="2368600"/>
                <a:gridCol w="2492500"/>
              </a:tblGrid>
              <a:tr h="604900">
                <a:tc>
                  <a:txBody>
                    <a:bodyPr/>
                    <a:lstStyle/>
                    <a:p>
                      <a:pPr indent="0" lvl="0" marL="0" marR="0" rtl="0" algn="l">
                        <a:spcBef>
                          <a:spcPts val="0"/>
                        </a:spcBef>
                        <a:spcAft>
                          <a:spcPts val="0"/>
                        </a:spcAft>
                        <a:buNone/>
                      </a:pPr>
                      <a:r>
                        <a:rPr b="1" lang="en-US" sz="1532" u="none" cap="none" strike="noStrike">
                          <a:solidFill>
                            <a:srgbClr val="070F64"/>
                          </a:solidFill>
                          <a:latin typeface="Arial"/>
                          <a:ea typeface="Arial"/>
                          <a:cs typeface="Arial"/>
                          <a:sym typeface="Arial"/>
                        </a:rPr>
                        <a:t>Capacidad utilizada</a:t>
                      </a:r>
                      <a:endParaRPr/>
                    </a:p>
                    <a:p>
                      <a:pPr indent="0" lvl="0" marL="0" marR="0" rtl="0" algn="l">
                        <a:spcBef>
                          <a:spcPts val="0"/>
                        </a:spcBef>
                        <a:spcAft>
                          <a:spcPts val="0"/>
                        </a:spcAft>
                        <a:buNone/>
                      </a:pPr>
                      <a:r>
                        <a:rPr b="1" lang="en-US" sz="1532" u="none" cap="none" strike="noStrike">
                          <a:solidFill>
                            <a:srgbClr val="070F64"/>
                          </a:solidFill>
                          <a:latin typeface="Arial"/>
                          <a:ea typeface="Arial"/>
                          <a:cs typeface="Arial"/>
                          <a:sym typeface="Arial"/>
                        </a:rPr>
                        <a:t>(utilidad en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XGBoost + OvR</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Random Forest</a:t>
                      </a:r>
                      <a:endParaRPr/>
                    </a:p>
                    <a:p>
                      <a:pPr indent="0" lvl="0" marL="0" marR="0" rtl="0" algn="ctr">
                        <a:spcBef>
                          <a:spcPts val="0"/>
                        </a:spcBef>
                        <a:spcAft>
                          <a:spcPts val="0"/>
                        </a:spcAft>
                        <a:buNone/>
                      </a:pPr>
                      <a:r>
                        <a:rPr b="1" lang="en-US" sz="1532" u="none" cap="none" strike="noStrike">
                          <a:solidFill>
                            <a:srgbClr val="070F64"/>
                          </a:solidFill>
                          <a:latin typeface="Arial"/>
                          <a:ea typeface="Arial"/>
                          <a:cs typeface="Arial"/>
                          <a:sym typeface="Arial"/>
                        </a:rPr>
                        <a:t>multietiqueta nativo</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c>
                  <a:txBody>
                    <a:bodyPr/>
                    <a:lstStyle/>
                    <a:p>
                      <a:pPr indent="0" lvl="0" marL="0" marR="0" rtl="0" algn="ctr">
                        <a:spcBef>
                          <a:spcPts val="0"/>
                        </a:spcBef>
                        <a:spcAft>
                          <a:spcPts val="0"/>
                        </a:spcAft>
                        <a:buNone/>
                      </a:pPr>
                      <a:r>
                        <a:rPr b="1" lang="en-US" sz="1296" u="none" cap="none" strike="noStrike">
                          <a:solidFill>
                            <a:srgbClr val="070F64"/>
                          </a:solidFill>
                          <a:latin typeface="Arial"/>
                          <a:ea typeface="Arial"/>
                          <a:cs typeface="Arial"/>
                          <a:sym typeface="Arial"/>
                        </a:rPr>
                        <a:t>Regresión logística + OVR</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BF1FB"/>
                    </a:solidFill>
                  </a:tcPr>
                </a:tc>
              </a:tr>
              <a:tr h="524725">
                <a:tc>
                  <a:txBody>
                    <a:bodyPr/>
                    <a:lstStyle/>
                    <a:p>
                      <a:pPr indent="0" lvl="0" marL="0" marR="0" rtl="0" algn="l">
                        <a:spcBef>
                          <a:spcPts val="0"/>
                        </a:spcBef>
                        <a:spcAft>
                          <a:spcPts val="0"/>
                        </a:spcAft>
                        <a:buNone/>
                      </a:pPr>
                      <a:r>
                        <a:rPr b="1" lang="en-US" sz="1324" u="none" cap="none" strike="noStrike">
                          <a:solidFill>
                            <a:srgbClr val="070F64"/>
                          </a:solidFill>
                          <a:latin typeface="Arial"/>
                          <a:ea typeface="Arial"/>
                          <a:cs typeface="Arial"/>
                          <a:sym typeface="Arial"/>
                        </a:rPr>
                        <a:t>Basado en árboles</a:t>
                      </a:r>
                      <a:endParaRPr/>
                    </a:p>
                    <a:p>
                      <a:pPr indent="0" lvl="0" marL="0" marR="0" rtl="0" algn="l">
                        <a:spcBef>
                          <a:spcPts val="0"/>
                        </a:spcBef>
                        <a:spcAft>
                          <a:spcPts val="0"/>
                        </a:spcAft>
                        <a:buNone/>
                      </a:pPr>
                      <a:r>
                        <a:rPr b="1" lang="en-US" sz="1324" u="none" cap="none" strike="noStrike">
                          <a:solidFill>
                            <a:srgbClr val="070F64"/>
                          </a:solidFill>
                          <a:latin typeface="Arial"/>
                          <a:ea typeface="Arial"/>
                          <a:cs typeface="Arial"/>
                          <a:sym typeface="Arial"/>
                        </a:rPr>
                        <a:t>(combinar condiciones sobre atributos HTTP)</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68475">
                <a:tc>
                  <a:txBody>
                    <a:bodyPr/>
                    <a:lstStyle/>
                    <a:p>
                      <a:pPr indent="0" lvl="0" marL="0" marR="0" rtl="0" algn="l">
                        <a:spcBef>
                          <a:spcPts val="0"/>
                        </a:spcBef>
                        <a:spcAft>
                          <a:spcPts val="0"/>
                        </a:spcAft>
                        <a:buNone/>
                      </a:pPr>
                      <a:r>
                        <a:rPr b="1" lang="en-US" sz="1144" u="none" cap="none" strike="noStrike">
                          <a:solidFill>
                            <a:srgbClr val="070F64"/>
                          </a:solidFill>
                          <a:latin typeface="Arial"/>
                          <a:ea typeface="Arial"/>
                          <a:cs typeface="Arial"/>
                          <a:sym typeface="Arial"/>
                        </a:rPr>
                        <a:t>Clasificador independiente por etiqueta</a:t>
                      </a:r>
                      <a:endParaRPr/>
                    </a:p>
                    <a:p>
                      <a:pPr indent="0" lvl="0" marL="0" marR="0" rtl="0" algn="l">
                        <a:spcBef>
                          <a:spcPts val="0"/>
                        </a:spcBef>
                        <a:spcAft>
                          <a:spcPts val="0"/>
                        </a:spcAft>
                        <a:buNone/>
                      </a:pPr>
                      <a:r>
                        <a:rPr b="1" lang="en-US" sz="1144" u="none" cap="none" strike="noStrike">
                          <a:solidFill>
                            <a:srgbClr val="070F64"/>
                          </a:solidFill>
                          <a:latin typeface="Arial"/>
                          <a:ea typeface="Arial"/>
                          <a:cs typeface="Arial"/>
                          <a:sym typeface="Arial"/>
                        </a:rPr>
                        <a:t>(aprender una decisión específica para cada categoría)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561175">
                <a:tc>
                  <a:txBody>
                    <a:bodyPr/>
                    <a:lstStyle/>
                    <a:p>
                      <a:pPr indent="0" lvl="0" marL="0" marR="0" rtl="0" algn="l">
                        <a:spcBef>
                          <a:spcPts val="0"/>
                        </a:spcBef>
                        <a:spcAft>
                          <a:spcPts val="0"/>
                        </a:spcAft>
                        <a:buNone/>
                      </a:pPr>
                      <a:r>
                        <a:rPr b="1" lang="en-US" sz="1375" u="none" cap="none" strike="noStrike">
                          <a:solidFill>
                            <a:srgbClr val="070F64"/>
                          </a:solidFill>
                          <a:latin typeface="Arial"/>
                          <a:ea typeface="Arial"/>
                          <a:cs typeface="Arial"/>
                          <a:sym typeface="Arial"/>
                        </a:rPr>
                        <a:t>Varias etiquetas por petición</a:t>
                      </a:r>
                      <a:endParaRPr/>
                    </a:p>
                    <a:p>
                      <a:pPr indent="0" lvl="0" marL="0" marR="0" rtl="0" algn="l">
                        <a:spcBef>
                          <a:spcPts val="0"/>
                        </a:spcBef>
                        <a:spcAft>
                          <a:spcPts val="0"/>
                        </a:spcAft>
                        <a:buNone/>
                      </a:pPr>
                      <a:r>
                        <a:rPr b="1" lang="en-US" sz="1375" u="none" cap="none" strike="noStrike">
                          <a:solidFill>
                            <a:srgbClr val="070F64"/>
                          </a:solidFill>
                          <a:latin typeface="Arial"/>
                          <a:ea typeface="Arial"/>
                          <a:cs typeface="Arial"/>
                          <a:sym typeface="Arial"/>
                        </a:rPr>
                        <a:t>(representar categorías que pueden coexistir)</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r h="575750">
                <a:tc>
                  <a:txBody>
                    <a:bodyPr/>
                    <a:lstStyle/>
                    <a:p>
                      <a:pPr indent="0" lvl="0" marL="0" marR="0" rtl="0" algn="l">
                        <a:spcBef>
                          <a:spcPts val="0"/>
                        </a:spcBef>
                        <a:spcAft>
                          <a:spcPts val="0"/>
                        </a:spcAft>
                        <a:buNone/>
                      </a:pPr>
                      <a:r>
                        <a:rPr b="1" lang="en-US" sz="1271">
                          <a:solidFill>
                            <a:srgbClr val="070F64"/>
                          </a:solidFill>
                        </a:rPr>
                        <a:t>Umbrales por etiqueta con datos reservados</a:t>
                      </a:r>
                      <a:endParaRPr/>
                    </a:p>
                    <a:p>
                      <a:pPr indent="0" lvl="0" marL="0" marR="0" rtl="0" algn="l">
                        <a:spcBef>
                          <a:spcPts val="0"/>
                        </a:spcBef>
                        <a:spcAft>
                          <a:spcPts val="0"/>
                        </a:spcAft>
                        <a:buNone/>
                      </a:pPr>
                      <a:r>
                        <a:rPr b="1" lang="en-US" sz="1271" u="none" cap="none" strike="noStrike">
                          <a:solidFill>
                            <a:srgbClr val="070F64"/>
                          </a:solidFill>
                          <a:latin typeface="Arial"/>
                          <a:ea typeface="Arial"/>
                          <a:cs typeface="Arial"/>
                          <a:sym typeface="Arial"/>
                        </a:rPr>
                        <a:t>(ajustar cuándo activar cada categoría detectada)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F6FBFD"/>
                    </a:solidFill>
                  </a:tcPr>
                </a:tc>
              </a:tr>
              <a:tr h="604900">
                <a:tc>
                  <a:txBody>
                    <a:bodyPr/>
                    <a:lstStyle/>
                    <a:p>
                      <a:pPr indent="0" lvl="0" marL="0" marR="0" rtl="0" algn="l">
                        <a:spcBef>
                          <a:spcPts val="0"/>
                        </a:spcBef>
                        <a:spcAft>
                          <a:spcPts val="0"/>
                        </a:spcAft>
                        <a:buNone/>
                      </a:pPr>
                      <a:r>
                        <a:rPr b="1" lang="en-US" sz="1265" u="none" cap="none" strike="noStrike">
                          <a:solidFill>
                            <a:srgbClr val="070F64"/>
                          </a:solidFill>
                          <a:latin typeface="Arial"/>
                          <a:ea typeface="Arial"/>
                          <a:cs typeface="Arial"/>
                          <a:sym typeface="Arial"/>
                        </a:rPr>
                        <a:t>Importancia por ganancia del boosting</a:t>
                      </a:r>
                      <a:endParaRPr/>
                    </a:p>
                    <a:p>
                      <a:pPr indent="0" lvl="0" marL="0" marR="0" rtl="0" algn="l">
                        <a:spcBef>
                          <a:spcPts val="0"/>
                        </a:spcBef>
                        <a:spcAft>
                          <a:spcPts val="0"/>
                        </a:spcAft>
                        <a:buNone/>
                      </a:pPr>
                      <a:r>
                        <a:rPr b="1" lang="en-US" sz="1265" u="none" cap="none" strike="noStrike">
                          <a:solidFill>
                            <a:srgbClr val="070F64"/>
                          </a:solidFill>
                          <a:latin typeface="Arial"/>
                          <a:ea typeface="Arial"/>
                          <a:cs typeface="Arial"/>
                          <a:sym typeface="Arial"/>
                        </a:rPr>
                        <a:t>(examinar </a:t>
                      </a:r>
                      <a:r>
                        <a:rPr b="1" lang="en-US" sz="1265">
                          <a:solidFill>
                            <a:srgbClr val="070F64"/>
                          </a:solidFill>
                        </a:rPr>
                        <a:t>el aporte</a:t>
                      </a:r>
                      <a:r>
                        <a:rPr b="1" lang="en-US" sz="1265" u="none" cap="none" strike="noStrike">
                          <a:solidFill>
                            <a:srgbClr val="070F64"/>
                          </a:solidFill>
                          <a:latin typeface="Arial"/>
                          <a:ea typeface="Arial"/>
                          <a:cs typeface="Arial"/>
                          <a:sym typeface="Arial"/>
                        </a:rPr>
                        <a:t> de atributos en cada etiqueta)</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0B3A6"/>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c>
                  <a:txBody>
                    <a:bodyPr/>
                    <a:lstStyle/>
                    <a:p>
                      <a:pPr indent="0" lvl="0" marL="0" marR="0" rtl="0" algn="ctr">
                        <a:spcBef>
                          <a:spcPts val="0"/>
                        </a:spcBef>
                        <a:spcAft>
                          <a:spcPts val="0"/>
                        </a:spcAft>
                        <a:buNone/>
                      </a:pPr>
                      <a:r>
                        <a:rPr b="0" lang="en-US" sz="1839" u="none" cap="none" strike="noStrike">
                          <a:solidFill>
                            <a:srgbClr val="070F64"/>
                          </a:solidFill>
                          <a:latin typeface="Quattrocento Sans"/>
                          <a:ea typeface="Quattrocento Sans"/>
                          <a:cs typeface="Quattrocento Sans"/>
                          <a:sym typeface="Quattrocento Sans"/>
                        </a:rPr>
                        <a:t>—</a:t>
                      </a:r>
                      <a:endParaRPr/>
                    </a:p>
                  </a:txBody>
                  <a:tcPr marT="9525" marB="9525" marR="47625" marL="47625" anchor="ctr">
                    <a:lnL cap="flat" cmpd="sng" w="9525">
                      <a:solidFill>
                        <a:srgbClr val="9ADCEB"/>
                      </a:solidFill>
                      <a:prstDash val="solid"/>
                      <a:round/>
                      <a:headEnd len="sm" w="sm" type="none"/>
                      <a:tailEnd len="sm" w="sm" type="none"/>
                    </a:lnL>
                    <a:lnR cap="flat" cmpd="sng" w="9525">
                      <a:solidFill>
                        <a:srgbClr val="9ADCEB"/>
                      </a:solidFill>
                      <a:prstDash val="solid"/>
                      <a:round/>
                      <a:headEnd len="sm" w="sm" type="none"/>
                      <a:tailEnd len="sm" w="sm" type="none"/>
                    </a:lnR>
                    <a:lnT cap="flat" cmpd="sng" w="9525">
                      <a:solidFill>
                        <a:srgbClr val="9ADCEB"/>
                      </a:solidFill>
                      <a:prstDash val="solid"/>
                      <a:round/>
                      <a:headEnd len="sm" w="sm" type="none"/>
                      <a:tailEnd len="sm" w="sm" type="none"/>
                    </a:lnT>
                    <a:lnB cap="flat" cmpd="sng" w="9525">
                      <a:solidFill>
                        <a:srgbClr val="9ADCEB"/>
                      </a:solidFill>
                      <a:prstDash val="solid"/>
                      <a:round/>
                      <a:headEnd len="sm" w="sm" type="none"/>
                      <a:tailEnd len="sm" w="sm" type="none"/>
                    </a:lnB>
                    <a:solidFill>
                      <a:srgbClr val="DFF4FC"/>
                    </a:solidFill>
                  </a:tcPr>
                </a:tc>
              </a:tr>
            </a:tbl>
          </a:graphicData>
        </a:graphic>
      </p:graphicFrame>
      <p:sp>
        <p:nvSpPr>
          <p:cNvPr id="2043" name="Google Shape;2043;p77"/>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4" name="Google Shape;2044;p77" title="DEFENSA_SEGURA_V2:barra-56"/>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45" name="Google Shape;2045;p77" title="DEFENSA_SEGURA_V2:avance-56"/>
          <p:cNvSpPr/>
          <p:nvPr/>
        </p:nvSpPr>
        <p:spPr>
          <a:xfrm>
            <a:off x="0" y="0"/>
            <a:ext cx="77586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46" name="Google Shape;2046;p77" title="DEFENSA_SEGURA_V2:seccion-56"/>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1" name="Shape 2051"/>
        <p:cNvGrpSpPr/>
        <p:nvPr/>
      </p:nvGrpSpPr>
      <p:grpSpPr>
        <a:xfrm>
          <a:off x="0" y="0"/>
          <a:ext cx="0" cy="0"/>
          <a:chOff x="0" y="0"/>
          <a:chExt cx="0" cy="0"/>
        </a:xfrm>
      </p:grpSpPr>
      <p:sp>
        <p:nvSpPr>
          <p:cNvPr id="2052" name="Google Shape;2052;p78"/>
          <p:cNvSpPr/>
          <p:nvPr/>
        </p:nvSpPr>
        <p:spPr>
          <a:xfrm>
            <a:off x="285750" y="219075"/>
            <a:ext cx="116205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070F64"/>
                </a:solidFill>
              </a:rPr>
              <a:t>Fórmulas: XGBoost multietiqueta</a:t>
            </a:r>
            <a:endParaRPr sz="3600">
              <a:solidFill>
                <a:srgbClr val="070F64"/>
              </a:solidFill>
            </a:endParaRPr>
          </a:p>
        </p:txBody>
      </p:sp>
      <p:sp>
        <p:nvSpPr>
          <p:cNvPr id="2053" name="Google Shape;2053;p78"/>
          <p:cNvSpPr/>
          <p:nvPr/>
        </p:nvSpPr>
        <p:spPr>
          <a:xfrm>
            <a:off x="304800" y="895350"/>
            <a:ext cx="11582400" cy="5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70F64"/>
                </a:solidFill>
              </a:rPr>
              <a:t>L2: un clasificador por cada una de las 12 CAPEC, con el mismo vector HTTP x.</a:t>
            </a:r>
            <a:endParaRPr sz="1800">
              <a:solidFill>
                <a:srgbClr val="070F64"/>
              </a:solidFill>
            </a:endParaRPr>
          </a:p>
        </p:txBody>
      </p:sp>
      <p:graphicFrame>
        <p:nvGraphicFramePr>
          <p:cNvPr id="2054" name="Google Shape;2054;p78"/>
          <p:cNvGraphicFramePr/>
          <p:nvPr/>
        </p:nvGraphicFramePr>
        <p:xfrm>
          <a:off x="285750" y="1422400"/>
          <a:ext cx="3000000" cy="3000000"/>
        </p:xfrm>
        <a:graphic>
          <a:graphicData uri="http://schemas.openxmlformats.org/drawingml/2006/table">
            <a:tbl>
              <a:tblPr>
                <a:noFill/>
                <a:tableStyleId>{F1B291AF-9CB1-4793-AFE8-E70834C1BA4F}</a:tableStyleId>
              </a:tblPr>
              <a:tblGrid>
                <a:gridCol w="6096000"/>
                <a:gridCol w="5524500"/>
              </a:tblGrid>
              <a:tr h="4572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Fórmula central</a:t>
                      </a:r>
                      <a:endParaRPr b="1" sz="1800">
                        <a:solidFill>
                          <a:srgbClr val="FFFFFF"/>
                        </a:solidFill>
                      </a:endParaRPr>
                    </a:p>
                  </a:txBody>
                  <a:tcPr marT="76200" marB="76200" marR="114300" marL="114300" anchor="ctr">
                    <a:solidFill>
                      <a:srgbClr val="070F64"/>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FFFFFF"/>
                          </a:solidFill>
                        </a:rPr>
                        <a:t>Símbolos e interpretación</a:t>
                      </a:r>
                      <a:endParaRPr b="1" sz="1800">
                        <a:solidFill>
                          <a:srgbClr val="FFFFFF"/>
                        </a:solidFill>
                      </a:endParaRPr>
                    </a:p>
                  </a:txBody>
                  <a:tcPr marT="76200" marB="76200" marR="114300" marL="114300" anchor="ctr">
                    <a:solidFill>
                      <a:srgbClr val="070F64"/>
                    </a:solidFill>
                  </a:tcPr>
                </a:tc>
              </a:tr>
              <a:tr h="1244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Puntaje y probabilidad de la etiqueta k</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b</a:t>
                      </a:r>
                      <a:r>
                        <a:rPr baseline="-25000" lang="en-US" sz="1700">
                          <a:solidFill>
                            <a:srgbClr val="070F64"/>
                          </a:solidFill>
                        </a:rPr>
                        <a:t>k</a:t>
                      </a:r>
                      <a:r>
                        <a:rPr lang="en-US" sz="1700">
                          <a:solidFill>
                            <a:srgbClr val="070F64"/>
                          </a:solidFill>
                        </a:rPr>
                        <a:t>: puntaje inicial; η</a:t>
                      </a:r>
                      <a:r>
                        <a:rPr baseline="-25000" lang="en-US" sz="1700">
                          <a:solidFill>
                            <a:srgbClr val="070F64"/>
                          </a:solidFill>
                        </a:rPr>
                        <a:t>k</a:t>
                      </a:r>
                      <a:r>
                        <a:rPr lang="en-US" sz="1700">
                          <a:solidFill>
                            <a:srgbClr val="070F64"/>
                          </a:solidFill>
                        </a:rPr>
                        <a:t>: tasa de aprendizaje.</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f</a:t>
                      </a:r>
                      <a:r>
                        <a:rPr baseline="-25000" lang="en-US" sz="1700">
                          <a:solidFill>
                            <a:srgbClr val="070F64"/>
                          </a:solidFill>
                        </a:rPr>
                        <a:t>t</a:t>
                      </a:r>
                      <a:r>
                        <a:rPr lang="en-US" sz="1700">
                          <a:solidFill>
                            <a:srgbClr val="070F64"/>
                          </a:solidFill>
                        </a:rPr>
                        <a:t>,</a:t>
                      </a:r>
                      <a:r>
                        <a:rPr baseline="-25000" lang="en-US" sz="1700">
                          <a:solidFill>
                            <a:srgbClr val="070F64"/>
                          </a:solidFill>
                        </a:rPr>
                        <a:t>k</a:t>
                      </a:r>
                      <a:r>
                        <a:rPr lang="en-US" sz="1700">
                          <a:solidFill>
                            <a:srgbClr val="070F64"/>
                          </a:solidFill>
                        </a:rPr>
                        <a:t>: árbol antes de aplicar η</a:t>
                      </a:r>
                      <a:r>
                        <a:rPr baseline="-25000" lang="en-US" sz="1700">
                          <a:solidFill>
                            <a:srgbClr val="070F64"/>
                          </a:solidFill>
                        </a:rPr>
                        <a:t>k</a:t>
                      </a:r>
                      <a:r>
                        <a:rPr lang="en-US" sz="1700">
                          <a:solidFill>
                            <a:srgbClr val="070F64"/>
                          </a:solidFill>
                        </a:rPr>
                        <a:t>.</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M</a:t>
                      </a:r>
                      <a:r>
                        <a:rPr baseline="-25000" lang="en-US" sz="1700">
                          <a:solidFill>
                            <a:srgbClr val="070F64"/>
                          </a:solidFill>
                        </a:rPr>
                        <a:t>k</a:t>
                      </a:r>
                      <a:r>
                        <a:rPr lang="en-US" sz="1700">
                          <a:solidFill>
                            <a:srgbClr val="070F64"/>
                          </a:solidFill>
                        </a:rPr>
                        <a:t>: rondas del clasificador k.</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Luego se aplica la sigmoide.</a:t>
                      </a:r>
                      <a:endParaRPr sz="1700">
                        <a:solidFill>
                          <a:srgbClr val="070F64"/>
                        </a:solidFill>
                      </a:endParaRPr>
                    </a:p>
                  </a:txBody>
                  <a:tcPr marT="76200" marB="76200" marR="114300" marL="114300" anchor="ctr">
                    <a:solidFill>
                      <a:srgbClr val="DFF4FC"/>
                    </a:solidFill>
                  </a:tcPr>
                </a:tc>
              </a:tr>
              <a:tr h="16510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Objetivo de una ronda (por etiqueta)</a:t>
                      </a:r>
                      <a:endParaRPr b="1" sz="1800">
                        <a:solidFill>
                          <a:srgbClr val="070F64"/>
                        </a:solidFill>
                      </a:endParaRPr>
                    </a:p>
                  </a:txBody>
                  <a:tcPr marT="76200" marB="76200" marR="114300" marL="114300">
                    <a:solidFill>
                      <a:srgbClr val="F6FBF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ℓ: pérdida logística; a</a:t>
                      </a:r>
                      <a:r>
                        <a:rPr baseline="-25000" lang="en-US" sz="1700">
                          <a:solidFill>
                            <a:srgbClr val="070F64"/>
                          </a:solidFill>
                        </a:rPr>
                        <a:t>i</a:t>
                      </a:r>
                      <a:r>
                        <a:rPr lang="en-US" sz="1700">
                          <a:solidFill>
                            <a:srgbClr val="070F64"/>
                          </a:solidFill>
                        </a:rPr>
                        <a:t>: peso del caso.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z</a:t>
                      </a:r>
                      <a:r>
                        <a:rPr baseline="-25000" lang="en-US" sz="1700">
                          <a:solidFill>
                            <a:srgbClr val="070F64"/>
                          </a:solidFill>
                        </a:rPr>
                        <a:t>i</a:t>
                      </a:r>
                      <a:r>
                        <a:rPr lang="en-US" sz="1700">
                          <a:solidFill>
                            <a:srgbClr val="070F64"/>
                          </a:solidFill>
                        </a:rPr>
                        <a:t>: puntaje previo; f: árbol nuevo.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n: casos; L: hojas; w</a:t>
                      </a:r>
                      <a:r>
                        <a:rPr baseline="-25000" lang="en-US" sz="1700">
                          <a:solidFill>
                            <a:srgbClr val="070F64"/>
                          </a:solidFill>
                        </a:rPr>
                        <a:t>j</a:t>
                      </a:r>
                      <a:r>
                        <a:rPr lang="en-US" sz="1700">
                          <a:solidFill>
                            <a:srgbClr val="070F64"/>
                          </a:solidFill>
                        </a:rPr>
                        <a:t>: valor de la hoja.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γ, λ y α: penalizaciones.</a:t>
                      </a:r>
                      <a:endParaRPr sz="1700">
                        <a:solidFill>
                          <a:srgbClr val="070F64"/>
                        </a:solidFill>
                      </a:endParaRPr>
                    </a:p>
                  </a:txBody>
                  <a:tcPr marT="76200" marB="76200" marR="114300" marL="114300" anchor="ctr">
                    <a:solidFill>
                      <a:srgbClr val="F6FBFD"/>
                    </a:solidFill>
                  </a:tcPr>
                </a:tc>
              </a:tr>
              <a:tr h="1295400">
                <a:tc>
                  <a:txBody>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70F64"/>
                          </a:solidFill>
                        </a:rPr>
                        <a:t>Decisión por etiqueta</a:t>
                      </a:r>
                      <a:endParaRPr b="1" sz="1800">
                        <a:solidFill>
                          <a:srgbClr val="070F64"/>
                        </a:solidFill>
                      </a:endParaRPr>
                    </a:p>
                  </a:txBody>
                  <a:tcPr marT="76200" marB="76200" marR="114300" marL="114300">
                    <a:solidFill>
                      <a:srgbClr val="DFF4FC"/>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τ</a:t>
                      </a:r>
                      <a:r>
                        <a:rPr baseline="-25000" lang="en-US" sz="1700">
                          <a:solidFill>
                            <a:srgbClr val="070F64"/>
                          </a:solidFill>
                        </a:rPr>
                        <a:t>k</a:t>
                      </a:r>
                      <a:r>
                        <a:rPr lang="en-US" sz="1700">
                          <a:solidFill>
                            <a:srgbClr val="070F64"/>
                          </a:solidFill>
                        </a:rPr>
                        <a:t>: umbral propio de la etiqueta.</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1[condición] vale 1 si se cumple y 0 si no.</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Pueden activarse varias CAPEC.</a:t>
                      </a:r>
                      <a:endParaRPr sz="1700">
                        <a:solidFill>
                          <a:srgbClr val="070F64"/>
                        </a:solidFill>
                      </a:endParaRPr>
                    </a:p>
                    <a:p>
                      <a:pPr indent="0" lvl="0" marL="0" marR="0" rtl="0" algn="l">
                        <a:lnSpc>
                          <a:spcPct val="100000"/>
                        </a:lnSpc>
                        <a:spcBef>
                          <a:spcPts val="0"/>
                        </a:spcBef>
                        <a:spcAft>
                          <a:spcPts val="0"/>
                        </a:spcAft>
                        <a:buClr>
                          <a:srgbClr val="000000"/>
                        </a:buClr>
                        <a:buSzPts val="1800"/>
                        <a:buFont typeface="Arial"/>
                        <a:buNone/>
                      </a:pPr>
                      <a:r>
                        <a:rPr lang="en-US" sz="1700">
                          <a:solidFill>
                            <a:srgbClr val="070F64"/>
                          </a:solidFill>
                        </a:rPr>
                        <a:t>NORMAL significa que ninguna se activa.</a:t>
                      </a:r>
                      <a:endParaRPr sz="1700">
                        <a:solidFill>
                          <a:srgbClr val="070F64"/>
                        </a:solidFill>
                      </a:endParaRPr>
                    </a:p>
                  </a:txBody>
                  <a:tcPr marT="76200" marB="76200" marR="114300" marL="114300" anchor="ctr">
                    <a:solidFill>
                      <a:srgbClr val="DFF4FC"/>
                    </a:solidFill>
                  </a:tcPr>
                </a:tc>
              </a:tr>
            </a:tbl>
          </a:graphicData>
        </a:graphic>
      </p:graphicFrame>
      <p:sp>
        <p:nvSpPr>
          <p:cNvPr id="2055" name="Google Shape;2055;p78"/>
          <p:cNvSpPr/>
          <p:nvPr/>
        </p:nvSpPr>
        <p:spPr>
          <a:xfrm>
            <a:off x="304800" y="6159500"/>
            <a:ext cx="11430000" cy="36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00">
                <a:solidFill>
                  <a:srgbClr val="070F64"/>
                </a:solidFill>
              </a:rPr>
              <a:t>Las 12 probabilidades no tienen que sumar 1. Los umbrales se ajustan con un bloque reservado.</a:t>
            </a:r>
            <a:endParaRPr b="1" sz="1700">
              <a:solidFill>
                <a:srgbClr val="070F64"/>
              </a:solidFill>
            </a:endParaRPr>
          </a:p>
        </p:txBody>
      </p:sp>
      <p:sp>
        <p:nvSpPr>
          <p:cNvPr id="2056" name="Google Shape;2056;p78"/>
          <p:cNvSpPr/>
          <p:nvPr/>
        </p:nvSpPr>
        <p:spPr>
          <a:xfrm>
            <a:off x="304800" y="6578600"/>
            <a:ext cx="11049000" cy="21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00">
                <a:solidFill>
                  <a:srgbClr val="070F64"/>
                </a:solidFill>
              </a:rPr>
              <a:t>Fuentes: Chen y Guestrin (2016); documentación de XGBoost; protocolo L2 de la tesis. Detalles y enlaces en notas.</a:t>
            </a:r>
            <a:endParaRPr sz="1100">
              <a:solidFill>
                <a:srgbClr val="070F64"/>
              </a:solidFill>
            </a:endParaRPr>
          </a:p>
        </p:txBody>
      </p:sp>
      <p:sp>
        <p:nvSpPr>
          <p:cNvPr id="2057" name="Google Shape;2057;p78"/>
          <p:cNvSpPr txBox="1"/>
          <p:nvPr>
            <p:ph idx="12" type="sldNum"/>
          </p:nvPr>
        </p:nvSpPr>
        <p:spPr>
          <a:xfrm>
            <a:off x="11468100" y="6578600"/>
            <a:ext cx="419100" cy="216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58" name="Google Shape;2058;p78" title="DEFENSA_SEGURA_V2:barra-1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59" name="Google Shape;2059;p78" title="DEFENSA_SEGURA_V2:avance-19"/>
          <p:cNvSpPr/>
          <p:nvPr/>
        </p:nvSpPr>
        <p:spPr>
          <a:xfrm>
            <a:off x="0" y="0"/>
            <a:ext cx="66501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60" name="Google Shape;2060;p78" title="DEFENSA_SEGURA_V2:seccion-1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00">
                <a:solidFill>
                  <a:srgbClr val="070F64"/>
                </a:solidFill>
              </a:rPr>
              <a:t>ANEXO</a:t>
            </a:r>
            <a:endParaRPr b="1" sz="800">
              <a:solidFill>
                <a:srgbClr val="070F64"/>
              </a:solidFill>
            </a:endParaRPr>
          </a:p>
        </p:txBody>
      </p:sp>
      <p:pic>
        <p:nvPicPr>
          <p:cNvPr descr="Puntaje y sigmoide OvR: z_k(x)=b_k+\eta_k\sum_{t=1}^{M_k}f_{t,k}(x)\qquad p_k(x)=\frac{1}{1+\exp(-z_k(x))}&#10;Objetivo XGBoost: \begin{aligned}J&amp;=\sum\nolimits_{i=1}^{n}a_i\,\ell\!\left(y_i,z_i+f(x_i)\right)+\Omega(f)\\[0.35em]\Omega(f)&amp;=\gamma L+\frac{\lambda}{2}\sum\nolimits_{j=1}^{L}w_j^2+\alpha\sum\nolimits_{j=1}^{L}|w_j|\end{aligned}&#10;Decisión OvR: \begin{aligned}\widehat y_k(x)&amp;=\mathbf{1}\!\left[p_k(x)\geq\tau_k\right],\quad k=1,\ldots,12\\[0.3em]\mathrm{NORMAL}&amp;\iff\sum\nolimits_{k=1}^{12}\widehat y_k(x)=0\end{aligned}" id="2061" name="Google Shape;2061;p78" title="Ecuaciones de Puntaje y sigmoide OvR, Objetivo XGBoost, Decisión OvR"/>
          <p:cNvPicPr preferRelativeResize="0"/>
          <p:nvPr/>
        </p:nvPicPr>
        <p:blipFill>
          <a:blip r:embed="rId3">
            <a:alphaModFix/>
          </a:blip>
          <a:stretch>
            <a:fillRect/>
          </a:stretch>
        </p:blipFill>
        <p:spPr>
          <a:xfrm>
            <a:off x="285750" y="1879600"/>
            <a:ext cx="6096002" cy="419100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6" name="Shape 2066"/>
        <p:cNvGrpSpPr/>
        <p:nvPr/>
      </p:nvGrpSpPr>
      <p:grpSpPr>
        <a:xfrm>
          <a:off x="0" y="0"/>
          <a:ext cx="0" cy="0"/>
          <a:chOff x="0" y="0"/>
          <a:chExt cx="0" cy="0"/>
        </a:xfrm>
      </p:grpSpPr>
      <p:sp>
        <p:nvSpPr>
          <p:cNvPr id="2067" name="Google Shape;2067;p79"/>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3300"/>
              <a:buFont typeface="Arial"/>
              <a:buNone/>
            </a:pPr>
            <a:r>
              <a:rPr b="1" lang="en-US" sz="3300">
                <a:solidFill>
                  <a:srgbClr val="111F5B"/>
                </a:solidFill>
              </a:rPr>
              <a:t>Binario B2: cinco características principales</a:t>
            </a:r>
            <a:endParaRPr b="1">
              <a:solidFill>
                <a:srgbClr val="111F5B"/>
              </a:solidFill>
            </a:endParaRPr>
          </a:p>
        </p:txBody>
      </p:sp>
      <p:sp>
        <p:nvSpPr>
          <p:cNvPr id="2068" name="Google Shape;2068;p79"/>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800"/>
              <a:buFont typeface="Arial"/>
              <a:buNone/>
            </a:pPr>
            <a:r>
              <a:rPr b="0" lang="en-US" sz="1800">
                <a:solidFill>
                  <a:srgbClr val="070F64"/>
                </a:solidFill>
                <a:latin typeface="Arial"/>
                <a:ea typeface="Arial"/>
                <a:cs typeface="Arial"/>
                <a:sym typeface="Arial"/>
              </a:rPr>
              <a:t>B2, Harvard/SR-BH. Random Forest con 57 características</a:t>
            </a:r>
            <a:endParaRPr/>
          </a:p>
        </p:txBody>
      </p:sp>
      <p:sp>
        <p:nvSpPr>
          <p:cNvPr id="2069" name="Google Shape;2069;p79"/>
          <p:cNvSpPr/>
          <p:nvPr/>
        </p:nvSpPr>
        <p:spPr>
          <a:xfrm>
            <a:off x="304800" y="1257300"/>
            <a:ext cx="115254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500"/>
              <a:buFont typeface="Arial"/>
              <a:buNone/>
            </a:pPr>
            <a:r>
              <a:rPr b="0" lang="en-US" sz="1500">
                <a:solidFill>
                  <a:srgbClr val="070F64"/>
                </a:solidFill>
                <a:latin typeface="Arial"/>
                <a:ea typeface="Arial"/>
                <a:cs typeface="Arial"/>
                <a:sym typeface="Arial"/>
              </a:rPr>
              <a:t>Ranking por importancia Gini del modelo</a:t>
            </a:r>
            <a:endParaRPr/>
          </a:p>
        </p:txBody>
      </p:sp>
      <p:graphicFrame>
        <p:nvGraphicFramePr>
          <p:cNvPr id="2070" name="Google Shape;2070;p79"/>
          <p:cNvGraphicFramePr/>
          <p:nvPr/>
        </p:nvGraphicFramePr>
        <p:xfrm>
          <a:off x="285750" y="1657350"/>
          <a:ext cx="3000000" cy="3000000"/>
        </p:xfrm>
        <a:graphic>
          <a:graphicData uri="http://schemas.openxmlformats.org/drawingml/2006/table">
            <a:tbl>
              <a:tblPr>
                <a:noFill/>
                <a:tableStyleId>{F1B291AF-9CB1-4793-AFE8-E70834C1BA4F}</a:tableStyleId>
              </a:tblPr>
              <a:tblGrid>
                <a:gridCol w="523875"/>
                <a:gridCol w="3667125"/>
                <a:gridCol w="1104900"/>
                <a:gridCol w="4095750"/>
                <a:gridCol w="2228850"/>
              </a:tblGrid>
              <a:tr h="419100">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FFFFFF"/>
                          </a:solidFill>
                          <a:latin typeface="Arial"/>
                          <a:ea typeface="Arial"/>
                          <a:cs typeface="Arial"/>
                          <a:sym typeface="Arial"/>
                        </a:rPr>
                        <a:t>#</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Feature y significado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Gini</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Ejemplo ilustrativo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Valor del ejemplo</a:t>
                      </a:r>
                      <a:endParaRPr/>
                    </a:p>
                  </a:txBody>
                  <a:tcPr marT="76200" marB="76200" marR="95250" marL="114300" anchor="ctr">
                    <a:solidFill>
                      <a:srgbClr val="083672"/>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encoded</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Proporción de la URI en %HH</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0,264</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/buscar?q=AnaMaria</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/buscar?q=Ana%20Maria</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0 (0 %)</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0,1429 (14,29 %)</a:t>
                      </a:r>
                      <a:endParaRPr/>
                    </a:p>
                  </a:txBody>
                  <a:tcPr marT="76200" marB="76200" marR="95250" marL="114300" anchor="ctr">
                    <a:solidFill>
                      <a:srgbClr val="DFF4FC"/>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2</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uri_entropy</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Entropía de la URI</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0,174</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/buscar?q=abc</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/buscar?q=a%27%3D9_X</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3,239 bits</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4,122 bits</a:t>
                      </a:r>
                      <a:endParaRPr/>
                    </a:p>
                  </a:txBody>
                  <a:tcPr marT="76200" marB="76200" marR="95250" marL="114300" anchor="ctr">
                    <a:solidFill>
                      <a:srgbClr val="F6FBFD"/>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3</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uri_len</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Longitud de la URI</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0,164</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/login</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/catalogo/productos?cat=libros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6 caracteres</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30 caracteres</a:t>
                      </a:r>
                      <a:endParaRPr/>
                    </a:p>
                  </a:txBody>
                  <a:tcPr marT="76200" marB="76200" marR="95250" marL="114300" anchor="ctr">
                    <a:solidFill>
                      <a:srgbClr val="DFF4FC"/>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4</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uri_pct_non_alnum_ratio</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Proporción no alfanumérica</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0,131</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/p?id=12</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/p?id=%27%20%3D</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0,375 (37,5 %)</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0,400 (40 %)</a:t>
                      </a:r>
                      <a:endParaRPr/>
                    </a:p>
                  </a:txBody>
                  <a:tcPr marT="76200" marB="76200" marR="95250" marL="114300" anchor="ctr">
                    <a:solidFill>
                      <a:srgbClr val="F6FBFD"/>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5</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path_depth</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Número de barras / en la ruta</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0,081</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/login</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/api/v1/clientes/42</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A: 1</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B: 4</a:t>
                      </a:r>
                      <a:endParaRPr/>
                    </a:p>
                  </a:txBody>
                  <a:tcPr marT="76200" marB="76200" marR="95250" marL="114300" anchor="ctr">
                    <a:solidFill>
                      <a:srgbClr val="DFF4FC"/>
                    </a:solidFill>
                  </a:tcPr>
                </a:tc>
              </a:tr>
            </a:tbl>
          </a:graphicData>
        </a:graphic>
      </p:graphicFrame>
      <p:sp>
        <p:nvSpPr>
          <p:cNvPr id="2071" name="Google Shape;2071;p79"/>
          <p:cNvSpPr/>
          <p:nvPr/>
        </p:nvSpPr>
        <p:spPr>
          <a:xfrm>
            <a:off x="304800" y="5943600"/>
            <a:ext cx="11525400" cy="6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70F64"/>
              </a:buClr>
              <a:buSzPts val="1350"/>
              <a:buFont typeface="Arial"/>
              <a:buNone/>
            </a:pPr>
            <a:r>
              <a:rPr b="0" lang="en-US" sz="1350">
                <a:solidFill>
                  <a:srgbClr val="070F64"/>
                </a:solidFill>
                <a:latin typeface="Arial"/>
                <a:ea typeface="Arial"/>
                <a:cs typeface="Arial"/>
                <a:sym typeface="Arial"/>
              </a:rPr>
              <a:t>Los valores se calculan sobre la URI sin decodificar. A y B identifican cada ejemplo.</a:t>
            </a:r>
            <a:endParaRPr/>
          </a:p>
          <a:p>
            <a:pPr indent="0" lvl="0" marL="0" marR="0" rtl="0" algn="l">
              <a:spcBef>
                <a:spcPts val="0"/>
              </a:spcBef>
              <a:spcAft>
                <a:spcPts val="0"/>
              </a:spcAft>
              <a:buClr>
                <a:srgbClr val="070F64"/>
              </a:buClr>
              <a:buSzPts val="1350"/>
              <a:buFont typeface="Arial"/>
              <a:buNone/>
            </a:pPr>
            <a:r>
              <a:rPr b="0" lang="en-US" sz="1350">
                <a:solidFill>
                  <a:srgbClr val="070F64"/>
                </a:solidFill>
                <a:latin typeface="Arial"/>
                <a:ea typeface="Arial"/>
                <a:cs typeface="Arial"/>
                <a:sym typeface="Arial"/>
              </a:rPr>
              <a:t>Fuente del ranking: informe cross-dataset, p. 5. Gini mide importancia y el valor describe la entrada.</a:t>
            </a:r>
            <a:endParaRPr/>
          </a:p>
        </p:txBody>
      </p:sp>
      <p:sp>
        <p:nvSpPr>
          <p:cNvPr id="2072" name="Google Shape;2072;p7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73" name="Google Shape;2073;p79" title="DEFENSA_SEGURA_V2:barra-57"/>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74" name="Google Shape;2074;p79" title="DEFENSA_SEGURA_V2:avance-57"/>
          <p:cNvSpPr/>
          <p:nvPr/>
        </p:nvSpPr>
        <p:spPr>
          <a:xfrm>
            <a:off x="0" y="0"/>
            <a:ext cx="88668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75" name="Google Shape;2075;p79" title="DEFENSA_SEGURA_V2:seccion-57"/>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0" name="Shape 2080"/>
        <p:cNvGrpSpPr/>
        <p:nvPr/>
      </p:nvGrpSpPr>
      <p:grpSpPr>
        <a:xfrm>
          <a:off x="0" y="0"/>
          <a:ext cx="0" cy="0"/>
          <a:chOff x="0" y="0"/>
          <a:chExt cx="0" cy="0"/>
        </a:xfrm>
      </p:grpSpPr>
      <p:sp>
        <p:nvSpPr>
          <p:cNvPr id="2081" name="Google Shape;2081;p80"/>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300">
                <a:solidFill>
                  <a:srgbClr val="111F5B"/>
                </a:solidFill>
              </a:rPr>
              <a:t>Multiclase: cinco características principales</a:t>
            </a:r>
            <a:endParaRPr b="1">
              <a:solidFill>
                <a:srgbClr val="111F5B"/>
              </a:solidFill>
            </a:endParaRPr>
          </a:p>
        </p:txBody>
      </p:sp>
      <p:sp>
        <p:nvSpPr>
          <p:cNvPr id="2082" name="Google Shape;2082;p80"/>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070F64"/>
                </a:solidFill>
                <a:latin typeface="Arial"/>
                <a:ea typeface="Arial"/>
                <a:cs typeface="Arial"/>
                <a:sym typeface="Arial"/>
              </a:rPr>
              <a:t>M8, Harvard/SR-BH. HistGradientBoosting con 72 características</a:t>
            </a:r>
            <a:endParaRPr/>
          </a:p>
        </p:txBody>
      </p:sp>
      <p:sp>
        <p:nvSpPr>
          <p:cNvPr id="2083" name="Google Shape;2083;p80"/>
          <p:cNvSpPr/>
          <p:nvPr/>
        </p:nvSpPr>
        <p:spPr>
          <a:xfrm>
            <a:off x="304800" y="1257300"/>
            <a:ext cx="115254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00">
                <a:solidFill>
                  <a:srgbClr val="070F64"/>
                </a:solidFill>
                <a:latin typeface="Arial"/>
                <a:ea typeface="Arial"/>
                <a:cs typeface="Arial"/>
                <a:sym typeface="Arial"/>
              </a:rPr>
              <a:t>Caída media de F1 macro al permutar: 10.000 filas y 5 repeticiones</a:t>
            </a:r>
            <a:endParaRPr/>
          </a:p>
        </p:txBody>
      </p:sp>
      <p:graphicFrame>
        <p:nvGraphicFramePr>
          <p:cNvPr id="2084" name="Google Shape;2084;p80"/>
          <p:cNvGraphicFramePr/>
          <p:nvPr/>
        </p:nvGraphicFramePr>
        <p:xfrm>
          <a:off x="285750" y="1657350"/>
          <a:ext cx="3000000" cy="3000000"/>
        </p:xfrm>
        <a:graphic>
          <a:graphicData uri="http://schemas.openxmlformats.org/drawingml/2006/table">
            <a:tbl>
              <a:tblPr>
                <a:noFill/>
                <a:tableStyleId>{F1B291AF-9CB1-4793-AFE8-E70834C1BA4F}</a:tableStyleId>
              </a:tblPr>
              <a:tblGrid>
                <a:gridCol w="523875"/>
                <a:gridCol w="3667125"/>
                <a:gridCol w="1104900"/>
                <a:gridCol w="4095750"/>
                <a:gridCol w="2228850"/>
              </a:tblGrid>
              <a:tr h="419100">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Feature y significado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Caída F1</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Ejemplo ilustrativo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Valor del ejemplo</a:t>
                      </a:r>
                      <a:endParaRPr/>
                    </a:p>
                  </a:txBody>
                  <a:tcPr marT="76200" marB="76200" marR="95250" marL="114300" anchor="ctr">
                    <a:solidFill>
                      <a:srgbClr val="083672"/>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max_param_name_len</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Nombre de parámetro más largo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12,40 pp</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 /?session_token=abc</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13 caracteres</a:t>
                      </a:r>
                      <a:endParaRPr/>
                    </a:p>
                  </a:txBody>
                  <a:tcPr marT="76200" marB="76200" marR="95250" marL="114300" anchor="ctr">
                    <a:solidFill>
                      <a:srgbClr val="DFF4FC"/>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2</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max_param_value_len</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Valor de parámetro más largo</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12,05 pp</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 /?q=AAAAAA</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6 caracteres</a:t>
                      </a:r>
                      <a:endParaRPr/>
                    </a:p>
                  </a:txBody>
                  <a:tcPr marT="76200" marB="76200" marR="95250" marL="114300" anchor="ctr">
                    <a:solidFill>
                      <a:srgbClr val="F6FBFD"/>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3</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n_body_params</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Número de parámetros del cuerpo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10,86 pp</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Formulario:</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user=ana&amp;role=guest</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2 parámetros</a:t>
                      </a:r>
                      <a:endParaRPr/>
                    </a:p>
                  </a:txBody>
                  <a:tcPr marT="76200" marB="76200" marR="95250" marL="114300" anchor="ctr">
                    <a:solidFill>
                      <a:srgbClr val="DFF4FC"/>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4</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crlf_token_count</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Coincidencias de patrones CR/LF</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10,62 pp</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Cuerpo: %0D%0AX-Test:1</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17 coincidencias*</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9 del texto + 8 internas</a:t>
                      </a:r>
                      <a:endParaRPr/>
                    </a:p>
                  </a:txBody>
                  <a:tcPr marT="76200" marB="76200" marR="95250" marL="114300" anchor="ctr">
                    <a:solidFill>
                      <a:srgbClr val="F6FBFD"/>
                    </a:solidFill>
                  </a:tcPr>
                </a:tc>
              </a:tr>
              <a:tr h="742950">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5</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paren_count</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Paréntesis en las tres versiones</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7,99 pp</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URI: /?q=f(x)</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6 paréntesis*</a:t>
                      </a:r>
                      <a:endParaRPr/>
                    </a:p>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070F64"/>
                          </a:solidFill>
                          <a:latin typeface="Arial"/>
                          <a:ea typeface="Arial"/>
                          <a:cs typeface="Arial"/>
                          <a:sym typeface="Arial"/>
                        </a:rPr>
                        <a:t>2 por versión</a:t>
                      </a:r>
                      <a:endParaRPr/>
                    </a:p>
                  </a:txBody>
                  <a:tcPr marT="76200" marB="76200" marR="95250" marL="114300" anchor="ctr">
                    <a:solidFill>
                      <a:srgbClr val="DFF4FC"/>
                    </a:solidFill>
                  </a:tcPr>
                </a:tc>
              </a:tr>
            </a:tbl>
          </a:graphicData>
        </a:graphic>
      </p:graphicFrame>
      <p:sp>
        <p:nvSpPr>
          <p:cNvPr id="2085" name="Google Shape;2085;p80"/>
          <p:cNvSpPr/>
          <p:nvPr/>
        </p:nvSpPr>
        <p:spPr>
          <a:xfrm>
            <a:off x="304800" y="5905500"/>
            <a:ext cx="1152540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070F64"/>
                </a:solidFill>
                <a:latin typeface="Arial"/>
                <a:ea typeface="Arial"/>
                <a:cs typeface="Arial"/>
                <a:sym typeface="Arial"/>
              </a:rPr>
              <a:t>* El extractor analiza texto original y dos versiones decodificadas: f(x) cuenta 6 paréntesis.</a:t>
            </a:r>
            <a:endParaRPr/>
          </a:p>
          <a:p>
            <a:pPr indent="0" lvl="0" marL="0" marR="0" rtl="0" algn="l">
              <a:spcBef>
                <a:spcPts val="0"/>
              </a:spcBef>
              <a:spcAft>
                <a:spcPts val="0"/>
              </a:spcAft>
              <a:buNone/>
            </a:pPr>
            <a:r>
              <a:rPr b="0" lang="en-US" sz="1275">
                <a:solidFill>
                  <a:srgbClr val="070F64"/>
                </a:solidFill>
                <a:latin typeface="Arial"/>
                <a:ea typeface="Arial"/>
                <a:cs typeface="Arial"/>
                <a:sym typeface="Arial"/>
              </a:rPr>
              <a:t>CR/LF suma 9 coincidencias del contenido y 8 saltos internos. Los otros campos están vacíos.</a:t>
            </a:r>
            <a:endParaRPr/>
          </a:p>
          <a:p>
            <a:pPr indent="0" lvl="0" marL="0" marR="0" rtl="0" algn="l">
              <a:spcBef>
                <a:spcPts val="0"/>
              </a:spcBef>
              <a:spcAft>
                <a:spcPts val="0"/>
              </a:spcAft>
              <a:buNone/>
            </a:pPr>
            <a:r>
              <a:rPr b="0" lang="en-US" sz="1275">
                <a:solidFill>
                  <a:srgbClr val="070F64"/>
                </a:solidFill>
                <a:latin typeface="Arial"/>
                <a:ea typeface="Arial"/>
                <a:cs typeface="Arial"/>
                <a:sym typeface="Arial"/>
              </a:rPr>
              <a:t>pp = puntos de F1 macro. El cuerpo de formulario usa Content-Type: application/x-www-form-urlencoded.</a:t>
            </a:r>
            <a:endParaRPr/>
          </a:p>
        </p:txBody>
      </p:sp>
      <p:sp>
        <p:nvSpPr>
          <p:cNvPr id="2086" name="Google Shape;2086;p8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87" name="Google Shape;2087;p80" title="DEFENSA_SEGURA_V2:barra-58"/>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88" name="Google Shape;2088;p80" title="DEFENSA_SEGURA_V2:avance-58"/>
          <p:cNvSpPr/>
          <p:nvPr/>
        </p:nvSpPr>
        <p:spPr>
          <a:xfrm>
            <a:off x="0" y="0"/>
            <a:ext cx="99753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89" name="Google Shape;2089;p80" title="DEFENSA_SEGURA_V2:seccion-58"/>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4" name="Shape 2094"/>
        <p:cNvGrpSpPr/>
        <p:nvPr/>
      </p:nvGrpSpPr>
      <p:grpSpPr>
        <a:xfrm>
          <a:off x="0" y="0"/>
          <a:ext cx="0" cy="0"/>
          <a:chOff x="0" y="0"/>
          <a:chExt cx="0" cy="0"/>
        </a:xfrm>
      </p:grpSpPr>
      <p:sp>
        <p:nvSpPr>
          <p:cNvPr id="2095" name="Google Shape;2095;p81"/>
          <p:cNvSpPr/>
          <p:nvPr/>
        </p:nvSpPr>
        <p:spPr>
          <a:xfrm>
            <a:off x="285750" y="209550"/>
            <a:ext cx="11620500" cy="58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300">
                <a:solidFill>
                  <a:srgbClr val="111F5B"/>
                </a:solidFill>
              </a:rPr>
              <a:t>Multietiqueta: cinco características destacadas</a:t>
            </a:r>
            <a:endParaRPr b="1">
              <a:solidFill>
                <a:srgbClr val="111F5B"/>
              </a:solidFill>
            </a:endParaRPr>
          </a:p>
        </p:txBody>
      </p:sp>
      <p:sp>
        <p:nvSpPr>
          <p:cNvPr id="2096" name="Google Shape;2096;p81"/>
          <p:cNvSpPr/>
          <p:nvPr/>
        </p:nvSpPr>
        <p:spPr>
          <a:xfrm>
            <a:off x="304800" y="847725"/>
            <a:ext cx="115443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rgbClr val="070F64"/>
                </a:solidFill>
                <a:latin typeface="Arial"/>
                <a:ea typeface="Arial"/>
                <a:cs typeface="Arial"/>
                <a:sym typeface="Arial"/>
              </a:rPr>
              <a:t>L2, corrida principal. Importancia por permutación con 90 variables</a:t>
            </a:r>
            <a:endParaRPr/>
          </a:p>
        </p:txBody>
      </p:sp>
      <p:graphicFrame>
        <p:nvGraphicFramePr>
          <p:cNvPr id="2097" name="Google Shape;2097;p81"/>
          <p:cNvGraphicFramePr/>
          <p:nvPr/>
        </p:nvGraphicFramePr>
        <p:xfrm>
          <a:off x="285750" y="1619250"/>
          <a:ext cx="3000000" cy="3000000"/>
        </p:xfrm>
        <a:graphic>
          <a:graphicData uri="http://schemas.openxmlformats.org/drawingml/2006/table">
            <a:tbl>
              <a:tblPr>
                <a:noFill/>
                <a:tableStyleId>{F1B291AF-9CB1-4793-AFE8-E70834C1BA4F}</a:tableStyleId>
              </a:tblPr>
              <a:tblGrid>
                <a:gridCol w="523875"/>
                <a:gridCol w="5000625"/>
                <a:gridCol w="4000500"/>
                <a:gridCol w="2095500"/>
              </a:tblGrid>
              <a:tr h="419100">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Feature documentada</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Ejemplo ilustrativo</a:t>
                      </a:r>
                      <a:endParaRPr/>
                    </a:p>
                  </a:txBody>
                  <a:tcPr marT="76200" marB="76200" marR="95250" marL="114300" anchor="ctr">
                    <a:solidFill>
                      <a:srgbClr val="08367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FFFFFF"/>
                          </a:solidFill>
                          <a:latin typeface="Arial"/>
                          <a:ea typeface="Arial"/>
                          <a:cs typeface="Arial"/>
                          <a:sym typeface="Arial"/>
                        </a:rPr>
                        <a:t>Valor del ejemplo</a:t>
                      </a:r>
                      <a:endParaRPr/>
                    </a:p>
                  </a:txBody>
                  <a:tcPr marT="76200" marB="76200" marR="95250" marL="114300" anchor="ctr">
                    <a:solidFill>
                      <a:srgbClr val="083672"/>
                    </a:solidFill>
                  </a:tcPr>
                </a:tc>
              </a:tr>
              <a:tr h="7620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1</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Cantidad de pares nombre-valor en Cookie</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Cookie: idioma=es; tema=claro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2 pares</a:t>
                      </a:r>
                      <a:endParaRPr/>
                    </a:p>
                  </a:txBody>
                  <a:tcPr marT="76200" marB="76200" marR="95250" marL="114300" anchor="ctr">
                    <a:solidFill>
                      <a:srgbClr val="DFF4FC"/>
                    </a:solidFill>
                  </a:tcPr>
                </a:tc>
              </a:tr>
              <a:tr h="7620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2</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Cantidad de signos +</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URI: /?q=libros+de+historia</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2 signos +</a:t>
                      </a:r>
                      <a:endParaRPr/>
                    </a:p>
                  </a:txBody>
                  <a:tcPr marT="76200" marB="76200" marR="95250" marL="114300" anchor="ctr">
                    <a:solidFill>
                      <a:srgbClr val="F6FBFD"/>
                    </a:solidFill>
                  </a:tcPr>
                </a:tc>
              </a:tr>
              <a:tr h="7620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3</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Cantidad de coincidencias de patrones CR/LF</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Cuerpo: %0D%0AX-Test:1</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9 coincidencias*</a:t>
                      </a:r>
                      <a:endParaRPr/>
                    </a:p>
                  </a:txBody>
                  <a:tcPr marT="76200" marB="76200" marR="95250" marL="114300" anchor="ctr">
                    <a:solidFill>
                      <a:srgbClr val="DFF4FC"/>
                    </a:solidFill>
                  </a:tcPr>
                </a:tc>
              </a:tr>
              <a:tr h="7620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4</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Cantidad de parámetros en el cuerpo</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Formulario:</a:t>
                      </a:r>
                      <a:endParaRPr/>
                    </a:p>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usuario=ana&amp;idioma=es</a:t>
                      </a:r>
                      <a:endParaRPr/>
                    </a:p>
                  </a:txBody>
                  <a:tcPr marT="76200" marB="76200" marR="95250" marL="114300" anchor="ctr">
                    <a:solidFill>
                      <a:srgbClr val="F6FBFD"/>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2 parámetros</a:t>
                      </a:r>
                      <a:endParaRPr/>
                    </a:p>
                  </a:txBody>
                  <a:tcPr marT="76200" marB="76200" marR="95250" marL="114300" anchor="ctr">
                    <a:solidFill>
                      <a:srgbClr val="F6FBFD"/>
                    </a:solidFill>
                  </a:tcPr>
                </a:tc>
              </a:tr>
              <a:tr h="762000">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5</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Longitud del nombre de parámetro más largo</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URI: /?session_token=abc</a:t>
                      </a:r>
                      <a:endParaRPr/>
                    </a:p>
                  </a:txBody>
                  <a:tcPr marT="76200" marB="76200" marR="95250" marL="114300" anchor="ctr">
                    <a:solidFill>
                      <a:srgbClr val="DFF4FC"/>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a:solidFill>
                            <a:srgbClr val="070F64"/>
                          </a:solidFill>
                          <a:latin typeface="Arial"/>
                          <a:ea typeface="Arial"/>
                          <a:cs typeface="Arial"/>
                          <a:sym typeface="Arial"/>
                        </a:rPr>
                        <a:t>13 caracteres</a:t>
                      </a:r>
                      <a:endParaRPr/>
                    </a:p>
                  </a:txBody>
                  <a:tcPr marT="76200" marB="76200" marR="95250" marL="114300" anchor="ctr">
                    <a:solidFill>
                      <a:srgbClr val="DFF4FC"/>
                    </a:solidFill>
                  </a:tcPr>
                </a:tc>
              </a:tr>
            </a:tbl>
          </a:graphicData>
        </a:graphic>
      </p:graphicFrame>
      <p:sp>
        <p:nvSpPr>
          <p:cNvPr id="2098" name="Google Shape;2098;p81"/>
          <p:cNvSpPr/>
          <p:nvPr/>
        </p:nvSpPr>
        <p:spPr>
          <a:xfrm>
            <a:off x="304800" y="5962650"/>
            <a:ext cx="11525400" cy="71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070F64"/>
                </a:solidFill>
                <a:latin typeface="Arial"/>
                <a:ea typeface="Arial"/>
                <a:cs typeface="Arial"/>
                <a:sym typeface="Arial"/>
              </a:rPr>
              <a:t>* CR/LF suma 3 coincidencias en el texto original y 3 en cada una de las dos versiones decodificadas.</a:t>
            </a:r>
            <a:endParaRPr/>
          </a:p>
          <a:p>
            <a:pPr indent="0" lvl="0" marL="0" marR="0" rtl="0" algn="l">
              <a:spcBef>
                <a:spcPts val="0"/>
              </a:spcBef>
              <a:spcAft>
                <a:spcPts val="0"/>
              </a:spcAft>
              <a:buNone/>
            </a:pPr>
            <a:r>
              <a:rPr b="0" lang="en-US" sz="1275">
                <a:solidFill>
                  <a:srgbClr val="070F64"/>
                </a:solidFill>
                <a:latin typeface="Arial"/>
                <a:ea typeface="Arial"/>
                <a:cs typeface="Arial"/>
                <a:sym typeface="Arial"/>
              </a:rPr>
              <a:t>Los otros campos están vacíos. El cuerpo de formulario usa Content-Type: application/x-www-form-urlencoded.</a:t>
            </a:r>
            <a:endParaRPr/>
          </a:p>
          <a:p>
            <a:pPr indent="0" lvl="0" marL="0" marR="0" rtl="0" algn="l">
              <a:spcBef>
                <a:spcPts val="0"/>
              </a:spcBef>
              <a:spcAft>
                <a:spcPts val="0"/>
              </a:spcAft>
              <a:buNone/>
            </a:pPr>
            <a:r>
              <a:rPr b="0" lang="en-US" sz="1275">
                <a:solidFill>
                  <a:srgbClr val="070F64"/>
                </a:solidFill>
                <a:latin typeface="Arial"/>
                <a:ea typeface="Arial"/>
                <a:cs typeface="Arial"/>
                <a:sym typeface="Arial"/>
              </a:rPr>
              <a:t>Los valores describen los ejemplos y no son importancias ni reglas de bloqueo.</a:t>
            </a:r>
            <a:endParaRPr/>
          </a:p>
        </p:txBody>
      </p:sp>
      <p:sp>
        <p:nvSpPr>
          <p:cNvPr id="2099" name="Google Shape;2099;p8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100" name="Google Shape;2100;p81" title="DEFENSA_SEGURA_V2:barra-5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01" name="Google Shape;2101;p81" title="DEFENSA_SEGURA_V2:avance-59"/>
          <p:cNvSpPr/>
          <p:nvPr/>
        </p:nvSpPr>
        <p:spPr>
          <a:xfrm>
            <a:off x="0" y="0"/>
            <a:ext cx="110835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02" name="Google Shape;2102;p81" title="DEFENSA_SEGURA_V2:seccion-5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7" name="Shape 2107"/>
        <p:cNvGrpSpPr/>
        <p:nvPr/>
      </p:nvGrpSpPr>
      <p:grpSpPr>
        <a:xfrm>
          <a:off x="0" y="0"/>
          <a:ext cx="0" cy="0"/>
          <a:chOff x="0" y="0"/>
          <a:chExt cx="0" cy="0"/>
        </a:xfrm>
      </p:grpSpPr>
      <p:sp>
        <p:nvSpPr>
          <p:cNvPr id="2108" name="Google Shape;2108;p82"/>
          <p:cNvSpPr/>
          <p:nvPr/>
        </p:nvSpPr>
        <p:spPr>
          <a:xfrm>
            <a:off x="342900" y="266700"/>
            <a:ext cx="115062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111F5B"/>
                </a:solidFill>
              </a:rPr>
              <a:t>Resumen de las corridas</a:t>
            </a:r>
            <a:endParaRPr b="1">
              <a:solidFill>
                <a:srgbClr val="111F5B"/>
              </a:solidFill>
            </a:endParaRPr>
          </a:p>
        </p:txBody>
      </p:sp>
      <p:sp>
        <p:nvSpPr>
          <p:cNvPr id="2109" name="Google Shape;2109;p82"/>
          <p:cNvSpPr/>
          <p:nvPr/>
        </p:nvSpPr>
        <p:spPr>
          <a:xfrm>
            <a:off x="361950" y="981075"/>
            <a:ext cx="114681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070F64"/>
                </a:solidFill>
                <a:latin typeface="Arial"/>
                <a:ea typeface="Arial"/>
                <a:cs typeface="Arial"/>
                <a:sym typeface="Arial"/>
              </a:rPr>
              <a:t>B: binaria. M: multiclase. L: multietiqueta. El número identifica la etapa.</a:t>
            </a:r>
            <a:endParaRPr/>
          </a:p>
        </p:txBody>
      </p:sp>
      <p:graphicFrame>
        <p:nvGraphicFramePr>
          <p:cNvPr id="2110" name="Google Shape;2110;p82"/>
          <p:cNvGraphicFramePr/>
          <p:nvPr/>
        </p:nvGraphicFramePr>
        <p:xfrm>
          <a:off x="361950" y="1657350"/>
          <a:ext cx="3000000" cy="3000000"/>
        </p:xfrm>
        <a:graphic>
          <a:graphicData uri="http://schemas.openxmlformats.org/drawingml/2006/table">
            <a:tbl>
              <a:tblPr>
                <a:noFill/>
                <a:tableStyleId>{F1B291AF-9CB1-4793-AFE8-E70834C1BA4F}</a:tableStyleId>
              </a:tblPr>
              <a:tblGrid>
                <a:gridCol w="2476500"/>
                <a:gridCol w="4267200"/>
                <a:gridCol w="4724400"/>
              </a:tblGrid>
              <a:tr h="758200">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Línea experimental</a:t>
                      </a:r>
                      <a:endParaRPr/>
                    </a:p>
                  </a:txBody>
                  <a:tcPr marT="45725" marB="45725" marR="91450" marL="91450" anchor="ctr">
                    <a:solidFill>
                      <a:srgbClr val="070F64"/>
                    </a:solidFill>
                  </a:tcPr>
                </a:tc>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Qué cambió</a:t>
                      </a:r>
                      <a:endParaRPr/>
                    </a:p>
                  </a:txBody>
                  <a:tcPr marT="45725" marB="45725" marR="91450" marL="91450" anchor="ctr">
                    <a:solidFill>
                      <a:srgbClr val="070F64"/>
                    </a:solidFill>
                  </a:tcPr>
                </a:tc>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Decisión metodológica</a:t>
                      </a:r>
                      <a:endParaRPr/>
                    </a:p>
                  </a:txBody>
                  <a:tcPr marT="45725" marB="45725" marR="91450" marL="91450" anchor="ctr">
                    <a:solidFill>
                      <a:srgbClr val="070F64"/>
                    </a:solidFill>
                  </a:tcPr>
                </a:tc>
              </a:tr>
              <a:tr h="758200">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One-class</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nu; prueba por página; ampliación de atributos; Isolation Forest.</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Aprendizaje con normales y análisis del balance detección/falsas alarmas.</a:t>
                      </a:r>
                      <a:endParaRPr/>
                    </a:p>
                  </a:txBody>
                  <a:tcPr marT="45725" marB="45725" marR="91450" marL="91450" anchor="ctr">
                    <a:solidFill>
                      <a:srgbClr val="DFF4FC"/>
                    </a:solidFill>
                  </a:tcPr>
                </a:tc>
              </a:tr>
              <a:tr h="758200">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Binaria · B1–B2</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B1: 25, 33, 57 y 10 características. B2: tres conjuntos.</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B2 entrena un modelo independiente por conjunto y elige el umbral en prueba.</a:t>
                      </a:r>
                      <a:endParaRPr/>
                    </a:p>
                  </a:txBody>
                  <a:tcPr marT="45725" marB="45725" marR="91450" marL="91450" anchor="ctr">
                    <a:solidFill>
                      <a:srgbClr val="F6FBFD"/>
                    </a:solidFill>
                  </a:tcPr>
                </a:tc>
              </a:tr>
              <a:tr h="758200">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Multiclase · M1–M8</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30, 84, 58 y 72 variables. Agrupación de clases e incorporación de DS.</a:t>
                      </a:r>
                      <a:endParaRPr/>
                    </a:p>
                  </a:txBody>
                  <a:tcPr marT="45725" marB="45725" marR="91450" marL="91450" anchor="ctr">
                    <a:solidFill>
                      <a:srgbClr val="DFF4FC"/>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Cambian la representación y el detalle de las clases. Se consultó la prueba.</a:t>
                      </a:r>
                      <a:endParaRPr/>
                    </a:p>
                  </a:txBody>
                  <a:tcPr marT="45725" marB="45725" marR="91450" marL="91450" anchor="ctr">
                    <a:solidFill>
                      <a:srgbClr val="DFF4FC"/>
                    </a:solidFill>
                  </a:tcPr>
                </a:tc>
              </a:tr>
              <a:tr h="758200">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Multietiqueta · L1–L2</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De 30 variables por fila a 90 por grupo de peticiones.</a:t>
                      </a:r>
                      <a:endParaRPr/>
                    </a:p>
                  </a:txBody>
                  <a:tcPr marT="45725" marB="45725" marR="91450" marL="91450" anchor="ctr">
                    <a:solidFill>
                      <a:srgbClr val="F6FBFD"/>
                    </a:solidFill>
                  </a:tcPr>
                </a:tc>
                <a:tc>
                  <a:txBody>
                    <a:bodyPr/>
                    <a:lstStyle/>
                    <a:p>
                      <a:pPr indent="0" lvl="0" marL="0" marR="0" rtl="0" algn="l">
                        <a:spcBef>
                          <a:spcPts val="0"/>
                        </a:spcBef>
                        <a:spcAft>
                          <a:spcPts val="0"/>
                        </a:spcAft>
                        <a:buClr>
                          <a:srgbClr val="070F64"/>
                        </a:buClr>
                        <a:buSzPts val="1725"/>
                        <a:buFont typeface="Arial"/>
                        <a:buNone/>
                      </a:pPr>
                      <a:r>
                        <a:rPr b="0" lang="en-US" sz="1725" u="none" cap="none" strike="noStrike">
                          <a:solidFill>
                            <a:srgbClr val="070F64"/>
                          </a:solidFill>
                          <a:latin typeface="Arial"/>
                          <a:ea typeface="Arial"/>
                          <a:cs typeface="Arial"/>
                          <a:sym typeface="Arial"/>
                        </a:rPr>
                        <a:t>L2 separa entrenamiento, validación, ajuste de umbrales y prueba.</a:t>
                      </a:r>
                      <a:endParaRPr/>
                    </a:p>
                  </a:txBody>
                  <a:tcPr marT="45725" marB="45725" marR="91450" marL="91450" anchor="ctr">
                    <a:solidFill>
                      <a:srgbClr val="F6FBFD"/>
                    </a:solidFill>
                  </a:tcPr>
                </a:tc>
              </a:tr>
            </a:tbl>
          </a:graphicData>
        </a:graphic>
      </p:graphicFrame>
      <p:sp>
        <p:nvSpPr>
          <p:cNvPr id="2111" name="Google Shape;2111;p82"/>
          <p:cNvSpPr/>
          <p:nvPr/>
        </p:nvSpPr>
        <p:spPr>
          <a:xfrm>
            <a:off x="361950" y="5753100"/>
            <a:ext cx="11468100" cy="4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70F64"/>
                </a:solidFill>
                <a:latin typeface="Arial"/>
                <a:ea typeface="Arial"/>
                <a:cs typeface="Arial"/>
                <a:sym typeface="Arial"/>
              </a:rPr>
              <a:t>Si cambian varios componentes, la diferencia no puede atribuirse solo al modelo.</a:t>
            </a:r>
            <a:endParaRPr/>
          </a:p>
        </p:txBody>
      </p:sp>
      <p:sp>
        <p:nvSpPr>
          <p:cNvPr id="2112" name="Google Shape;2112;p82"/>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13" name="Google Shape;2113;p82" title="DEFENSA_SEGURA_V2:barra-60"/>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14" name="Google Shape;2114;p82" title="DEFENSA_SEGURA_V2:avance-60"/>
          <p:cNvSpPr/>
          <p:nvPr/>
        </p:nvSpPr>
        <p:spPr>
          <a:xfrm>
            <a:off x="0" y="0"/>
            <a:ext cx="12192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15" name="Google Shape;2115;p82" title="DEFENSA_SEGURA_V2:seccion-60"/>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647184"/>
                </a:solidFill>
              </a:rPr>
              <a:t>ANEXO</a:t>
            </a:r>
            <a:endParaRPr b="1" sz="650">
              <a:solidFill>
                <a:srgbClr val="647184"/>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0" name="Shape 2120"/>
        <p:cNvGrpSpPr/>
        <p:nvPr/>
      </p:nvGrpSpPr>
      <p:grpSpPr>
        <a:xfrm>
          <a:off x="0" y="0"/>
          <a:ext cx="0" cy="0"/>
          <a:chOff x="0" y="0"/>
          <a:chExt cx="0" cy="0"/>
        </a:xfrm>
      </p:grpSpPr>
      <p:sp>
        <p:nvSpPr>
          <p:cNvPr id="2121" name="Google Shape;2121;p83"/>
          <p:cNvSpPr/>
          <p:nvPr/>
        </p:nvSpPr>
        <p:spPr>
          <a:xfrm>
            <a:off x="285750" y="209550"/>
            <a:ext cx="11620500" cy="59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3300"/>
              <a:buFont typeface="Arial"/>
              <a:buNone/>
            </a:pPr>
            <a:r>
              <a:rPr b="1" lang="en-US" sz="3300">
                <a:solidFill>
                  <a:srgbClr val="111F5B"/>
                </a:solidFill>
              </a:rPr>
              <a:t>Mediciones operativas registradas</a:t>
            </a:r>
            <a:endParaRPr b="1" sz="3300">
              <a:solidFill>
                <a:srgbClr val="111F5B"/>
              </a:solidFill>
            </a:endParaRPr>
          </a:p>
        </p:txBody>
      </p:sp>
      <p:sp>
        <p:nvSpPr>
          <p:cNvPr id="2122" name="Google Shape;2122;p83"/>
          <p:cNvSpPr/>
          <p:nvPr/>
        </p:nvSpPr>
        <p:spPr>
          <a:xfrm>
            <a:off x="304800" y="857250"/>
            <a:ext cx="11525400" cy="42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725"/>
              <a:buFont typeface="Arial"/>
              <a:buNone/>
            </a:pPr>
            <a:r>
              <a:rPr lang="en-US" sz="1700">
                <a:solidFill>
                  <a:srgbClr val="070F64"/>
                </a:solidFill>
              </a:rPr>
              <a:t>Benchmark de Isolation Forest y costos de trabajos completos en Slurm</a:t>
            </a:r>
            <a:endParaRPr sz="1700">
              <a:solidFill>
                <a:srgbClr val="070F64"/>
              </a:solidFill>
            </a:endParaRPr>
          </a:p>
        </p:txBody>
      </p:sp>
      <p:graphicFrame>
        <p:nvGraphicFramePr>
          <p:cNvPr id="2123" name="Google Shape;2123;p83"/>
          <p:cNvGraphicFramePr/>
          <p:nvPr/>
        </p:nvGraphicFramePr>
        <p:xfrm>
          <a:off x="292100" y="3314700"/>
          <a:ext cx="3000000" cy="3000000"/>
        </p:xfrm>
        <a:graphic>
          <a:graphicData uri="http://schemas.openxmlformats.org/drawingml/2006/table">
            <a:tbl>
              <a:tblPr>
                <a:noFill/>
                <a:tableStyleId>{F1B291AF-9CB1-4793-AFE8-E70834C1BA4F}</a:tableStyleId>
              </a:tblPr>
              <a:tblGrid>
                <a:gridCol w="4572000"/>
                <a:gridCol w="3048000"/>
                <a:gridCol w="3987800"/>
              </a:tblGrid>
              <a:tr h="355600">
                <a:tc>
                  <a:txBody>
                    <a:bodyPr/>
                    <a:lstStyle/>
                    <a:p>
                      <a:pPr indent="0" lvl="0" marL="0" marR="0" rtl="0" algn="l">
                        <a:lnSpc>
                          <a:spcPct val="100000"/>
                        </a:lnSpc>
                        <a:spcBef>
                          <a:spcPts val="0"/>
                        </a:spcBef>
                        <a:spcAft>
                          <a:spcPts val="0"/>
                        </a:spcAft>
                        <a:buClr>
                          <a:srgbClr val="000000"/>
                        </a:buClr>
                        <a:buSzPts val="1500"/>
                        <a:buFont typeface="Arial"/>
                        <a:buNone/>
                      </a:pPr>
                      <a:r>
                        <a:rPr b="1" lang="en-US" sz="1600">
                          <a:solidFill>
                            <a:srgbClr val="FFFFFF"/>
                          </a:solidFill>
                        </a:rPr>
                        <a:t>Trabajo de Slurm</a:t>
                      </a:r>
                      <a:endParaRPr b="1" sz="1600">
                        <a:solidFill>
                          <a:srgbClr val="FFFFFF"/>
                        </a:solidFill>
                      </a:endParaRPr>
                    </a:p>
                  </a:txBody>
                  <a:tcPr marT="76200" marB="76200" marR="95250" marL="114300" anchor="ctr">
                    <a:solidFill>
                      <a:srgbClr val="111F5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600">
                          <a:solidFill>
                            <a:srgbClr val="FFFFFF"/>
                          </a:solidFill>
                        </a:rPr>
                        <a:t>Duración total</a:t>
                      </a:r>
                      <a:endParaRPr b="1" sz="1600">
                        <a:solidFill>
                          <a:srgbClr val="FFFFFF"/>
                        </a:solidFill>
                      </a:endParaRPr>
                    </a:p>
                  </a:txBody>
                  <a:tcPr marT="76200" marB="76200" marR="95250" marL="114300" anchor="ctr">
                    <a:solidFill>
                      <a:srgbClr val="111F5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600">
                          <a:solidFill>
                            <a:srgbClr val="FFFFFF"/>
                          </a:solidFill>
                        </a:rPr>
                        <a:t>Máximo RSS*</a:t>
                      </a:r>
                      <a:endParaRPr b="1" sz="1600">
                        <a:solidFill>
                          <a:srgbClr val="FFFFFF"/>
                        </a:solidFill>
                      </a:endParaRPr>
                    </a:p>
                  </a:txBody>
                  <a:tcPr marT="76200" marB="76200" marR="95250" marL="114300" anchor="ctr">
                    <a:solidFill>
                      <a:srgbClr val="111F5B"/>
                    </a:solidFill>
                  </a:tcPr>
                </a:tc>
              </a:tr>
              <a:tr h="431800">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OCSVM · 2434</a:t>
                      </a:r>
                      <a:endParaRPr sz="160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14 min 24 s</a:t>
                      </a:r>
                      <a:endParaRPr sz="160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1.580,80 MiB</a:t>
                      </a:r>
                      <a:endParaRPr sz="1600">
                        <a:solidFill>
                          <a:srgbClr val="111F5B"/>
                        </a:solidFill>
                      </a:endParaRPr>
                    </a:p>
                  </a:txBody>
                  <a:tcPr marT="76200" marB="76200" marR="95250" marL="114300" anchor="ctr">
                    <a:solidFill>
                      <a:srgbClr val="DEF0FA"/>
                    </a:solidFill>
                  </a:tcPr>
                </a:tc>
              </a:tr>
              <a:tr h="431800">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RF CSIC · 2476</a:t>
                      </a:r>
                      <a:endParaRPr sz="160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15 s</a:t>
                      </a:r>
                      <a:endParaRPr sz="160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942,13 MiB</a:t>
                      </a:r>
                      <a:endParaRPr sz="1600">
                        <a:solidFill>
                          <a:srgbClr val="111F5B"/>
                        </a:solidFill>
                      </a:endParaRPr>
                    </a:p>
                  </a:txBody>
                  <a:tcPr marT="76200" marB="76200" marR="95250" marL="114300" anchor="ctr">
                    <a:solidFill>
                      <a:srgbClr val="F3F9FC"/>
                    </a:solidFill>
                  </a:tcPr>
                </a:tc>
              </a:tr>
              <a:tr h="431800">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RF TorpEda · 2528</a:t>
                      </a:r>
                      <a:endParaRPr sz="160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25 s</a:t>
                      </a:r>
                      <a:endParaRPr sz="1600">
                        <a:solidFill>
                          <a:srgbClr val="111F5B"/>
                        </a:solidFill>
                      </a:endParaRPr>
                    </a:p>
                  </a:txBody>
                  <a:tcPr marT="76200" marB="76200" marR="95250" marL="114300" anchor="ctr">
                    <a:solidFill>
                      <a:srgbClr val="DEF0FA"/>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600">
                          <a:solidFill>
                            <a:srgbClr val="111F5B"/>
                          </a:solidFill>
                        </a:rPr>
                        <a:t>893,03 MiB</a:t>
                      </a:r>
                      <a:endParaRPr sz="1600">
                        <a:solidFill>
                          <a:srgbClr val="111F5B"/>
                        </a:solidFill>
                      </a:endParaRPr>
                    </a:p>
                  </a:txBody>
                  <a:tcPr marT="76200" marB="76200" marR="95250" marL="114300" anchor="ctr">
                    <a:solidFill>
                      <a:srgbClr val="DEF0FA"/>
                    </a:solidFill>
                  </a:tcPr>
                </a:tc>
              </a:tr>
              <a:tr h="431800">
                <a:tc>
                  <a:txBody>
                    <a:bodyPr/>
                    <a:lstStyle/>
                    <a:p>
                      <a:pPr indent="0" lvl="0" marL="0" marR="0" rtl="0" algn="l">
                        <a:lnSpc>
                          <a:spcPct val="100000"/>
                        </a:lnSpc>
                        <a:spcBef>
                          <a:spcPts val="0"/>
                        </a:spcBef>
                        <a:spcAft>
                          <a:spcPts val="0"/>
                        </a:spcAft>
                        <a:buNone/>
                      </a:pPr>
                      <a:r>
                        <a:rPr lang="en-US" sz="1600">
                          <a:solidFill>
                            <a:srgbClr val="111F5B"/>
                          </a:solidFill>
                        </a:rPr>
                        <a:t>RF SR-BH · 2529</a:t>
                      </a:r>
                      <a:endParaRPr sz="160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None/>
                      </a:pPr>
                      <a:r>
                        <a:rPr lang="en-US" sz="1600">
                          <a:solidFill>
                            <a:srgbClr val="111F5B"/>
                          </a:solidFill>
                        </a:rPr>
                        <a:t>177 s</a:t>
                      </a:r>
                      <a:endParaRPr sz="1600">
                        <a:solidFill>
                          <a:srgbClr val="111F5B"/>
                        </a:solidFill>
                      </a:endParaRPr>
                    </a:p>
                  </a:txBody>
                  <a:tcPr marT="76200" marB="76200" marR="95250" marL="114300" anchor="ctr">
                    <a:solidFill>
                      <a:srgbClr val="F3F9FC"/>
                    </a:solidFill>
                  </a:tcPr>
                </a:tc>
                <a:tc>
                  <a:txBody>
                    <a:bodyPr/>
                    <a:lstStyle/>
                    <a:p>
                      <a:pPr indent="0" lvl="0" marL="0" marR="0" rtl="0" algn="l">
                        <a:lnSpc>
                          <a:spcPct val="100000"/>
                        </a:lnSpc>
                        <a:spcBef>
                          <a:spcPts val="0"/>
                        </a:spcBef>
                        <a:spcAft>
                          <a:spcPts val="0"/>
                        </a:spcAft>
                        <a:buNone/>
                      </a:pPr>
                      <a:r>
                        <a:rPr lang="en-US" sz="1600">
                          <a:solidFill>
                            <a:srgbClr val="111F5B"/>
                          </a:solidFill>
                        </a:rPr>
                        <a:t>9.535,93 MiB</a:t>
                      </a:r>
                      <a:endParaRPr sz="1600">
                        <a:solidFill>
                          <a:srgbClr val="111F5B"/>
                        </a:solidFill>
                      </a:endParaRPr>
                    </a:p>
                  </a:txBody>
                  <a:tcPr marT="76200" marB="76200" marR="95250" marL="114300" anchor="ctr">
                    <a:solidFill>
                      <a:srgbClr val="F3F9FC"/>
                    </a:solidFill>
                  </a:tcPr>
                </a:tc>
              </a:tr>
            </a:tbl>
          </a:graphicData>
        </a:graphic>
      </p:graphicFrame>
      <p:sp>
        <p:nvSpPr>
          <p:cNvPr id="2124" name="Google Shape;2124;p83"/>
          <p:cNvSpPr/>
          <p:nvPr/>
        </p:nvSpPr>
        <p:spPr>
          <a:xfrm>
            <a:off x="292100" y="5562600"/>
            <a:ext cx="11607900" cy="59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500"/>
              <a:buFont typeface="Arial"/>
              <a:buNone/>
            </a:pPr>
            <a:r>
              <a:rPr lang="en-US" sz="1550">
                <a:solidFill>
                  <a:srgbClr val="070F64"/>
                </a:solidFill>
              </a:rPr>
              <a:t>Slurm registra duración y memoria de trabajos completos. Los registros históricos</a:t>
            </a:r>
            <a:endParaRPr sz="1550">
              <a:solidFill>
                <a:srgbClr val="070F64"/>
              </a:solidFill>
            </a:endParaRPr>
          </a:p>
          <a:p>
            <a:pPr indent="0" lvl="0" marL="0" marR="0" rtl="0" algn="l">
              <a:lnSpc>
                <a:spcPct val="100000"/>
              </a:lnSpc>
              <a:spcBef>
                <a:spcPts val="0"/>
              </a:spcBef>
              <a:spcAft>
                <a:spcPts val="0"/>
              </a:spcAft>
              <a:buClr>
                <a:srgbClr val="070F64"/>
              </a:buClr>
              <a:buSzPts val="1500"/>
              <a:buFont typeface="Arial"/>
              <a:buNone/>
            </a:pPr>
            <a:r>
              <a:rPr lang="en-US" sz="1550">
                <a:solidFill>
                  <a:srgbClr val="070F64"/>
                </a:solidFill>
              </a:rPr>
              <a:t>se presentan por separado de las métricas de detección.</a:t>
            </a:r>
            <a:endParaRPr sz="1550">
              <a:solidFill>
                <a:srgbClr val="070F64"/>
              </a:solidFill>
            </a:endParaRPr>
          </a:p>
        </p:txBody>
      </p:sp>
      <p:sp>
        <p:nvSpPr>
          <p:cNvPr id="2125" name="Google Shape;2125;p83"/>
          <p:cNvSpPr/>
          <p:nvPr/>
        </p:nvSpPr>
        <p:spPr>
          <a:xfrm>
            <a:off x="292100" y="6273800"/>
            <a:ext cx="11175900" cy="44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70F64"/>
              </a:buClr>
              <a:buSzPts val="1200"/>
              <a:buFont typeface="Arial"/>
              <a:buNone/>
            </a:pPr>
            <a:r>
              <a:rPr lang="en-US" sz="1200">
                <a:solidFill>
                  <a:srgbClr val="070F64"/>
                </a:solidFill>
              </a:rPr>
              <a:t>Fuentes: log IF 2440 y contabilidad Slurm. *Mayor MaxRSS registrado en un paso del trabajo. Detalle en notas.</a:t>
            </a:r>
            <a:endParaRPr sz="1200">
              <a:solidFill>
                <a:srgbClr val="070F64"/>
              </a:solidFill>
            </a:endParaRPr>
          </a:p>
        </p:txBody>
      </p:sp>
      <p:sp>
        <p:nvSpPr>
          <p:cNvPr id="2126" name="Google Shape;2126;p8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7" name="Google Shape;2127;p83" title="DEFENSA_SEGURA_V2:barra-29"/>
          <p:cNvSpPr/>
          <p:nvPr/>
        </p:nvSpPr>
        <p:spPr>
          <a:xfrm>
            <a:off x="0" y="0"/>
            <a:ext cx="12192000" cy="480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8" name="Google Shape;2128;p83" title="DEFENSA_SEGURA_V2:avance-29"/>
          <p:cNvSpPr/>
          <p:nvPr/>
        </p:nvSpPr>
        <p:spPr>
          <a:xfrm>
            <a:off x="0" y="0"/>
            <a:ext cx="6096000" cy="480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9" name="Google Shape;2129;p83" title="DEFENSA_SEGURA_V2:seccion-29"/>
          <p:cNvSpPr txBox="1"/>
          <p:nvPr/>
        </p:nvSpPr>
        <p:spPr>
          <a:xfrm>
            <a:off x="10424160" y="68580"/>
            <a:ext cx="1463100" cy="15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US" sz="650">
                <a:solidFill>
                  <a:srgbClr val="647184"/>
                </a:solidFill>
              </a:rPr>
              <a:t>ANEXO</a:t>
            </a:r>
            <a:endParaRPr b="1" sz="650">
              <a:solidFill>
                <a:srgbClr val="647184"/>
              </a:solidFill>
            </a:endParaRPr>
          </a:p>
        </p:txBody>
      </p:sp>
      <p:sp>
        <p:nvSpPr>
          <p:cNvPr id="2130" name="Google Shape;2130;p83"/>
          <p:cNvSpPr/>
          <p:nvPr/>
        </p:nvSpPr>
        <p:spPr>
          <a:xfrm>
            <a:off x="292100" y="1320800"/>
            <a:ext cx="11595000" cy="36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900">
                <a:solidFill>
                  <a:srgbClr val="070F64"/>
                </a:solidFill>
              </a:rPr>
              <a:t>Isolation Forest: CSIC, 25 variables, trabajo 2440</a:t>
            </a:r>
            <a:endParaRPr b="1" sz="1900">
              <a:solidFill>
                <a:srgbClr val="070F64"/>
              </a:solidFill>
            </a:endParaRPr>
          </a:p>
        </p:txBody>
      </p:sp>
      <p:sp>
        <p:nvSpPr>
          <p:cNvPr id="2131" name="Google Shape;2131;p83"/>
          <p:cNvSpPr/>
          <p:nvPr/>
        </p:nvSpPr>
        <p:spPr>
          <a:xfrm>
            <a:off x="292100" y="1727200"/>
            <a:ext cx="11595000" cy="43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a:solidFill>
                  <a:srgbClr val="070F64"/>
                </a:solidFill>
              </a:rPr>
              <a:t>72,56 s de ajuste final     457,39 vectores/s por lotes</a:t>
            </a:r>
            <a:endParaRPr b="1" sz="2200">
              <a:solidFill>
                <a:srgbClr val="070F64"/>
              </a:solidFill>
            </a:endParaRPr>
          </a:p>
        </p:txBody>
      </p:sp>
      <p:sp>
        <p:nvSpPr>
          <p:cNvPr id="2132" name="Google Shape;2132;p83"/>
          <p:cNvSpPr/>
          <p:nvPr/>
        </p:nvSpPr>
        <p:spPr>
          <a:xfrm>
            <a:off x="292100" y="2209800"/>
            <a:ext cx="11595000" cy="6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600">
                <a:solidFill>
                  <a:srgbClr val="070F64"/>
                </a:solidFill>
              </a:rPr>
              <a:t>19.413 vectores en lotes de hasta 4.096: 42,44 s para escalar y puntuar.</a:t>
            </a:r>
            <a:endParaRPr sz="1600">
              <a:solidFill>
                <a:srgbClr val="070F64"/>
              </a:solidFill>
            </a:endParaRPr>
          </a:p>
          <a:p>
            <a:pPr indent="0" lvl="0" marL="0" marR="0" rtl="0" algn="l">
              <a:lnSpc>
                <a:spcPct val="100000"/>
              </a:lnSpc>
              <a:spcBef>
                <a:spcPts val="0"/>
              </a:spcBef>
              <a:spcAft>
                <a:spcPts val="0"/>
              </a:spcAft>
              <a:buNone/>
            </a:pPr>
            <a:r>
              <a:rPr lang="en-US" sz="1600">
                <a:solidFill>
                  <a:srgbClr val="070F64"/>
                </a:solidFill>
              </a:rPr>
              <a:t>Usa características ya calculadas. Excluye extracción HTTP y latencia individual.</a:t>
            </a:r>
            <a:endParaRPr sz="1600">
              <a:solidFill>
                <a:srgbClr val="070F64"/>
              </a:solidFill>
            </a:endParaRPr>
          </a:p>
        </p:txBody>
      </p:sp>
      <p:sp>
        <p:nvSpPr>
          <p:cNvPr id="2133" name="Google Shape;2133;p83"/>
          <p:cNvSpPr/>
          <p:nvPr/>
        </p:nvSpPr>
        <p:spPr>
          <a:xfrm>
            <a:off x="292100" y="2870200"/>
            <a:ext cx="115950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900">
                <a:solidFill>
                  <a:srgbClr val="070F64"/>
                </a:solidFill>
              </a:rPr>
              <a:t>Slurm: duración y memoria del trabajo completo</a:t>
            </a:r>
            <a:endParaRPr b="1" sz="1900">
              <a:solidFill>
                <a:srgbClr val="070F64"/>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8" name="Shape 2138"/>
        <p:cNvGrpSpPr/>
        <p:nvPr/>
      </p:nvGrpSpPr>
      <p:grpSpPr>
        <a:xfrm>
          <a:off x="0" y="0"/>
          <a:ext cx="0" cy="0"/>
          <a:chOff x="0" y="0"/>
          <a:chExt cx="0" cy="0"/>
        </a:xfrm>
      </p:grpSpPr>
      <p:sp>
        <p:nvSpPr>
          <p:cNvPr id="2139" name="Google Shape;2139;p84"/>
          <p:cNvSpPr/>
          <p:nvPr/>
        </p:nvSpPr>
        <p:spPr>
          <a:xfrm>
            <a:off x="411367" y="4839226"/>
            <a:ext cx="11369267" cy="1136927"/>
          </a:xfrm>
          <a:prstGeom prst="roundRect">
            <a:avLst>
              <a:gd fmla="val 5128" name="adj"/>
            </a:avLst>
          </a:prstGeom>
          <a:solidFill>
            <a:srgbClr val="E3F3FD"/>
          </a:solidFill>
          <a:ln cap="flat" cmpd="sng" w="9525">
            <a:solidFill>
              <a:srgbClr val="32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0" name="Google Shape;2140;p84"/>
          <p:cNvPicPr preferRelativeResize="0"/>
          <p:nvPr/>
        </p:nvPicPr>
        <p:blipFill rotWithShape="1">
          <a:blip r:embed="rId3">
            <a:alphaModFix/>
          </a:blip>
          <a:srcRect b="0" l="0" r="0" t="0"/>
          <a:stretch/>
        </p:blipFill>
        <p:spPr>
          <a:xfrm>
            <a:off x="3625371" y="2689269"/>
            <a:ext cx="1756406" cy="1894878"/>
          </a:xfrm>
          <a:prstGeom prst="rect">
            <a:avLst/>
          </a:prstGeom>
          <a:noFill/>
          <a:ln>
            <a:noFill/>
          </a:ln>
        </p:spPr>
      </p:pic>
      <p:pic>
        <p:nvPicPr>
          <p:cNvPr id="2141" name="Google Shape;2141;p84"/>
          <p:cNvPicPr preferRelativeResize="0"/>
          <p:nvPr/>
        </p:nvPicPr>
        <p:blipFill rotWithShape="1">
          <a:blip r:embed="rId4">
            <a:alphaModFix/>
          </a:blip>
          <a:srcRect b="0" l="0" r="0" t="0"/>
          <a:stretch/>
        </p:blipFill>
        <p:spPr>
          <a:xfrm>
            <a:off x="6817511" y="2689269"/>
            <a:ext cx="1800134" cy="1894878"/>
          </a:xfrm>
          <a:prstGeom prst="rect">
            <a:avLst/>
          </a:prstGeom>
          <a:noFill/>
          <a:ln>
            <a:noFill/>
          </a:ln>
        </p:spPr>
      </p:pic>
      <p:pic>
        <p:nvPicPr>
          <p:cNvPr id="2142" name="Google Shape;2142;p84"/>
          <p:cNvPicPr preferRelativeResize="0"/>
          <p:nvPr/>
        </p:nvPicPr>
        <p:blipFill rotWithShape="1">
          <a:blip r:embed="rId5">
            <a:alphaModFix/>
          </a:blip>
          <a:srcRect b="0" l="0" r="0" t="0"/>
          <a:stretch/>
        </p:blipFill>
        <p:spPr>
          <a:xfrm>
            <a:off x="5425505" y="2842317"/>
            <a:ext cx="1362854" cy="1617934"/>
          </a:xfrm>
          <a:prstGeom prst="rect">
            <a:avLst/>
          </a:prstGeom>
          <a:noFill/>
          <a:ln>
            <a:noFill/>
          </a:ln>
        </p:spPr>
      </p:pic>
      <p:sp>
        <p:nvSpPr>
          <p:cNvPr id="2143" name="Google Shape;2143;p84"/>
          <p:cNvSpPr/>
          <p:nvPr/>
        </p:nvSpPr>
        <p:spPr>
          <a:xfrm>
            <a:off x="3545203" y="347900"/>
            <a:ext cx="5115593" cy="17921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0855" u="none" cap="none" strike="noStrike">
                <a:solidFill>
                  <a:srgbClr val="111F5B"/>
                </a:solidFill>
              </a:rPr>
              <a:t>Gracias</a:t>
            </a:r>
            <a:endParaRPr b="1">
              <a:solidFill>
                <a:srgbClr val="111F5B"/>
              </a:solidFill>
            </a:endParaRPr>
          </a:p>
        </p:txBody>
      </p:sp>
      <p:sp>
        <p:nvSpPr>
          <p:cNvPr id="2144" name="Google Shape;2144;p84"/>
          <p:cNvSpPr/>
          <p:nvPr/>
        </p:nvSpPr>
        <p:spPr>
          <a:xfrm>
            <a:off x="4427050" y="1889940"/>
            <a:ext cx="3410203" cy="89716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434" u="none" cap="none" strike="noStrike">
                <a:solidFill>
                  <a:srgbClr val="111F5B"/>
                </a:solidFill>
              </a:rPr>
              <a:t>Preguntas</a:t>
            </a:r>
            <a:endParaRPr b="1">
              <a:solidFill>
                <a:srgbClr val="111F5B"/>
              </a:solidFill>
            </a:endParaRPr>
          </a:p>
        </p:txBody>
      </p:sp>
      <p:sp>
        <p:nvSpPr>
          <p:cNvPr id="2145" name="Google Shape;2145;p84"/>
          <p:cNvSpPr/>
          <p:nvPr/>
        </p:nvSpPr>
        <p:spPr>
          <a:xfrm>
            <a:off x="1300502" y="5043290"/>
            <a:ext cx="9648724" cy="4625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111F5B"/>
                </a:solidFill>
              </a:rPr>
              <a:t>Detección y clasificación de ataques en tráfico HTTP</a:t>
            </a:r>
            <a:endParaRPr b="1" sz="1200">
              <a:solidFill>
                <a:srgbClr val="111F5B"/>
              </a:solidFill>
            </a:endParaRPr>
          </a:p>
          <a:p>
            <a:pPr indent="0" lvl="0" marL="0" marR="0" rtl="0" algn="ctr">
              <a:spcBef>
                <a:spcPts val="0"/>
              </a:spcBef>
              <a:spcAft>
                <a:spcPts val="0"/>
              </a:spcAft>
              <a:buNone/>
            </a:pPr>
            <a:r>
              <a:rPr b="1" lang="en-US" sz="1200">
                <a:solidFill>
                  <a:srgbClr val="111F5B"/>
                </a:solidFill>
              </a:rPr>
              <a:t>mediante enfoques binario, multiclase y multietiqueta</a:t>
            </a:r>
            <a:endParaRPr b="1" sz="1200">
              <a:solidFill>
                <a:srgbClr val="111F5B"/>
              </a:solidFill>
            </a:endParaRPr>
          </a:p>
          <a:p>
            <a:pPr indent="0" lvl="0" marL="0" marR="0" rtl="0" algn="ctr">
              <a:spcBef>
                <a:spcPts val="0"/>
              </a:spcBef>
              <a:spcAft>
                <a:spcPts val="0"/>
              </a:spcAft>
              <a:buNone/>
            </a:pPr>
            <a:r>
              <a:rPr b="1" lang="en-US" sz="1200">
                <a:solidFill>
                  <a:srgbClr val="111F5B"/>
                </a:solidFill>
              </a:rPr>
              <a:t>utilizando modelos de machine learning</a:t>
            </a:r>
            <a:endParaRPr b="1" sz="1200">
              <a:solidFill>
                <a:srgbClr val="111F5B"/>
              </a:solidFill>
            </a:endParaRPr>
          </a:p>
        </p:txBody>
      </p:sp>
      <p:sp>
        <p:nvSpPr>
          <p:cNvPr id="2146" name="Google Shape;2146;p84"/>
          <p:cNvSpPr/>
          <p:nvPr/>
        </p:nvSpPr>
        <p:spPr>
          <a:xfrm>
            <a:off x="3231819" y="5465994"/>
            <a:ext cx="5771512" cy="4719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a:p>
        </p:txBody>
      </p:sp>
      <p:sp>
        <p:nvSpPr>
          <p:cNvPr id="2147" name="Google Shape;2147;p84"/>
          <p:cNvSpPr/>
          <p:nvPr/>
        </p:nvSpPr>
        <p:spPr>
          <a:xfrm>
            <a:off x="2145909" y="6249899"/>
            <a:ext cx="7943334" cy="4083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65" u="none" cap="none" strike="noStrike">
                <a:solidFill>
                  <a:srgbClr val="060F63"/>
                </a:solidFill>
                <a:latin typeface="Arial Narrow"/>
                <a:ea typeface="Arial Narrow"/>
                <a:cs typeface="Arial Narrow"/>
                <a:sym typeface="Arial Narrow"/>
              </a:rPr>
              <a:t>Andrés Moisés Román Medina • Juan Andrés González Arévalos</a:t>
            </a:r>
            <a:endParaRPr/>
          </a:p>
        </p:txBody>
      </p:sp>
      <p:sp>
        <p:nvSpPr>
          <p:cNvPr id="2148" name="Google Shape;2148;p84"/>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49" name="Google Shape;2149;p84" title="DEFENSA_SEGURA_V2:cierre-superior"/>
          <p:cNvSpPr/>
          <p:nvPr/>
        </p:nvSpPr>
        <p:spPr>
          <a:xfrm>
            <a:off x="0" y="0"/>
            <a:ext cx="12192000" cy="822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50" name="Google Shape;2150;p84" title="DEFENSA_SEGURA_V2:cierre-inferior"/>
          <p:cNvSpPr/>
          <p:nvPr/>
        </p:nvSpPr>
        <p:spPr>
          <a:xfrm>
            <a:off x="0" y="6775704"/>
            <a:ext cx="12192000" cy="82200"/>
          </a:xfrm>
          <a:prstGeom prst="rect">
            <a:avLst/>
          </a:prstGeom>
          <a:solidFill>
            <a:srgbClr val="111F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51" name="Google Shape;2151;p84" title="DEFENSA_SEGURA_V2:cierre-acento"/>
          <p:cNvSpPr/>
          <p:nvPr/>
        </p:nvSpPr>
        <p:spPr>
          <a:xfrm>
            <a:off x="548640" y="1097280"/>
            <a:ext cx="48900" cy="4251900"/>
          </a:xfrm>
          <a:prstGeom prst="rect">
            <a:avLst/>
          </a:prstGeom>
          <a:solidFill>
            <a:srgbClr val="18A7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